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mp4" ContentType="video/mp4"/>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handoutMasterIdLst>
    <p:handoutMasterId r:id="rId51"/>
  </p:handoutMasterIdLst>
  <p:sldIdLst>
    <p:sldId id="256" r:id="rId2"/>
    <p:sldId id="298" r:id="rId3"/>
    <p:sldId id="278" r:id="rId4"/>
    <p:sldId id="275" r:id="rId5"/>
    <p:sldId id="257" r:id="rId6"/>
    <p:sldId id="279" r:id="rId7"/>
    <p:sldId id="305" r:id="rId8"/>
    <p:sldId id="295" r:id="rId9"/>
    <p:sldId id="307" r:id="rId10"/>
    <p:sldId id="308" r:id="rId11"/>
    <p:sldId id="259" r:id="rId12"/>
    <p:sldId id="310" r:id="rId13"/>
    <p:sldId id="309" r:id="rId14"/>
    <p:sldId id="311" r:id="rId15"/>
    <p:sldId id="338" r:id="rId16"/>
    <p:sldId id="339" r:id="rId17"/>
    <p:sldId id="315" r:id="rId18"/>
    <p:sldId id="312" r:id="rId19"/>
    <p:sldId id="316" r:id="rId20"/>
    <p:sldId id="317" r:id="rId21"/>
    <p:sldId id="258" r:id="rId22"/>
    <p:sldId id="340" r:id="rId23"/>
    <p:sldId id="262" r:id="rId24"/>
    <p:sldId id="319" r:id="rId25"/>
    <p:sldId id="318" r:id="rId26"/>
    <p:sldId id="320" r:id="rId27"/>
    <p:sldId id="263" r:id="rId28"/>
    <p:sldId id="299" r:id="rId29"/>
    <p:sldId id="296" r:id="rId30"/>
    <p:sldId id="337" r:id="rId31"/>
    <p:sldId id="302" r:id="rId32"/>
    <p:sldId id="264" r:id="rId33"/>
    <p:sldId id="265" r:id="rId34"/>
    <p:sldId id="321" r:id="rId35"/>
    <p:sldId id="266" r:id="rId36"/>
    <p:sldId id="267" r:id="rId37"/>
    <p:sldId id="297" r:id="rId38"/>
    <p:sldId id="323" r:id="rId39"/>
    <p:sldId id="322" r:id="rId40"/>
    <p:sldId id="268" r:id="rId41"/>
    <p:sldId id="269" r:id="rId42"/>
    <p:sldId id="326" r:id="rId43"/>
    <p:sldId id="327" r:id="rId44"/>
    <p:sldId id="324" r:id="rId45"/>
    <p:sldId id="328" r:id="rId46"/>
    <p:sldId id="329" r:id="rId47"/>
    <p:sldId id="273" r:id="rId48"/>
    <p:sldId id="281" r:id="rId49"/>
  </p:sldIdLst>
  <p:sldSz cx="12192000" cy="6858000"/>
  <p:notesSz cx="10234613" cy="71040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1933BC-65D4-4182-D724-A5B7705A0732}" v="4" dt="2023-01-02T08:35:39.0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909" autoAdjust="0"/>
  </p:normalViewPr>
  <p:slideViewPr>
    <p:cSldViewPr snapToGrid="0">
      <p:cViewPr varScale="1">
        <p:scale>
          <a:sx n="105" d="100"/>
          <a:sy n="105" d="100"/>
        </p:scale>
        <p:origin x="79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takee Durve (Dr.)" userId="S::ketakee.durve@nmims.edu::7568e72c-b98d-4661-b311-0a838f98d6e3" providerId="AD" clId="Web-{F11933BC-65D4-4182-D724-A5B7705A0732}"/>
    <pc:docChg chg="modSld">
      <pc:chgData name="Ketakee Durve (Dr.)" userId="S::ketakee.durve@nmims.edu::7568e72c-b98d-4661-b311-0a838f98d6e3" providerId="AD" clId="Web-{F11933BC-65D4-4182-D724-A5B7705A0732}" dt="2023-01-02T08:35:39.099" v="2" actId="14100"/>
      <pc:docMkLst>
        <pc:docMk/>
      </pc:docMkLst>
      <pc:sldChg chg="modSp">
        <pc:chgData name="Ketakee Durve (Dr.)" userId="S::ketakee.durve@nmims.edu::7568e72c-b98d-4661-b311-0a838f98d6e3" providerId="AD" clId="Web-{F11933BC-65D4-4182-D724-A5B7705A0732}" dt="2023-01-02T08:35:39.099" v="2" actId="14100"/>
        <pc:sldMkLst>
          <pc:docMk/>
          <pc:sldMk cId="1916117347" sldId="267"/>
        </pc:sldMkLst>
        <pc:spChg chg="mod">
          <ac:chgData name="Ketakee Durve (Dr.)" userId="S::ketakee.durve@nmims.edu::7568e72c-b98d-4661-b311-0a838f98d6e3" providerId="AD" clId="Web-{F11933BC-65D4-4182-D724-A5B7705A0732}" dt="2023-01-02T08:35:39.099" v="2" actId="14100"/>
          <ac:spMkLst>
            <pc:docMk/>
            <pc:sldMk cId="1916117347" sldId="267"/>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434618" cy="35592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797708" y="0"/>
            <a:ext cx="4434617" cy="355920"/>
          </a:xfrm>
          <a:prstGeom prst="rect">
            <a:avLst/>
          </a:prstGeom>
        </p:spPr>
        <p:txBody>
          <a:bodyPr vert="horz" lIns="91440" tIns="45720" rIns="91440" bIns="45720" rtlCol="0"/>
          <a:lstStyle>
            <a:lvl1pPr algn="r">
              <a:defRPr sz="1200"/>
            </a:lvl1pPr>
          </a:lstStyle>
          <a:p>
            <a:fld id="{5B621B5C-7F44-4F1E-9FCA-1907E3CACCBE}" type="datetimeFigureOut">
              <a:rPr lang="en-US" smtClean="0"/>
              <a:t>8/3/2023</a:t>
            </a:fld>
            <a:endParaRPr lang="en-US"/>
          </a:p>
        </p:txBody>
      </p:sp>
      <p:sp>
        <p:nvSpPr>
          <p:cNvPr id="4" name="Footer Placeholder 3"/>
          <p:cNvSpPr>
            <a:spLocks noGrp="1"/>
          </p:cNvSpPr>
          <p:nvPr>
            <p:ph type="ftr" sz="quarter" idx="2"/>
          </p:nvPr>
        </p:nvSpPr>
        <p:spPr>
          <a:xfrm>
            <a:off x="1" y="6748143"/>
            <a:ext cx="4434618" cy="35592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797708" y="6748143"/>
            <a:ext cx="4434617" cy="355920"/>
          </a:xfrm>
          <a:prstGeom prst="rect">
            <a:avLst/>
          </a:prstGeom>
        </p:spPr>
        <p:txBody>
          <a:bodyPr vert="horz" lIns="91440" tIns="45720" rIns="91440" bIns="45720" rtlCol="0" anchor="b"/>
          <a:lstStyle>
            <a:lvl1pPr algn="r">
              <a:defRPr sz="1200"/>
            </a:lvl1pPr>
          </a:lstStyle>
          <a:p>
            <a:fld id="{BA988A69-4024-4829-AFA7-9D7FA2CF16F6}" type="slidenum">
              <a:rPr lang="en-US" smtClean="0"/>
              <a:t>‹#›</a:t>
            </a:fld>
            <a:endParaRPr lang="en-US"/>
          </a:p>
        </p:txBody>
      </p:sp>
    </p:spTree>
    <p:extLst>
      <p:ext uri="{BB962C8B-B14F-4D97-AF65-F5344CB8AC3E}">
        <p14:creationId xmlns:p14="http://schemas.microsoft.com/office/powerpoint/2010/main" val="42313223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435475" cy="3556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797550" y="0"/>
            <a:ext cx="4435475" cy="355600"/>
          </a:xfrm>
          <a:prstGeom prst="rect">
            <a:avLst/>
          </a:prstGeom>
        </p:spPr>
        <p:txBody>
          <a:bodyPr vert="horz" lIns="91440" tIns="45720" rIns="91440" bIns="45720" rtlCol="0"/>
          <a:lstStyle>
            <a:lvl1pPr algn="r">
              <a:defRPr sz="1200"/>
            </a:lvl1pPr>
          </a:lstStyle>
          <a:p>
            <a:fld id="{7BC7B59C-AEFF-439B-88F2-03BC5FDAC8EA}" type="datetimeFigureOut">
              <a:rPr lang="en-IN" smtClean="0"/>
              <a:t>03-08-2023</a:t>
            </a:fld>
            <a:endParaRPr lang="en-IN"/>
          </a:p>
        </p:txBody>
      </p:sp>
      <p:sp>
        <p:nvSpPr>
          <p:cNvPr id="4" name="Slide Image Placeholder 3"/>
          <p:cNvSpPr>
            <a:spLocks noGrp="1" noRot="1" noChangeAspect="1"/>
          </p:cNvSpPr>
          <p:nvPr>
            <p:ph type="sldImg" idx="2"/>
          </p:nvPr>
        </p:nvSpPr>
        <p:spPr>
          <a:xfrm>
            <a:off x="2984500" y="887413"/>
            <a:ext cx="4265613" cy="2398712"/>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23938" y="3419475"/>
            <a:ext cx="8186737" cy="27971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748463"/>
            <a:ext cx="4435475" cy="3556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797550" y="6748463"/>
            <a:ext cx="4435475" cy="355600"/>
          </a:xfrm>
          <a:prstGeom prst="rect">
            <a:avLst/>
          </a:prstGeom>
        </p:spPr>
        <p:txBody>
          <a:bodyPr vert="horz" lIns="91440" tIns="45720" rIns="91440" bIns="45720" rtlCol="0" anchor="b"/>
          <a:lstStyle>
            <a:lvl1pPr algn="r">
              <a:defRPr sz="1200"/>
            </a:lvl1pPr>
          </a:lstStyle>
          <a:p>
            <a:fld id="{745E88A3-D452-4CFB-9E86-818504D53ABA}" type="slidenum">
              <a:rPr lang="en-IN" smtClean="0"/>
              <a:t>‹#›</a:t>
            </a:fld>
            <a:endParaRPr lang="en-IN"/>
          </a:p>
        </p:txBody>
      </p:sp>
    </p:spTree>
    <p:extLst>
      <p:ext uri="{BB962C8B-B14F-4D97-AF65-F5344CB8AC3E}">
        <p14:creationId xmlns:p14="http://schemas.microsoft.com/office/powerpoint/2010/main" val="1657413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5E88A3-D452-4CFB-9E86-818504D53ABA}" type="slidenum">
              <a:rPr lang="en-IN" smtClean="0"/>
              <a:t>2</a:t>
            </a:fld>
            <a:endParaRPr lang="en-IN"/>
          </a:p>
        </p:txBody>
      </p:sp>
    </p:spTree>
    <p:extLst>
      <p:ext uri="{BB962C8B-B14F-4D97-AF65-F5344CB8AC3E}">
        <p14:creationId xmlns:p14="http://schemas.microsoft.com/office/powerpoint/2010/main" val="2233983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Q. What will happen to ionic radius</a:t>
            </a:r>
            <a:r>
              <a:rPr lang="en-US" baseline="0" dirty="0" smtClean="0"/>
              <a:t> </a:t>
            </a:r>
            <a:r>
              <a:rPr lang="en-US" dirty="0" smtClean="0"/>
              <a:t>of 2</a:t>
            </a:r>
            <a:r>
              <a:rPr lang="en-US" baseline="30000" dirty="0" smtClean="0"/>
              <a:t>nd</a:t>
            </a:r>
            <a:r>
              <a:rPr lang="en-US" dirty="0" smtClean="0"/>
              <a:t> period elements???? justify</a:t>
            </a:r>
          </a:p>
          <a:p>
            <a:r>
              <a:rPr lang="en-US" dirty="0" smtClean="0"/>
              <a:t>Q.2 what will happen to ionic radius down the group??? justify</a:t>
            </a:r>
            <a:endParaRPr lang="en-IN" dirty="0"/>
          </a:p>
        </p:txBody>
      </p:sp>
      <p:sp>
        <p:nvSpPr>
          <p:cNvPr id="4" name="Slide Number Placeholder 3"/>
          <p:cNvSpPr>
            <a:spLocks noGrp="1"/>
          </p:cNvSpPr>
          <p:nvPr>
            <p:ph type="sldNum" sz="quarter" idx="10"/>
          </p:nvPr>
        </p:nvSpPr>
        <p:spPr/>
        <p:txBody>
          <a:bodyPr/>
          <a:lstStyle/>
          <a:p>
            <a:fld id="{745E88A3-D452-4CFB-9E86-818504D53ABA}" type="slidenum">
              <a:rPr lang="en-IN" smtClean="0"/>
              <a:t>25</a:t>
            </a:fld>
            <a:endParaRPr lang="en-IN"/>
          </a:p>
        </p:txBody>
      </p:sp>
    </p:spTree>
    <p:extLst>
      <p:ext uri="{BB962C8B-B14F-4D97-AF65-F5344CB8AC3E}">
        <p14:creationId xmlns:p14="http://schemas.microsoft.com/office/powerpoint/2010/main" val="16203974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5E88A3-D452-4CFB-9E86-818504D53ABA}" type="slidenum">
              <a:rPr lang="en-IN" smtClean="0"/>
              <a:t>26</a:t>
            </a:fld>
            <a:endParaRPr lang="en-IN"/>
          </a:p>
        </p:txBody>
      </p:sp>
    </p:spTree>
    <p:extLst>
      <p:ext uri="{BB962C8B-B14F-4D97-AF65-F5344CB8AC3E}">
        <p14:creationId xmlns:p14="http://schemas.microsoft.com/office/powerpoint/2010/main" val="1693871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45E88A3-D452-4CFB-9E86-818504D53ABA}" type="slidenum">
              <a:rPr lang="en-IN" smtClean="0"/>
              <a:t>42</a:t>
            </a:fld>
            <a:endParaRPr lang="en-IN"/>
          </a:p>
        </p:txBody>
      </p:sp>
    </p:spTree>
    <p:extLst>
      <p:ext uri="{BB962C8B-B14F-4D97-AF65-F5344CB8AC3E}">
        <p14:creationId xmlns:p14="http://schemas.microsoft.com/office/powerpoint/2010/main" val="2138882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FB3A502-4A06-404D-B183-3E942088BCE6}" type="datetime1">
              <a:rPr lang="en-US" smtClean="0"/>
              <a:t>8/3/2023</a:t>
            </a:fld>
            <a:endParaRPr lang="en-US"/>
          </a:p>
        </p:txBody>
      </p:sp>
      <p:sp>
        <p:nvSpPr>
          <p:cNvPr id="5" name="Footer Placeholder 4"/>
          <p:cNvSpPr>
            <a:spLocks noGrp="1"/>
          </p:cNvSpPr>
          <p:nvPr>
            <p:ph type="ftr" sz="quarter" idx="11"/>
          </p:nvPr>
        </p:nvSpPr>
        <p:spPr/>
        <p:txBody>
          <a:bodyPr/>
          <a:lstStyle/>
          <a:p>
            <a:r>
              <a:rPr lang="en-US"/>
              <a:t>Periodic Properties of Elements</a:t>
            </a:r>
          </a:p>
        </p:txBody>
      </p:sp>
      <p:sp>
        <p:nvSpPr>
          <p:cNvPr id="6" name="Slide Number Placeholder 5"/>
          <p:cNvSpPr>
            <a:spLocks noGrp="1"/>
          </p:cNvSpPr>
          <p:nvPr>
            <p:ph type="sldNum" sz="quarter" idx="12"/>
          </p:nvPr>
        </p:nvSpPr>
        <p:spPr/>
        <p:txBody>
          <a:bodyPr/>
          <a:lstStyle/>
          <a:p>
            <a:fld id="{18FFC5A6-CECA-42F5-ACA8-5C3F58FF9B21}" type="slidenum">
              <a:rPr lang="en-US" smtClean="0"/>
              <a:t>‹#›</a:t>
            </a:fld>
            <a:endParaRPr lang="en-US"/>
          </a:p>
        </p:txBody>
      </p:sp>
    </p:spTree>
    <p:extLst>
      <p:ext uri="{BB962C8B-B14F-4D97-AF65-F5344CB8AC3E}">
        <p14:creationId xmlns:p14="http://schemas.microsoft.com/office/powerpoint/2010/main" val="343653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96E4946-6555-4638-80A1-8857C0FECD8B}" type="datetime1">
              <a:rPr lang="en-US" smtClean="0"/>
              <a:t>8/3/2023</a:t>
            </a:fld>
            <a:endParaRPr lang="en-US"/>
          </a:p>
        </p:txBody>
      </p:sp>
      <p:sp>
        <p:nvSpPr>
          <p:cNvPr id="5" name="Footer Placeholder 4"/>
          <p:cNvSpPr>
            <a:spLocks noGrp="1"/>
          </p:cNvSpPr>
          <p:nvPr>
            <p:ph type="ftr" sz="quarter" idx="11"/>
          </p:nvPr>
        </p:nvSpPr>
        <p:spPr/>
        <p:txBody>
          <a:bodyPr/>
          <a:lstStyle/>
          <a:p>
            <a:r>
              <a:rPr lang="en-US"/>
              <a:t>Periodic Properties of Elements</a:t>
            </a:r>
          </a:p>
        </p:txBody>
      </p:sp>
      <p:sp>
        <p:nvSpPr>
          <p:cNvPr id="6" name="Slide Number Placeholder 5"/>
          <p:cNvSpPr>
            <a:spLocks noGrp="1"/>
          </p:cNvSpPr>
          <p:nvPr>
            <p:ph type="sldNum" sz="quarter" idx="12"/>
          </p:nvPr>
        </p:nvSpPr>
        <p:spPr/>
        <p:txBody>
          <a:bodyPr/>
          <a:lstStyle/>
          <a:p>
            <a:fld id="{18FFC5A6-CECA-42F5-ACA8-5C3F58FF9B21}" type="slidenum">
              <a:rPr lang="en-US" smtClean="0"/>
              <a:t>‹#›</a:t>
            </a:fld>
            <a:endParaRPr lang="en-US"/>
          </a:p>
        </p:txBody>
      </p:sp>
    </p:spTree>
    <p:extLst>
      <p:ext uri="{BB962C8B-B14F-4D97-AF65-F5344CB8AC3E}">
        <p14:creationId xmlns:p14="http://schemas.microsoft.com/office/powerpoint/2010/main" val="2285492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E20C47-7139-4818-AD99-6D030C72A410}" type="datetime1">
              <a:rPr lang="en-US" smtClean="0"/>
              <a:t>8/3/2023</a:t>
            </a:fld>
            <a:endParaRPr lang="en-US"/>
          </a:p>
        </p:txBody>
      </p:sp>
      <p:sp>
        <p:nvSpPr>
          <p:cNvPr id="5" name="Footer Placeholder 4"/>
          <p:cNvSpPr>
            <a:spLocks noGrp="1"/>
          </p:cNvSpPr>
          <p:nvPr>
            <p:ph type="ftr" sz="quarter" idx="11"/>
          </p:nvPr>
        </p:nvSpPr>
        <p:spPr/>
        <p:txBody>
          <a:bodyPr/>
          <a:lstStyle/>
          <a:p>
            <a:r>
              <a:rPr lang="en-US"/>
              <a:t>Periodic Properties of Elements</a:t>
            </a:r>
          </a:p>
        </p:txBody>
      </p:sp>
      <p:sp>
        <p:nvSpPr>
          <p:cNvPr id="6" name="Slide Number Placeholder 5"/>
          <p:cNvSpPr>
            <a:spLocks noGrp="1"/>
          </p:cNvSpPr>
          <p:nvPr>
            <p:ph type="sldNum" sz="quarter" idx="12"/>
          </p:nvPr>
        </p:nvSpPr>
        <p:spPr/>
        <p:txBody>
          <a:bodyPr/>
          <a:lstStyle/>
          <a:p>
            <a:fld id="{18FFC5A6-CECA-42F5-ACA8-5C3F58FF9B21}" type="slidenum">
              <a:rPr lang="en-US" smtClean="0"/>
              <a:t>‹#›</a:t>
            </a:fld>
            <a:endParaRPr lang="en-US"/>
          </a:p>
        </p:txBody>
      </p:sp>
    </p:spTree>
    <p:extLst>
      <p:ext uri="{BB962C8B-B14F-4D97-AF65-F5344CB8AC3E}">
        <p14:creationId xmlns:p14="http://schemas.microsoft.com/office/powerpoint/2010/main" val="855817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17D4E20-9389-462F-8F06-BB478F92809D}" type="datetime1">
              <a:rPr lang="en-US" smtClean="0"/>
              <a:t>8/3/2023</a:t>
            </a:fld>
            <a:endParaRPr lang="en-US"/>
          </a:p>
        </p:txBody>
      </p:sp>
      <p:sp>
        <p:nvSpPr>
          <p:cNvPr id="6" name="Footer Placeholder 5"/>
          <p:cNvSpPr>
            <a:spLocks noGrp="1"/>
          </p:cNvSpPr>
          <p:nvPr>
            <p:ph type="ftr" sz="quarter" idx="11"/>
          </p:nvPr>
        </p:nvSpPr>
        <p:spPr/>
        <p:txBody>
          <a:bodyPr/>
          <a:lstStyle/>
          <a:p>
            <a:r>
              <a:rPr lang="en-US"/>
              <a:t>Periodic Properties of Elements</a:t>
            </a:r>
          </a:p>
        </p:txBody>
      </p:sp>
      <p:sp>
        <p:nvSpPr>
          <p:cNvPr id="7" name="Slide Number Placeholder 6"/>
          <p:cNvSpPr>
            <a:spLocks noGrp="1"/>
          </p:cNvSpPr>
          <p:nvPr>
            <p:ph type="sldNum" sz="quarter" idx="12"/>
          </p:nvPr>
        </p:nvSpPr>
        <p:spPr/>
        <p:txBody>
          <a:bodyPr/>
          <a:lstStyle/>
          <a:p>
            <a:fld id="{18FFC5A6-CECA-42F5-ACA8-5C3F58FF9B21}" type="slidenum">
              <a:rPr lang="en-US" smtClean="0"/>
              <a:t>‹#›</a:t>
            </a:fld>
            <a:endParaRPr lang="en-US"/>
          </a:p>
        </p:txBody>
      </p:sp>
    </p:spTree>
    <p:extLst>
      <p:ext uri="{BB962C8B-B14F-4D97-AF65-F5344CB8AC3E}">
        <p14:creationId xmlns:p14="http://schemas.microsoft.com/office/powerpoint/2010/main" val="3922663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3F4BD9E-ABF5-4348-AAE1-0D15E7A577DD}" type="datetime1">
              <a:rPr lang="en-US" smtClean="0"/>
              <a:t>8/3/2023</a:t>
            </a:fld>
            <a:endParaRPr lang="en-US"/>
          </a:p>
        </p:txBody>
      </p:sp>
      <p:sp>
        <p:nvSpPr>
          <p:cNvPr id="8" name="Footer Placeholder 7"/>
          <p:cNvSpPr>
            <a:spLocks noGrp="1"/>
          </p:cNvSpPr>
          <p:nvPr>
            <p:ph type="ftr" sz="quarter" idx="11"/>
          </p:nvPr>
        </p:nvSpPr>
        <p:spPr/>
        <p:txBody>
          <a:bodyPr/>
          <a:lstStyle/>
          <a:p>
            <a:r>
              <a:rPr lang="en-US"/>
              <a:t>Periodic Properties of Elements</a:t>
            </a:r>
          </a:p>
        </p:txBody>
      </p:sp>
      <p:sp>
        <p:nvSpPr>
          <p:cNvPr id="9" name="Slide Number Placeholder 8"/>
          <p:cNvSpPr>
            <a:spLocks noGrp="1"/>
          </p:cNvSpPr>
          <p:nvPr>
            <p:ph type="sldNum" sz="quarter" idx="12"/>
          </p:nvPr>
        </p:nvSpPr>
        <p:spPr/>
        <p:txBody>
          <a:bodyPr/>
          <a:lstStyle/>
          <a:p>
            <a:fld id="{18FFC5A6-CECA-42F5-ACA8-5C3F58FF9B21}" type="slidenum">
              <a:rPr lang="en-US" smtClean="0"/>
              <a:t>‹#›</a:t>
            </a:fld>
            <a:endParaRPr lang="en-US"/>
          </a:p>
        </p:txBody>
      </p:sp>
    </p:spTree>
    <p:extLst>
      <p:ext uri="{BB962C8B-B14F-4D97-AF65-F5344CB8AC3E}">
        <p14:creationId xmlns:p14="http://schemas.microsoft.com/office/powerpoint/2010/main" val="3701377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748A82-13AC-40D0-BD07-833F9DE867B8}" type="datetime1">
              <a:rPr lang="en-US" smtClean="0"/>
              <a:t>8/3/2023</a:t>
            </a:fld>
            <a:endParaRPr lang="en-US"/>
          </a:p>
        </p:txBody>
      </p:sp>
      <p:sp>
        <p:nvSpPr>
          <p:cNvPr id="4" name="Footer Placeholder 3"/>
          <p:cNvSpPr>
            <a:spLocks noGrp="1"/>
          </p:cNvSpPr>
          <p:nvPr>
            <p:ph type="ftr" sz="quarter" idx="11"/>
          </p:nvPr>
        </p:nvSpPr>
        <p:spPr/>
        <p:txBody>
          <a:bodyPr/>
          <a:lstStyle/>
          <a:p>
            <a:r>
              <a:rPr lang="en-US"/>
              <a:t>Periodic Properties of Elements</a:t>
            </a:r>
          </a:p>
        </p:txBody>
      </p:sp>
      <p:sp>
        <p:nvSpPr>
          <p:cNvPr id="5" name="Slide Number Placeholder 4"/>
          <p:cNvSpPr>
            <a:spLocks noGrp="1"/>
          </p:cNvSpPr>
          <p:nvPr>
            <p:ph type="sldNum" sz="quarter" idx="12"/>
          </p:nvPr>
        </p:nvSpPr>
        <p:spPr/>
        <p:txBody>
          <a:bodyPr/>
          <a:lstStyle/>
          <a:p>
            <a:fld id="{18FFC5A6-CECA-42F5-ACA8-5C3F58FF9B21}" type="slidenum">
              <a:rPr lang="en-US" smtClean="0"/>
              <a:t>‹#›</a:t>
            </a:fld>
            <a:endParaRPr lang="en-US"/>
          </a:p>
        </p:txBody>
      </p:sp>
    </p:spTree>
    <p:extLst>
      <p:ext uri="{BB962C8B-B14F-4D97-AF65-F5344CB8AC3E}">
        <p14:creationId xmlns:p14="http://schemas.microsoft.com/office/powerpoint/2010/main" val="4211109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209F4E-0B72-4549-A25B-4A9F7C6E07B7}" type="datetime1">
              <a:rPr lang="en-US" smtClean="0"/>
              <a:t>8/3/2023</a:t>
            </a:fld>
            <a:endParaRPr lang="en-US"/>
          </a:p>
        </p:txBody>
      </p:sp>
      <p:sp>
        <p:nvSpPr>
          <p:cNvPr id="3" name="Footer Placeholder 2"/>
          <p:cNvSpPr>
            <a:spLocks noGrp="1"/>
          </p:cNvSpPr>
          <p:nvPr>
            <p:ph type="ftr" sz="quarter" idx="11"/>
          </p:nvPr>
        </p:nvSpPr>
        <p:spPr/>
        <p:txBody>
          <a:bodyPr/>
          <a:lstStyle/>
          <a:p>
            <a:r>
              <a:rPr lang="en-US"/>
              <a:t>Periodic Properties of Elements</a:t>
            </a:r>
          </a:p>
        </p:txBody>
      </p:sp>
      <p:sp>
        <p:nvSpPr>
          <p:cNvPr id="4" name="Slide Number Placeholder 3"/>
          <p:cNvSpPr>
            <a:spLocks noGrp="1"/>
          </p:cNvSpPr>
          <p:nvPr>
            <p:ph type="sldNum" sz="quarter" idx="12"/>
          </p:nvPr>
        </p:nvSpPr>
        <p:spPr/>
        <p:txBody>
          <a:bodyPr/>
          <a:lstStyle/>
          <a:p>
            <a:fld id="{18FFC5A6-CECA-42F5-ACA8-5C3F58FF9B21}" type="slidenum">
              <a:rPr lang="en-US" smtClean="0"/>
              <a:t>‹#›</a:t>
            </a:fld>
            <a:endParaRPr lang="en-US"/>
          </a:p>
        </p:txBody>
      </p:sp>
    </p:spTree>
    <p:extLst>
      <p:ext uri="{BB962C8B-B14F-4D97-AF65-F5344CB8AC3E}">
        <p14:creationId xmlns:p14="http://schemas.microsoft.com/office/powerpoint/2010/main" val="963741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7B7EB5-A0A4-4A9E-8ECD-90F765DB4613}" type="datetime1">
              <a:rPr lang="en-US" smtClean="0"/>
              <a:t>8/3/2023</a:t>
            </a:fld>
            <a:endParaRPr lang="en-US"/>
          </a:p>
        </p:txBody>
      </p:sp>
      <p:sp>
        <p:nvSpPr>
          <p:cNvPr id="6" name="Footer Placeholder 5"/>
          <p:cNvSpPr>
            <a:spLocks noGrp="1"/>
          </p:cNvSpPr>
          <p:nvPr>
            <p:ph type="ftr" sz="quarter" idx="11"/>
          </p:nvPr>
        </p:nvSpPr>
        <p:spPr/>
        <p:txBody>
          <a:bodyPr/>
          <a:lstStyle/>
          <a:p>
            <a:r>
              <a:rPr lang="en-US"/>
              <a:t>Periodic Properties of Elements</a:t>
            </a:r>
          </a:p>
        </p:txBody>
      </p:sp>
      <p:sp>
        <p:nvSpPr>
          <p:cNvPr id="7" name="Slide Number Placeholder 6"/>
          <p:cNvSpPr>
            <a:spLocks noGrp="1"/>
          </p:cNvSpPr>
          <p:nvPr>
            <p:ph type="sldNum" sz="quarter" idx="12"/>
          </p:nvPr>
        </p:nvSpPr>
        <p:spPr/>
        <p:txBody>
          <a:bodyPr/>
          <a:lstStyle/>
          <a:p>
            <a:fld id="{18FFC5A6-CECA-42F5-ACA8-5C3F58FF9B21}" type="slidenum">
              <a:rPr lang="en-US" smtClean="0"/>
              <a:t>‹#›</a:t>
            </a:fld>
            <a:endParaRPr lang="en-US"/>
          </a:p>
        </p:txBody>
      </p:sp>
    </p:spTree>
    <p:extLst>
      <p:ext uri="{BB962C8B-B14F-4D97-AF65-F5344CB8AC3E}">
        <p14:creationId xmlns:p14="http://schemas.microsoft.com/office/powerpoint/2010/main" val="3464999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B439536-4D27-4B67-80B7-A33A327A9E5D}" type="datetime1">
              <a:rPr lang="en-US" smtClean="0"/>
              <a:t>8/3/2023</a:t>
            </a:fld>
            <a:endParaRPr lang="en-US"/>
          </a:p>
        </p:txBody>
      </p:sp>
      <p:sp>
        <p:nvSpPr>
          <p:cNvPr id="6" name="Footer Placeholder 5"/>
          <p:cNvSpPr>
            <a:spLocks noGrp="1"/>
          </p:cNvSpPr>
          <p:nvPr>
            <p:ph type="ftr" sz="quarter" idx="11"/>
          </p:nvPr>
        </p:nvSpPr>
        <p:spPr/>
        <p:txBody>
          <a:bodyPr/>
          <a:lstStyle/>
          <a:p>
            <a:r>
              <a:rPr lang="en-US"/>
              <a:t>Periodic Properties of Elements</a:t>
            </a:r>
          </a:p>
        </p:txBody>
      </p:sp>
      <p:sp>
        <p:nvSpPr>
          <p:cNvPr id="7" name="Slide Number Placeholder 6"/>
          <p:cNvSpPr>
            <a:spLocks noGrp="1"/>
          </p:cNvSpPr>
          <p:nvPr>
            <p:ph type="sldNum" sz="quarter" idx="12"/>
          </p:nvPr>
        </p:nvSpPr>
        <p:spPr/>
        <p:txBody>
          <a:bodyPr/>
          <a:lstStyle/>
          <a:p>
            <a:fld id="{18FFC5A6-CECA-42F5-ACA8-5C3F58FF9B21}" type="slidenum">
              <a:rPr lang="en-US" smtClean="0"/>
              <a:t>‹#›</a:t>
            </a:fld>
            <a:endParaRPr lang="en-US"/>
          </a:p>
        </p:txBody>
      </p:sp>
    </p:spTree>
    <p:extLst>
      <p:ext uri="{BB962C8B-B14F-4D97-AF65-F5344CB8AC3E}">
        <p14:creationId xmlns:p14="http://schemas.microsoft.com/office/powerpoint/2010/main" val="2265286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40FF165-08AB-473A-AC75-65E4FB23F212}" type="datetime1">
              <a:rPr lang="en-US" smtClean="0"/>
              <a:t>8/3/2023</a:t>
            </a:fld>
            <a:endParaRPr lang="en-US"/>
          </a:p>
        </p:txBody>
      </p:sp>
      <p:sp>
        <p:nvSpPr>
          <p:cNvPr id="5" name="Footer Placeholder 4"/>
          <p:cNvSpPr>
            <a:spLocks noGrp="1"/>
          </p:cNvSpPr>
          <p:nvPr>
            <p:ph type="ftr" sz="quarter" idx="11"/>
          </p:nvPr>
        </p:nvSpPr>
        <p:spPr/>
        <p:txBody>
          <a:bodyPr/>
          <a:lstStyle/>
          <a:p>
            <a:r>
              <a:rPr lang="en-US"/>
              <a:t>Periodic Properties of Elements</a:t>
            </a:r>
          </a:p>
        </p:txBody>
      </p:sp>
      <p:sp>
        <p:nvSpPr>
          <p:cNvPr id="6" name="Slide Number Placeholder 5"/>
          <p:cNvSpPr>
            <a:spLocks noGrp="1"/>
          </p:cNvSpPr>
          <p:nvPr>
            <p:ph type="sldNum" sz="quarter" idx="12"/>
          </p:nvPr>
        </p:nvSpPr>
        <p:spPr/>
        <p:txBody>
          <a:bodyPr/>
          <a:lstStyle/>
          <a:p>
            <a:fld id="{18FFC5A6-CECA-42F5-ACA8-5C3F58FF9B21}" type="slidenum">
              <a:rPr lang="en-US" smtClean="0"/>
              <a:t>‹#›</a:t>
            </a:fld>
            <a:endParaRPr lang="en-US"/>
          </a:p>
        </p:txBody>
      </p:sp>
    </p:spTree>
    <p:extLst>
      <p:ext uri="{BB962C8B-B14F-4D97-AF65-F5344CB8AC3E}">
        <p14:creationId xmlns:p14="http://schemas.microsoft.com/office/powerpoint/2010/main" val="219805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E47BCE-CD91-45A5-8137-4DBA1489E016}" type="datetime1">
              <a:rPr lang="en-US" smtClean="0"/>
              <a:t>8/3/2023</a:t>
            </a:fld>
            <a:endParaRPr lang="en-US"/>
          </a:p>
        </p:txBody>
      </p:sp>
      <p:sp>
        <p:nvSpPr>
          <p:cNvPr id="5" name="Footer Placeholder 4"/>
          <p:cNvSpPr>
            <a:spLocks noGrp="1"/>
          </p:cNvSpPr>
          <p:nvPr>
            <p:ph type="ftr" sz="quarter" idx="11"/>
          </p:nvPr>
        </p:nvSpPr>
        <p:spPr/>
        <p:txBody>
          <a:bodyPr/>
          <a:lstStyle/>
          <a:p>
            <a:r>
              <a:rPr lang="en-US"/>
              <a:t>Periodic Properties of Elements</a:t>
            </a:r>
          </a:p>
        </p:txBody>
      </p:sp>
      <p:sp>
        <p:nvSpPr>
          <p:cNvPr id="6" name="Slide Number Placeholder 5"/>
          <p:cNvSpPr>
            <a:spLocks noGrp="1"/>
          </p:cNvSpPr>
          <p:nvPr>
            <p:ph type="sldNum" sz="quarter" idx="12"/>
          </p:nvPr>
        </p:nvSpPr>
        <p:spPr/>
        <p:txBody>
          <a:bodyPr/>
          <a:lstStyle/>
          <a:p>
            <a:fld id="{18FFC5A6-CECA-42F5-ACA8-5C3F58FF9B21}" type="slidenum">
              <a:rPr lang="en-US" smtClean="0"/>
              <a:t>‹#›</a:t>
            </a:fld>
            <a:endParaRPr lang="en-US"/>
          </a:p>
        </p:txBody>
      </p:sp>
    </p:spTree>
    <p:extLst>
      <p:ext uri="{BB962C8B-B14F-4D97-AF65-F5344CB8AC3E}">
        <p14:creationId xmlns:p14="http://schemas.microsoft.com/office/powerpoint/2010/main" val="2069253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753A62-2FA9-4821-99E3-E67B6E3DE818}" type="datetime1">
              <a:rPr lang="en-US" smtClean="0"/>
              <a:t>8/3/2023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Periodic Properties of Elements</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FFC5A6-CECA-42F5-ACA8-5C3F58FF9B21}" type="slidenum">
              <a:rPr lang="en-US" smtClean="0"/>
              <a:t>‹#›</a:t>
            </a:fld>
            <a:endParaRPr lang="en-US"/>
          </a:p>
        </p:txBody>
      </p:sp>
    </p:spTree>
    <p:extLst>
      <p:ext uri="{BB962C8B-B14F-4D97-AF65-F5344CB8AC3E}">
        <p14:creationId xmlns:p14="http://schemas.microsoft.com/office/powerpoint/2010/main" val="1563294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www.youtube.com/watch?v=fPnwBITSmgU" TargetMode="External"/><Relationship Id="rId7" Type="http://schemas.openxmlformats.org/officeDocument/2006/relationships/hyperlink" Target="https://www.youtube.com/watch?v=YGz4YgTTs8Q" TargetMode="External"/><Relationship Id="rId2" Type="http://schemas.openxmlformats.org/officeDocument/2006/relationships/hyperlink" Target="https://www.youtube.com/watch?v=I5H1SeepnaU" TargetMode="External"/><Relationship Id="rId1" Type="http://schemas.openxmlformats.org/officeDocument/2006/relationships/slideLayout" Target="../slideLayouts/slideLayout2.xml"/><Relationship Id="rId6" Type="http://schemas.openxmlformats.org/officeDocument/2006/relationships/hyperlink" Target="https://www.youtube.com/watch?v=hs5t-6iq6-c" TargetMode="External"/><Relationship Id="rId5" Type="http://schemas.openxmlformats.org/officeDocument/2006/relationships/hyperlink" Target="https://www.youtube.com/watch?v=hePb00CqvP0" TargetMode="External"/><Relationship Id="rId4" Type="http://schemas.openxmlformats.org/officeDocument/2006/relationships/hyperlink" Target="https://www.youtube.com/watch?v=6WIBa32o63Q"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a:latin typeface="Aharoni" panose="02010803020104030203" pitchFamily="2" charset="-79"/>
                <a:cs typeface="Aharoni" panose="02010803020104030203" pitchFamily="2" charset="-79"/>
              </a:rPr>
              <a:t>Periodic properties </a:t>
            </a:r>
            <a:r>
              <a:rPr lang="en-US" b="1" dirty="0">
                <a:latin typeface="Aharoni" panose="02010803020104030203" pitchFamily="2" charset="-79"/>
                <a:cs typeface="Aharoni" panose="02010803020104030203" pitchFamily="2" charset="-79"/>
              </a:rPr>
              <a:t>of elements</a:t>
            </a:r>
          </a:p>
        </p:txBody>
      </p:sp>
      <p:sp>
        <p:nvSpPr>
          <p:cNvPr id="3" name="Footer Placeholder 2">
            <a:extLst>
              <a:ext uri="{FF2B5EF4-FFF2-40B4-BE49-F238E27FC236}">
                <a16:creationId xmlns:a16="http://schemas.microsoft.com/office/drawing/2014/main" id="{FF70A9BD-E7ED-D63C-5108-9A664C784A07}"/>
              </a:ext>
            </a:extLst>
          </p:cNvPr>
          <p:cNvSpPr>
            <a:spLocks noGrp="1"/>
          </p:cNvSpPr>
          <p:nvPr>
            <p:ph type="ftr" sz="quarter" idx="11"/>
          </p:nvPr>
        </p:nvSpPr>
        <p:spPr/>
        <p:txBody>
          <a:bodyPr/>
          <a:lstStyle/>
          <a:p>
            <a:r>
              <a:rPr lang="en-US"/>
              <a:t>Periodic Properties of Elements</a:t>
            </a:r>
          </a:p>
        </p:txBody>
      </p:sp>
      <p:sp>
        <p:nvSpPr>
          <p:cNvPr id="4" name="Slide Number Placeholder 3">
            <a:extLst>
              <a:ext uri="{FF2B5EF4-FFF2-40B4-BE49-F238E27FC236}">
                <a16:creationId xmlns:a16="http://schemas.microsoft.com/office/drawing/2014/main" id="{D5125433-FE7A-C910-F4EB-645ABEA540A9}"/>
              </a:ext>
            </a:extLst>
          </p:cNvPr>
          <p:cNvSpPr>
            <a:spLocks noGrp="1"/>
          </p:cNvSpPr>
          <p:nvPr>
            <p:ph type="sldNum" sz="quarter" idx="12"/>
          </p:nvPr>
        </p:nvSpPr>
        <p:spPr/>
        <p:txBody>
          <a:bodyPr/>
          <a:lstStyle/>
          <a:p>
            <a:fld id="{18FFC5A6-CECA-42F5-ACA8-5C3F58FF9B21}" type="slidenum">
              <a:rPr lang="en-US" smtClean="0"/>
              <a:t>1</a:t>
            </a:fld>
            <a:endParaRPr lang="en-US"/>
          </a:p>
        </p:txBody>
      </p:sp>
      <p:sp>
        <p:nvSpPr>
          <p:cNvPr id="5" name="Date Placeholder 4">
            <a:extLst>
              <a:ext uri="{FF2B5EF4-FFF2-40B4-BE49-F238E27FC236}">
                <a16:creationId xmlns:a16="http://schemas.microsoft.com/office/drawing/2014/main" id="{4C3CD243-55F1-EC5B-BF9A-3FB658199C2A}"/>
              </a:ext>
            </a:extLst>
          </p:cNvPr>
          <p:cNvSpPr>
            <a:spLocks noGrp="1"/>
          </p:cNvSpPr>
          <p:nvPr>
            <p:ph type="dt" sz="half" idx="10"/>
          </p:nvPr>
        </p:nvSpPr>
        <p:spPr/>
        <p:txBody>
          <a:bodyPr/>
          <a:lstStyle/>
          <a:p>
            <a:fld id="{9212B025-7538-46B5-AE36-7DE1AF0E3F6F}" type="datetime1">
              <a:rPr lang="en-US" smtClean="0"/>
              <a:t>8/3/2023</a:t>
            </a:fld>
            <a:endParaRPr lang="en-US"/>
          </a:p>
        </p:txBody>
      </p:sp>
    </p:spTree>
    <p:extLst>
      <p:ext uri="{BB962C8B-B14F-4D97-AF65-F5344CB8AC3E}">
        <p14:creationId xmlns:p14="http://schemas.microsoft.com/office/powerpoint/2010/main" val="995386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History of Periodic Table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
        <p:nvSpPr>
          <p:cNvPr id="2" name="Footer Placeholder 1">
            <a:extLst>
              <a:ext uri="{FF2B5EF4-FFF2-40B4-BE49-F238E27FC236}">
                <a16:creationId xmlns:a16="http://schemas.microsoft.com/office/drawing/2014/main" id="{81011C9E-75F6-41EC-F5AD-A36791029D41}"/>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E179BFDA-CE9C-E0CC-F7E3-75C4AB0600DF}"/>
              </a:ext>
            </a:extLst>
          </p:cNvPr>
          <p:cNvSpPr>
            <a:spLocks noGrp="1"/>
          </p:cNvSpPr>
          <p:nvPr>
            <p:ph type="sldNum" sz="quarter" idx="12"/>
          </p:nvPr>
        </p:nvSpPr>
        <p:spPr/>
        <p:txBody>
          <a:bodyPr/>
          <a:lstStyle/>
          <a:p>
            <a:fld id="{18FFC5A6-CECA-42F5-ACA8-5C3F58FF9B21}" type="slidenum">
              <a:rPr lang="en-US" smtClean="0"/>
              <a:t>2</a:t>
            </a:fld>
            <a:endParaRPr lang="en-US"/>
          </a:p>
        </p:txBody>
      </p:sp>
      <p:sp>
        <p:nvSpPr>
          <p:cNvPr id="5" name="Date Placeholder 4">
            <a:extLst>
              <a:ext uri="{FF2B5EF4-FFF2-40B4-BE49-F238E27FC236}">
                <a16:creationId xmlns:a16="http://schemas.microsoft.com/office/drawing/2014/main" id="{7FAAECFC-9B61-6B73-4D5A-F59651F7E5B4}"/>
              </a:ext>
            </a:extLst>
          </p:cNvPr>
          <p:cNvSpPr>
            <a:spLocks noGrp="1"/>
          </p:cNvSpPr>
          <p:nvPr>
            <p:ph type="dt" sz="half" idx="10"/>
          </p:nvPr>
        </p:nvSpPr>
        <p:spPr/>
        <p:txBody>
          <a:bodyPr/>
          <a:lstStyle/>
          <a:p>
            <a:fld id="{22457989-A032-40F4-B6BE-F8CE82DDB19D}" type="datetime1">
              <a:rPr lang="en-US" smtClean="0"/>
              <a:t>8/3/2023</a:t>
            </a:fld>
            <a:endParaRPr lang="en-US"/>
          </a:p>
        </p:txBody>
      </p:sp>
    </p:spTree>
    <p:extLst>
      <p:ext uri="{BB962C8B-B14F-4D97-AF65-F5344CB8AC3E}">
        <p14:creationId xmlns:p14="http://schemas.microsoft.com/office/powerpoint/2010/main" val="171131489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4AEBE2-CD71-48DB-892B-7088AE48217C}"/>
              </a:ext>
            </a:extLst>
          </p:cNvPr>
          <p:cNvSpPr>
            <a:spLocks noGrp="1"/>
          </p:cNvSpPr>
          <p:nvPr>
            <p:ph idx="1"/>
          </p:nvPr>
        </p:nvSpPr>
        <p:spPr>
          <a:xfrm>
            <a:off x="208699" y="425242"/>
            <a:ext cx="11447835" cy="6102417"/>
          </a:xfrm>
        </p:spPr>
        <p:txBody>
          <a:bodyPr>
            <a:normAutofit fontScale="55000" lnSpcReduction="20000"/>
          </a:bodyPr>
          <a:lstStyle/>
          <a:p>
            <a:pPr marL="0" indent="0" algn="ctr">
              <a:buNone/>
            </a:pPr>
            <a:r>
              <a:rPr lang="en-US" sz="7300" b="1" dirty="0">
                <a:latin typeface="Aharoni" panose="02010803020104030203" pitchFamily="2" charset="-79"/>
                <a:cs typeface="Aharoni" panose="02010803020104030203" pitchFamily="2" charset="-79"/>
              </a:rPr>
              <a:t>Modern Periodic table</a:t>
            </a:r>
            <a:endParaRPr lang="en-US" sz="4500" dirty="0"/>
          </a:p>
          <a:p>
            <a:pPr algn="just">
              <a:lnSpc>
                <a:spcPct val="200000"/>
              </a:lnSpc>
            </a:pPr>
            <a:r>
              <a:rPr lang="en-US" sz="4500" dirty="0"/>
              <a:t> Henry Mosley 1913, English physicist based on his work on X-ray spectra</a:t>
            </a:r>
          </a:p>
          <a:p>
            <a:pPr algn="just">
              <a:lnSpc>
                <a:spcPct val="200000"/>
              </a:lnSpc>
            </a:pPr>
            <a:r>
              <a:rPr lang="en-US" sz="4500" dirty="0"/>
              <a:t>Atomic no is fundamentally proportional to chemical and physical properties</a:t>
            </a:r>
          </a:p>
          <a:p>
            <a:pPr algn="just">
              <a:lnSpc>
                <a:spcPct val="200000"/>
              </a:lnSpc>
            </a:pPr>
            <a:r>
              <a:rPr lang="en-US" sz="4500" dirty="0"/>
              <a:t>Elements were arranged in increasing order of atomic numbers</a:t>
            </a:r>
          </a:p>
          <a:p>
            <a:pPr algn="just">
              <a:lnSpc>
                <a:spcPct val="200000"/>
              </a:lnSpc>
            </a:pPr>
            <a:r>
              <a:rPr lang="en-US" sz="4500" dirty="0"/>
              <a:t>Elements with similar properties occupies position in group</a:t>
            </a:r>
          </a:p>
          <a:p>
            <a:pPr algn="just">
              <a:lnSpc>
                <a:spcPct val="200000"/>
              </a:lnSpc>
            </a:pPr>
            <a:r>
              <a:rPr lang="en-US" sz="4500" dirty="0"/>
              <a:t>Also possible to keep isotopes in periodic table</a:t>
            </a:r>
          </a:p>
          <a:p>
            <a:pPr algn="just">
              <a:lnSpc>
                <a:spcPct val="200000"/>
              </a:lnSpc>
            </a:pPr>
            <a:r>
              <a:rPr lang="en-US" sz="4500" dirty="0"/>
              <a:t>Also knowns as Modern Periodic table</a:t>
            </a:r>
            <a:endParaRPr lang="en-US" sz="2400" dirty="0"/>
          </a:p>
          <a:p>
            <a:pPr marL="0" indent="0" algn="just">
              <a:buNone/>
            </a:pPr>
            <a:r>
              <a:rPr lang="en-US" sz="2400" dirty="0"/>
              <a:t> </a:t>
            </a:r>
          </a:p>
          <a:p>
            <a:pPr marL="0" indent="0" algn="just">
              <a:buNone/>
            </a:pPr>
            <a:endParaRPr lang="en-US" sz="2400" dirty="0"/>
          </a:p>
          <a:p>
            <a:pPr marL="0" indent="0" algn="just">
              <a:buNone/>
            </a:pPr>
            <a:endParaRPr lang="en-US" sz="2400" dirty="0"/>
          </a:p>
          <a:p>
            <a:pPr marL="0" indent="0" algn="just">
              <a:buNone/>
            </a:pPr>
            <a:endParaRPr lang="en-US" dirty="0"/>
          </a:p>
        </p:txBody>
      </p:sp>
      <p:sp>
        <p:nvSpPr>
          <p:cNvPr id="2" name="Footer Placeholder 1">
            <a:extLst>
              <a:ext uri="{FF2B5EF4-FFF2-40B4-BE49-F238E27FC236}">
                <a16:creationId xmlns:a16="http://schemas.microsoft.com/office/drawing/2014/main" id="{4E038706-753A-558D-3D9A-C9FA4FC4700E}"/>
              </a:ext>
            </a:extLst>
          </p:cNvPr>
          <p:cNvSpPr>
            <a:spLocks noGrp="1"/>
          </p:cNvSpPr>
          <p:nvPr>
            <p:ph type="ftr" sz="quarter" idx="11"/>
          </p:nvPr>
        </p:nvSpPr>
        <p:spPr/>
        <p:txBody>
          <a:bodyPr/>
          <a:lstStyle/>
          <a:p>
            <a:r>
              <a:rPr lang="en-US"/>
              <a:t>Periodic Properties of Elements</a:t>
            </a:r>
          </a:p>
        </p:txBody>
      </p:sp>
      <p:sp>
        <p:nvSpPr>
          <p:cNvPr id="4" name="Slide Number Placeholder 3">
            <a:extLst>
              <a:ext uri="{FF2B5EF4-FFF2-40B4-BE49-F238E27FC236}">
                <a16:creationId xmlns:a16="http://schemas.microsoft.com/office/drawing/2014/main" id="{1CBB7B1D-3BE9-0E31-4C37-4EFFCC936139}"/>
              </a:ext>
            </a:extLst>
          </p:cNvPr>
          <p:cNvSpPr>
            <a:spLocks noGrp="1"/>
          </p:cNvSpPr>
          <p:nvPr>
            <p:ph type="sldNum" sz="quarter" idx="12"/>
          </p:nvPr>
        </p:nvSpPr>
        <p:spPr/>
        <p:txBody>
          <a:bodyPr/>
          <a:lstStyle/>
          <a:p>
            <a:fld id="{18FFC5A6-CECA-42F5-ACA8-5C3F58FF9B21}" type="slidenum">
              <a:rPr lang="en-US" smtClean="0"/>
              <a:t>3</a:t>
            </a:fld>
            <a:endParaRPr lang="en-US"/>
          </a:p>
        </p:txBody>
      </p:sp>
      <p:sp>
        <p:nvSpPr>
          <p:cNvPr id="5" name="Date Placeholder 4">
            <a:extLst>
              <a:ext uri="{FF2B5EF4-FFF2-40B4-BE49-F238E27FC236}">
                <a16:creationId xmlns:a16="http://schemas.microsoft.com/office/drawing/2014/main" id="{A25BFE51-54D9-7F3D-2C6F-91B49AD12A9E}"/>
              </a:ext>
            </a:extLst>
          </p:cNvPr>
          <p:cNvSpPr>
            <a:spLocks noGrp="1"/>
          </p:cNvSpPr>
          <p:nvPr>
            <p:ph type="dt" sz="half" idx="10"/>
          </p:nvPr>
        </p:nvSpPr>
        <p:spPr/>
        <p:txBody>
          <a:bodyPr/>
          <a:lstStyle/>
          <a:p>
            <a:fld id="{3B3A27B1-B0B4-4BB7-AF7D-B821F7143AE3}" type="datetime1">
              <a:rPr lang="en-US" smtClean="0"/>
              <a:t>8/3/2023</a:t>
            </a:fld>
            <a:endParaRPr lang="en-US"/>
          </a:p>
        </p:txBody>
      </p:sp>
    </p:spTree>
    <p:extLst>
      <p:ext uri="{BB962C8B-B14F-4D97-AF65-F5344CB8AC3E}">
        <p14:creationId xmlns:p14="http://schemas.microsoft.com/office/powerpoint/2010/main" val="138114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50370" y="0"/>
            <a:ext cx="11756573" cy="888782"/>
          </a:xfrm>
        </p:spPr>
        <p:txBody>
          <a:bodyPr/>
          <a:lstStyle/>
          <a:p>
            <a:r>
              <a:rPr lang="en-US" b="1" dirty="0"/>
              <a:t>Till date we have 118 elements in periodic table</a:t>
            </a:r>
          </a:p>
        </p:txBody>
      </p:sp>
      <p:pic>
        <p:nvPicPr>
          <p:cNvPr id="5" name="Content Placeholder 3"/>
          <p:cNvPicPr>
            <a:picLocks noGrp="1" noChangeAspect="1"/>
          </p:cNvPicPr>
          <p:nvPr>
            <p:ph idx="1"/>
          </p:nvPr>
        </p:nvPicPr>
        <p:blipFill>
          <a:blip r:embed="rId2"/>
          <a:stretch>
            <a:fillRect/>
          </a:stretch>
        </p:blipFill>
        <p:spPr>
          <a:xfrm>
            <a:off x="375258" y="888782"/>
            <a:ext cx="11816742" cy="5938610"/>
          </a:xfrm>
          <a:prstGeom prst="rect">
            <a:avLst/>
          </a:prstGeom>
        </p:spPr>
      </p:pic>
      <p:sp>
        <p:nvSpPr>
          <p:cNvPr id="2" name="Footer Placeholder 1">
            <a:extLst>
              <a:ext uri="{FF2B5EF4-FFF2-40B4-BE49-F238E27FC236}">
                <a16:creationId xmlns:a16="http://schemas.microsoft.com/office/drawing/2014/main" id="{EDB73796-BFD0-2DA8-8008-E331AABF6B60}"/>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E1109BDF-7906-AF6A-3DAB-28C7EC2AA493}"/>
              </a:ext>
            </a:extLst>
          </p:cNvPr>
          <p:cNvSpPr>
            <a:spLocks noGrp="1"/>
          </p:cNvSpPr>
          <p:nvPr>
            <p:ph type="sldNum" sz="quarter" idx="12"/>
          </p:nvPr>
        </p:nvSpPr>
        <p:spPr/>
        <p:txBody>
          <a:bodyPr/>
          <a:lstStyle/>
          <a:p>
            <a:fld id="{18FFC5A6-CECA-42F5-ACA8-5C3F58FF9B21}" type="slidenum">
              <a:rPr lang="en-US" smtClean="0"/>
              <a:t>4</a:t>
            </a:fld>
            <a:endParaRPr lang="en-US"/>
          </a:p>
        </p:txBody>
      </p:sp>
      <p:sp>
        <p:nvSpPr>
          <p:cNvPr id="6" name="Date Placeholder 5">
            <a:extLst>
              <a:ext uri="{FF2B5EF4-FFF2-40B4-BE49-F238E27FC236}">
                <a16:creationId xmlns:a16="http://schemas.microsoft.com/office/drawing/2014/main" id="{A8629D06-8854-402E-B245-2382125939C1}"/>
              </a:ext>
            </a:extLst>
          </p:cNvPr>
          <p:cNvSpPr>
            <a:spLocks noGrp="1"/>
          </p:cNvSpPr>
          <p:nvPr>
            <p:ph type="dt" sz="half" idx="10"/>
          </p:nvPr>
        </p:nvSpPr>
        <p:spPr/>
        <p:txBody>
          <a:bodyPr/>
          <a:lstStyle/>
          <a:p>
            <a:fld id="{C9CDC20F-8EDF-4106-8282-F0177ECD8A3F}" type="datetime1">
              <a:rPr lang="en-US" smtClean="0"/>
              <a:t>8/3/2023</a:t>
            </a:fld>
            <a:endParaRPr lang="en-US"/>
          </a:p>
        </p:txBody>
      </p:sp>
    </p:spTree>
    <p:extLst>
      <p:ext uri="{BB962C8B-B14F-4D97-AF65-F5344CB8AC3E}">
        <p14:creationId xmlns:p14="http://schemas.microsoft.com/office/powerpoint/2010/main" val="1036774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41959"/>
            <a:ext cx="12192000" cy="1600200"/>
          </a:xfrm>
        </p:spPr>
        <p:txBody>
          <a:bodyPr>
            <a:normAutofit fontScale="90000"/>
          </a:bodyPr>
          <a:lstStyle/>
          <a:p>
            <a:pPr algn="just">
              <a:lnSpc>
                <a:spcPct val="150000"/>
              </a:lnSpc>
            </a:pPr>
            <a:r>
              <a:rPr lang="en-US" sz="2800" dirty="0"/>
              <a:t>Modern Periodic Table is also referred to as Bohr’s periodic table as  elements are arranged in terms of atomic number hence electronic configuration of elements to explain periodicity in their properties. </a:t>
            </a:r>
          </a:p>
        </p:txBody>
      </p:sp>
      <p:pic>
        <p:nvPicPr>
          <p:cNvPr id="4" name="Content Placeholder 3" descr="https://files.askiitians.com/cdn1/images/2015128-161725781-3003-s,_p,_d,_f_orbitals.jpg"/>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405903" y="2242159"/>
            <a:ext cx="8577341" cy="4517864"/>
          </a:xfrm>
          <a:prstGeom prst="rect">
            <a:avLst/>
          </a:prstGeom>
          <a:noFill/>
          <a:ln>
            <a:noFill/>
          </a:ln>
        </p:spPr>
      </p:pic>
      <p:sp>
        <p:nvSpPr>
          <p:cNvPr id="3" name="Rectangle 2"/>
          <p:cNvSpPr/>
          <p:nvPr/>
        </p:nvSpPr>
        <p:spPr>
          <a:xfrm>
            <a:off x="3580728" y="47159"/>
            <a:ext cx="5030544" cy="646331"/>
          </a:xfrm>
          <a:prstGeom prst="rect">
            <a:avLst/>
          </a:prstGeom>
        </p:spPr>
        <p:txBody>
          <a:bodyPr wrap="none">
            <a:spAutoFit/>
          </a:bodyPr>
          <a:lstStyle/>
          <a:p>
            <a:pPr algn="ctr"/>
            <a:r>
              <a:rPr lang="en-US" sz="3600" b="1" dirty="0">
                <a:latin typeface="Aharoni" panose="02010803020104030203" pitchFamily="2" charset="-79"/>
                <a:cs typeface="Aharoni" panose="02010803020104030203" pitchFamily="2" charset="-79"/>
              </a:rPr>
              <a:t>Modern Periodic table</a:t>
            </a:r>
          </a:p>
        </p:txBody>
      </p:sp>
      <p:sp>
        <p:nvSpPr>
          <p:cNvPr id="5" name="Footer Placeholder 4">
            <a:extLst>
              <a:ext uri="{FF2B5EF4-FFF2-40B4-BE49-F238E27FC236}">
                <a16:creationId xmlns:a16="http://schemas.microsoft.com/office/drawing/2014/main" id="{0EE61B06-272E-F3E4-BBDF-55AC2AADB9A5}"/>
              </a:ext>
            </a:extLst>
          </p:cNvPr>
          <p:cNvSpPr>
            <a:spLocks noGrp="1"/>
          </p:cNvSpPr>
          <p:nvPr>
            <p:ph type="ftr" sz="quarter" idx="11"/>
          </p:nvPr>
        </p:nvSpPr>
        <p:spPr/>
        <p:txBody>
          <a:bodyPr/>
          <a:lstStyle/>
          <a:p>
            <a:r>
              <a:rPr lang="en-US"/>
              <a:t>Periodic Properties of Elements</a:t>
            </a:r>
          </a:p>
        </p:txBody>
      </p:sp>
      <p:sp>
        <p:nvSpPr>
          <p:cNvPr id="6" name="Slide Number Placeholder 5">
            <a:extLst>
              <a:ext uri="{FF2B5EF4-FFF2-40B4-BE49-F238E27FC236}">
                <a16:creationId xmlns:a16="http://schemas.microsoft.com/office/drawing/2014/main" id="{E9B89DC7-560B-A1B8-2020-6805C2CD0810}"/>
              </a:ext>
            </a:extLst>
          </p:cNvPr>
          <p:cNvSpPr>
            <a:spLocks noGrp="1"/>
          </p:cNvSpPr>
          <p:nvPr>
            <p:ph type="sldNum" sz="quarter" idx="12"/>
          </p:nvPr>
        </p:nvSpPr>
        <p:spPr/>
        <p:txBody>
          <a:bodyPr/>
          <a:lstStyle/>
          <a:p>
            <a:fld id="{18FFC5A6-CECA-42F5-ACA8-5C3F58FF9B21}" type="slidenum">
              <a:rPr lang="en-US" smtClean="0"/>
              <a:t>5</a:t>
            </a:fld>
            <a:endParaRPr lang="en-US"/>
          </a:p>
        </p:txBody>
      </p:sp>
      <p:sp>
        <p:nvSpPr>
          <p:cNvPr id="7" name="Date Placeholder 6">
            <a:extLst>
              <a:ext uri="{FF2B5EF4-FFF2-40B4-BE49-F238E27FC236}">
                <a16:creationId xmlns:a16="http://schemas.microsoft.com/office/drawing/2014/main" id="{F9591279-941E-E0A4-1F9E-49EC6ECABE8E}"/>
              </a:ext>
            </a:extLst>
          </p:cNvPr>
          <p:cNvSpPr>
            <a:spLocks noGrp="1"/>
          </p:cNvSpPr>
          <p:nvPr>
            <p:ph type="dt" sz="half" idx="10"/>
          </p:nvPr>
        </p:nvSpPr>
        <p:spPr/>
        <p:txBody>
          <a:bodyPr/>
          <a:lstStyle/>
          <a:p>
            <a:fld id="{AC394243-7557-4991-92BB-711B64CD5406}" type="datetime1">
              <a:rPr lang="en-US" smtClean="0"/>
              <a:t>8/3/2023</a:t>
            </a:fld>
            <a:endParaRPr lang="en-US"/>
          </a:p>
        </p:txBody>
      </p:sp>
    </p:spTree>
    <p:extLst>
      <p:ext uri="{BB962C8B-B14F-4D97-AF65-F5344CB8AC3E}">
        <p14:creationId xmlns:p14="http://schemas.microsoft.com/office/powerpoint/2010/main" val="1729959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CF460C-EB47-437D-9B86-7D2655F44879}"/>
              </a:ext>
            </a:extLst>
          </p:cNvPr>
          <p:cNvSpPr txBox="1"/>
          <p:nvPr/>
        </p:nvSpPr>
        <p:spPr>
          <a:xfrm>
            <a:off x="535020" y="204281"/>
            <a:ext cx="10535057" cy="9956572"/>
          </a:xfrm>
          <a:prstGeom prst="rect">
            <a:avLst/>
          </a:prstGeom>
          <a:noFill/>
        </p:spPr>
        <p:txBody>
          <a:bodyPr wrap="square" rtlCol="0">
            <a:spAutoFit/>
          </a:bodyPr>
          <a:lstStyle/>
          <a:p>
            <a:pPr algn="ctr"/>
            <a:r>
              <a:rPr lang="en-US" sz="3200" b="1" dirty="0">
                <a:latin typeface="Aharoni" panose="02010803020104030203" pitchFamily="2" charset="-79"/>
                <a:cs typeface="Aharoni" panose="02010803020104030203" pitchFamily="2" charset="-79"/>
              </a:rPr>
              <a:t>Prediction of period , block and group of elements</a:t>
            </a:r>
          </a:p>
          <a:p>
            <a:endParaRPr lang="en-US" b="1" dirty="0"/>
          </a:p>
          <a:p>
            <a:pPr>
              <a:lnSpc>
                <a:spcPct val="150000"/>
              </a:lnSpc>
            </a:pPr>
            <a:r>
              <a:rPr lang="en-IN" sz="3200" b="1" dirty="0"/>
              <a:t>For finding period-</a:t>
            </a:r>
            <a:endParaRPr lang="en-IN" sz="3200" dirty="0"/>
          </a:p>
          <a:p>
            <a:pPr>
              <a:lnSpc>
                <a:spcPct val="150000"/>
              </a:lnSpc>
            </a:pPr>
            <a:r>
              <a:rPr lang="en-IN" sz="3200" dirty="0"/>
              <a:t>Write the electronic configuration.</a:t>
            </a:r>
          </a:p>
          <a:p>
            <a:pPr>
              <a:lnSpc>
                <a:spcPct val="150000"/>
              </a:lnSpc>
            </a:pPr>
            <a:r>
              <a:rPr lang="en-IN" sz="3200" dirty="0"/>
              <a:t>Highest value of the principal quantum number will denote the period </a:t>
            </a:r>
          </a:p>
          <a:p>
            <a:pPr>
              <a:lnSpc>
                <a:spcPct val="150000"/>
              </a:lnSpc>
            </a:pPr>
            <a:r>
              <a:rPr lang="en-IN" sz="3200" dirty="0"/>
              <a:t>Example: Atomic no. 16</a:t>
            </a:r>
          </a:p>
          <a:p>
            <a:pPr>
              <a:lnSpc>
                <a:spcPct val="150000"/>
              </a:lnSpc>
            </a:pPr>
            <a:r>
              <a:rPr lang="en-IN" sz="3200" dirty="0"/>
              <a:t>Electronic configuration- 1s</a:t>
            </a:r>
            <a:r>
              <a:rPr lang="en-IN" sz="3200" baseline="30000" dirty="0"/>
              <a:t>2</a:t>
            </a:r>
            <a:r>
              <a:rPr lang="en-IN" sz="3200" dirty="0"/>
              <a:t> 2s</a:t>
            </a:r>
            <a:r>
              <a:rPr lang="en-IN" sz="3200" baseline="30000" dirty="0"/>
              <a:t>2</a:t>
            </a:r>
            <a:r>
              <a:rPr lang="en-IN" sz="3200" dirty="0"/>
              <a:t> 2p</a:t>
            </a:r>
            <a:r>
              <a:rPr lang="en-IN" sz="3200" baseline="30000" dirty="0"/>
              <a:t>6</a:t>
            </a:r>
            <a:r>
              <a:rPr lang="en-IN" sz="3200" dirty="0"/>
              <a:t> 3s</a:t>
            </a:r>
            <a:r>
              <a:rPr lang="en-IN" sz="3200" baseline="30000" dirty="0"/>
              <a:t>2</a:t>
            </a:r>
            <a:r>
              <a:rPr lang="en-IN" sz="3200" dirty="0"/>
              <a:t> 3p</a:t>
            </a:r>
            <a:r>
              <a:rPr lang="en-IN" sz="3200" baseline="30000" dirty="0"/>
              <a:t>4</a:t>
            </a:r>
          </a:p>
          <a:p>
            <a:pPr>
              <a:lnSpc>
                <a:spcPct val="150000"/>
              </a:lnSpc>
            </a:pPr>
            <a:r>
              <a:rPr lang="en-IN" sz="3200" dirty="0"/>
              <a:t>The highest value of principal quantum number = 3</a:t>
            </a:r>
          </a:p>
          <a:p>
            <a:pPr>
              <a:lnSpc>
                <a:spcPct val="150000"/>
              </a:lnSpc>
            </a:pPr>
            <a:r>
              <a:rPr lang="en-IN" sz="3200" dirty="0"/>
              <a:t>Hence , the element belongs to the third period.</a:t>
            </a:r>
          </a:p>
          <a:p>
            <a:pPr>
              <a:lnSpc>
                <a:spcPct val="150000"/>
              </a:lnSpc>
            </a:pPr>
            <a:endParaRPr lang="en-IN" dirty="0"/>
          </a:p>
          <a:p>
            <a:pPr>
              <a:lnSpc>
                <a:spcPct val="150000"/>
              </a:lnSpc>
            </a:pPr>
            <a:endParaRPr lang="en-IN" dirty="0"/>
          </a:p>
          <a:p>
            <a:pPr>
              <a:lnSpc>
                <a:spcPct val="150000"/>
              </a:lnSpc>
            </a:pPr>
            <a:endParaRPr lang="en-IN" dirty="0"/>
          </a:p>
          <a:p>
            <a:endParaRPr lang="en-IN" dirty="0"/>
          </a:p>
          <a:p>
            <a:endParaRPr lang="en-US" b="1" dirty="0"/>
          </a:p>
          <a:p>
            <a:endParaRPr lang="en-US" dirty="0"/>
          </a:p>
          <a:p>
            <a:endParaRPr lang="en-US" dirty="0"/>
          </a:p>
          <a:p>
            <a:r>
              <a:rPr lang="en-US" dirty="0"/>
              <a:t> </a:t>
            </a:r>
          </a:p>
          <a:p>
            <a:endParaRPr lang="en-US" dirty="0"/>
          </a:p>
          <a:p>
            <a:endParaRPr lang="en-US" dirty="0"/>
          </a:p>
        </p:txBody>
      </p:sp>
      <p:sp>
        <p:nvSpPr>
          <p:cNvPr id="2" name="Footer Placeholder 1">
            <a:extLst>
              <a:ext uri="{FF2B5EF4-FFF2-40B4-BE49-F238E27FC236}">
                <a16:creationId xmlns:a16="http://schemas.microsoft.com/office/drawing/2014/main" id="{75CC9441-6F6F-55BE-7A21-9E845DDDCC0B}"/>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6D29EFB7-DE7D-0268-1143-71AF7342B48F}"/>
              </a:ext>
            </a:extLst>
          </p:cNvPr>
          <p:cNvSpPr>
            <a:spLocks noGrp="1"/>
          </p:cNvSpPr>
          <p:nvPr>
            <p:ph type="sldNum" sz="quarter" idx="12"/>
          </p:nvPr>
        </p:nvSpPr>
        <p:spPr/>
        <p:txBody>
          <a:bodyPr/>
          <a:lstStyle/>
          <a:p>
            <a:fld id="{18FFC5A6-CECA-42F5-ACA8-5C3F58FF9B21}" type="slidenum">
              <a:rPr lang="en-US" smtClean="0"/>
              <a:t>6</a:t>
            </a:fld>
            <a:endParaRPr lang="en-US"/>
          </a:p>
        </p:txBody>
      </p:sp>
      <p:sp>
        <p:nvSpPr>
          <p:cNvPr id="5" name="Date Placeholder 4">
            <a:extLst>
              <a:ext uri="{FF2B5EF4-FFF2-40B4-BE49-F238E27FC236}">
                <a16:creationId xmlns:a16="http://schemas.microsoft.com/office/drawing/2014/main" id="{BE75B364-79D7-4C1A-9EFD-D43047835148}"/>
              </a:ext>
            </a:extLst>
          </p:cNvPr>
          <p:cNvSpPr>
            <a:spLocks noGrp="1"/>
          </p:cNvSpPr>
          <p:nvPr>
            <p:ph type="dt" sz="half" idx="10"/>
          </p:nvPr>
        </p:nvSpPr>
        <p:spPr/>
        <p:txBody>
          <a:bodyPr/>
          <a:lstStyle/>
          <a:p>
            <a:fld id="{393D1289-6D57-4BD5-9BD3-91BFF199D82B}" type="datetime1">
              <a:rPr lang="en-US" smtClean="0"/>
              <a:t>8/3/2023</a:t>
            </a:fld>
            <a:endParaRPr lang="en-US"/>
          </a:p>
        </p:txBody>
      </p:sp>
    </p:spTree>
    <p:extLst>
      <p:ext uri="{BB962C8B-B14F-4D97-AF65-F5344CB8AC3E}">
        <p14:creationId xmlns:p14="http://schemas.microsoft.com/office/powerpoint/2010/main" val="3077093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CF460C-EB47-437D-9B86-7D2655F44879}"/>
              </a:ext>
            </a:extLst>
          </p:cNvPr>
          <p:cNvSpPr txBox="1"/>
          <p:nvPr/>
        </p:nvSpPr>
        <p:spPr>
          <a:xfrm>
            <a:off x="535020" y="204281"/>
            <a:ext cx="10535057" cy="9541073"/>
          </a:xfrm>
          <a:prstGeom prst="rect">
            <a:avLst/>
          </a:prstGeom>
          <a:noFill/>
        </p:spPr>
        <p:txBody>
          <a:bodyPr wrap="square" rtlCol="0">
            <a:spAutoFit/>
          </a:bodyPr>
          <a:lstStyle/>
          <a:p>
            <a:pPr algn="ctr"/>
            <a:r>
              <a:rPr lang="en-US" sz="3200" b="1" dirty="0">
                <a:latin typeface="Aharoni" panose="02010803020104030203" pitchFamily="2" charset="-79"/>
                <a:cs typeface="Aharoni" panose="02010803020104030203" pitchFamily="2" charset="-79"/>
              </a:rPr>
              <a:t>Prediction of period , block and group of elements</a:t>
            </a:r>
          </a:p>
          <a:p>
            <a:endParaRPr lang="en-US" b="1" dirty="0"/>
          </a:p>
          <a:p>
            <a:pPr algn="just">
              <a:lnSpc>
                <a:spcPct val="150000"/>
              </a:lnSpc>
            </a:pPr>
            <a:r>
              <a:rPr lang="en-IN" sz="3200" b="1" dirty="0"/>
              <a:t>For finding block-</a:t>
            </a:r>
            <a:endParaRPr lang="en-IN" sz="3200" dirty="0"/>
          </a:p>
          <a:p>
            <a:pPr algn="just">
              <a:lnSpc>
                <a:spcPct val="150000"/>
              </a:lnSpc>
            </a:pPr>
            <a:r>
              <a:rPr lang="en-IN" sz="3200" dirty="0"/>
              <a:t>Write the electronic configuration.</a:t>
            </a:r>
          </a:p>
          <a:p>
            <a:pPr algn="just">
              <a:lnSpc>
                <a:spcPct val="150000"/>
              </a:lnSpc>
            </a:pPr>
            <a:r>
              <a:rPr lang="en-IN" sz="3200" dirty="0"/>
              <a:t>See the block in which the last electron enters. The element will belong to that block.</a:t>
            </a:r>
          </a:p>
          <a:p>
            <a:pPr algn="just">
              <a:lnSpc>
                <a:spcPct val="150000"/>
              </a:lnSpc>
            </a:pPr>
            <a:r>
              <a:rPr lang="en-IN" sz="3200" dirty="0"/>
              <a:t>Example: Atomic no. 20</a:t>
            </a:r>
          </a:p>
          <a:p>
            <a:pPr algn="just">
              <a:lnSpc>
                <a:spcPct val="150000"/>
              </a:lnSpc>
            </a:pPr>
            <a:r>
              <a:rPr lang="en-IN" sz="3200" dirty="0"/>
              <a:t>Electronic configuration - 1s</a:t>
            </a:r>
            <a:r>
              <a:rPr lang="en-IN" sz="3200" baseline="30000" dirty="0"/>
              <a:t>2</a:t>
            </a:r>
            <a:r>
              <a:rPr lang="en-IN" sz="3200" dirty="0"/>
              <a:t> 2s</a:t>
            </a:r>
            <a:r>
              <a:rPr lang="en-IN" sz="3200" baseline="30000" dirty="0"/>
              <a:t>2</a:t>
            </a:r>
            <a:r>
              <a:rPr lang="en-IN" sz="3200" dirty="0"/>
              <a:t> 2p</a:t>
            </a:r>
            <a:r>
              <a:rPr lang="en-IN" sz="3200" baseline="30000" dirty="0"/>
              <a:t>6</a:t>
            </a:r>
            <a:r>
              <a:rPr lang="en-IN" sz="3200" dirty="0"/>
              <a:t> 3s</a:t>
            </a:r>
            <a:r>
              <a:rPr lang="en-IN" sz="3200" baseline="30000" dirty="0"/>
              <a:t>2</a:t>
            </a:r>
            <a:r>
              <a:rPr lang="en-IN" sz="3200" dirty="0"/>
              <a:t> 3p</a:t>
            </a:r>
            <a:r>
              <a:rPr lang="en-IN" sz="3200" baseline="30000" dirty="0"/>
              <a:t>6</a:t>
            </a:r>
            <a:r>
              <a:rPr lang="en-IN" sz="3200" dirty="0"/>
              <a:t> 4s</a:t>
            </a:r>
            <a:r>
              <a:rPr lang="en-IN" sz="3200" baseline="30000" dirty="0"/>
              <a:t>2</a:t>
            </a:r>
          </a:p>
          <a:p>
            <a:pPr algn="just">
              <a:lnSpc>
                <a:spcPct val="150000"/>
              </a:lnSpc>
            </a:pPr>
            <a:r>
              <a:rPr lang="en-IN" sz="3200" dirty="0"/>
              <a:t>The last electron enters in the s block , hence the element belongs to the “s” block.</a:t>
            </a:r>
          </a:p>
          <a:p>
            <a:pPr>
              <a:lnSpc>
                <a:spcPct val="150000"/>
              </a:lnSpc>
            </a:pPr>
            <a:endParaRPr lang="en-IN" dirty="0"/>
          </a:p>
          <a:p>
            <a:pPr>
              <a:lnSpc>
                <a:spcPct val="150000"/>
              </a:lnSpc>
            </a:pPr>
            <a:endParaRPr lang="en-IN" dirty="0"/>
          </a:p>
          <a:p>
            <a:endParaRPr lang="en-IN" dirty="0"/>
          </a:p>
          <a:p>
            <a:endParaRPr lang="en-US" b="1" dirty="0"/>
          </a:p>
          <a:p>
            <a:endParaRPr lang="en-US" dirty="0"/>
          </a:p>
          <a:p>
            <a:endParaRPr lang="en-US" dirty="0"/>
          </a:p>
          <a:p>
            <a:r>
              <a:rPr lang="en-US" dirty="0"/>
              <a:t> </a:t>
            </a:r>
          </a:p>
          <a:p>
            <a:endParaRPr lang="en-US" dirty="0"/>
          </a:p>
          <a:p>
            <a:endParaRPr lang="en-US" dirty="0"/>
          </a:p>
        </p:txBody>
      </p:sp>
      <p:sp>
        <p:nvSpPr>
          <p:cNvPr id="2" name="Footer Placeholder 1">
            <a:extLst>
              <a:ext uri="{FF2B5EF4-FFF2-40B4-BE49-F238E27FC236}">
                <a16:creationId xmlns:a16="http://schemas.microsoft.com/office/drawing/2014/main" id="{E0D1FCDC-C612-425F-4C87-209425DD8258}"/>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9B0E2509-6824-8762-BCBF-0CC2A2DF556C}"/>
              </a:ext>
            </a:extLst>
          </p:cNvPr>
          <p:cNvSpPr>
            <a:spLocks noGrp="1"/>
          </p:cNvSpPr>
          <p:nvPr>
            <p:ph type="sldNum" sz="quarter" idx="12"/>
          </p:nvPr>
        </p:nvSpPr>
        <p:spPr/>
        <p:txBody>
          <a:bodyPr/>
          <a:lstStyle/>
          <a:p>
            <a:fld id="{18FFC5A6-CECA-42F5-ACA8-5C3F58FF9B21}" type="slidenum">
              <a:rPr lang="en-US" smtClean="0"/>
              <a:t>7</a:t>
            </a:fld>
            <a:endParaRPr lang="en-US"/>
          </a:p>
        </p:txBody>
      </p:sp>
      <p:sp>
        <p:nvSpPr>
          <p:cNvPr id="5" name="Date Placeholder 4">
            <a:extLst>
              <a:ext uri="{FF2B5EF4-FFF2-40B4-BE49-F238E27FC236}">
                <a16:creationId xmlns:a16="http://schemas.microsoft.com/office/drawing/2014/main" id="{C7180D9C-085C-1334-6246-EDF33A1FA817}"/>
              </a:ext>
            </a:extLst>
          </p:cNvPr>
          <p:cNvSpPr>
            <a:spLocks noGrp="1"/>
          </p:cNvSpPr>
          <p:nvPr>
            <p:ph type="dt" sz="half" idx="10"/>
          </p:nvPr>
        </p:nvSpPr>
        <p:spPr/>
        <p:txBody>
          <a:bodyPr/>
          <a:lstStyle/>
          <a:p>
            <a:fld id="{AB5EEA89-47EB-4A4C-A5C5-D8BAD4F922C1}" type="datetime1">
              <a:rPr lang="en-US" smtClean="0"/>
              <a:t>8/3/2023</a:t>
            </a:fld>
            <a:endParaRPr lang="en-US"/>
          </a:p>
        </p:txBody>
      </p:sp>
    </p:spTree>
    <p:extLst>
      <p:ext uri="{BB962C8B-B14F-4D97-AF65-F5344CB8AC3E}">
        <p14:creationId xmlns:p14="http://schemas.microsoft.com/office/powerpoint/2010/main" val="3519754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7457" y="-60046"/>
            <a:ext cx="11854543" cy="7525137"/>
          </a:xfrm>
          <a:prstGeom prst="rect">
            <a:avLst/>
          </a:prstGeom>
        </p:spPr>
        <p:txBody>
          <a:bodyPr wrap="square">
            <a:spAutoFit/>
          </a:bodyPr>
          <a:lstStyle/>
          <a:p>
            <a:pPr algn="ctr"/>
            <a:r>
              <a:rPr lang="en-US" sz="3600" b="1" dirty="0">
                <a:latin typeface="Aharoni" panose="02010803020104030203" pitchFamily="2" charset="-79"/>
                <a:cs typeface="Aharoni" panose="02010803020104030203" pitchFamily="2" charset="-79"/>
              </a:rPr>
              <a:t>Prediction of period , block and group of elements</a:t>
            </a:r>
          </a:p>
          <a:p>
            <a:pPr>
              <a:lnSpc>
                <a:spcPct val="150000"/>
              </a:lnSpc>
            </a:pPr>
            <a:r>
              <a:rPr lang="en-IN" sz="2800" b="1" dirty="0"/>
              <a:t>For finding group-</a:t>
            </a:r>
            <a:endParaRPr lang="en-IN" sz="2800" dirty="0"/>
          </a:p>
          <a:p>
            <a:pPr>
              <a:lnSpc>
                <a:spcPct val="150000"/>
              </a:lnSpc>
            </a:pPr>
            <a:r>
              <a:rPr lang="en-IN" sz="2800" dirty="0"/>
              <a:t>Write the electronic configuration.</a:t>
            </a:r>
          </a:p>
          <a:p>
            <a:pPr>
              <a:lnSpc>
                <a:spcPct val="150000"/>
              </a:lnSpc>
            </a:pPr>
            <a:r>
              <a:rPr lang="en-IN" sz="2800" dirty="0"/>
              <a:t>For s block- it is equal to the number of electrons in the outermost shell.</a:t>
            </a:r>
          </a:p>
          <a:p>
            <a:pPr>
              <a:lnSpc>
                <a:spcPct val="150000"/>
              </a:lnSpc>
            </a:pPr>
            <a:r>
              <a:rPr lang="en-IN" sz="2800" dirty="0"/>
              <a:t>For p block- it is equal to the number of electrons in the outermost shell + 10.</a:t>
            </a:r>
          </a:p>
          <a:p>
            <a:pPr>
              <a:lnSpc>
                <a:spcPct val="150000"/>
              </a:lnSpc>
            </a:pPr>
            <a:r>
              <a:rPr lang="en-IN" sz="2800" dirty="0"/>
              <a:t>For d block- it is equal to the number of electrons in the outermost shell + number of electrons in the penultimate subshell.</a:t>
            </a:r>
          </a:p>
          <a:p>
            <a:pPr>
              <a:lnSpc>
                <a:spcPct val="150000"/>
              </a:lnSpc>
            </a:pPr>
            <a:r>
              <a:rPr lang="en-IN" sz="2800" dirty="0"/>
              <a:t>Examples : Atomic no. - 12</a:t>
            </a:r>
          </a:p>
          <a:p>
            <a:pPr>
              <a:lnSpc>
                <a:spcPct val="150000"/>
              </a:lnSpc>
            </a:pPr>
            <a:r>
              <a:rPr lang="en-IN" sz="2800" dirty="0"/>
              <a:t>Electronic configuration- 1s</a:t>
            </a:r>
            <a:r>
              <a:rPr lang="en-IN" sz="2800" baseline="30000" dirty="0"/>
              <a:t>2</a:t>
            </a:r>
            <a:r>
              <a:rPr lang="en-IN" sz="2800" dirty="0"/>
              <a:t> 2s</a:t>
            </a:r>
            <a:r>
              <a:rPr lang="en-IN" sz="2800" baseline="30000" dirty="0"/>
              <a:t>2</a:t>
            </a:r>
            <a:r>
              <a:rPr lang="en-IN" sz="2800" dirty="0"/>
              <a:t> 2p</a:t>
            </a:r>
            <a:r>
              <a:rPr lang="en-IN" sz="2800" baseline="30000" dirty="0"/>
              <a:t>6 </a:t>
            </a:r>
            <a:r>
              <a:rPr lang="en-IN" sz="2800" dirty="0"/>
              <a:t>3s</a:t>
            </a:r>
            <a:r>
              <a:rPr lang="en-IN" sz="2800" baseline="30000" dirty="0"/>
              <a:t>2</a:t>
            </a:r>
          </a:p>
          <a:p>
            <a:pPr>
              <a:lnSpc>
                <a:spcPct val="150000"/>
              </a:lnSpc>
            </a:pPr>
            <a:r>
              <a:rPr lang="en-IN" sz="2800" dirty="0"/>
              <a:t>Last electron enters in the s block .</a:t>
            </a:r>
          </a:p>
          <a:p>
            <a:pPr>
              <a:lnSpc>
                <a:spcPct val="150000"/>
              </a:lnSpc>
            </a:pPr>
            <a:r>
              <a:rPr lang="en-IN" sz="2800" dirty="0"/>
              <a:t>Hence, group no.= 2</a:t>
            </a:r>
          </a:p>
          <a:p>
            <a:pPr>
              <a:lnSpc>
                <a:spcPct val="150000"/>
              </a:lnSpc>
            </a:pPr>
            <a:endParaRPr lang="en-IN" dirty="0"/>
          </a:p>
        </p:txBody>
      </p:sp>
      <p:sp>
        <p:nvSpPr>
          <p:cNvPr id="2" name="Footer Placeholder 1">
            <a:extLst>
              <a:ext uri="{FF2B5EF4-FFF2-40B4-BE49-F238E27FC236}">
                <a16:creationId xmlns:a16="http://schemas.microsoft.com/office/drawing/2014/main" id="{06638D43-227E-FE22-1852-C2E26DB7663B}"/>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57F47F63-7093-8BE9-8844-F12CDB32B817}"/>
              </a:ext>
            </a:extLst>
          </p:cNvPr>
          <p:cNvSpPr>
            <a:spLocks noGrp="1"/>
          </p:cNvSpPr>
          <p:nvPr>
            <p:ph type="sldNum" sz="quarter" idx="12"/>
          </p:nvPr>
        </p:nvSpPr>
        <p:spPr/>
        <p:txBody>
          <a:bodyPr/>
          <a:lstStyle/>
          <a:p>
            <a:fld id="{18FFC5A6-CECA-42F5-ACA8-5C3F58FF9B21}" type="slidenum">
              <a:rPr lang="en-US" smtClean="0"/>
              <a:t>8</a:t>
            </a:fld>
            <a:endParaRPr lang="en-US"/>
          </a:p>
        </p:txBody>
      </p:sp>
      <p:sp>
        <p:nvSpPr>
          <p:cNvPr id="5" name="Date Placeholder 4">
            <a:extLst>
              <a:ext uri="{FF2B5EF4-FFF2-40B4-BE49-F238E27FC236}">
                <a16:creationId xmlns:a16="http://schemas.microsoft.com/office/drawing/2014/main" id="{C3004FC6-F6DF-DD51-8398-C2AA833EB771}"/>
              </a:ext>
            </a:extLst>
          </p:cNvPr>
          <p:cNvSpPr>
            <a:spLocks noGrp="1"/>
          </p:cNvSpPr>
          <p:nvPr>
            <p:ph type="dt" sz="half" idx="10"/>
          </p:nvPr>
        </p:nvSpPr>
        <p:spPr/>
        <p:txBody>
          <a:bodyPr/>
          <a:lstStyle/>
          <a:p>
            <a:fld id="{1E9C0072-B16D-412F-AA82-7BE0B4FF019A}" type="datetime1">
              <a:rPr lang="en-US" smtClean="0"/>
              <a:t>8/3/2023</a:t>
            </a:fld>
            <a:endParaRPr lang="en-US"/>
          </a:p>
        </p:txBody>
      </p:sp>
    </p:spTree>
    <p:extLst>
      <p:ext uri="{BB962C8B-B14F-4D97-AF65-F5344CB8AC3E}">
        <p14:creationId xmlns:p14="http://schemas.microsoft.com/office/powerpoint/2010/main" val="275486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7456" y="127844"/>
            <a:ext cx="11854543" cy="6463308"/>
          </a:xfrm>
          <a:prstGeom prst="rect">
            <a:avLst/>
          </a:prstGeom>
        </p:spPr>
        <p:txBody>
          <a:bodyPr wrap="square">
            <a:spAutoFit/>
          </a:bodyPr>
          <a:lstStyle/>
          <a:p>
            <a:pPr algn="ctr"/>
            <a:r>
              <a:rPr lang="en-US" sz="3600" b="1" dirty="0">
                <a:latin typeface="Aharoni" panose="02010803020104030203" pitchFamily="2" charset="-79"/>
                <a:cs typeface="Aharoni" panose="02010803020104030203" pitchFamily="2" charset="-79"/>
              </a:rPr>
              <a:t>Prediction of period , block and group of elements</a:t>
            </a:r>
          </a:p>
          <a:p>
            <a:pPr algn="just">
              <a:lnSpc>
                <a:spcPct val="150000"/>
              </a:lnSpc>
            </a:pPr>
            <a:r>
              <a:rPr lang="en-IN" sz="2800" dirty="0"/>
              <a:t>Example : Atomic no. - 21</a:t>
            </a:r>
          </a:p>
          <a:p>
            <a:pPr algn="just">
              <a:lnSpc>
                <a:spcPct val="150000"/>
              </a:lnSpc>
            </a:pPr>
            <a:r>
              <a:rPr lang="en-IN" sz="2800" dirty="0"/>
              <a:t>Electronic configuration- 1s</a:t>
            </a:r>
            <a:r>
              <a:rPr lang="en-IN" sz="2800" baseline="30000" dirty="0"/>
              <a:t>2</a:t>
            </a:r>
            <a:r>
              <a:rPr lang="en-IN" sz="2800" dirty="0"/>
              <a:t> 2s</a:t>
            </a:r>
            <a:r>
              <a:rPr lang="en-IN" sz="2800" baseline="30000" dirty="0"/>
              <a:t>2</a:t>
            </a:r>
            <a:r>
              <a:rPr lang="en-IN" sz="2800" dirty="0"/>
              <a:t> 2p</a:t>
            </a:r>
            <a:r>
              <a:rPr lang="en-IN" sz="2800" baseline="30000" dirty="0"/>
              <a:t>6</a:t>
            </a:r>
            <a:r>
              <a:rPr lang="en-IN" sz="2800" dirty="0"/>
              <a:t> 3s</a:t>
            </a:r>
            <a:r>
              <a:rPr lang="en-IN" sz="2800" baseline="30000" dirty="0"/>
              <a:t>2</a:t>
            </a:r>
            <a:r>
              <a:rPr lang="en-IN" sz="2800" dirty="0"/>
              <a:t> 3p</a:t>
            </a:r>
            <a:r>
              <a:rPr lang="en-IN" sz="2800" baseline="30000" dirty="0"/>
              <a:t>6</a:t>
            </a:r>
            <a:r>
              <a:rPr lang="en-IN" sz="2800" dirty="0"/>
              <a:t> 3d</a:t>
            </a:r>
            <a:r>
              <a:rPr lang="en-IN" sz="2800" baseline="30000" dirty="0"/>
              <a:t>1</a:t>
            </a:r>
            <a:r>
              <a:rPr lang="en-IN" sz="2800" dirty="0"/>
              <a:t> 4s</a:t>
            </a:r>
            <a:r>
              <a:rPr lang="en-IN" sz="2800" baseline="30000" dirty="0"/>
              <a:t>2</a:t>
            </a:r>
          </a:p>
          <a:p>
            <a:pPr algn="just">
              <a:lnSpc>
                <a:spcPct val="150000"/>
              </a:lnSpc>
            </a:pPr>
            <a:r>
              <a:rPr lang="en-IN" sz="2800" dirty="0"/>
              <a:t>Last electron enters in the d block( first 4s is filled then 3d).</a:t>
            </a:r>
          </a:p>
          <a:p>
            <a:pPr algn="just">
              <a:lnSpc>
                <a:spcPct val="150000"/>
              </a:lnSpc>
            </a:pPr>
            <a:r>
              <a:rPr lang="en-IN" sz="2800" dirty="0"/>
              <a:t>Hence group no.= 2+1=3</a:t>
            </a:r>
          </a:p>
          <a:p>
            <a:pPr algn="just">
              <a:lnSpc>
                <a:spcPct val="150000"/>
              </a:lnSpc>
            </a:pPr>
            <a:endParaRPr lang="en-IN" sz="2800" dirty="0"/>
          </a:p>
          <a:p>
            <a:pPr algn="just">
              <a:lnSpc>
                <a:spcPct val="150000"/>
              </a:lnSpc>
            </a:pPr>
            <a:r>
              <a:rPr lang="en-IN" sz="2800" dirty="0"/>
              <a:t>Examples : Atomic no. - 7</a:t>
            </a:r>
          </a:p>
          <a:p>
            <a:pPr algn="just">
              <a:lnSpc>
                <a:spcPct val="150000"/>
              </a:lnSpc>
            </a:pPr>
            <a:r>
              <a:rPr lang="en-IN" sz="2800" dirty="0"/>
              <a:t>Electronic configuration =1s</a:t>
            </a:r>
            <a:r>
              <a:rPr lang="en-IN" sz="2800" baseline="30000" dirty="0"/>
              <a:t>2</a:t>
            </a:r>
            <a:r>
              <a:rPr lang="en-IN" sz="2800" dirty="0"/>
              <a:t> 2s</a:t>
            </a:r>
            <a:r>
              <a:rPr lang="en-IN" sz="2800" baseline="30000" dirty="0"/>
              <a:t>2</a:t>
            </a:r>
            <a:r>
              <a:rPr lang="en-IN" sz="2800" dirty="0"/>
              <a:t> 2p</a:t>
            </a:r>
            <a:r>
              <a:rPr lang="en-IN" sz="2800" baseline="30000" dirty="0"/>
              <a:t>3</a:t>
            </a:r>
          </a:p>
          <a:p>
            <a:pPr algn="just">
              <a:lnSpc>
                <a:spcPct val="150000"/>
              </a:lnSpc>
            </a:pPr>
            <a:r>
              <a:rPr lang="en-IN" sz="2800" dirty="0"/>
              <a:t>Last electron enters in the p block .</a:t>
            </a:r>
          </a:p>
          <a:p>
            <a:pPr algn="just">
              <a:lnSpc>
                <a:spcPct val="150000"/>
              </a:lnSpc>
            </a:pPr>
            <a:r>
              <a:rPr lang="en-IN" sz="2800" dirty="0"/>
              <a:t>Hence , group no.= 10+5=15.</a:t>
            </a:r>
          </a:p>
        </p:txBody>
      </p:sp>
      <p:sp>
        <p:nvSpPr>
          <p:cNvPr id="2" name="Footer Placeholder 1">
            <a:extLst>
              <a:ext uri="{FF2B5EF4-FFF2-40B4-BE49-F238E27FC236}">
                <a16:creationId xmlns:a16="http://schemas.microsoft.com/office/drawing/2014/main" id="{58E997B6-F35D-47F4-3512-00E00C4E76B5}"/>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C89EE609-F416-BC58-5509-8A86D7220672}"/>
              </a:ext>
            </a:extLst>
          </p:cNvPr>
          <p:cNvSpPr>
            <a:spLocks noGrp="1"/>
          </p:cNvSpPr>
          <p:nvPr>
            <p:ph type="sldNum" sz="quarter" idx="12"/>
          </p:nvPr>
        </p:nvSpPr>
        <p:spPr/>
        <p:txBody>
          <a:bodyPr/>
          <a:lstStyle/>
          <a:p>
            <a:fld id="{18FFC5A6-CECA-42F5-ACA8-5C3F58FF9B21}" type="slidenum">
              <a:rPr lang="en-US" smtClean="0"/>
              <a:t>9</a:t>
            </a:fld>
            <a:endParaRPr lang="en-US"/>
          </a:p>
        </p:txBody>
      </p:sp>
      <p:sp>
        <p:nvSpPr>
          <p:cNvPr id="5" name="Date Placeholder 4">
            <a:extLst>
              <a:ext uri="{FF2B5EF4-FFF2-40B4-BE49-F238E27FC236}">
                <a16:creationId xmlns:a16="http://schemas.microsoft.com/office/drawing/2014/main" id="{A4AF6A2C-84F4-2BF6-7518-0E4E2832F2ED}"/>
              </a:ext>
            </a:extLst>
          </p:cNvPr>
          <p:cNvSpPr>
            <a:spLocks noGrp="1"/>
          </p:cNvSpPr>
          <p:nvPr>
            <p:ph type="dt" sz="half" idx="10"/>
          </p:nvPr>
        </p:nvSpPr>
        <p:spPr/>
        <p:txBody>
          <a:bodyPr/>
          <a:lstStyle/>
          <a:p>
            <a:fld id="{92EC1D12-8784-4299-8241-52F395E6041A}" type="datetime1">
              <a:rPr lang="en-US" smtClean="0"/>
              <a:t>8/3/2023</a:t>
            </a:fld>
            <a:endParaRPr lang="en-US"/>
          </a:p>
        </p:txBody>
      </p:sp>
    </p:spTree>
    <p:extLst>
      <p:ext uri="{BB962C8B-B14F-4D97-AF65-F5344CB8AC3E}">
        <p14:creationId xmlns:p14="http://schemas.microsoft.com/office/powerpoint/2010/main" val="2751756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7457" y="127844"/>
            <a:ext cx="11599848" cy="7160935"/>
          </a:xfrm>
          <a:prstGeom prst="rect">
            <a:avLst/>
          </a:prstGeom>
        </p:spPr>
        <p:txBody>
          <a:bodyPr wrap="square">
            <a:spAutoFit/>
          </a:bodyPr>
          <a:lstStyle/>
          <a:p>
            <a:pPr algn="ctr"/>
            <a:r>
              <a:rPr lang="en-US" sz="4000" b="1" dirty="0">
                <a:latin typeface="Aharoni" panose="02010803020104030203" pitchFamily="2" charset="-79"/>
                <a:cs typeface="Aharoni" panose="02010803020104030203" pitchFamily="2" charset="-79"/>
              </a:rPr>
              <a:t>Shielding effect</a:t>
            </a:r>
          </a:p>
          <a:p>
            <a:pPr marL="497840" marR="30480" indent="-457200" algn="just">
              <a:lnSpc>
                <a:spcPct val="150000"/>
              </a:lnSpc>
              <a:spcBef>
                <a:spcPts val="695"/>
              </a:spcBef>
              <a:buFont typeface="Arial" panose="020B0604020202020204" pitchFamily="34" charset="0"/>
              <a:buChar char="•"/>
            </a:pPr>
            <a:r>
              <a:rPr lang="en-US" sz="2400" spc="65" dirty="0">
                <a:latin typeface="Arial"/>
                <a:cs typeface="Arial"/>
              </a:rPr>
              <a:t>In</a:t>
            </a:r>
            <a:r>
              <a:rPr lang="en-US" sz="2400" spc="10" dirty="0">
                <a:latin typeface="Arial"/>
                <a:cs typeface="Arial"/>
              </a:rPr>
              <a:t> </a:t>
            </a:r>
            <a:r>
              <a:rPr lang="en-US" sz="2400" spc="-85" dirty="0">
                <a:latin typeface="Arial"/>
                <a:cs typeface="Arial"/>
              </a:rPr>
              <a:t>a</a:t>
            </a:r>
            <a:r>
              <a:rPr lang="en-US" sz="2400" spc="15" dirty="0">
                <a:latin typeface="Arial"/>
                <a:cs typeface="Arial"/>
              </a:rPr>
              <a:t> </a:t>
            </a:r>
            <a:r>
              <a:rPr lang="en-US" sz="2400" spc="20" dirty="0">
                <a:latin typeface="Arial"/>
                <a:cs typeface="Arial"/>
              </a:rPr>
              <a:t>multi</a:t>
            </a:r>
            <a:r>
              <a:rPr lang="en-US" sz="2400" spc="-25" dirty="0">
                <a:latin typeface="Arial"/>
                <a:cs typeface="Arial"/>
              </a:rPr>
              <a:t> </a:t>
            </a:r>
            <a:r>
              <a:rPr lang="en-US" sz="2400" spc="-10" dirty="0">
                <a:latin typeface="Arial"/>
                <a:cs typeface="Arial"/>
              </a:rPr>
              <a:t>electron</a:t>
            </a:r>
            <a:r>
              <a:rPr lang="en-US" sz="2400" spc="-15" dirty="0">
                <a:latin typeface="Arial"/>
                <a:cs typeface="Arial"/>
              </a:rPr>
              <a:t> </a:t>
            </a:r>
            <a:r>
              <a:rPr lang="en-US" sz="2400" spc="45" dirty="0">
                <a:latin typeface="Arial"/>
                <a:cs typeface="Arial"/>
              </a:rPr>
              <a:t>atom</a:t>
            </a:r>
            <a:r>
              <a:rPr lang="en-US" sz="2400" spc="-40" dirty="0">
                <a:latin typeface="Arial"/>
                <a:cs typeface="Arial"/>
              </a:rPr>
              <a:t> </a:t>
            </a:r>
            <a:r>
              <a:rPr lang="en-US" sz="2400" spc="10" dirty="0">
                <a:latin typeface="Arial"/>
                <a:cs typeface="Arial"/>
              </a:rPr>
              <a:t>the</a:t>
            </a:r>
            <a:r>
              <a:rPr lang="en-US" sz="2400" spc="-35" dirty="0">
                <a:latin typeface="Arial"/>
                <a:cs typeface="Arial"/>
              </a:rPr>
              <a:t> valence</a:t>
            </a:r>
            <a:r>
              <a:rPr lang="en-US" sz="2400" spc="-55" dirty="0">
                <a:latin typeface="Arial"/>
                <a:cs typeface="Arial"/>
              </a:rPr>
              <a:t> </a:t>
            </a:r>
            <a:r>
              <a:rPr lang="en-US" sz="2400" spc="-20" dirty="0">
                <a:latin typeface="Arial"/>
                <a:cs typeface="Arial"/>
              </a:rPr>
              <a:t>shell</a:t>
            </a:r>
            <a:r>
              <a:rPr lang="en-US" sz="2400" spc="-15" dirty="0">
                <a:latin typeface="Arial"/>
                <a:cs typeface="Arial"/>
              </a:rPr>
              <a:t> </a:t>
            </a:r>
            <a:r>
              <a:rPr lang="en-US" sz="2400" spc="-20" dirty="0">
                <a:latin typeface="Arial"/>
                <a:cs typeface="Arial"/>
              </a:rPr>
              <a:t>electrons</a:t>
            </a:r>
            <a:r>
              <a:rPr lang="en-US" sz="2400" spc="-55" dirty="0">
                <a:latin typeface="Arial"/>
                <a:cs typeface="Arial"/>
              </a:rPr>
              <a:t> </a:t>
            </a:r>
            <a:r>
              <a:rPr lang="en-US" sz="2400" spc="20" dirty="0">
                <a:latin typeface="Arial"/>
                <a:cs typeface="Arial"/>
              </a:rPr>
              <a:t>are</a:t>
            </a:r>
            <a:r>
              <a:rPr lang="en-US" sz="2400" spc="-35" dirty="0">
                <a:latin typeface="Arial"/>
                <a:cs typeface="Arial"/>
              </a:rPr>
              <a:t> </a:t>
            </a:r>
            <a:r>
              <a:rPr lang="en-US" sz="2400" dirty="0">
                <a:latin typeface="Arial"/>
                <a:cs typeface="Arial"/>
              </a:rPr>
              <a:t>attracted</a:t>
            </a:r>
            <a:r>
              <a:rPr lang="en-US" sz="2400" spc="-55" dirty="0">
                <a:latin typeface="Arial"/>
                <a:cs typeface="Arial"/>
              </a:rPr>
              <a:t> </a:t>
            </a:r>
            <a:r>
              <a:rPr lang="en-US" sz="2400" spc="-25" dirty="0">
                <a:latin typeface="Arial"/>
                <a:cs typeface="Arial"/>
              </a:rPr>
              <a:t>by</a:t>
            </a:r>
            <a:r>
              <a:rPr lang="en-US" sz="2400" spc="-80" dirty="0">
                <a:latin typeface="Arial"/>
                <a:cs typeface="Arial"/>
              </a:rPr>
              <a:t> </a:t>
            </a:r>
            <a:r>
              <a:rPr lang="en-US" sz="2400" spc="10" dirty="0">
                <a:latin typeface="Arial"/>
                <a:cs typeface="Arial"/>
              </a:rPr>
              <a:t>the</a:t>
            </a:r>
            <a:r>
              <a:rPr lang="en-US" sz="2400" spc="-15" dirty="0">
                <a:latin typeface="Arial"/>
                <a:cs typeface="Arial"/>
              </a:rPr>
              <a:t> </a:t>
            </a:r>
            <a:r>
              <a:rPr lang="en-US" sz="2400" spc="-40" dirty="0">
                <a:latin typeface="Arial"/>
                <a:cs typeface="Arial"/>
              </a:rPr>
              <a:t>nucleus</a:t>
            </a:r>
            <a:r>
              <a:rPr lang="en-US" sz="2400" spc="-55" dirty="0">
                <a:latin typeface="Arial"/>
                <a:cs typeface="Arial"/>
              </a:rPr>
              <a:t> </a:t>
            </a:r>
            <a:r>
              <a:rPr lang="en-US" sz="2400" spc="-20" dirty="0">
                <a:latin typeface="Arial"/>
                <a:cs typeface="Arial"/>
              </a:rPr>
              <a:t>and</a:t>
            </a:r>
            <a:r>
              <a:rPr lang="en-US" sz="2400" spc="-90" dirty="0">
                <a:latin typeface="Arial"/>
                <a:cs typeface="Arial"/>
              </a:rPr>
              <a:t> </a:t>
            </a:r>
            <a:r>
              <a:rPr lang="en-US" sz="2400" spc="-30" dirty="0">
                <a:latin typeface="Arial"/>
                <a:cs typeface="Arial"/>
              </a:rPr>
              <a:t>also</a:t>
            </a:r>
            <a:r>
              <a:rPr lang="en-US" sz="2400" spc="-60" dirty="0">
                <a:latin typeface="Arial"/>
                <a:cs typeface="Arial"/>
              </a:rPr>
              <a:t> </a:t>
            </a:r>
            <a:r>
              <a:rPr lang="en-US" sz="2400" spc="40" dirty="0">
                <a:latin typeface="Arial"/>
                <a:cs typeface="Arial"/>
              </a:rPr>
              <a:t>at</a:t>
            </a:r>
            <a:r>
              <a:rPr lang="en-US" sz="2400" spc="-60" dirty="0">
                <a:latin typeface="Arial"/>
                <a:cs typeface="Arial"/>
              </a:rPr>
              <a:t> </a:t>
            </a:r>
            <a:r>
              <a:rPr lang="en-US" sz="2400" spc="30" dirty="0">
                <a:latin typeface="Arial"/>
                <a:cs typeface="Arial"/>
              </a:rPr>
              <a:t>the </a:t>
            </a:r>
            <a:r>
              <a:rPr lang="en-US" sz="2400" spc="5" dirty="0">
                <a:latin typeface="Arial"/>
                <a:cs typeface="Arial"/>
              </a:rPr>
              <a:t>same</a:t>
            </a:r>
            <a:r>
              <a:rPr lang="en-US" sz="2400" spc="-15" dirty="0">
                <a:latin typeface="Arial"/>
                <a:cs typeface="Arial"/>
              </a:rPr>
              <a:t> </a:t>
            </a:r>
            <a:r>
              <a:rPr lang="en-US" sz="2400" spc="50" dirty="0">
                <a:latin typeface="Arial"/>
                <a:cs typeface="Arial"/>
              </a:rPr>
              <a:t>time</a:t>
            </a:r>
            <a:r>
              <a:rPr lang="en-US" sz="2400" spc="10" dirty="0">
                <a:latin typeface="Arial"/>
                <a:cs typeface="Arial"/>
              </a:rPr>
              <a:t> </a:t>
            </a:r>
            <a:r>
              <a:rPr lang="en-US" sz="2400" spc="-15" dirty="0">
                <a:latin typeface="Arial"/>
                <a:cs typeface="Arial"/>
              </a:rPr>
              <a:t>repelled</a:t>
            </a:r>
            <a:r>
              <a:rPr lang="en-US" sz="2400" spc="-40" dirty="0">
                <a:latin typeface="Arial"/>
                <a:cs typeface="Arial"/>
              </a:rPr>
              <a:t> </a:t>
            </a:r>
            <a:r>
              <a:rPr lang="en-US" sz="2400" dirty="0">
                <a:latin typeface="Arial"/>
                <a:cs typeface="Arial"/>
              </a:rPr>
              <a:t>by</a:t>
            </a:r>
            <a:r>
              <a:rPr lang="en-US" sz="2400" spc="-70" dirty="0">
                <a:latin typeface="Arial"/>
                <a:cs typeface="Arial"/>
              </a:rPr>
              <a:t> </a:t>
            </a:r>
            <a:r>
              <a:rPr lang="en-US" sz="2400" spc="10" dirty="0">
                <a:latin typeface="Arial"/>
                <a:cs typeface="Arial"/>
              </a:rPr>
              <a:t>the</a:t>
            </a:r>
            <a:r>
              <a:rPr lang="en-US" sz="2400" spc="15" dirty="0">
                <a:latin typeface="Arial"/>
                <a:cs typeface="Arial"/>
              </a:rPr>
              <a:t> </a:t>
            </a:r>
            <a:r>
              <a:rPr lang="en-US" sz="2400" spc="-20" dirty="0">
                <a:latin typeface="Arial"/>
                <a:cs typeface="Arial"/>
              </a:rPr>
              <a:t>electrons</a:t>
            </a:r>
            <a:r>
              <a:rPr lang="en-US" sz="2400" spc="-90" dirty="0">
                <a:latin typeface="Arial"/>
                <a:cs typeface="Arial"/>
              </a:rPr>
              <a:t> </a:t>
            </a:r>
            <a:r>
              <a:rPr lang="en-US" sz="2400" spc="30" dirty="0">
                <a:latin typeface="Arial"/>
                <a:cs typeface="Arial"/>
              </a:rPr>
              <a:t>present</a:t>
            </a:r>
            <a:r>
              <a:rPr lang="en-US" sz="2400" spc="-30" dirty="0">
                <a:latin typeface="Arial"/>
                <a:cs typeface="Arial"/>
              </a:rPr>
              <a:t> </a:t>
            </a:r>
            <a:r>
              <a:rPr lang="en-US" sz="2400" spc="-5" dirty="0">
                <a:latin typeface="Arial"/>
                <a:cs typeface="Arial"/>
              </a:rPr>
              <a:t>between</a:t>
            </a:r>
            <a:r>
              <a:rPr lang="en-US" sz="2400" spc="-150" dirty="0">
                <a:latin typeface="Arial"/>
                <a:cs typeface="Arial"/>
              </a:rPr>
              <a:t> t</a:t>
            </a:r>
            <a:r>
              <a:rPr lang="en-US" sz="2400" spc="35" dirty="0">
                <a:latin typeface="Arial"/>
                <a:cs typeface="Arial"/>
              </a:rPr>
              <a:t>he</a:t>
            </a:r>
            <a:r>
              <a:rPr lang="en-US" sz="2400" spc="-95" dirty="0">
                <a:latin typeface="Arial"/>
                <a:cs typeface="Arial"/>
              </a:rPr>
              <a:t> </a:t>
            </a:r>
            <a:r>
              <a:rPr lang="en-US" sz="2400" spc="-30" dirty="0">
                <a:latin typeface="Arial"/>
                <a:cs typeface="Arial"/>
              </a:rPr>
              <a:t>nucleus</a:t>
            </a:r>
            <a:r>
              <a:rPr lang="en-US" sz="2400" spc="-55" dirty="0">
                <a:latin typeface="Arial"/>
                <a:cs typeface="Arial"/>
              </a:rPr>
              <a:t> </a:t>
            </a:r>
            <a:r>
              <a:rPr lang="en-US" sz="2400" spc="-45" dirty="0">
                <a:latin typeface="Arial"/>
                <a:cs typeface="Arial"/>
              </a:rPr>
              <a:t>and</a:t>
            </a:r>
            <a:r>
              <a:rPr lang="en-US" sz="2400" spc="-65" dirty="0">
                <a:latin typeface="Arial"/>
                <a:cs typeface="Arial"/>
              </a:rPr>
              <a:t> </a:t>
            </a:r>
            <a:r>
              <a:rPr lang="en-US" sz="2400" spc="-35" dirty="0">
                <a:latin typeface="Arial"/>
                <a:cs typeface="Arial"/>
              </a:rPr>
              <a:t>valence</a:t>
            </a:r>
            <a:r>
              <a:rPr lang="en-US" sz="2400" spc="25" dirty="0">
                <a:latin typeface="Arial"/>
                <a:cs typeface="Arial"/>
              </a:rPr>
              <a:t> </a:t>
            </a:r>
            <a:r>
              <a:rPr lang="en-US" sz="2400" spc="-35" dirty="0">
                <a:latin typeface="Arial"/>
                <a:cs typeface="Arial"/>
              </a:rPr>
              <a:t>shell</a:t>
            </a:r>
            <a:r>
              <a:rPr lang="en-US" sz="2400" spc="-10" dirty="0">
                <a:latin typeface="Arial"/>
                <a:cs typeface="Arial"/>
              </a:rPr>
              <a:t> </a:t>
            </a:r>
            <a:r>
              <a:rPr lang="en-US" sz="2400" spc="-20" dirty="0">
                <a:latin typeface="Arial"/>
                <a:cs typeface="Arial"/>
              </a:rPr>
              <a:t>electrons</a:t>
            </a:r>
            <a:r>
              <a:rPr lang="en-US" sz="2400" spc="-140" dirty="0">
                <a:latin typeface="Arial"/>
                <a:cs typeface="Arial"/>
              </a:rPr>
              <a:t> </a:t>
            </a:r>
            <a:r>
              <a:rPr lang="en-US" sz="2400" spc="-35" dirty="0">
                <a:latin typeface="Arial"/>
                <a:cs typeface="Arial"/>
              </a:rPr>
              <a:t>i.e.</a:t>
            </a:r>
            <a:r>
              <a:rPr lang="en-US" sz="2400" spc="25" dirty="0">
                <a:latin typeface="Arial"/>
                <a:cs typeface="Arial"/>
              </a:rPr>
              <a:t> th</a:t>
            </a:r>
            <a:r>
              <a:rPr lang="en-US" sz="2400" spc="45" dirty="0">
                <a:latin typeface="Arial"/>
                <a:cs typeface="Arial"/>
              </a:rPr>
              <a:t>e</a:t>
            </a:r>
            <a:r>
              <a:rPr lang="en-US" sz="2400" spc="-30" dirty="0">
                <a:latin typeface="Arial"/>
                <a:cs typeface="Arial"/>
              </a:rPr>
              <a:t> </a:t>
            </a:r>
            <a:r>
              <a:rPr lang="en-US" sz="2400" spc="40" dirty="0">
                <a:latin typeface="Arial"/>
                <a:cs typeface="Arial"/>
              </a:rPr>
              <a:t>inner</a:t>
            </a:r>
            <a:r>
              <a:rPr lang="en-US" sz="2400" spc="95" dirty="0">
                <a:latin typeface="Arial"/>
                <a:cs typeface="Arial"/>
              </a:rPr>
              <a:t> </a:t>
            </a:r>
            <a:r>
              <a:rPr lang="en-US" sz="2400" spc="-35" dirty="0">
                <a:latin typeface="Arial"/>
                <a:cs typeface="Arial"/>
              </a:rPr>
              <a:t>shell</a:t>
            </a:r>
            <a:r>
              <a:rPr lang="en-US" sz="2400" spc="-20" dirty="0">
                <a:latin typeface="Arial"/>
                <a:cs typeface="Arial"/>
              </a:rPr>
              <a:t> electron</a:t>
            </a:r>
            <a:r>
              <a:rPr lang="en-US" sz="2400" spc="-235" dirty="0">
                <a:latin typeface="Arial"/>
                <a:cs typeface="Arial"/>
              </a:rPr>
              <a:t>s</a:t>
            </a:r>
            <a:r>
              <a:rPr lang="en-US" sz="2400" spc="105" dirty="0">
                <a:latin typeface="Arial"/>
                <a:cs typeface="Arial"/>
              </a:rPr>
              <a:t>.</a:t>
            </a:r>
          </a:p>
          <a:p>
            <a:pPr marL="497840" marR="30480" indent="-457200" algn="just">
              <a:lnSpc>
                <a:spcPct val="150000"/>
              </a:lnSpc>
              <a:spcBef>
                <a:spcPts val="695"/>
              </a:spcBef>
              <a:buFont typeface="Arial" panose="020B0604020202020204" pitchFamily="34" charset="0"/>
              <a:buChar char="•"/>
            </a:pPr>
            <a:r>
              <a:rPr lang="en-US" sz="2400" spc="-60" dirty="0">
                <a:latin typeface="Arial"/>
                <a:cs typeface="Arial"/>
              </a:rPr>
              <a:t>Th</a:t>
            </a:r>
            <a:r>
              <a:rPr lang="en-US" sz="2400" spc="-50" dirty="0">
                <a:latin typeface="Arial"/>
                <a:cs typeface="Arial"/>
              </a:rPr>
              <a:t>e</a:t>
            </a:r>
            <a:r>
              <a:rPr lang="en-US" sz="2400" spc="80" dirty="0">
                <a:latin typeface="Arial"/>
                <a:cs typeface="Arial"/>
              </a:rPr>
              <a:t> </a:t>
            </a:r>
            <a:r>
              <a:rPr lang="en-US" sz="2400" spc="-25" dirty="0">
                <a:latin typeface="Arial"/>
                <a:cs typeface="Arial"/>
              </a:rPr>
              <a:t>combined</a:t>
            </a:r>
            <a:r>
              <a:rPr lang="en-US" sz="2400" spc="45" dirty="0">
                <a:latin typeface="Arial"/>
                <a:cs typeface="Arial"/>
              </a:rPr>
              <a:t> </a:t>
            </a:r>
            <a:r>
              <a:rPr lang="en-US" sz="2400" spc="15" dirty="0">
                <a:latin typeface="Arial"/>
                <a:cs typeface="Arial"/>
              </a:rPr>
              <a:t>effect</a:t>
            </a:r>
            <a:r>
              <a:rPr lang="en-US" sz="2400" spc="55" dirty="0">
                <a:latin typeface="Arial"/>
                <a:cs typeface="Arial"/>
              </a:rPr>
              <a:t> </a:t>
            </a:r>
            <a:r>
              <a:rPr lang="en-US" sz="2400" spc="-5" dirty="0">
                <a:latin typeface="Arial"/>
                <a:cs typeface="Arial"/>
              </a:rPr>
              <a:t>of</a:t>
            </a:r>
            <a:r>
              <a:rPr lang="en-US" sz="2400" spc="60" dirty="0">
                <a:latin typeface="Arial"/>
                <a:cs typeface="Arial"/>
              </a:rPr>
              <a:t> </a:t>
            </a:r>
            <a:r>
              <a:rPr lang="en-US" sz="2400" spc="-5" dirty="0">
                <a:latin typeface="Arial"/>
                <a:cs typeface="Arial"/>
              </a:rPr>
              <a:t>thi</a:t>
            </a:r>
            <a:r>
              <a:rPr lang="en-US" sz="2400" dirty="0">
                <a:latin typeface="Arial"/>
                <a:cs typeface="Arial"/>
              </a:rPr>
              <a:t>s</a:t>
            </a:r>
            <a:r>
              <a:rPr lang="en-US" sz="2400" spc="5" dirty="0">
                <a:latin typeface="Arial"/>
                <a:cs typeface="Arial"/>
              </a:rPr>
              <a:t> </a:t>
            </a:r>
            <a:r>
              <a:rPr lang="en-US" sz="2400" spc="40" dirty="0">
                <a:latin typeface="Arial"/>
                <a:cs typeface="Arial"/>
              </a:rPr>
              <a:t>attraction</a:t>
            </a:r>
            <a:r>
              <a:rPr lang="en-US" sz="2400" spc="75" dirty="0">
                <a:latin typeface="Arial"/>
                <a:cs typeface="Arial"/>
              </a:rPr>
              <a:t> </a:t>
            </a:r>
            <a:r>
              <a:rPr lang="en-US" sz="2400" spc="-45" dirty="0">
                <a:latin typeface="Arial"/>
                <a:cs typeface="Arial"/>
              </a:rPr>
              <a:t>and</a:t>
            </a:r>
            <a:r>
              <a:rPr lang="en-US" sz="2400" spc="-50" dirty="0">
                <a:latin typeface="Arial"/>
                <a:cs typeface="Arial"/>
              </a:rPr>
              <a:t> </a:t>
            </a:r>
            <a:r>
              <a:rPr lang="en-US" sz="2400" spc="-15" dirty="0">
                <a:latin typeface="Arial"/>
                <a:cs typeface="Arial"/>
              </a:rPr>
              <a:t>repulsion</a:t>
            </a:r>
            <a:r>
              <a:rPr lang="en-US" sz="2400" spc="30" dirty="0">
                <a:latin typeface="Arial"/>
                <a:cs typeface="Arial"/>
              </a:rPr>
              <a:t> </a:t>
            </a:r>
            <a:r>
              <a:rPr lang="en-US" sz="2400" spc="-30" dirty="0">
                <a:latin typeface="Arial"/>
                <a:cs typeface="Arial"/>
              </a:rPr>
              <a:t>is</a:t>
            </a:r>
            <a:r>
              <a:rPr lang="en-US" sz="2400" spc="55" dirty="0">
                <a:latin typeface="Arial"/>
                <a:cs typeface="Arial"/>
              </a:rPr>
              <a:t> </a:t>
            </a:r>
            <a:r>
              <a:rPr lang="en-US" sz="2400" spc="15" dirty="0">
                <a:latin typeface="Arial"/>
                <a:cs typeface="Arial"/>
              </a:rPr>
              <a:t>tha</a:t>
            </a:r>
            <a:r>
              <a:rPr lang="en-US" sz="2400" spc="10" dirty="0">
                <a:latin typeface="Arial"/>
                <a:cs typeface="Arial"/>
              </a:rPr>
              <a:t>t</a:t>
            </a:r>
            <a:r>
              <a:rPr lang="en-US" sz="2400" spc="-15" dirty="0">
                <a:latin typeface="Arial"/>
                <a:cs typeface="Arial"/>
              </a:rPr>
              <a:t> </a:t>
            </a:r>
            <a:r>
              <a:rPr lang="en-US" sz="2400" spc="5" dirty="0">
                <a:latin typeface="Arial"/>
                <a:cs typeface="Arial"/>
              </a:rPr>
              <a:t>th</a:t>
            </a:r>
            <a:r>
              <a:rPr lang="en-US" sz="2400" spc="15" dirty="0">
                <a:latin typeface="Arial"/>
                <a:cs typeface="Arial"/>
              </a:rPr>
              <a:t>e</a:t>
            </a:r>
            <a:r>
              <a:rPr lang="en-US" sz="2400" spc="75" dirty="0">
                <a:latin typeface="Arial"/>
                <a:cs typeface="Arial"/>
              </a:rPr>
              <a:t> </a:t>
            </a:r>
            <a:r>
              <a:rPr lang="en-US" sz="2400" spc="-20" dirty="0">
                <a:latin typeface="Arial"/>
                <a:cs typeface="Arial"/>
              </a:rPr>
              <a:t>actual  </a:t>
            </a:r>
            <a:r>
              <a:rPr lang="en-US" sz="2400" dirty="0">
                <a:latin typeface="Arial"/>
                <a:cs typeface="Arial"/>
              </a:rPr>
              <a:t>force</a:t>
            </a:r>
            <a:r>
              <a:rPr lang="en-US" sz="2400" spc="25" dirty="0">
                <a:latin typeface="Arial"/>
                <a:cs typeface="Arial"/>
              </a:rPr>
              <a:t> </a:t>
            </a:r>
            <a:r>
              <a:rPr lang="en-US" sz="2400" spc="-10" dirty="0">
                <a:latin typeface="Arial"/>
                <a:cs typeface="Arial"/>
              </a:rPr>
              <a:t>exerted</a:t>
            </a:r>
            <a:r>
              <a:rPr lang="en-US" sz="2400" spc="-50" dirty="0">
                <a:latin typeface="Arial"/>
                <a:cs typeface="Arial"/>
              </a:rPr>
              <a:t> </a:t>
            </a:r>
            <a:r>
              <a:rPr lang="en-US" sz="2400" spc="-25" dirty="0">
                <a:latin typeface="Arial"/>
                <a:cs typeface="Arial"/>
              </a:rPr>
              <a:t>by</a:t>
            </a:r>
            <a:r>
              <a:rPr lang="en-US" sz="2400" spc="-85" dirty="0">
                <a:latin typeface="Arial"/>
                <a:cs typeface="Arial"/>
              </a:rPr>
              <a:t> </a:t>
            </a:r>
            <a:r>
              <a:rPr lang="en-US" sz="2400" spc="10" dirty="0">
                <a:latin typeface="Arial"/>
                <a:cs typeface="Arial"/>
              </a:rPr>
              <a:t>the</a:t>
            </a:r>
            <a:r>
              <a:rPr lang="en-US" sz="2400" spc="-15" dirty="0">
                <a:latin typeface="Arial"/>
                <a:cs typeface="Arial"/>
              </a:rPr>
              <a:t> </a:t>
            </a:r>
            <a:r>
              <a:rPr lang="en-US" sz="2400" spc="-30" dirty="0">
                <a:latin typeface="Arial"/>
                <a:cs typeface="Arial"/>
              </a:rPr>
              <a:t>nucleus</a:t>
            </a:r>
            <a:r>
              <a:rPr lang="en-US" sz="2400" spc="-55" dirty="0">
                <a:latin typeface="Arial"/>
                <a:cs typeface="Arial"/>
              </a:rPr>
              <a:t> </a:t>
            </a:r>
            <a:r>
              <a:rPr lang="en-US" sz="2400" spc="50" dirty="0">
                <a:latin typeface="Arial"/>
                <a:cs typeface="Arial"/>
              </a:rPr>
              <a:t>on</a:t>
            </a:r>
            <a:r>
              <a:rPr lang="en-US" sz="2400" spc="-45" dirty="0">
                <a:latin typeface="Arial"/>
                <a:cs typeface="Arial"/>
              </a:rPr>
              <a:t> </a:t>
            </a:r>
            <a:r>
              <a:rPr lang="en-US" sz="2400" spc="10" dirty="0">
                <a:latin typeface="Arial"/>
                <a:cs typeface="Arial"/>
              </a:rPr>
              <a:t>the</a:t>
            </a:r>
            <a:r>
              <a:rPr lang="en-US" sz="2400" spc="-35" dirty="0">
                <a:latin typeface="Arial"/>
                <a:cs typeface="Arial"/>
              </a:rPr>
              <a:t> valence</a:t>
            </a:r>
            <a:r>
              <a:rPr lang="en-US" sz="2400" spc="20" dirty="0">
                <a:latin typeface="Arial"/>
                <a:cs typeface="Arial"/>
              </a:rPr>
              <a:t> </a:t>
            </a:r>
            <a:r>
              <a:rPr lang="en-US" sz="2400" spc="-35" dirty="0">
                <a:latin typeface="Arial"/>
                <a:cs typeface="Arial"/>
              </a:rPr>
              <a:t>shell</a:t>
            </a:r>
            <a:r>
              <a:rPr lang="en-US" sz="2400" spc="15" dirty="0">
                <a:latin typeface="Arial"/>
                <a:cs typeface="Arial"/>
              </a:rPr>
              <a:t> </a:t>
            </a:r>
            <a:r>
              <a:rPr lang="en-US" sz="2400" spc="-20" dirty="0">
                <a:latin typeface="Arial"/>
                <a:cs typeface="Arial"/>
              </a:rPr>
              <a:t>electrons</a:t>
            </a:r>
            <a:r>
              <a:rPr lang="en-US" sz="2400" spc="-10" dirty="0">
                <a:latin typeface="Arial"/>
                <a:cs typeface="Arial"/>
              </a:rPr>
              <a:t> </a:t>
            </a:r>
            <a:r>
              <a:rPr lang="en-US" sz="2400" spc="-30" dirty="0">
                <a:latin typeface="Arial"/>
                <a:cs typeface="Arial"/>
              </a:rPr>
              <a:t>is</a:t>
            </a:r>
            <a:r>
              <a:rPr lang="en-US" sz="2400" spc="20" dirty="0">
                <a:latin typeface="Arial"/>
                <a:cs typeface="Arial"/>
              </a:rPr>
              <a:t> </a:t>
            </a:r>
            <a:r>
              <a:rPr lang="en-US" sz="2400" dirty="0">
                <a:latin typeface="Arial"/>
                <a:cs typeface="Arial"/>
              </a:rPr>
              <a:t>partially</a:t>
            </a:r>
            <a:r>
              <a:rPr lang="en-US" sz="2400" spc="-30" dirty="0">
                <a:latin typeface="Arial"/>
                <a:cs typeface="Arial"/>
              </a:rPr>
              <a:t> </a:t>
            </a:r>
            <a:r>
              <a:rPr lang="en-US" sz="2400" spc="-50" dirty="0">
                <a:latin typeface="Arial"/>
                <a:cs typeface="Arial"/>
              </a:rPr>
              <a:t>decreased.</a:t>
            </a:r>
            <a:r>
              <a:rPr lang="en-US" sz="2400" spc="-260" dirty="0">
                <a:latin typeface="Arial"/>
                <a:cs typeface="Arial"/>
              </a:rPr>
              <a:t> </a:t>
            </a:r>
          </a:p>
          <a:p>
            <a:pPr marL="497840" marR="30480" indent="-457200" algn="just">
              <a:lnSpc>
                <a:spcPct val="150000"/>
              </a:lnSpc>
              <a:spcBef>
                <a:spcPts val="695"/>
              </a:spcBef>
              <a:buFont typeface="Arial" panose="020B0604020202020204" pitchFamily="34" charset="0"/>
              <a:buChar char="•"/>
            </a:pPr>
            <a:r>
              <a:rPr lang="en-US" sz="2400" spc="-45" dirty="0">
                <a:latin typeface="Arial"/>
                <a:cs typeface="Arial"/>
              </a:rPr>
              <a:t>Thus</a:t>
            </a:r>
            <a:r>
              <a:rPr lang="en-US" sz="2400" spc="-110" dirty="0">
                <a:latin typeface="Arial"/>
                <a:cs typeface="Arial"/>
              </a:rPr>
              <a:t> </a:t>
            </a:r>
            <a:r>
              <a:rPr lang="en-US" sz="2400" spc="10" dirty="0">
                <a:latin typeface="Arial"/>
                <a:cs typeface="Arial"/>
              </a:rPr>
              <a:t>the</a:t>
            </a:r>
            <a:r>
              <a:rPr lang="en-US" sz="2400" spc="-20" dirty="0">
                <a:latin typeface="Arial"/>
                <a:cs typeface="Arial"/>
              </a:rPr>
              <a:t> </a:t>
            </a:r>
            <a:r>
              <a:rPr lang="en-US" sz="2400" spc="40" dirty="0">
                <a:latin typeface="Arial"/>
                <a:cs typeface="Arial"/>
              </a:rPr>
              <a:t>inner  </a:t>
            </a:r>
            <a:r>
              <a:rPr lang="en-US" sz="2400" spc="-20" dirty="0">
                <a:latin typeface="Arial"/>
                <a:cs typeface="Arial"/>
              </a:rPr>
              <a:t>shell</a:t>
            </a:r>
            <a:r>
              <a:rPr lang="en-US" sz="2400" spc="-25" dirty="0">
                <a:latin typeface="Arial"/>
                <a:cs typeface="Arial"/>
              </a:rPr>
              <a:t> </a:t>
            </a:r>
            <a:r>
              <a:rPr lang="en-US" sz="2400" spc="-20" dirty="0">
                <a:latin typeface="Arial"/>
                <a:cs typeface="Arial"/>
              </a:rPr>
              <a:t>electrons</a:t>
            </a:r>
            <a:r>
              <a:rPr lang="en-US" sz="2400" spc="-60" dirty="0">
                <a:latin typeface="Arial"/>
                <a:cs typeface="Arial"/>
              </a:rPr>
              <a:t> </a:t>
            </a:r>
            <a:r>
              <a:rPr lang="en-US" sz="2400" spc="5" dirty="0">
                <a:latin typeface="Arial"/>
                <a:cs typeface="Arial"/>
              </a:rPr>
              <a:t>screen</a:t>
            </a:r>
            <a:r>
              <a:rPr lang="en-US" sz="2400" spc="-60" dirty="0">
                <a:latin typeface="Arial"/>
                <a:cs typeface="Arial"/>
              </a:rPr>
              <a:t> </a:t>
            </a:r>
            <a:r>
              <a:rPr lang="en-US" sz="2400" spc="40" dirty="0">
                <a:latin typeface="Arial"/>
                <a:cs typeface="Arial"/>
              </a:rPr>
              <a:t>or</a:t>
            </a:r>
            <a:r>
              <a:rPr lang="en-US" sz="2400" spc="20" dirty="0">
                <a:latin typeface="Arial"/>
                <a:cs typeface="Arial"/>
              </a:rPr>
              <a:t> </a:t>
            </a:r>
            <a:r>
              <a:rPr lang="en-US" sz="2400" spc="-25" dirty="0">
                <a:latin typeface="Arial"/>
                <a:cs typeface="Arial"/>
              </a:rPr>
              <a:t>shield</a:t>
            </a:r>
            <a:r>
              <a:rPr lang="en-US" sz="2400" spc="-80" dirty="0">
                <a:latin typeface="Arial"/>
                <a:cs typeface="Arial"/>
              </a:rPr>
              <a:t> </a:t>
            </a:r>
            <a:r>
              <a:rPr lang="en-US" sz="2400" spc="10" dirty="0">
                <a:latin typeface="Arial"/>
                <a:cs typeface="Arial"/>
              </a:rPr>
              <a:t>the</a:t>
            </a:r>
            <a:r>
              <a:rPr lang="en-US" sz="2400" spc="-114" dirty="0">
                <a:latin typeface="Arial"/>
                <a:cs typeface="Arial"/>
              </a:rPr>
              <a:t> </a:t>
            </a:r>
            <a:r>
              <a:rPr lang="en-US" sz="2400" spc="-35" dirty="0">
                <a:latin typeface="Arial"/>
                <a:cs typeface="Arial"/>
              </a:rPr>
              <a:t>valence</a:t>
            </a:r>
            <a:r>
              <a:rPr lang="en-US" sz="2400" spc="15" dirty="0">
                <a:latin typeface="Arial"/>
                <a:cs typeface="Arial"/>
              </a:rPr>
              <a:t> </a:t>
            </a:r>
            <a:r>
              <a:rPr lang="en-US" sz="2400" spc="-35" dirty="0">
                <a:latin typeface="Arial"/>
                <a:cs typeface="Arial"/>
              </a:rPr>
              <a:t>shell</a:t>
            </a:r>
            <a:r>
              <a:rPr lang="en-US" sz="2400" spc="-15" dirty="0">
                <a:latin typeface="Arial"/>
                <a:cs typeface="Arial"/>
              </a:rPr>
              <a:t> </a:t>
            </a:r>
            <a:r>
              <a:rPr lang="en-US" sz="2400" spc="-25" dirty="0">
                <a:latin typeface="Arial"/>
                <a:cs typeface="Arial"/>
              </a:rPr>
              <a:t>electrons</a:t>
            </a:r>
            <a:r>
              <a:rPr lang="en-US" sz="2400" spc="-40" dirty="0">
                <a:latin typeface="Arial"/>
                <a:cs typeface="Arial"/>
              </a:rPr>
              <a:t> </a:t>
            </a:r>
            <a:r>
              <a:rPr lang="en-US" sz="2400" spc="40" dirty="0">
                <a:latin typeface="Arial"/>
                <a:cs typeface="Arial"/>
              </a:rPr>
              <a:t>from</a:t>
            </a:r>
            <a:r>
              <a:rPr lang="en-US" sz="2400" spc="-60" dirty="0">
                <a:latin typeface="Arial"/>
                <a:cs typeface="Arial"/>
              </a:rPr>
              <a:t> </a:t>
            </a:r>
            <a:r>
              <a:rPr lang="en-US" sz="2400" spc="10" dirty="0">
                <a:latin typeface="Arial"/>
                <a:cs typeface="Arial"/>
              </a:rPr>
              <a:t>the</a:t>
            </a:r>
            <a:r>
              <a:rPr lang="en-US" sz="2400" spc="-95" dirty="0">
                <a:latin typeface="Arial"/>
                <a:cs typeface="Arial"/>
              </a:rPr>
              <a:t> </a:t>
            </a:r>
            <a:r>
              <a:rPr lang="en-US" sz="2400" spc="-35" dirty="0">
                <a:latin typeface="Arial"/>
                <a:cs typeface="Arial"/>
              </a:rPr>
              <a:t>nucleus.</a:t>
            </a:r>
            <a:endParaRPr lang="en-US" sz="2400" dirty="0">
              <a:latin typeface="Arial"/>
              <a:cs typeface="Arial"/>
            </a:endParaRPr>
          </a:p>
          <a:p>
            <a:pPr marL="497840" marR="30480" indent="-457200" algn="just">
              <a:lnSpc>
                <a:spcPct val="150000"/>
              </a:lnSpc>
              <a:spcBef>
                <a:spcPts val="695"/>
              </a:spcBef>
              <a:buFont typeface="Arial" panose="020B0604020202020204" pitchFamily="34" charset="0"/>
              <a:buChar char="•"/>
            </a:pPr>
            <a:r>
              <a:rPr lang="en-US" sz="2400" i="1" spc="-30" dirty="0">
                <a:latin typeface="Arial"/>
                <a:cs typeface="Arial"/>
              </a:rPr>
              <a:t>This</a:t>
            </a:r>
            <a:r>
              <a:rPr lang="en-US" sz="2400" i="1" spc="-35" dirty="0">
                <a:latin typeface="Arial"/>
                <a:cs typeface="Arial"/>
              </a:rPr>
              <a:t> </a:t>
            </a:r>
            <a:r>
              <a:rPr lang="en-US" sz="2400" i="1" spc="-50" dirty="0">
                <a:latin typeface="Arial"/>
                <a:cs typeface="Arial"/>
              </a:rPr>
              <a:t>decrease</a:t>
            </a:r>
            <a:r>
              <a:rPr lang="en-US" sz="2400" i="1" spc="-114" dirty="0">
                <a:latin typeface="Arial"/>
                <a:cs typeface="Arial"/>
              </a:rPr>
              <a:t> </a:t>
            </a:r>
            <a:r>
              <a:rPr lang="en-US" sz="2400" i="1" spc="75" dirty="0">
                <a:latin typeface="Arial"/>
                <a:cs typeface="Arial"/>
              </a:rPr>
              <a:t>in</a:t>
            </a:r>
            <a:r>
              <a:rPr lang="en-US" sz="2400" i="1" spc="25" dirty="0">
                <a:latin typeface="Arial"/>
                <a:cs typeface="Arial"/>
              </a:rPr>
              <a:t> </a:t>
            </a:r>
            <a:r>
              <a:rPr lang="en-US" sz="2400" i="1" spc="-5" dirty="0">
                <a:latin typeface="Arial"/>
                <a:cs typeface="Arial"/>
              </a:rPr>
              <a:t>the</a:t>
            </a:r>
            <a:r>
              <a:rPr lang="en-US" sz="2400" i="1" spc="-55" dirty="0">
                <a:latin typeface="Arial"/>
                <a:cs typeface="Arial"/>
              </a:rPr>
              <a:t> </a:t>
            </a:r>
            <a:r>
              <a:rPr lang="en-US" sz="2400" i="1" dirty="0">
                <a:latin typeface="Arial"/>
                <a:cs typeface="Arial"/>
              </a:rPr>
              <a:t>attractive force exerted b</a:t>
            </a:r>
            <a:r>
              <a:rPr lang="en-US" sz="2400" i="1" spc="-5" dirty="0">
                <a:latin typeface="Arial"/>
                <a:cs typeface="Arial"/>
              </a:rPr>
              <a:t>y</a:t>
            </a:r>
            <a:r>
              <a:rPr lang="en-US" sz="2400" i="1" spc="20" dirty="0">
                <a:latin typeface="Arial"/>
                <a:cs typeface="Arial"/>
              </a:rPr>
              <a:t> </a:t>
            </a:r>
            <a:r>
              <a:rPr lang="en-US" sz="2400" i="1" dirty="0">
                <a:latin typeface="Arial"/>
                <a:cs typeface="Arial"/>
              </a:rPr>
              <a:t>the</a:t>
            </a:r>
            <a:r>
              <a:rPr lang="en-US" sz="2400" i="1" spc="-40" dirty="0">
                <a:latin typeface="Arial"/>
                <a:cs typeface="Arial"/>
              </a:rPr>
              <a:t> </a:t>
            </a:r>
            <a:r>
              <a:rPr lang="en-US" sz="2400" i="1" spc="-50" dirty="0">
                <a:latin typeface="Arial"/>
                <a:cs typeface="Arial"/>
              </a:rPr>
              <a:t>nucleus</a:t>
            </a:r>
            <a:r>
              <a:rPr lang="en-US" sz="2400" i="1" spc="-15" dirty="0">
                <a:latin typeface="Arial"/>
                <a:cs typeface="Arial"/>
              </a:rPr>
              <a:t> </a:t>
            </a:r>
            <a:r>
              <a:rPr lang="en-US" sz="2400" i="1" spc="-50" dirty="0">
                <a:latin typeface="Arial"/>
                <a:cs typeface="Arial"/>
              </a:rPr>
              <a:t>because</a:t>
            </a:r>
            <a:r>
              <a:rPr lang="en-US" sz="2400" i="1" spc="-60" dirty="0">
                <a:latin typeface="Arial"/>
                <a:cs typeface="Arial"/>
              </a:rPr>
              <a:t> of t</a:t>
            </a:r>
            <a:r>
              <a:rPr lang="en-US" sz="2400" i="1" spc="-5" dirty="0">
                <a:latin typeface="Arial"/>
                <a:cs typeface="Arial"/>
              </a:rPr>
              <a:t>he</a:t>
            </a:r>
            <a:r>
              <a:rPr lang="en-US" sz="2400" i="1" spc="-110" dirty="0">
                <a:latin typeface="Arial"/>
                <a:cs typeface="Arial"/>
              </a:rPr>
              <a:t> </a:t>
            </a:r>
            <a:r>
              <a:rPr lang="en-US" sz="2400" i="1" spc="35" dirty="0">
                <a:latin typeface="Arial"/>
                <a:cs typeface="Arial"/>
              </a:rPr>
              <a:t>inner</a:t>
            </a:r>
            <a:r>
              <a:rPr lang="en-US" sz="2400" i="1" spc="-55" dirty="0">
                <a:latin typeface="Arial"/>
                <a:cs typeface="Arial"/>
              </a:rPr>
              <a:t> </a:t>
            </a:r>
            <a:r>
              <a:rPr lang="en-US" sz="2400" i="1" spc="-10" dirty="0">
                <a:latin typeface="Arial"/>
                <a:cs typeface="Arial"/>
              </a:rPr>
              <a:t>shell</a:t>
            </a:r>
            <a:r>
              <a:rPr lang="en-US" sz="2400" i="1" spc="-140" dirty="0">
                <a:latin typeface="Arial"/>
                <a:cs typeface="Arial"/>
              </a:rPr>
              <a:t> </a:t>
            </a:r>
            <a:r>
              <a:rPr lang="en-US" sz="2400" i="1" spc="-15" dirty="0">
                <a:latin typeface="Arial"/>
                <a:cs typeface="Arial"/>
              </a:rPr>
              <a:t>electrons</a:t>
            </a:r>
            <a:r>
              <a:rPr lang="en-US" sz="2400" i="1" spc="-85" dirty="0">
                <a:latin typeface="Arial"/>
                <a:cs typeface="Arial"/>
              </a:rPr>
              <a:t> </a:t>
            </a:r>
            <a:r>
              <a:rPr lang="en-US" sz="2400" i="1" spc="10" dirty="0">
                <a:latin typeface="Arial"/>
                <a:cs typeface="Arial"/>
              </a:rPr>
              <a:t>is called</a:t>
            </a:r>
            <a:r>
              <a:rPr lang="en-US" sz="2400" i="1" spc="-37" baseline="2777" dirty="0">
                <a:latin typeface="Arial"/>
                <a:cs typeface="Arial"/>
              </a:rPr>
              <a:t> </a:t>
            </a:r>
            <a:r>
              <a:rPr lang="en-US" sz="2400" b="1" i="1" spc="-20" dirty="0">
                <a:latin typeface="Arial"/>
                <a:cs typeface="Arial"/>
              </a:rPr>
              <a:t>shielding or</a:t>
            </a:r>
            <a:r>
              <a:rPr lang="en-US" sz="2400" b="1" i="1" spc="15" baseline="3086" dirty="0">
                <a:latin typeface="Arial"/>
                <a:cs typeface="Arial"/>
              </a:rPr>
              <a:t> </a:t>
            </a:r>
            <a:r>
              <a:rPr lang="en-US" sz="2400" b="1" i="1" spc="5" dirty="0">
                <a:latin typeface="Arial"/>
                <a:cs typeface="Arial"/>
              </a:rPr>
              <a:t>screening effect.</a:t>
            </a:r>
            <a:endParaRPr lang="en-US" sz="2400" b="1" dirty="0">
              <a:latin typeface="Arial"/>
              <a:cs typeface="Arial"/>
            </a:endParaRPr>
          </a:p>
          <a:p>
            <a:pPr algn="just">
              <a:lnSpc>
                <a:spcPct val="150000"/>
              </a:lnSpc>
            </a:pPr>
            <a:endParaRPr lang="en-US" sz="2400" dirty="0">
              <a:latin typeface="Arial"/>
              <a:cs typeface="Arial"/>
            </a:endParaRPr>
          </a:p>
          <a:p>
            <a:pPr algn="just">
              <a:lnSpc>
                <a:spcPct val="150000"/>
              </a:lnSpc>
            </a:pPr>
            <a:endParaRPr lang="en-IN" sz="2400" dirty="0"/>
          </a:p>
        </p:txBody>
      </p:sp>
      <p:sp>
        <p:nvSpPr>
          <p:cNvPr id="2" name="Footer Placeholder 1">
            <a:extLst>
              <a:ext uri="{FF2B5EF4-FFF2-40B4-BE49-F238E27FC236}">
                <a16:creationId xmlns:a16="http://schemas.microsoft.com/office/drawing/2014/main" id="{A1095EB5-BE12-200F-508E-0A56C1EEA634}"/>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F7D70D50-6877-DF90-A70A-9FA94A343A65}"/>
              </a:ext>
            </a:extLst>
          </p:cNvPr>
          <p:cNvSpPr>
            <a:spLocks noGrp="1"/>
          </p:cNvSpPr>
          <p:nvPr>
            <p:ph type="sldNum" sz="quarter" idx="12"/>
          </p:nvPr>
        </p:nvSpPr>
        <p:spPr/>
        <p:txBody>
          <a:bodyPr/>
          <a:lstStyle/>
          <a:p>
            <a:fld id="{18FFC5A6-CECA-42F5-ACA8-5C3F58FF9B21}" type="slidenum">
              <a:rPr lang="en-US" smtClean="0"/>
              <a:t>10</a:t>
            </a:fld>
            <a:endParaRPr lang="en-US"/>
          </a:p>
        </p:txBody>
      </p:sp>
      <p:sp>
        <p:nvSpPr>
          <p:cNvPr id="5" name="Date Placeholder 4">
            <a:extLst>
              <a:ext uri="{FF2B5EF4-FFF2-40B4-BE49-F238E27FC236}">
                <a16:creationId xmlns:a16="http://schemas.microsoft.com/office/drawing/2014/main" id="{1A227AD4-6E1D-887F-8EAA-872F79C19E5F}"/>
              </a:ext>
            </a:extLst>
          </p:cNvPr>
          <p:cNvSpPr>
            <a:spLocks noGrp="1"/>
          </p:cNvSpPr>
          <p:nvPr>
            <p:ph type="dt" sz="half" idx="10"/>
          </p:nvPr>
        </p:nvSpPr>
        <p:spPr/>
        <p:txBody>
          <a:bodyPr/>
          <a:lstStyle/>
          <a:p>
            <a:fld id="{BDCBFC79-EED8-47AB-BC4F-5F9DDB4A9F36}" type="datetime1">
              <a:rPr lang="en-US" smtClean="0"/>
              <a:t>8/3/2023</a:t>
            </a:fld>
            <a:endParaRPr lang="en-US"/>
          </a:p>
        </p:txBody>
      </p:sp>
    </p:spTree>
    <p:extLst>
      <p:ext uri="{BB962C8B-B14F-4D97-AF65-F5344CB8AC3E}">
        <p14:creationId xmlns:p14="http://schemas.microsoft.com/office/powerpoint/2010/main" val="24889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838200" y="376544"/>
            <a:ext cx="10515600" cy="1325563"/>
          </a:xfrm>
        </p:spPr>
        <p:txBody>
          <a:bodyPr>
            <a:normAutofit/>
          </a:bodyPr>
          <a:lstStyle/>
          <a:p>
            <a:pPr algn="ctr"/>
            <a:r>
              <a:rPr lang="en-US" b="1" dirty="0">
                <a:latin typeface="Aharoni" panose="02010803020104030203" pitchFamily="2" charset="-79"/>
                <a:cs typeface="Aharoni" panose="02010803020104030203" pitchFamily="2" charset="-79"/>
              </a:rPr>
              <a:t>Effective nuclear charge:</a:t>
            </a:r>
            <a:r>
              <a:rPr lang="en-US" dirty="0"/>
              <a:t/>
            </a:r>
            <a:br>
              <a:rPr lang="en-US" dirty="0"/>
            </a:br>
            <a:endParaRPr lang="en-US" dirty="0"/>
          </a:p>
        </p:txBody>
      </p:sp>
      <p:sp>
        <p:nvSpPr>
          <p:cNvPr id="5" name="Rectangle 3"/>
          <p:cNvSpPr>
            <a:spLocks noGrp="1" noChangeArrowheads="1"/>
          </p:cNvSpPr>
          <p:nvPr>
            <p:ph idx="1"/>
          </p:nvPr>
        </p:nvSpPr>
        <p:spPr>
          <a:xfrm>
            <a:off x="646921" y="1039325"/>
            <a:ext cx="11201401" cy="6055632"/>
          </a:xfrm>
        </p:spPr>
        <p:txBody>
          <a:bodyPr>
            <a:normAutofit fontScale="70000" lnSpcReduction="20000"/>
          </a:bodyPr>
          <a:lstStyle/>
          <a:p>
            <a:pPr algn="just"/>
            <a:endParaRPr lang="en-US" dirty="0"/>
          </a:p>
          <a:p>
            <a:pPr lvl="0" algn="just">
              <a:lnSpc>
                <a:spcPct val="170000"/>
              </a:lnSpc>
              <a:spcBef>
                <a:spcPts val="0"/>
              </a:spcBef>
            </a:pPr>
            <a:r>
              <a:rPr lang="en-US" sz="6000" dirty="0"/>
              <a:t>The effective nuclear charge is the net positive charge experienced by an electron in a polyelectronic atom. </a:t>
            </a:r>
          </a:p>
          <a:p>
            <a:pPr lvl="0" algn="just">
              <a:lnSpc>
                <a:spcPct val="170000"/>
              </a:lnSpc>
              <a:spcBef>
                <a:spcPts val="0"/>
              </a:spcBef>
            </a:pPr>
            <a:r>
              <a:rPr lang="en-IN" sz="5000" i="1" dirty="0"/>
              <a:t>The decrease in the attractive force exerted by the nucleus because of the inner shell electrons is called shielding or screening effect. </a:t>
            </a:r>
            <a:endParaRPr lang="en-US" sz="11000" dirty="0"/>
          </a:p>
        </p:txBody>
      </p:sp>
      <p:sp>
        <p:nvSpPr>
          <p:cNvPr id="9" name="AutoShape 6" descr="Z_{\mathrm{eff}}"/>
          <p:cNvSpPr>
            <a:spLocks noChangeAspect="1" noChangeArrowheads="1"/>
          </p:cNvSpPr>
          <p:nvPr/>
        </p:nvSpPr>
        <p:spPr bwMode="auto">
          <a:xfrm>
            <a:off x="30543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Footer Placeholder 1">
            <a:extLst>
              <a:ext uri="{FF2B5EF4-FFF2-40B4-BE49-F238E27FC236}">
                <a16:creationId xmlns:a16="http://schemas.microsoft.com/office/drawing/2014/main" id="{8E65321B-6B80-2638-209F-4BEA426A0A1F}"/>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B31DA7A2-09D2-7100-66C7-7E8819C901EF}"/>
              </a:ext>
            </a:extLst>
          </p:cNvPr>
          <p:cNvSpPr>
            <a:spLocks noGrp="1"/>
          </p:cNvSpPr>
          <p:nvPr>
            <p:ph type="sldNum" sz="quarter" idx="12"/>
          </p:nvPr>
        </p:nvSpPr>
        <p:spPr/>
        <p:txBody>
          <a:bodyPr/>
          <a:lstStyle/>
          <a:p>
            <a:fld id="{18FFC5A6-CECA-42F5-ACA8-5C3F58FF9B21}" type="slidenum">
              <a:rPr lang="en-US" smtClean="0"/>
              <a:t>11</a:t>
            </a:fld>
            <a:endParaRPr lang="en-US"/>
          </a:p>
        </p:txBody>
      </p:sp>
      <p:sp>
        <p:nvSpPr>
          <p:cNvPr id="6" name="Date Placeholder 5">
            <a:extLst>
              <a:ext uri="{FF2B5EF4-FFF2-40B4-BE49-F238E27FC236}">
                <a16:creationId xmlns:a16="http://schemas.microsoft.com/office/drawing/2014/main" id="{C8B4FECE-54B1-30E6-F36D-65FBE64F96FE}"/>
              </a:ext>
            </a:extLst>
          </p:cNvPr>
          <p:cNvSpPr>
            <a:spLocks noGrp="1"/>
          </p:cNvSpPr>
          <p:nvPr>
            <p:ph type="dt" sz="half" idx="10"/>
          </p:nvPr>
        </p:nvSpPr>
        <p:spPr/>
        <p:txBody>
          <a:bodyPr/>
          <a:lstStyle/>
          <a:p>
            <a:fld id="{C652BB4C-9479-4C24-AD39-8C6DFA27624B}" type="datetime1">
              <a:rPr lang="en-US" smtClean="0"/>
              <a:t>8/3/2023</a:t>
            </a:fld>
            <a:endParaRPr lang="en-US"/>
          </a:p>
        </p:txBody>
      </p:sp>
    </p:spTree>
    <p:extLst>
      <p:ext uri="{BB962C8B-B14F-4D97-AF65-F5344CB8AC3E}">
        <p14:creationId xmlns:p14="http://schemas.microsoft.com/office/powerpoint/2010/main" val="474813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838200" y="376544"/>
            <a:ext cx="10515600" cy="1325563"/>
          </a:xfrm>
        </p:spPr>
        <p:txBody>
          <a:bodyPr>
            <a:normAutofit/>
          </a:bodyPr>
          <a:lstStyle/>
          <a:p>
            <a:pPr algn="ctr"/>
            <a:r>
              <a:rPr lang="en-US" b="1" dirty="0">
                <a:latin typeface="Aharoni" panose="02010803020104030203" pitchFamily="2" charset="-79"/>
                <a:cs typeface="Aharoni" panose="02010803020104030203" pitchFamily="2" charset="-79"/>
              </a:rPr>
              <a:t>Effective nuclear charge:</a:t>
            </a:r>
            <a:r>
              <a:rPr lang="en-US" dirty="0"/>
              <a:t/>
            </a:r>
            <a:br>
              <a:rPr lang="en-US" dirty="0"/>
            </a:br>
            <a:endParaRPr lang="en-US" dirty="0"/>
          </a:p>
        </p:txBody>
      </p:sp>
      <p:sp>
        <p:nvSpPr>
          <p:cNvPr id="5" name="Rectangle 3"/>
          <p:cNvSpPr>
            <a:spLocks noGrp="1" noChangeArrowheads="1"/>
          </p:cNvSpPr>
          <p:nvPr>
            <p:ph idx="1"/>
          </p:nvPr>
        </p:nvSpPr>
        <p:spPr>
          <a:xfrm>
            <a:off x="646921" y="1039325"/>
            <a:ext cx="11201401" cy="6055632"/>
          </a:xfrm>
        </p:spPr>
        <p:txBody>
          <a:bodyPr>
            <a:normAutofit/>
          </a:bodyPr>
          <a:lstStyle/>
          <a:p>
            <a:pPr algn="just">
              <a:lnSpc>
                <a:spcPct val="150000"/>
              </a:lnSpc>
            </a:pPr>
            <a:r>
              <a:rPr lang="en-US" sz="3200" dirty="0"/>
              <a:t>Effective nuclear charge can be defined as, the </a:t>
            </a:r>
            <a:r>
              <a:rPr lang="en-US" sz="3200" i="1" dirty="0"/>
              <a:t>actual nuclear charge Z minus the screening effect</a:t>
            </a:r>
            <a:r>
              <a:rPr lang="en-US" sz="3200" dirty="0"/>
              <a:t> </a:t>
            </a:r>
            <a:r>
              <a:rPr lang="en-US" sz="3200" i="1" dirty="0"/>
              <a:t>caused by the electrons intervening between the nucleus and the outer electrons.</a:t>
            </a:r>
            <a:endParaRPr lang="en-US" sz="3200" dirty="0"/>
          </a:p>
          <a:p>
            <a:pPr algn="just">
              <a:lnSpc>
                <a:spcPct val="150000"/>
              </a:lnSpc>
            </a:pPr>
            <a:r>
              <a:rPr lang="en-US" sz="3200" dirty="0"/>
              <a:t>Greater the number of electrons intervening between the nucleus and the outer  electrons more will be the magnitude of </a:t>
            </a:r>
            <a:r>
              <a:rPr lang="el-GR" sz="3200" dirty="0"/>
              <a:t>σ</a:t>
            </a:r>
            <a:r>
              <a:rPr lang="en-US" sz="3200" dirty="0"/>
              <a:t> and hence the magnitude of effective nuclear charge Z* will decrease.</a:t>
            </a:r>
          </a:p>
        </p:txBody>
      </p:sp>
      <p:sp>
        <p:nvSpPr>
          <p:cNvPr id="9" name="AutoShape 6" descr="Z_{\mathrm{eff}}"/>
          <p:cNvSpPr>
            <a:spLocks noChangeAspect="1" noChangeArrowheads="1"/>
          </p:cNvSpPr>
          <p:nvPr/>
        </p:nvSpPr>
        <p:spPr bwMode="auto">
          <a:xfrm>
            <a:off x="30543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Footer Placeholder 1">
            <a:extLst>
              <a:ext uri="{FF2B5EF4-FFF2-40B4-BE49-F238E27FC236}">
                <a16:creationId xmlns:a16="http://schemas.microsoft.com/office/drawing/2014/main" id="{958A0282-4EFF-892E-FDB9-08490CFE6257}"/>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48D27D27-0A3A-0EE1-B532-AF58A7F2BC73}"/>
              </a:ext>
            </a:extLst>
          </p:cNvPr>
          <p:cNvSpPr>
            <a:spLocks noGrp="1"/>
          </p:cNvSpPr>
          <p:nvPr>
            <p:ph type="sldNum" sz="quarter" idx="12"/>
          </p:nvPr>
        </p:nvSpPr>
        <p:spPr/>
        <p:txBody>
          <a:bodyPr/>
          <a:lstStyle/>
          <a:p>
            <a:fld id="{18FFC5A6-CECA-42F5-ACA8-5C3F58FF9B21}" type="slidenum">
              <a:rPr lang="en-US" smtClean="0"/>
              <a:t>12</a:t>
            </a:fld>
            <a:endParaRPr lang="en-US"/>
          </a:p>
        </p:txBody>
      </p:sp>
      <p:sp>
        <p:nvSpPr>
          <p:cNvPr id="6" name="Date Placeholder 5">
            <a:extLst>
              <a:ext uri="{FF2B5EF4-FFF2-40B4-BE49-F238E27FC236}">
                <a16:creationId xmlns:a16="http://schemas.microsoft.com/office/drawing/2014/main" id="{CDA9D0F6-EA95-80DA-735B-ECF8EEF4482B}"/>
              </a:ext>
            </a:extLst>
          </p:cNvPr>
          <p:cNvSpPr>
            <a:spLocks noGrp="1"/>
          </p:cNvSpPr>
          <p:nvPr>
            <p:ph type="dt" sz="half" idx="10"/>
          </p:nvPr>
        </p:nvSpPr>
        <p:spPr/>
        <p:txBody>
          <a:bodyPr/>
          <a:lstStyle/>
          <a:p>
            <a:fld id="{1857546B-51A7-4EB8-A78B-847F5F06B7C3}" type="datetime1">
              <a:rPr lang="en-US" smtClean="0"/>
              <a:t>8/3/2023</a:t>
            </a:fld>
            <a:endParaRPr lang="en-US"/>
          </a:p>
        </p:txBody>
      </p:sp>
    </p:spTree>
    <p:extLst>
      <p:ext uri="{BB962C8B-B14F-4D97-AF65-F5344CB8AC3E}">
        <p14:creationId xmlns:p14="http://schemas.microsoft.com/office/powerpoint/2010/main" val="3908504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838200" y="376544"/>
            <a:ext cx="10515600" cy="1325563"/>
          </a:xfrm>
        </p:spPr>
        <p:txBody>
          <a:bodyPr>
            <a:normAutofit/>
          </a:bodyPr>
          <a:lstStyle/>
          <a:p>
            <a:pPr algn="ctr"/>
            <a:r>
              <a:rPr lang="en-US" b="1" dirty="0">
                <a:latin typeface="Aharoni" panose="02010803020104030203" pitchFamily="2" charset="-79"/>
                <a:cs typeface="Aharoni" panose="02010803020104030203" pitchFamily="2" charset="-79"/>
              </a:rPr>
              <a:t>Effective nuclear charge:</a:t>
            </a:r>
            <a:r>
              <a:rPr lang="en-US" dirty="0"/>
              <a:t/>
            </a:r>
            <a:br>
              <a:rPr lang="en-US" dirty="0"/>
            </a:br>
            <a:endParaRPr lang="en-US" dirty="0"/>
          </a:p>
        </p:txBody>
      </p:sp>
      <p:sp>
        <p:nvSpPr>
          <p:cNvPr id="5" name="Rectangle 3"/>
          <p:cNvSpPr>
            <a:spLocks noGrp="1" noChangeArrowheads="1"/>
          </p:cNvSpPr>
          <p:nvPr>
            <p:ph idx="1"/>
          </p:nvPr>
        </p:nvSpPr>
        <p:spPr>
          <a:xfrm>
            <a:off x="646921" y="1039325"/>
            <a:ext cx="11201401" cy="6055632"/>
          </a:xfrm>
        </p:spPr>
        <p:txBody>
          <a:bodyPr>
            <a:normAutofit/>
          </a:bodyPr>
          <a:lstStyle/>
          <a:p>
            <a:pPr algn="just">
              <a:lnSpc>
                <a:spcPct val="150000"/>
              </a:lnSpc>
            </a:pPr>
            <a:endParaRPr lang="en-US" dirty="0"/>
          </a:p>
          <a:p>
            <a:pPr algn="just">
              <a:lnSpc>
                <a:spcPct val="150000"/>
              </a:lnSpc>
              <a:spcBef>
                <a:spcPts val="0"/>
              </a:spcBef>
            </a:pPr>
            <a:r>
              <a:rPr lang="en-IN" dirty="0"/>
              <a:t>This shielding effect reduces the nuclear charge. This decreased nuclear charge is called effective nuclear charge and represented as Z*. </a:t>
            </a:r>
            <a:endParaRPr lang="en-US" dirty="0"/>
          </a:p>
          <a:p>
            <a:pPr algn="ctr">
              <a:lnSpc>
                <a:spcPct val="150000"/>
              </a:lnSpc>
              <a:spcBef>
                <a:spcPts val="0"/>
              </a:spcBef>
              <a:buFontTx/>
              <a:buNone/>
            </a:pPr>
            <a:r>
              <a:rPr lang="en-US" dirty="0"/>
              <a:t>Z* = Z – </a:t>
            </a:r>
            <a:r>
              <a:rPr lang="en-IN" dirty="0"/>
              <a:t>σ</a:t>
            </a:r>
          </a:p>
          <a:p>
            <a:pPr algn="just">
              <a:lnSpc>
                <a:spcPct val="150000"/>
              </a:lnSpc>
              <a:spcBef>
                <a:spcPts val="0"/>
              </a:spcBef>
              <a:buFontTx/>
              <a:buNone/>
            </a:pPr>
            <a:r>
              <a:rPr lang="en-US" dirty="0"/>
              <a:t>Z = atomic number and </a:t>
            </a:r>
            <a:r>
              <a:rPr lang="en-IN" dirty="0"/>
              <a:t>σ</a:t>
            </a:r>
            <a:r>
              <a:rPr lang="en-US" dirty="0"/>
              <a:t> = screening constant (roughly number of core electrons)</a:t>
            </a:r>
          </a:p>
          <a:p>
            <a:pPr>
              <a:lnSpc>
                <a:spcPct val="150000"/>
              </a:lnSpc>
            </a:pPr>
            <a:r>
              <a:rPr lang="en-US" dirty="0"/>
              <a:t>Screening constant is a measure of the extent to which the other electrons in an atom are able to screen the nucleus from the chosen electron.</a:t>
            </a:r>
          </a:p>
          <a:p>
            <a:pPr algn="just">
              <a:lnSpc>
                <a:spcPct val="150000"/>
              </a:lnSpc>
              <a:spcBef>
                <a:spcPts val="0"/>
              </a:spcBef>
            </a:pPr>
            <a:endParaRPr lang="en-US" dirty="0"/>
          </a:p>
        </p:txBody>
      </p:sp>
      <p:sp>
        <p:nvSpPr>
          <p:cNvPr id="9" name="AutoShape 6" descr="Z_{\mathrm{eff}}"/>
          <p:cNvSpPr>
            <a:spLocks noChangeAspect="1" noChangeArrowheads="1"/>
          </p:cNvSpPr>
          <p:nvPr/>
        </p:nvSpPr>
        <p:spPr bwMode="auto">
          <a:xfrm>
            <a:off x="30543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Footer Placeholder 1">
            <a:extLst>
              <a:ext uri="{FF2B5EF4-FFF2-40B4-BE49-F238E27FC236}">
                <a16:creationId xmlns:a16="http://schemas.microsoft.com/office/drawing/2014/main" id="{8883150C-5A25-F3CB-AC12-99887856FB1B}"/>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86318475-4F2B-69A2-16B0-132BD718735F}"/>
              </a:ext>
            </a:extLst>
          </p:cNvPr>
          <p:cNvSpPr>
            <a:spLocks noGrp="1"/>
          </p:cNvSpPr>
          <p:nvPr>
            <p:ph type="sldNum" sz="quarter" idx="12"/>
          </p:nvPr>
        </p:nvSpPr>
        <p:spPr/>
        <p:txBody>
          <a:bodyPr/>
          <a:lstStyle/>
          <a:p>
            <a:fld id="{18FFC5A6-CECA-42F5-ACA8-5C3F58FF9B21}" type="slidenum">
              <a:rPr lang="en-US" smtClean="0"/>
              <a:t>13</a:t>
            </a:fld>
            <a:endParaRPr lang="en-US"/>
          </a:p>
        </p:txBody>
      </p:sp>
      <p:sp>
        <p:nvSpPr>
          <p:cNvPr id="6" name="Date Placeholder 5">
            <a:extLst>
              <a:ext uri="{FF2B5EF4-FFF2-40B4-BE49-F238E27FC236}">
                <a16:creationId xmlns:a16="http://schemas.microsoft.com/office/drawing/2014/main" id="{2736CA7B-C172-4465-EC1A-DE5EDFEEC644}"/>
              </a:ext>
            </a:extLst>
          </p:cNvPr>
          <p:cNvSpPr>
            <a:spLocks noGrp="1"/>
          </p:cNvSpPr>
          <p:nvPr>
            <p:ph type="dt" sz="half" idx="10"/>
          </p:nvPr>
        </p:nvSpPr>
        <p:spPr/>
        <p:txBody>
          <a:bodyPr/>
          <a:lstStyle/>
          <a:p>
            <a:fld id="{66F0E9D2-0AD1-4BBA-A7EC-4834219C11D9}" type="datetime1">
              <a:rPr lang="en-US" smtClean="0"/>
              <a:t>8/3/2023</a:t>
            </a:fld>
            <a:endParaRPr lang="en-US"/>
          </a:p>
        </p:txBody>
      </p:sp>
    </p:spTree>
    <p:extLst>
      <p:ext uri="{BB962C8B-B14F-4D97-AF65-F5344CB8AC3E}">
        <p14:creationId xmlns:p14="http://schemas.microsoft.com/office/powerpoint/2010/main" val="915628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838200" y="376544"/>
            <a:ext cx="10515600" cy="1325563"/>
          </a:xfrm>
        </p:spPr>
        <p:txBody>
          <a:bodyPr>
            <a:normAutofit/>
          </a:bodyPr>
          <a:lstStyle/>
          <a:p>
            <a:pPr algn="ctr"/>
            <a:r>
              <a:rPr lang="en-US" b="1" dirty="0">
                <a:latin typeface="Aharoni" panose="02010803020104030203" pitchFamily="2" charset="-79"/>
                <a:cs typeface="Aharoni" panose="02010803020104030203" pitchFamily="2" charset="-79"/>
              </a:rPr>
              <a:t>Effective nuclear charge:</a:t>
            </a:r>
            <a:r>
              <a:rPr lang="en-US" dirty="0"/>
              <a:t/>
            </a:r>
            <a:br>
              <a:rPr lang="en-US" dirty="0"/>
            </a:br>
            <a:endParaRPr lang="en-US" dirty="0"/>
          </a:p>
        </p:txBody>
      </p:sp>
      <p:sp>
        <p:nvSpPr>
          <p:cNvPr id="5" name="Rectangle 3"/>
          <p:cNvSpPr>
            <a:spLocks noGrp="1" noChangeArrowheads="1"/>
          </p:cNvSpPr>
          <p:nvPr>
            <p:ph idx="1"/>
          </p:nvPr>
        </p:nvSpPr>
        <p:spPr>
          <a:xfrm>
            <a:off x="646921" y="1039325"/>
            <a:ext cx="11201401" cy="6055632"/>
          </a:xfrm>
        </p:spPr>
        <p:txBody>
          <a:bodyPr>
            <a:normAutofit/>
          </a:bodyPr>
          <a:lstStyle/>
          <a:p>
            <a:pPr marL="0" indent="0" algn="just" fontAlgn="base">
              <a:lnSpc>
                <a:spcPct val="200000"/>
              </a:lnSpc>
              <a:buNone/>
            </a:pPr>
            <a:r>
              <a:rPr lang="en-US" sz="3200" dirty="0"/>
              <a:t>Steps involved</a:t>
            </a:r>
          </a:p>
          <a:p>
            <a:pPr algn="just" fontAlgn="base">
              <a:lnSpc>
                <a:spcPct val="200000"/>
              </a:lnSpc>
            </a:pPr>
            <a:r>
              <a:rPr lang="en-US" sz="3200" dirty="0"/>
              <a:t>Write the electronic configuration as per the </a:t>
            </a:r>
            <a:r>
              <a:rPr lang="en-US" sz="3200" dirty="0" err="1"/>
              <a:t>Aufbau’s</a:t>
            </a:r>
            <a:r>
              <a:rPr lang="en-US" sz="3200" dirty="0"/>
              <a:t> Principle</a:t>
            </a:r>
          </a:p>
          <a:p>
            <a:pPr algn="just" fontAlgn="base">
              <a:lnSpc>
                <a:spcPct val="200000"/>
              </a:lnSpc>
            </a:pPr>
            <a:r>
              <a:rPr lang="en-US" sz="3200" dirty="0"/>
              <a:t>Any electrons to the right of the electron of interest do not contribute to shielding constant because they are in the higher shells.</a:t>
            </a:r>
          </a:p>
          <a:p>
            <a:pPr algn="just">
              <a:lnSpc>
                <a:spcPct val="200000"/>
              </a:lnSpc>
              <a:spcBef>
                <a:spcPts val="0"/>
              </a:spcBef>
            </a:pPr>
            <a:endParaRPr lang="en-US" sz="3200" dirty="0"/>
          </a:p>
        </p:txBody>
      </p:sp>
      <p:sp>
        <p:nvSpPr>
          <p:cNvPr id="9" name="AutoShape 6" descr="Z_{\mathrm{eff}}"/>
          <p:cNvSpPr>
            <a:spLocks noChangeAspect="1" noChangeArrowheads="1"/>
          </p:cNvSpPr>
          <p:nvPr/>
        </p:nvSpPr>
        <p:spPr bwMode="auto">
          <a:xfrm>
            <a:off x="30543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Footer Placeholder 1">
            <a:extLst>
              <a:ext uri="{FF2B5EF4-FFF2-40B4-BE49-F238E27FC236}">
                <a16:creationId xmlns:a16="http://schemas.microsoft.com/office/drawing/2014/main" id="{05B2F2C0-D7F2-8600-51D8-58D41EBDAC13}"/>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AEBD5D76-728C-81B0-8E04-FE94D799DD75}"/>
              </a:ext>
            </a:extLst>
          </p:cNvPr>
          <p:cNvSpPr>
            <a:spLocks noGrp="1"/>
          </p:cNvSpPr>
          <p:nvPr>
            <p:ph type="sldNum" sz="quarter" idx="12"/>
          </p:nvPr>
        </p:nvSpPr>
        <p:spPr/>
        <p:txBody>
          <a:bodyPr/>
          <a:lstStyle/>
          <a:p>
            <a:fld id="{18FFC5A6-CECA-42F5-ACA8-5C3F58FF9B21}" type="slidenum">
              <a:rPr lang="en-US" smtClean="0"/>
              <a:t>14</a:t>
            </a:fld>
            <a:endParaRPr lang="en-US"/>
          </a:p>
        </p:txBody>
      </p:sp>
      <p:sp>
        <p:nvSpPr>
          <p:cNvPr id="6" name="Date Placeholder 5">
            <a:extLst>
              <a:ext uri="{FF2B5EF4-FFF2-40B4-BE49-F238E27FC236}">
                <a16:creationId xmlns:a16="http://schemas.microsoft.com/office/drawing/2014/main" id="{DDB7D16B-61DC-C96D-77DD-048EC6F080AD}"/>
              </a:ext>
            </a:extLst>
          </p:cNvPr>
          <p:cNvSpPr>
            <a:spLocks noGrp="1"/>
          </p:cNvSpPr>
          <p:nvPr>
            <p:ph type="dt" sz="half" idx="10"/>
          </p:nvPr>
        </p:nvSpPr>
        <p:spPr/>
        <p:txBody>
          <a:bodyPr/>
          <a:lstStyle/>
          <a:p>
            <a:fld id="{AA43D9E1-CBC1-4238-B0D2-4AE520A1DEF7}" type="datetime1">
              <a:rPr lang="en-US" smtClean="0"/>
              <a:t>8/3/2023</a:t>
            </a:fld>
            <a:endParaRPr lang="en-US"/>
          </a:p>
        </p:txBody>
      </p:sp>
    </p:spTree>
    <p:extLst>
      <p:ext uri="{BB962C8B-B14F-4D97-AF65-F5344CB8AC3E}">
        <p14:creationId xmlns:p14="http://schemas.microsoft.com/office/powerpoint/2010/main" val="33339751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1976" y="1039325"/>
            <a:ext cx="2973070" cy="696595"/>
          </a:xfrm>
          <a:prstGeom prst="rect">
            <a:avLst/>
          </a:prstGeom>
        </p:spPr>
        <p:txBody>
          <a:bodyPr vert="horz" wrap="square" lIns="0" tIns="12700" rIns="0" bIns="0" rtlCol="0">
            <a:spAutoFit/>
          </a:bodyPr>
          <a:lstStyle/>
          <a:p>
            <a:pPr marL="12700">
              <a:lnSpc>
                <a:spcPct val="100000"/>
              </a:lnSpc>
              <a:spcBef>
                <a:spcPts val="100"/>
              </a:spcBef>
            </a:pPr>
            <a:r>
              <a:rPr sz="4400" b="1" spc="-170" dirty="0">
                <a:latin typeface="+mn-lt"/>
              </a:rPr>
              <a:t>Slater's</a:t>
            </a:r>
            <a:r>
              <a:rPr sz="4400" b="1" spc="-400" dirty="0">
                <a:latin typeface="+mn-lt"/>
              </a:rPr>
              <a:t> </a:t>
            </a:r>
            <a:r>
              <a:rPr sz="4400" b="1" spc="-200" dirty="0">
                <a:latin typeface="+mn-lt"/>
              </a:rPr>
              <a:t>Rules</a:t>
            </a:r>
            <a:endParaRPr sz="4400" b="1" dirty="0">
              <a:latin typeface="+mn-lt"/>
            </a:endParaRPr>
          </a:p>
        </p:txBody>
      </p:sp>
      <p:sp>
        <p:nvSpPr>
          <p:cNvPr id="4" name="object 4"/>
          <p:cNvSpPr txBox="1"/>
          <p:nvPr/>
        </p:nvSpPr>
        <p:spPr>
          <a:xfrm>
            <a:off x="11221593" y="6364935"/>
            <a:ext cx="180975" cy="208279"/>
          </a:xfrm>
          <a:prstGeom prst="rect">
            <a:avLst/>
          </a:prstGeom>
        </p:spPr>
        <p:txBody>
          <a:bodyPr vert="horz" wrap="square" lIns="0" tIns="12700" rIns="0" bIns="0" rtlCol="0">
            <a:spAutoFit/>
          </a:bodyPr>
          <a:lstStyle/>
          <a:p>
            <a:pPr marL="12700">
              <a:lnSpc>
                <a:spcPct val="100000"/>
              </a:lnSpc>
              <a:spcBef>
                <a:spcPts val="100"/>
              </a:spcBef>
            </a:pPr>
            <a:r>
              <a:rPr sz="1200" spc="-60">
                <a:solidFill>
                  <a:srgbClr val="888888"/>
                </a:solidFill>
                <a:latin typeface="Arial"/>
                <a:cs typeface="Arial"/>
              </a:rPr>
              <a:t>11</a:t>
            </a:r>
            <a:endParaRPr sz="1200">
              <a:latin typeface="Arial"/>
              <a:cs typeface="Arial"/>
            </a:endParaRPr>
          </a:p>
        </p:txBody>
      </p:sp>
      <p:sp>
        <p:nvSpPr>
          <p:cNvPr id="5" name="object 5"/>
          <p:cNvSpPr/>
          <p:nvPr/>
        </p:nvSpPr>
        <p:spPr>
          <a:xfrm>
            <a:off x="6766560" y="1121854"/>
            <a:ext cx="5401056" cy="5579058"/>
          </a:xfrm>
          <a:prstGeom prst="rect">
            <a:avLst/>
          </a:prstGeom>
          <a:blipFill>
            <a:blip r:embed="rId2" cstate="print"/>
            <a:stretch>
              <a:fillRect/>
            </a:stretch>
          </a:blipFill>
        </p:spPr>
        <p:txBody>
          <a:bodyPr wrap="square" lIns="0" tIns="0" rIns="0" bIns="0" rtlCol="0"/>
          <a:lstStyle/>
          <a:p>
            <a:endParaRPr/>
          </a:p>
        </p:txBody>
      </p:sp>
      <p:sp>
        <p:nvSpPr>
          <p:cNvPr id="6" name="object 6"/>
          <p:cNvSpPr txBox="1"/>
          <p:nvPr/>
        </p:nvSpPr>
        <p:spPr>
          <a:xfrm>
            <a:off x="329652" y="1839602"/>
            <a:ext cx="6847921" cy="4950073"/>
          </a:xfrm>
          <a:prstGeom prst="rect">
            <a:avLst/>
          </a:prstGeom>
        </p:spPr>
        <p:txBody>
          <a:bodyPr vert="horz" wrap="square" lIns="0" tIns="12700" rIns="0" bIns="0" rtlCol="0">
            <a:spAutoFit/>
          </a:bodyPr>
          <a:lstStyle/>
          <a:p>
            <a:pPr marL="12700" algn="just">
              <a:lnSpc>
                <a:spcPct val="100000"/>
              </a:lnSpc>
              <a:spcBef>
                <a:spcPts val="100"/>
              </a:spcBef>
            </a:pPr>
            <a:r>
              <a:rPr sz="2000" b="1" spc="-145" dirty="0">
                <a:latin typeface="Arial"/>
                <a:cs typeface="Arial"/>
              </a:rPr>
              <a:t>Step</a:t>
            </a:r>
            <a:r>
              <a:rPr sz="2000" b="1" spc="-105" dirty="0">
                <a:latin typeface="Arial"/>
                <a:cs typeface="Arial"/>
              </a:rPr>
              <a:t> </a:t>
            </a:r>
            <a:r>
              <a:rPr sz="2000" b="1" spc="-55" dirty="0">
                <a:latin typeface="Arial"/>
                <a:cs typeface="Arial"/>
              </a:rPr>
              <a:t>1</a:t>
            </a:r>
            <a:r>
              <a:rPr sz="2000" spc="-55" dirty="0">
                <a:latin typeface="Arial"/>
                <a:cs typeface="Arial"/>
              </a:rPr>
              <a:t>:</a:t>
            </a:r>
            <a:r>
              <a:rPr sz="2000" spc="-85" dirty="0">
                <a:latin typeface="Arial"/>
                <a:cs typeface="Arial"/>
              </a:rPr>
              <a:t> </a:t>
            </a:r>
            <a:r>
              <a:rPr lang="en-US" sz="2000" spc="-85" dirty="0">
                <a:latin typeface="Arial"/>
                <a:cs typeface="Arial"/>
              </a:rPr>
              <a:t>Write electronic configuration.</a:t>
            </a:r>
          </a:p>
          <a:p>
            <a:pPr marL="12700" algn="just">
              <a:lnSpc>
                <a:spcPct val="100000"/>
              </a:lnSpc>
              <a:spcBef>
                <a:spcPts val="100"/>
              </a:spcBef>
            </a:pPr>
            <a:r>
              <a:rPr lang="en-US" sz="2000" spc="-35" dirty="0">
                <a:latin typeface="Arial"/>
                <a:cs typeface="Arial"/>
              </a:rPr>
              <a:t>Then w</a:t>
            </a:r>
            <a:r>
              <a:rPr sz="2000" spc="-35" dirty="0">
                <a:latin typeface="Arial"/>
                <a:cs typeface="Arial"/>
              </a:rPr>
              <a:t>rite</a:t>
            </a:r>
            <a:r>
              <a:rPr sz="2000" spc="-80" dirty="0">
                <a:latin typeface="Arial"/>
                <a:cs typeface="Arial"/>
              </a:rPr>
              <a:t> </a:t>
            </a:r>
            <a:r>
              <a:rPr sz="2000" spc="-20" dirty="0">
                <a:latin typeface="Arial"/>
                <a:cs typeface="Arial"/>
              </a:rPr>
              <a:t>the</a:t>
            </a:r>
            <a:r>
              <a:rPr sz="2000" spc="-100" dirty="0">
                <a:latin typeface="Arial"/>
                <a:cs typeface="Arial"/>
              </a:rPr>
              <a:t> </a:t>
            </a:r>
            <a:r>
              <a:rPr sz="2000" spc="-45" dirty="0">
                <a:latin typeface="Arial"/>
                <a:cs typeface="Arial"/>
              </a:rPr>
              <a:t>electron</a:t>
            </a:r>
            <a:r>
              <a:rPr sz="2000" spc="-70" dirty="0">
                <a:latin typeface="Arial"/>
                <a:cs typeface="Arial"/>
              </a:rPr>
              <a:t> </a:t>
            </a:r>
            <a:r>
              <a:rPr sz="2000" spc="-50" dirty="0">
                <a:latin typeface="Arial"/>
                <a:cs typeface="Arial"/>
              </a:rPr>
              <a:t>configuration</a:t>
            </a:r>
            <a:r>
              <a:rPr sz="2000" spc="-85" dirty="0">
                <a:latin typeface="Arial"/>
                <a:cs typeface="Arial"/>
              </a:rPr>
              <a:t> </a:t>
            </a:r>
            <a:r>
              <a:rPr sz="2000" spc="-5" dirty="0">
                <a:latin typeface="Arial"/>
                <a:cs typeface="Arial"/>
              </a:rPr>
              <a:t>of</a:t>
            </a:r>
            <a:r>
              <a:rPr sz="2000" spc="-85" dirty="0">
                <a:latin typeface="Arial"/>
                <a:cs typeface="Arial"/>
              </a:rPr>
              <a:t> </a:t>
            </a:r>
            <a:r>
              <a:rPr sz="2000" spc="-20" dirty="0">
                <a:latin typeface="Arial"/>
                <a:cs typeface="Arial"/>
              </a:rPr>
              <a:t>the</a:t>
            </a:r>
            <a:r>
              <a:rPr sz="2000" spc="-100" dirty="0">
                <a:latin typeface="Arial"/>
                <a:cs typeface="Arial"/>
              </a:rPr>
              <a:t> </a:t>
            </a:r>
            <a:r>
              <a:rPr sz="2000" spc="-45" dirty="0">
                <a:latin typeface="Arial"/>
                <a:cs typeface="Arial"/>
              </a:rPr>
              <a:t>atom</a:t>
            </a:r>
            <a:r>
              <a:rPr sz="2000" spc="-95" dirty="0">
                <a:latin typeface="Arial"/>
                <a:cs typeface="Arial"/>
              </a:rPr>
              <a:t> </a:t>
            </a:r>
            <a:r>
              <a:rPr sz="2000" spc="-25" dirty="0">
                <a:latin typeface="Arial"/>
                <a:cs typeface="Arial"/>
              </a:rPr>
              <a:t>in</a:t>
            </a:r>
            <a:r>
              <a:rPr sz="2000" spc="-95" dirty="0">
                <a:latin typeface="Arial"/>
                <a:cs typeface="Arial"/>
              </a:rPr>
              <a:t> </a:t>
            </a:r>
            <a:r>
              <a:rPr sz="2000" spc="-20" dirty="0">
                <a:latin typeface="Arial"/>
                <a:cs typeface="Arial"/>
              </a:rPr>
              <a:t>the</a:t>
            </a:r>
            <a:endParaRPr sz="2000" dirty="0">
              <a:latin typeface="Arial"/>
              <a:cs typeface="Arial"/>
            </a:endParaRPr>
          </a:p>
          <a:p>
            <a:pPr marL="12700" algn="just">
              <a:lnSpc>
                <a:spcPct val="100000"/>
              </a:lnSpc>
            </a:pPr>
            <a:r>
              <a:rPr sz="2000" spc="-40">
                <a:latin typeface="Arial"/>
                <a:cs typeface="Arial"/>
              </a:rPr>
              <a:t>following</a:t>
            </a:r>
            <a:r>
              <a:rPr sz="2000" spc="-75">
                <a:latin typeface="Arial"/>
                <a:cs typeface="Arial"/>
              </a:rPr>
              <a:t> </a:t>
            </a:r>
            <a:r>
              <a:rPr lang="en-US" sz="2000" spc="-75">
                <a:latin typeface="Arial"/>
                <a:cs typeface="Arial"/>
              </a:rPr>
              <a:t>group </a:t>
            </a:r>
            <a:r>
              <a:rPr sz="2000" spc="-20">
                <a:latin typeface="Arial"/>
                <a:cs typeface="Arial"/>
              </a:rPr>
              <a:t>form</a:t>
            </a:r>
            <a:r>
              <a:rPr sz="2000" spc="-20" dirty="0">
                <a:latin typeface="Arial"/>
                <a:cs typeface="Arial"/>
              </a:rPr>
              <a:t>:</a:t>
            </a:r>
            <a:endParaRPr sz="2000" dirty="0">
              <a:latin typeface="Arial"/>
              <a:cs typeface="Arial"/>
            </a:endParaRPr>
          </a:p>
          <a:p>
            <a:pPr marL="12700" algn="just">
              <a:lnSpc>
                <a:spcPct val="100000"/>
              </a:lnSpc>
            </a:pPr>
            <a:r>
              <a:rPr sz="2000" spc="-105" dirty="0">
                <a:latin typeface="Arial"/>
                <a:cs typeface="Arial"/>
              </a:rPr>
              <a:t>(1s) (2s, </a:t>
            </a:r>
            <a:r>
              <a:rPr sz="2000" spc="-70" dirty="0">
                <a:latin typeface="Arial"/>
                <a:cs typeface="Arial"/>
              </a:rPr>
              <a:t>2p) </a:t>
            </a:r>
            <a:r>
              <a:rPr sz="2000" spc="-105" dirty="0">
                <a:latin typeface="Arial"/>
                <a:cs typeface="Arial"/>
              </a:rPr>
              <a:t>(3s, </a:t>
            </a:r>
            <a:r>
              <a:rPr sz="2000" spc="-70" dirty="0">
                <a:latin typeface="Arial"/>
                <a:cs typeface="Arial"/>
              </a:rPr>
              <a:t>3p) (3d) </a:t>
            </a:r>
            <a:r>
              <a:rPr sz="2000" spc="-105" dirty="0">
                <a:latin typeface="Arial"/>
                <a:cs typeface="Arial"/>
              </a:rPr>
              <a:t>(4s, </a:t>
            </a:r>
            <a:r>
              <a:rPr sz="2000" spc="-70" dirty="0">
                <a:latin typeface="Arial"/>
                <a:cs typeface="Arial"/>
              </a:rPr>
              <a:t>4p) (4d) </a:t>
            </a:r>
            <a:r>
              <a:rPr sz="2000" spc="-40" dirty="0">
                <a:latin typeface="Arial"/>
                <a:cs typeface="Arial"/>
              </a:rPr>
              <a:t>(4f) </a:t>
            </a:r>
            <a:r>
              <a:rPr sz="2000" spc="-105" dirty="0">
                <a:latin typeface="Arial"/>
                <a:cs typeface="Arial"/>
              </a:rPr>
              <a:t>(5s, </a:t>
            </a:r>
            <a:r>
              <a:rPr sz="2000" spc="-70" dirty="0">
                <a:latin typeface="Arial"/>
                <a:cs typeface="Arial"/>
              </a:rPr>
              <a:t>5p) </a:t>
            </a:r>
            <a:r>
              <a:rPr sz="2000" spc="-50" dirty="0">
                <a:latin typeface="Arial"/>
                <a:cs typeface="Arial"/>
              </a:rPr>
              <a:t>. .</a:t>
            </a:r>
            <a:r>
              <a:rPr sz="2000" spc="-95" dirty="0">
                <a:latin typeface="Arial"/>
                <a:cs typeface="Arial"/>
              </a:rPr>
              <a:t> </a:t>
            </a:r>
            <a:r>
              <a:rPr sz="2000" spc="-50" dirty="0">
                <a:latin typeface="Arial"/>
                <a:cs typeface="Arial"/>
              </a:rPr>
              <a:t>.</a:t>
            </a:r>
            <a:endParaRPr sz="2000" dirty="0">
              <a:latin typeface="Arial"/>
              <a:cs typeface="Arial"/>
            </a:endParaRPr>
          </a:p>
          <a:p>
            <a:pPr marL="12700" marR="5080" algn="just">
              <a:lnSpc>
                <a:spcPct val="100000"/>
              </a:lnSpc>
            </a:pPr>
            <a:r>
              <a:rPr sz="2000" b="1" spc="-145" dirty="0">
                <a:latin typeface="Arial"/>
                <a:cs typeface="Arial"/>
              </a:rPr>
              <a:t>Step</a:t>
            </a:r>
            <a:r>
              <a:rPr sz="2000" b="1" spc="-105" dirty="0">
                <a:latin typeface="Arial"/>
                <a:cs typeface="Arial"/>
              </a:rPr>
              <a:t> </a:t>
            </a:r>
            <a:r>
              <a:rPr sz="2000" b="1" spc="-55" dirty="0">
                <a:latin typeface="Arial"/>
                <a:cs typeface="Arial"/>
              </a:rPr>
              <a:t>2</a:t>
            </a:r>
            <a:r>
              <a:rPr sz="2000" spc="-55" dirty="0">
                <a:latin typeface="Arial"/>
                <a:cs typeface="Arial"/>
              </a:rPr>
              <a:t>:</a:t>
            </a:r>
            <a:r>
              <a:rPr sz="2000" spc="-90" dirty="0">
                <a:latin typeface="Arial"/>
                <a:cs typeface="Arial"/>
              </a:rPr>
              <a:t> </a:t>
            </a:r>
            <a:r>
              <a:rPr sz="2000" spc="-25" dirty="0">
                <a:latin typeface="Arial"/>
                <a:cs typeface="Arial"/>
              </a:rPr>
              <a:t>Identify</a:t>
            </a:r>
            <a:r>
              <a:rPr sz="2000" spc="-105" dirty="0">
                <a:latin typeface="Arial"/>
                <a:cs typeface="Arial"/>
              </a:rPr>
              <a:t> </a:t>
            </a:r>
            <a:r>
              <a:rPr sz="2000" spc="-20" dirty="0">
                <a:latin typeface="Arial"/>
                <a:cs typeface="Arial"/>
              </a:rPr>
              <a:t>the</a:t>
            </a:r>
            <a:r>
              <a:rPr sz="2000" spc="-85" dirty="0">
                <a:latin typeface="Arial"/>
                <a:cs typeface="Arial"/>
              </a:rPr>
              <a:t> </a:t>
            </a:r>
            <a:r>
              <a:rPr sz="2000" spc="-45" dirty="0">
                <a:latin typeface="Arial"/>
                <a:cs typeface="Arial"/>
              </a:rPr>
              <a:t>electron</a:t>
            </a:r>
            <a:r>
              <a:rPr sz="2000" spc="-85" dirty="0">
                <a:latin typeface="Arial"/>
                <a:cs typeface="Arial"/>
              </a:rPr>
              <a:t> </a:t>
            </a:r>
            <a:r>
              <a:rPr sz="2000" spc="-5" dirty="0">
                <a:latin typeface="Arial"/>
                <a:cs typeface="Arial"/>
              </a:rPr>
              <a:t>of</a:t>
            </a:r>
            <a:r>
              <a:rPr sz="2000" spc="-100" dirty="0">
                <a:latin typeface="Arial"/>
                <a:cs typeface="Arial"/>
              </a:rPr>
              <a:t> </a:t>
            </a:r>
            <a:r>
              <a:rPr sz="2000" spc="-40" dirty="0">
                <a:latin typeface="Arial"/>
                <a:cs typeface="Arial"/>
              </a:rPr>
              <a:t>interest,</a:t>
            </a:r>
            <a:r>
              <a:rPr sz="2000" spc="-85" dirty="0">
                <a:latin typeface="Arial"/>
                <a:cs typeface="Arial"/>
              </a:rPr>
              <a:t> and</a:t>
            </a:r>
            <a:r>
              <a:rPr sz="2000" spc="-90" dirty="0">
                <a:latin typeface="Arial"/>
                <a:cs typeface="Arial"/>
              </a:rPr>
              <a:t> </a:t>
            </a:r>
            <a:r>
              <a:rPr sz="2000" spc="-60" dirty="0">
                <a:latin typeface="Arial"/>
                <a:cs typeface="Arial"/>
              </a:rPr>
              <a:t>ignore</a:t>
            </a:r>
            <a:r>
              <a:rPr sz="2000" spc="-85" dirty="0">
                <a:latin typeface="Arial"/>
                <a:cs typeface="Arial"/>
              </a:rPr>
              <a:t> </a:t>
            </a:r>
            <a:r>
              <a:rPr sz="2000" spc="-40" dirty="0">
                <a:latin typeface="Arial"/>
                <a:cs typeface="Arial"/>
              </a:rPr>
              <a:t>all</a:t>
            </a:r>
            <a:r>
              <a:rPr sz="2000" spc="-95" dirty="0">
                <a:latin typeface="Arial"/>
                <a:cs typeface="Arial"/>
              </a:rPr>
              <a:t> </a:t>
            </a:r>
            <a:r>
              <a:rPr sz="2000" spc="-65" dirty="0">
                <a:latin typeface="Arial"/>
                <a:cs typeface="Arial"/>
              </a:rPr>
              <a:t>electrons  </a:t>
            </a:r>
            <a:r>
              <a:rPr sz="2000" spc="-25" dirty="0">
                <a:latin typeface="Arial"/>
                <a:cs typeface="Arial"/>
              </a:rPr>
              <a:t>in </a:t>
            </a:r>
            <a:r>
              <a:rPr sz="2000" spc="-60" dirty="0">
                <a:latin typeface="Arial"/>
                <a:cs typeface="Arial"/>
              </a:rPr>
              <a:t>higher </a:t>
            </a:r>
            <a:r>
              <a:rPr sz="2000" spc="-90" dirty="0">
                <a:latin typeface="Arial"/>
                <a:cs typeface="Arial"/>
              </a:rPr>
              <a:t>groups </a:t>
            </a:r>
            <a:r>
              <a:rPr sz="2000" spc="-15" dirty="0">
                <a:latin typeface="Arial"/>
                <a:cs typeface="Arial"/>
              </a:rPr>
              <a:t>(to </a:t>
            </a:r>
            <a:r>
              <a:rPr sz="2000" spc="-20" dirty="0">
                <a:latin typeface="Arial"/>
                <a:cs typeface="Arial"/>
              </a:rPr>
              <a:t>the right </a:t>
            </a:r>
            <a:r>
              <a:rPr sz="2000" spc="-25" dirty="0">
                <a:latin typeface="Arial"/>
                <a:cs typeface="Arial"/>
              </a:rPr>
              <a:t>in </a:t>
            </a:r>
            <a:r>
              <a:rPr sz="2000" spc="-20" dirty="0">
                <a:latin typeface="Arial"/>
                <a:cs typeface="Arial"/>
              </a:rPr>
              <a:t>the </a:t>
            </a:r>
            <a:r>
              <a:rPr sz="2000" spc="-25" dirty="0">
                <a:latin typeface="Arial"/>
                <a:cs typeface="Arial"/>
              </a:rPr>
              <a:t>list </a:t>
            </a:r>
            <a:r>
              <a:rPr sz="2000" spc="-20" dirty="0">
                <a:latin typeface="Arial"/>
                <a:cs typeface="Arial"/>
              </a:rPr>
              <a:t>from </a:t>
            </a:r>
            <a:r>
              <a:rPr sz="2000" spc="-120" dirty="0">
                <a:latin typeface="Arial"/>
                <a:cs typeface="Arial"/>
              </a:rPr>
              <a:t>Step </a:t>
            </a:r>
            <a:r>
              <a:rPr sz="2000" spc="-70" dirty="0">
                <a:latin typeface="Arial"/>
                <a:cs typeface="Arial"/>
              </a:rPr>
              <a:t>1). </a:t>
            </a:r>
            <a:r>
              <a:rPr sz="2000" spc="-140" dirty="0">
                <a:latin typeface="Arial"/>
                <a:cs typeface="Arial"/>
              </a:rPr>
              <a:t>These </a:t>
            </a:r>
            <a:r>
              <a:rPr sz="2000" spc="-55" dirty="0">
                <a:latin typeface="Arial"/>
                <a:cs typeface="Arial"/>
              </a:rPr>
              <a:t>do  </a:t>
            </a:r>
            <a:r>
              <a:rPr sz="2000" spc="-5" dirty="0">
                <a:latin typeface="Arial"/>
                <a:cs typeface="Arial"/>
              </a:rPr>
              <a:t>not </a:t>
            </a:r>
            <a:r>
              <a:rPr sz="2000" spc="-70" dirty="0">
                <a:latin typeface="Arial"/>
                <a:cs typeface="Arial"/>
              </a:rPr>
              <a:t>shield </a:t>
            </a:r>
            <a:r>
              <a:rPr sz="2000" spc="-65" dirty="0">
                <a:latin typeface="Arial"/>
                <a:cs typeface="Arial"/>
              </a:rPr>
              <a:t>electrons </a:t>
            </a:r>
            <a:r>
              <a:rPr sz="2000" spc="-25" dirty="0">
                <a:latin typeface="Arial"/>
                <a:cs typeface="Arial"/>
              </a:rPr>
              <a:t>in </a:t>
            </a:r>
            <a:r>
              <a:rPr sz="2000" spc="-35" dirty="0">
                <a:latin typeface="Arial"/>
                <a:cs typeface="Arial"/>
              </a:rPr>
              <a:t>lower</a:t>
            </a:r>
            <a:r>
              <a:rPr sz="2000" spc="-270" dirty="0">
                <a:latin typeface="Arial"/>
                <a:cs typeface="Arial"/>
              </a:rPr>
              <a:t> </a:t>
            </a:r>
            <a:r>
              <a:rPr sz="2000" spc="-90" dirty="0">
                <a:latin typeface="Arial"/>
                <a:cs typeface="Arial"/>
              </a:rPr>
              <a:t>groups</a:t>
            </a:r>
            <a:endParaRPr sz="2000" dirty="0">
              <a:latin typeface="Arial"/>
              <a:cs typeface="Arial"/>
            </a:endParaRPr>
          </a:p>
          <a:p>
            <a:pPr marL="469900" marR="908050" indent="-457200" algn="just">
              <a:lnSpc>
                <a:spcPct val="100000"/>
              </a:lnSpc>
            </a:pPr>
            <a:r>
              <a:rPr sz="2000" b="1" spc="-145" dirty="0">
                <a:latin typeface="Arial"/>
                <a:cs typeface="Arial"/>
              </a:rPr>
              <a:t>Step </a:t>
            </a:r>
            <a:r>
              <a:rPr sz="2000" b="1" spc="-55" dirty="0">
                <a:latin typeface="Arial"/>
                <a:cs typeface="Arial"/>
              </a:rPr>
              <a:t>3</a:t>
            </a:r>
            <a:r>
              <a:rPr sz="2000" spc="-55" dirty="0">
                <a:latin typeface="Arial"/>
                <a:cs typeface="Arial"/>
              </a:rPr>
              <a:t>: </a:t>
            </a:r>
            <a:r>
              <a:rPr sz="2000" spc="-85" dirty="0">
                <a:latin typeface="Arial"/>
                <a:cs typeface="Arial"/>
              </a:rPr>
              <a:t>Slater's </a:t>
            </a:r>
            <a:r>
              <a:rPr sz="2000" spc="-135" dirty="0">
                <a:latin typeface="Arial"/>
                <a:cs typeface="Arial"/>
              </a:rPr>
              <a:t>Rules </a:t>
            </a:r>
            <a:r>
              <a:rPr sz="2000" spc="-95" dirty="0">
                <a:latin typeface="Arial"/>
                <a:cs typeface="Arial"/>
              </a:rPr>
              <a:t>is </a:t>
            </a:r>
            <a:r>
              <a:rPr sz="2000" spc="-50" dirty="0">
                <a:latin typeface="Arial"/>
                <a:cs typeface="Arial"/>
              </a:rPr>
              <a:t>now </a:t>
            </a:r>
            <a:r>
              <a:rPr sz="2000" spc="-75" dirty="0">
                <a:latin typeface="Arial"/>
                <a:cs typeface="Arial"/>
              </a:rPr>
              <a:t>broken </a:t>
            </a:r>
            <a:r>
              <a:rPr sz="2000" spc="-10" dirty="0">
                <a:latin typeface="Arial"/>
                <a:cs typeface="Arial"/>
              </a:rPr>
              <a:t>into </a:t>
            </a:r>
            <a:r>
              <a:rPr sz="2000" spc="5" dirty="0">
                <a:latin typeface="Arial"/>
                <a:cs typeface="Arial"/>
              </a:rPr>
              <a:t>two </a:t>
            </a:r>
            <a:r>
              <a:rPr sz="2000" spc="-135" dirty="0">
                <a:latin typeface="Arial"/>
                <a:cs typeface="Arial"/>
              </a:rPr>
              <a:t>cases:  </a:t>
            </a:r>
            <a:r>
              <a:rPr sz="2000" spc="-20" dirty="0">
                <a:latin typeface="Arial"/>
                <a:cs typeface="Arial"/>
              </a:rPr>
              <a:t>the </a:t>
            </a:r>
            <a:r>
              <a:rPr sz="2000" spc="-70" dirty="0">
                <a:latin typeface="Arial"/>
                <a:cs typeface="Arial"/>
              </a:rPr>
              <a:t>shielding </a:t>
            </a:r>
            <a:r>
              <a:rPr sz="2000" spc="-80" dirty="0">
                <a:latin typeface="Arial"/>
                <a:cs typeface="Arial"/>
              </a:rPr>
              <a:t>experienced by </a:t>
            </a:r>
            <a:r>
              <a:rPr sz="2000" spc="-100" dirty="0">
                <a:latin typeface="Arial"/>
                <a:cs typeface="Arial"/>
              </a:rPr>
              <a:t>an </a:t>
            </a:r>
            <a:r>
              <a:rPr sz="2000" spc="-114" dirty="0">
                <a:latin typeface="Arial"/>
                <a:cs typeface="Arial"/>
              </a:rPr>
              <a:t>s- </a:t>
            </a:r>
            <a:r>
              <a:rPr sz="2000" spc="-15" dirty="0">
                <a:latin typeface="Arial"/>
                <a:cs typeface="Arial"/>
              </a:rPr>
              <a:t>or </a:t>
            </a:r>
            <a:r>
              <a:rPr sz="2000" spc="-50" dirty="0">
                <a:latin typeface="Arial"/>
                <a:cs typeface="Arial"/>
              </a:rPr>
              <a:t>p-</a:t>
            </a:r>
            <a:r>
              <a:rPr sz="2000" spc="-215" dirty="0">
                <a:latin typeface="Arial"/>
                <a:cs typeface="Arial"/>
              </a:rPr>
              <a:t> </a:t>
            </a:r>
            <a:r>
              <a:rPr sz="2000" spc="-50" dirty="0">
                <a:latin typeface="Arial"/>
                <a:cs typeface="Arial"/>
              </a:rPr>
              <a:t>electron,</a:t>
            </a:r>
            <a:endParaRPr sz="2000" dirty="0">
              <a:latin typeface="Arial"/>
              <a:cs typeface="Arial"/>
            </a:endParaRPr>
          </a:p>
          <a:p>
            <a:pPr marL="927100" marR="192405" algn="just">
              <a:lnSpc>
                <a:spcPct val="100000"/>
              </a:lnSpc>
              <a:spcBef>
                <a:spcPts val="5"/>
              </a:spcBef>
            </a:pPr>
            <a:r>
              <a:rPr sz="2000" spc="-65" dirty="0">
                <a:latin typeface="Arial"/>
                <a:cs typeface="Arial"/>
              </a:rPr>
              <a:t>electrons </a:t>
            </a:r>
            <a:r>
              <a:rPr sz="2000" spc="-5" dirty="0">
                <a:latin typeface="Arial"/>
                <a:cs typeface="Arial"/>
              </a:rPr>
              <a:t>within </a:t>
            </a:r>
            <a:r>
              <a:rPr sz="2000" spc="-130" dirty="0">
                <a:latin typeface="Arial"/>
                <a:cs typeface="Arial"/>
              </a:rPr>
              <a:t>same </a:t>
            </a:r>
            <a:r>
              <a:rPr sz="2000" spc="-65" dirty="0">
                <a:latin typeface="Arial"/>
                <a:cs typeface="Arial"/>
              </a:rPr>
              <a:t>group </a:t>
            </a:r>
            <a:r>
              <a:rPr sz="2000" spc="-70" dirty="0">
                <a:latin typeface="Arial"/>
                <a:cs typeface="Arial"/>
              </a:rPr>
              <a:t>shield </a:t>
            </a:r>
            <a:r>
              <a:rPr sz="2000" b="1" spc="-75" dirty="0">
                <a:latin typeface="Arial"/>
                <a:cs typeface="Arial"/>
              </a:rPr>
              <a:t>0.35</a:t>
            </a:r>
            <a:r>
              <a:rPr sz="2000" spc="-75" dirty="0">
                <a:latin typeface="Arial"/>
                <a:cs typeface="Arial"/>
              </a:rPr>
              <a:t>, </a:t>
            </a:r>
            <a:r>
              <a:rPr sz="2000" spc="-85" dirty="0">
                <a:latin typeface="Arial"/>
                <a:cs typeface="Arial"/>
              </a:rPr>
              <a:t>except </a:t>
            </a:r>
            <a:r>
              <a:rPr sz="2000" spc="-20" dirty="0">
                <a:latin typeface="Arial"/>
                <a:cs typeface="Arial"/>
              </a:rPr>
              <a:t>the</a:t>
            </a:r>
            <a:r>
              <a:rPr sz="2000" spc="-150" dirty="0">
                <a:latin typeface="Arial"/>
                <a:cs typeface="Arial"/>
              </a:rPr>
              <a:t>1</a:t>
            </a:r>
            <a:r>
              <a:rPr sz="2000" i="1" spc="-150" dirty="0">
                <a:latin typeface="Arial"/>
                <a:cs typeface="Arial"/>
              </a:rPr>
              <a:t>s </a:t>
            </a:r>
            <a:r>
              <a:rPr sz="2000" spc="-55" dirty="0">
                <a:latin typeface="Arial"/>
                <a:cs typeface="Arial"/>
              </a:rPr>
              <a:t>which </a:t>
            </a:r>
            <a:r>
              <a:rPr sz="2000" spc="-70" dirty="0">
                <a:latin typeface="Arial"/>
                <a:cs typeface="Arial"/>
              </a:rPr>
              <a:t>shield</a:t>
            </a:r>
            <a:r>
              <a:rPr sz="2000" spc="-45" dirty="0">
                <a:latin typeface="Arial"/>
                <a:cs typeface="Arial"/>
              </a:rPr>
              <a:t> </a:t>
            </a:r>
            <a:r>
              <a:rPr sz="2000" b="1" spc="-80" dirty="0">
                <a:latin typeface="Arial"/>
                <a:cs typeface="Arial"/>
              </a:rPr>
              <a:t>0.30</a:t>
            </a:r>
            <a:endParaRPr sz="2000" dirty="0">
              <a:latin typeface="Arial"/>
              <a:cs typeface="Arial"/>
            </a:endParaRPr>
          </a:p>
          <a:p>
            <a:pPr marL="927100" algn="just">
              <a:lnSpc>
                <a:spcPct val="100000"/>
              </a:lnSpc>
            </a:pPr>
            <a:r>
              <a:rPr sz="2000" spc="-65" dirty="0">
                <a:latin typeface="Arial"/>
                <a:cs typeface="Arial"/>
              </a:rPr>
              <a:t>electrons </a:t>
            </a:r>
            <a:r>
              <a:rPr sz="2000" spc="-5" dirty="0">
                <a:latin typeface="Arial"/>
                <a:cs typeface="Arial"/>
              </a:rPr>
              <a:t>within </a:t>
            </a:r>
            <a:r>
              <a:rPr sz="2000" spc="-20" dirty="0">
                <a:latin typeface="Arial"/>
                <a:cs typeface="Arial"/>
              </a:rPr>
              <a:t>the </a:t>
            </a:r>
            <a:r>
              <a:rPr sz="2000" spc="-65" dirty="0">
                <a:latin typeface="Arial"/>
                <a:cs typeface="Arial"/>
              </a:rPr>
              <a:t>n-1 group </a:t>
            </a:r>
            <a:r>
              <a:rPr sz="2000" spc="-70" dirty="0">
                <a:latin typeface="Arial"/>
                <a:cs typeface="Arial"/>
              </a:rPr>
              <a:t>shield</a:t>
            </a:r>
            <a:r>
              <a:rPr sz="2000" spc="-275" dirty="0">
                <a:latin typeface="Arial"/>
                <a:cs typeface="Arial"/>
              </a:rPr>
              <a:t> </a:t>
            </a:r>
            <a:r>
              <a:rPr sz="2000" b="1" spc="-80" dirty="0">
                <a:latin typeface="Arial"/>
                <a:cs typeface="Arial"/>
              </a:rPr>
              <a:t>0.85</a:t>
            </a:r>
            <a:endParaRPr sz="2000" dirty="0">
              <a:latin typeface="Arial"/>
              <a:cs typeface="Arial"/>
            </a:endParaRPr>
          </a:p>
          <a:p>
            <a:pPr marL="927100" algn="just">
              <a:lnSpc>
                <a:spcPct val="100000"/>
              </a:lnSpc>
            </a:pPr>
            <a:r>
              <a:rPr sz="2000" spc="-65" dirty="0">
                <a:latin typeface="Arial"/>
                <a:cs typeface="Arial"/>
              </a:rPr>
              <a:t>electrons </a:t>
            </a:r>
            <a:r>
              <a:rPr sz="2000" spc="-5" dirty="0">
                <a:latin typeface="Arial"/>
                <a:cs typeface="Arial"/>
              </a:rPr>
              <a:t>within </a:t>
            </a:r>
            <a:r>
              <a:rPr sz="2000" spc="-20" dirty="0">
                <a:latin typeface="Arial"/>
                <a:cs typeface="Arial"/>
              </a:rPr>
              <a:t>the </a:t>
            </a:r>
            <a:r>
              <a:rPr sz="2000" spc="-65" dirty="0">
                <a:latin typeface="Arial"/>
                <a:cs typeface="Arial"/>
              </a:rPr>
              <a:t>n-2 </a:t>
            </a:r>
            <a:r>
              <a:rPr sz="2000" spc="-15" dirty="0">
                <a:latin typeface="Arial"/>
                <a:cs typeface="Arial"/>
              </a:rPr>
              <a:t>or </a:t>
            </a:r>
            <a:r>
              <a:rPr sz="2000" spc="-35" dirty="0">
                <a:latin typeface="Arial"/>
                <a:cs typeface="Arial"/>
              </a:rPr>
              <a:t>lower</a:t>
            </a:r>
            <a:r>
              <a:rPr sz="2000" spc="-340" dirty="0">
                <a:latin typeface="Arial"/>
                <a:cs typeface="Arial"/>
              </a:rPr>
              <a:t> </a:t>
            </a:r>
            <a:r>
              <a:rPr sz="2000" spc="-90" dirty="0">
                <a:latin typeface="Arial"/>
                <a:cs typeface="Arial"/>
              </a:rPr>
              <a:t>groups </a:t>
            </a:r>
            <a:r>
              <a:rPr sz="2000" spc="-70" dirty="0">
                <a:latin typeface="Arial"/>
                <a:cs typeface="Arial"/>
              </a:rPr>
              <a:t>shield </a:t>
            </a:r>
            <a:r>
              <a:rPr sz="2000" b="1" spc="-80" dirty="0">
                <a:latin typeface="Arial"/>
                <a:cs typeface="Arial"/>
              </a:rPr>
              <a:t>1.00</a:t>
            </a:r>
            <a:endParaRPr sz="2000" dirty="0">
              <a:latin typeface="Arial"/>
              <a:cs typeface="Arial"/>
            </a:endParaRPr>
          </a:p>
          <a:p>
            <a:pPr marL="144145" algn="just">
              <a:lnSpc>
                <a:spcPct val="100000"/>
              </a:lnSpc>
            </a:pPr>
            <a:r>
              <a:rPr sz="2000" spc="-20" dirty="0">
                <a:latin typeface="Arial"/>
                <a:cs typeface="Arial"/>
              </a:rPr>
              <a:t>the </a:t>
            </a:r>
            <a:r>
              <a:rPr sz="2000" spc="-70" dirty="0">
                <a:latin typeface="Arial"/>
                <a:cs typeface="Arial"/>
              </a:rPr>
              <a:t>shielding </a:t>
            </a:r>
            <a:r>
              <a:rPr sz="2000" spc="-80" dirty="0">
                <a:latin typeface="Arial"/>
                <a:cs typeface="Arial"/>
              </a:rPr>
              <a:t>experienced by </a:t>
            </a:r>
            <a:r>
              <a:rPr sz="2000" spc="-60" dirty="0" err="1">
                <a:latin typeface="Arial"/>
                <a:cs typeface="Arial"/>
              </a:rPr>
              <a:t>n</a:t>
            </a:r>
            <a:r>
              <a:rPr sz="2000" i="1" spc="-60" dirty="0" err="1">
                <a:latin typeface="Arial"/>
                <a:cs typeface="Arial"/>
              </a:rPr>
              <a:t>d</a:t>
            </a:r>
            <a:r>
              <a:rPr sz="2000" i="1" spc="-60" dirty="0">
                <a:latin typeface="Arial"/>
                <a:cs typeface="Arial"/>
              </a:rPr>
              <a:t> </a:t>
            </a:r>
            <a:r>
              <a:rPr sz="2000" spc="-15" dirty="0">
                <a:latin typeface="Arial"/>
                <a:cs typeface="Arial"/>
              </a:rPr>
              <a:t>or </a:t>
            </a:r>
            <a:r>
              <a:rPr sz="2000" dirty="0" err="1">
                <a:latin typeface="Arial"/>
                <a:cs typeface="Arial"/>
              </a:rPr>
              <a:t>n</a:t>
            </a:r>
            <a:r>
              <a:rPr sz="2000" i="1" dirty="0" err="1">
                <a:latin typeface="Arial"/>
                <a:cs typeface="Arial"/>
              </a:rPr>
              <a:t>f</a:t>
            </a:r>
            <a:r>
              <a:rPr sz="2000" i="1" dirty="0">
                <a:latin typeface="Arial"/>
                <a:cs typeface="Arial"/>
              </a:rPr>
              <a:t> </a:t>
            </a:r>
            <a:r>
              <a:rPr sz="2000" spc="-95" dirty="0">
                <a:latin typeface="Arial"/>
                <a:cs typeface="Arial"/>
              </a:rPr>
              <a:t>valence</a:t>
            </a:r>
            <a:r>
              <a:rPr sz="2000" spc="-375" dirty="0">
                <a:latin typeface="Arial"/>
                <a:cs typeface="Arial"/>
              </a:rPr>
              <a:t> </a:t>
            </a:r>
            <a:r>
              <a:rPr sz="2000" spc="-65" dirty="0">
                <a:latin typeface="Arial"/>
                <a:cs typeface="Arial"/>
              </a:rPr>
              <a:t>electrons</a:t>
            </a:r>
            <a:endParaRPr sz="2000" dirty="0">
              <a:latin typeface="Arial"/>
              <a:cs typeface="Arial"/>
            </a:endParaRPr>
          </a:p>
          <a:p>
            <a:pPr marL="927100" algn="just">
              <a:lnSpc>
                <a:spcPct val="100000"/>
              </a:lnSpc>
            </a:pPr>
            <a:r>
              <a:rPr sz="2000" spc="-65" dirty="0">
                <a:latin typeface="Arial"/>
                <a:cs typeface="Arial"/>
              </a:rPr>
              <a:t>electrons </a:t>
            </a:r>
            <a:r>
              <a:rPr sz="2000" spc="-5" dirty="0">
                <a:latin typeface="Arial"/>
                <a:cs typeface="Arial"/>
              </a:rPr>
              <a:t>within </a:t>
            </a:r>
            <a:r>
              <a:rPr sz="2000" spc="-130" dirty="0">
                <a:latin typeface="Arial"/>
                <a:cs typeface="Arial"/>
              </a:rPr>
              <a:t>same </a:t>
            </a:r>
            <a:r>
              <a:rPr sz="2000" spc="-65" dirty="0">
                <a:latin typeface="Arial"/>
                <a:cs typeface="Arial"/>
              </a:rPr>
              <a:t>group </a:t>
            </a:r>
            <a:r>
              <a:rPr sz="2000" spc="-70" dirty="0">
                <a:latin typeface="Arial"/>
                <a:cs typeface="Arial"/>
              </a:rPr>
              <a:t>shield</a:t>
            </a:r>
            <a:r>
              <a:rPr sz="2000" spc="-145" dirty="0">
                <a:latin typeface="Arial"/>
                <a:cs typeface="Arial"/>
              </a:rPr>
              <a:t> </a:t>
            </a:r>
            <a:r>
              <a:rPr sz="2000" b="1" spc="-80" dirty="0">
                <a:latin typeface="Arial"/>
                <a:cs typeface="Arial"/>
              </a:rPr>
              <a:t>0.35</a:t>
            </a:r>
            <a:endParaRPr sz="2000" dirty="0">
              <a:latin typeface="Arial"/>
              <a:cs typeface="Arial"/>
            </a:endParaRPr>
          </a:p>
          <a:p>
            <a:pPr marL="927100" algn="just">
              <a:lnSpc>
                <a:spcPct val="100000"/>
              </a:lnSpc>
            </a:pPr>
            <a:r>
              <a:rPr sz="2000" spc="-65" dirty="0">
                <a:latin typeface="Arial"/>
                <a:cs typeface="Arial"/>
              </a:rPr>
              <a:t>electrons </a:t>
            </a:r>
            <a:r>
              <a:rPr sz="2000" spc="-5" dirty="0">
                <a:latin typeface="Arial"/>
                <a:cs typeface="Arial"/>
              </a:rPr>
              <a:t>within </a:t>
            </a:r>
            <a:r>
              <a:rPr sz="2000" spc="-20" dirty="0">
                <a:latin typeface="Arial"/>
                <a:cs typeface="Arial"/>
              </a:rPr>
              <a:t>the </a:t>
            </a:r>
            <a:r>
              <a:rPr sz="2000" spc="-35" dirty="0">
                <a:latin typeface="Arial"/>
                <a:cs typeface="Arial"/>
              </a:rPr>
              <a:t>lower </a:t>
            </a:r>
            <a:r>
              <a:rPr sz="2000" spc="-90" dirty="0">
                <a:latin typeface="Arial"/>
                <a:cs typeface="Arial"/>
              </a:rPr>
              <a:t>groups </a:t>
            </a:r>
            <a:r>
              <a:rPr sz="2000" spc="-70" dirty="0">
                <a:latin typeface="Arial"/>
                <a:cs typeface="Arial"/>
              </a:rPr>
              <a:t>shield</a:t>
            </a:r>
            <a:r>
              <a:rPr sz="2000" spc="-280" dirty="0">
                <a:latin typeface="Arial"/>
                <a:cs typeface="Arial"/>
              </a:rPr>
              <a:t> </a:t>
            </a:r>
            <a:r>
              <a:rPr sz="2000" b="1" spc="-80" dirty="0">
                <a:latin typeface="Arial"/>
                <a:cs typeface="Arial"/>
              </a:rPr>
              <a:t>1.00</a:t>
            </a:r>
            <a:endParaRPr sz="2000" dirty="0">
              <a:latin typeface="Arial"/>
              <a:cs typeface="Arial"/>
            </a:endParaRPr>
          </a:p>
        </p:txBody>
      </p:sp>
      <p:sp>
        <p:nvSpPr>
          <p:cNvPr id="3" name="Rectangle 2">
            <a:extLst>
              <a:ext uri="{FF2B5EF4-FFF2-40B4-BE49-F238E27FC236}">
                <a16:creationId xmlns:a16="http://schemas.microsoft.com/office/drawing/2014/main" id="{C77B9090-464A-EB68-8545-645E40A0368A}"/>
              </a:ext>
            </a:extLst>
          </p:cNvPr>
          <p:cNvSpPr txBox="1">
            <a:spLocks noChangeArrowheads="1"/>
          </p:cNvSpPr>
          <p:nvPr/>
        </p:nvSpPr>
        <p:spPr>
          <a:xfrm>
            <a:off x="838200" y="376544"/>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a:latin typeface="Aharoni" panose="02010803020104030203" pitchFamily="2" charset="-79"/>
                <a:cs typeface="Aharoni" panose="02010803020104030203" pitchFamily="2" charset="-79"/>
              </a:rPr>
              <a:t>Effective nuclear charge:</a:t>
            </a:r>
            <a:r>
              <a:rPr lang="en-US"/>
              <a:t/>
            </a:r>
            <a:br>
              <a:rPr lang="en-US"/>
            </a:br>
            <a:endParaRPr lang="en-US" dirty="0"/>
          </a:p>
        </p:txBody>
      </p:sp>
    </p:spTree>
    <p:extLst>
      <p:ext uri="{BB962C8B-B14F-4D97-AF65-F5344CB8AC3E}">
        <p14:creationId xmlns:p14="http://schemas.microsoft.com/office/powerpoint/2010/main" val="1265878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p:txBody>
          <a:bodyPr/>
          <a:lstStyle/>
          <a:p>
            <a:r>
              <a:rPr lang="en-US" sz="4000"/>
              <a:t>Explaining periodicity: Effective nuclear charge and shielding</a:t>
            </a:r>
          </a:p>
        </p:txBody>
      </p:sp>
      <p:sp>
        <p:nvSpPr>
          <p:cNvPr id="5" name="Rectangle 3"/>
          <p:cNvSpPr>
            <a:spLocks noGrp="1" noChangeArrowheads="1"/>
          </p:cNvSpPr>
          <p:nvPr>
            <p:ph idx="1"/>
          </p:nvPr>
        </p:nvSpPr>
        <p:spPr/>
        <p:txBody>
          <a:bodyPr/>
          <a:lstStyle/>
          <a:p>
            <a:pPr>
              <a:lnSpc>
                <a:spcPct val="80000"/>
              </a:lnSpc>
            </a:pPr>
            <a:r>
              <a:rPr lang="en-US"/>
              <a:t>Inner shell (core) electrons screen the outer (valence) electrons from the nuclear attraction</a:t>
            </a:r>
          </a:p>
          <a:p>
            <a:pPr lvl="1">
              <a:lnSpc>
                <a:spcPct val="80000"/>
              </a:lnSpc>
            </a:pPr>
            <a:r>
              <a:rPr lang="en-US" sz="2400"/>
              <a:t>Shielding is more effective/ strong for electrons with higher angular momentum (higher l value: 3d &gt; 3p &gt; 3s)</a:t>
            </a:r>
          </a:p>
          <a:p>
            <a:pPr lvl="1">
              <a:lnSpc>
                <a:spcPct val="80000"/>
              </a:lnSpc>
            </a:pPr>
            <a:r>
              <a:rPr lang="en-US" sz="2400"/>
              <a:t>Decreases as the valence shell fills</a:t>
            </a:r>
          </a:p>
          <a:p>
            <a:pPr>
              <a:lnSpc>
                <a:spcPct val="80000"/>
              </a:lnSpc>
            </a:pPr>
            <a:r>
              <a:rPr lang="en-US" sz="2800"/>
              <a:t>Increased shielding means lower effective nuclear charge</a:t>
            </a:r>
          </a:p>
        </p:txBody>
      </p:sp>
    </p:spTree>
    <p:extLst>
      <p:ext uri="{BB962C8B-B14F-4D97-AF65-F5344CB8AC3E}">
        <p14:creationId xmlns:p14="http://schemas.microsoft.com/office/powerpoint/2010/main" val="14761500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838200" y="376544"/>
            <a:ext cx="10515600" cy="1325563"/>
          </a:xfrm>
        </p:spPr>
        <p:txBody>
          <a:bodyPr>
            <a:normAutofit/>
          </a:bodyPr>
          <a:lstStyle/>
          <a:p>
            <a:pPr algn="ctr"/>
            <a:r>
              <a:rPr lang="en-US" b="1" dirty="0">
                <a:latin typeface="Aharoni" panose="02010803020104030203" pitchFamily="2" charset="-79"/>
                <a:cs typeface="Aharoni" panose="02010803020104030203" pitchFamily="2" charset="-79"/>
              </a:rPr>
              <a:t>Effective nuclear charge:</a:t>
            </a:r>
            <a:r>
              <a:rPr lang="en-US" dirty="0"/>
              <a:t/>
            </a:r>
            <a:br>
              <a:rPr lang="en-US" dirty="0"/>
            </a:br>
            <a:endParaRPr lang="en-US" dirty="0"/>
          </a:p>
        </p:txBody>
      </p:sp>
      <p:sp>
        <p:nvSpPr>
          <p:cNvPr id="5" name="Rectangle 3"/>
          <p:cNvSpPr>
            <a:spLocks noGrp="1" noChangeArrowheads="1"/>
          </p:cNvSpPr>
          <p:nvPr>
            <p:ph idx="1"/>
          </p:nvPr>
        </p:nvSpPr>
        <p:spPr>
          <a:xfrm>
            <a:off x="300625" y="752264"/>
            <a:ext cx="11560224" cy="6055632"/>
          </a:xfrm>
        </p:spPr>
        <p:txBody>
          <a:bodyPr>
            <a:noAutofit/>
          </a:bodyPr>
          <a:lstStyle/>
          <a:p>
            <a:pPr algn="just" fontAlgn="base">
              <a:lnSpc>
                <a:spcPct val="150000"/>
              </a:lnSpc>
            </a:pPr>
            <a:r>
              <a:rPr lang="en-US" sz="2600" dirty="0"/>
              <a:t>The shielding constant for each group is formed as the sum of the following contributions:</a:t>
            </a:r>
          </a:p>
          <a:p>
            <a:pPr marL="514350" lvl="1" indent="-514350" algn="just" fontAlgn="base">
              <a:lnSpc>
                <a:spcPct val="150000"/>
              </a:lnSpc>
              <a:buFont typeface="+mj-lt"/>
              <a:buAutoNum type="arabicPeriod"/>
            </a:pPr>
            <a:r>
              <a:rPr lang="en-US" sz="2600" b="1" dirty="0"/>
              <a:t>Each other electron in the same group (ex. s or p) as the electron of interest shield to an extent of 0.35 nuclear charge units except 1s group, in which the other electron contributes only 0.30.</a:t>
            </a:r>
            <a:endParaRPr lang="en-US" sz="2600" dirty="0"/>
          </a:p>
          <a:p>
            <a:pPr marL="514350" lvl="1" indent="-514350" algn="just" fontAlgn="base">
              <a:lnSpc>
                <a:spcPct val="150000"/>
              </a:lnSpc>
              <a:buFont typeface="+mj-lt"/>
              <a:buAutoNum type="arabicPeriod"/>
            </a:pPr>
            <a:r>
              <a:rPr lang="en-US" sz="2600" dirty="0"/>
              <a:t>If the group is of [s, p] type, an amount of 0.85 from each electron in (n-1)</a:t>
            </a:r>
            <a:r>
              <a:rPr lang="en-US" sz="2600" baseline="30000" dirty="0" err="1"/>
              <a:t>th</a:t>
            </a:r>
            <a:r>
              <a:rPr lang="en-US" sz="2600" dirty="0"/>
              <a:t> shell and an amount of 1.00 for each electron from (n-2)</a:t>
            </a:r>
            <a:r>
              <a:rPr lang="en-US" sz="2600" baseline="30000" dirty="0" err="1"/>
              <a:t>th</a:t>
            </a:r>
            <a:r>
              <a:rPr lang="en-US" sz="2600" dirty="0"/>
              <a:t> and lower shells is added to the shielding constant.</a:t>
            </a:r>
          </a:p>
          <a:p>
            <a:pPr marL="514350" lvl="1" indent="-514350" algn="just" fontAlgn="base">
              <a:lnSpc>
                <a:spcPct val="150000"/>
              </a:lnSpc>
              <a:buFont typeface="+mj-lt"/>
              <a:buAutoNum type="arabicPeriod"/>
            </a:pPr>
            <a:r>
              <a:rPr lang="en-US" sz="2600" dirty="0"/>
              <a:t>If the group is of [d] or [f] type, an amount of 1.00 for each electron from all lying left to that orbital.</a:t>
            </a:r>
          </a:p>
          <a:p>
            <a:pPr algn="just">
              <a:lnSpc>
                <a:spcPct val="150000"/>
              </a:lnSpc>
              <a:spcBef>
                <a:spcPts val="0"/>
              </a:spcBef>
            </a:pPr>
            <a:endParaRPr lang="en-US" sz="2600" dirty="0"/>
          </a:p>
        </p:txBody>
      </p:sp>
      <p:sp>
        <p:nvSpPr>
          <p:cNvPr id="9" name="AutoShape 6" descr="Z_{\mathrm{eff}}"/>
          <p:cNvSpPr>
            <a:spLocks noChangeAspect="1" noChangeArrowheads="1"/>
          </p:cNvSpPr>
          <p:nvPr/>
        </p:nvSpPr>
        <p:spPr bwMode="auto">
          <a:xfrm>
            <a:off x="30543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Footer Placeholder 1">
            <a:extLst>
              <a:ext uri="{FF2B5EF4-FFF2-40B4-BE49-F238E27FC236}">
                <a16:creationId xmlns:a16="http://schemas.microsoft.com/office/drawing/2014/main" id="{6C31D475-0506-B0ED-E151-10B8EB047DF2}"/>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B4B8D66E-EDFA-260E-4FF8-61A2FF03E13F}"/>
              </a:ext>
            </a:extLst>
          </p:cNvPr>
          <p:cNvSpPr>
            <a:spLocks noGrp="1"/>
          </p:cNvSpPr>
          <p:nvPr>
            <p:ph type="sldNum" sz="quarter" idx="12"/>
          </p:nvPr>
        </p:nvSpPr>
        <p:spPr/>
        <p:txBody>
          <a:bodyPr/>
          <a:lstStyle/>
          <a:p>
            <a:fld id="{18FFC5A6-CECA-42F5-ACA8-5C3F58FF9B21}" type="slidenum">
              <a:rPr lang="en-US" smtClean="0"/>
              <a:t>17</a:t>
            </a:fld>
            <a:endParaRPr lang="en-US"/>
          </a:p>
        </p:txBody>
      </p:sp>
      <p:sp>
        <p:nvSpPr>
          <p:cNvPr id="6" name="Date Placeholder 5">
            <a:extLst>
              <a:ext uri="{FF2B5EF4-FFF2-40B4-BE49-F238E27FC236}">
                <a16:creationId xmlns:a16="http://schemas.microsoft.com/office/drawing/2014/main" id="{6547DAB1-A3CD-AE92-4B1A-EF09A9696D9F}"/>
              </a:ext>
            </a:extLst>
          </p:cNvPr>
          <p:cNvSpPr>
            <a:spLocks noGrp="1"/>
          </p:cNvSpPr>
          <p:nvPr>
            <p:ph type="dt" sz="half" idx="10"/>
          </p:nvPr>
        </p:nvSpPr>
        <p:spPr/>
        <p:txBody>
          <a:bodyPr/>
          <a:lstStyle/>
          <a:p>
            <a:fld id="{7D7E2965-C406-4EA8-923B-465BFE5CED2D}" type="datetime1">
              <a:rPr lang="en-US" smtClean="0"/>
              <a:t>8/3/2023</a:t>
            </a:fld>
            <a:endParaRPr lang="en-US"/>
          </a:p>
        </p:txBody>
      </p:sp>
    </p:spTree>
    <p:extLst>
      <p:ext uri="{BB962C8B-B14F-4D97-AF65-F5344CB8AC3E}">
        <p14:creationId xmlns:p14="http://schemas.microsoft.com/office/powerpoint/2010/main" val="5351198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838200" y="376544"/>
            <a:ext cx="10515600" cy="1325563"/>
          </a:xfrm>
        </p:spPr>
        <p:txBody>
          <a:bodyPr>
            <a:normAutofit/>
          </a:bodyPr>
          <a:lstStyle/>
          <a:p>
            <a:pPr algn="ctr"/>
            <a:r>
              <a:rPr lang="en-US" b="1" dirty="0">
                <a:latin typeface="Aharoni" panose="02010803020104030203" pitchFamily="2" charset="-79"/>
                <a:cs typeface="Aharoni" panose="02010803020104030203" pitchFamily="2" charset="-79"/>
              </a:rPr>
              <a:t>Effective nuclear charge (Example):</a:t>
            </a:r>
            <a:r>
              <a:rPr lang="en-US" dirty="0"/>
              <a:t/>
            </a:r>
            <a:br>
              <a:rPr lang="en-US" dirty="0"/>
            </a:br>
            <a:endParaRPr lang="en-US" dirty="0"/>
          </a:p>
        </p:txBody>
      </p:sp>
      <p:sp>
        <p:nvSpPr>
          <p:cNvPr id="5" name="Rectangle 3"/>
          <p:cNvSpPr>
            <a:spLocks noGrp="1" noChangeArrowheads="1"/>
          </p:cNvSpPr>
          <p:nvPr>
            <p:ph idx="1"/>
          </p:nvPr>
        </p:nvSpPr>
        <p:spPr>
          <a:xfrm>
            <a:off x="646921" y="1039325"/>
            <a:ext cx="11201401" cy="6055632"/>
          </a:xfrm>
        </p:spPr>
        <p:txBody>
          <a:bodyPr>
            <a:normAutofit/>
          </a:bodyPr>
          <a:lstStyle/>
          <a:p>
            <a:pPr marL="0" indent="0" algn="just" fontAlgn="base">
              <a:lnSpc>
                <a:spcPct val="200000"/>
              </a:lnSpc>
              <a:buNone/>
            </a:pPr>
            <a:r>
              <a:rPr lang="en-US" sz="3200" b="1" dirty="0"/>
              <a:t>(a)Calculate effective nuclear charge in Nitrogen for 2p electron.</a:t>
            </a:r>
            <a:endParaRPr lang="en-US" sz="3200" baseline="30000" dirty="0"/>
          </a:p>
          <a:p>
            <a:pPr algn="just" fontAlgn="base">
              <a:lnSpc>
                <a:spcPct val="200000"/>
              </a:lnSpc>
            </a:pPr>
            <a:r>
              <a:rPr lang="en-US" sz="3200" dirty="0"/>
              <a:t>Electronic configuration- (1s</a:t>
            </a:r>
            <a:r>
              <a:rPr lang="en-US" sz="3200" baseline="30000" dirty="0"/>
              <a:t>2</a:t>
            </a:r>
            <a:r>
              <a:rPr lang="en-US" sz="3200" dirty="0"/>
              <a:t>) (2s</a:t>
            </a:r>
            <a:r>
              <a:rPr lang="en-US" sz="3200" baseline="30000" dirty="0"/>
              <a:t>2</a:t>
            </a:r>
            <a:r>
              <a:rPr lang="en-US" sz="3200" dirty="0"/>
              <a:t>, 2p</a:t>
            </a:r>
            <a:r>
              <a:rPr lang="en-US" sz="3200" baseline="30000" dirty="0"/>
              <a:t>3</a:t>
            </a:r>
            <a:r>
              <a:rPr lang="en-US" sz="3200" dirty="0"/>
              <a:t>).</a:t>
            </a:r>
          </a:p>
          <a:p>
            <a:pPr algn="just" fontAlgn="base">
              <a:lnSpc>
                <a:spcPct val="200000"/>
              </a:lnSpc>
            </a:pPr>
            <a:r>
              <a:rPr lang="en-US" sz="3200" dirty="0"/>
              <a:t>Screening constant, σ = (0.35 × 4) + (0.85 × 2) = 3.10</a:t>
            </a:r>
          </a:p>
          <a:p>
            <a:pPr algn="just" fontAlgn="base">
              <a:lnSpc>
                <a:spcPct val="200000"/>
              </a:lnSpc>
            </a:pPr>
            <a:r>
              <a:rPr lang="en-US" sz="3200" dirty="0"/>
              <a:t>Effective nuclear charge, Z* = Z – σ = 7 – 3.10 = 3.90</a:t>
            </a:r>
          </a:p>
          <a:p>
            <a:pPr algn="just">
              <a:lnSpc>
                <a:spcPct val="200000"/>
              </a:lnSpc>
              <a:spcBef>
                <a:spcPts val="0"/>
              </a:spcBef>
            </a:pPr>
            <a:endParaRPr lang="en-US" sz="3200" dirty="0"/>
          </a:p>
        </p:txBody>
      </p:sp>
      <p:sp>
        <p:nvSpPr>
          <p:cNvPr id="9" name="AutoShape 6" descr="Z_{\mathrm{eff}}"/>
          <p:cNvSpPr>
            <a:spLocks noChangeAspect="1" noChangeArrowheads="1"/>
          </p:cNvSpPr>
          <p:nvPr/>
        </p:nvSpPr>
        <p:spPr bwMode="auto">
          <a:xfrm>
            <a:off x="30543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Footer Placeholder 1">
            <a:extLst>
              <a:ext uri="{FF2B5EF4-FFF2-40B4-BE49-F238E27FC236}">
                <a16:creationId xmlns:a16="http://schemas.microsoft.com/office/drawing/2014/main" id="{7CE14A28-BE8B-834E-E8B8-FFBD6C2B8D8C}"/>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825673D4-7673-A9CF-4B66-DE25E94B231F}"/>
              </a:ext>
            </a:extLst>
          </p:cNvPr>
          <p:cNvSpPr>
            <a:spLocks noGrp="1"/>
          </p:cNvSpPr>
          <p:nvPr>
            <p:ph type="sldNum" sz="quarter" idx="12"/>
          </p:nvPr>
        </p:nvSpPr>
        <p:spPr/>
        <p:txBody>
          <a:bodyPr/>
          <a:lstStyle/>
          <a:p>
            <a:fld id="{18FFC5A6-CECA-42F5-ACA8-5C3F58FF9B21}" type="slidenum">
              <a:rPr lang="en-US" smtClean="0"/>
              <a:t>18</a:t>
            </a:fld>
            <a:endParaRPr lang="en-US"/>
          </a:p>
        </p:txBody>
      </p:sp>
      <p:sp>
        <p:nvSpPr>
          <p:cNvPr id="6" name="Date Placeholder 5">
            <a:extLst>
              <a:ext uri="{FF2B5EF4-FFF2-40B4-BE49-F238E27FC236}">
                <a16:creationId xmlns:a16="http://schemas.microsoft.com/office/drawing/2014/main" id="{E035894F-96F9-165E-9AB9-6F9AAA0A5CAB}"/>
              </a:ext>
            </a:extLst>
          </p:cNvPr>
          <p:cNvSpPr>
            <a:spLocks noGrp="1"/>
          </p:cNvSpPr>
          <p:nvPr>
            <p:ph type="dt" sz="half" idx="10"/>
          </p:nvPr>
        </p:nvSpPr>
        <p:spPr/>
        <p:txBody>
          <a:bodyPr/>
          <a:lstStyle/>
          <a:p>
            <a:fld id="{2C7D8FCD-C2DE-4512-AB1E-A8C63FE5C5DA}" type="datetime1">
              <a:rPr lang="en-US" smtClean="0"/>
              <a:t>8/3/2023</a:t>
            </a:fld>
            <a:endParaRPr lang="en-US"/>
          </a:p>
        </p:txBody>
      </p:sp>
    </p:spTree>
    <p:extLst>
      <p:ext uri="{BB962C8B-B14F-4D97-AF65-F5344CB8AC3E}">
        <p14:creationId xmlns:p14="http://schemas.microsoft.com/office/powerpoint/2010/main" val="22048326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838200" y="376544"/>
            <a:ext cx="10515600" cy="1325563"/>
          </a:xfrm>
        </p:spPr>
        <p:txBody>
          <a:bodyPr>
            <a:normAutofit/>
          </a:bodyPr>
          <a:lstStyle/>
          <a:p>
            <a:pPr algn="ctr"/>
            <a:r>
              <a:rPr lang="en-US" b="1" dirty="0">
                <a:latin typeface="Aharoni" panose="02010803020104030203" pitchFamily="2" charset="-79"/>
                <a:cs typeface="Aharoni" panose="02010803020104030203" pitchFamily="2" charset="-79"/>
              </a:rPr>
              <a:t>Effective nuclear charge (Example):</a:t>
            </a:r>
            <a:r>
              <a:rPr lang="en-US" dirty="0"/>
              <a:t/>
            </a:r>
            <a:br>
              <a:rPr lang="en-US" dirty="0"/>
            </a:br>
            <a:endParaRPr lang="en-US" dirty="0"/>
          </a:p>
        </p:txBody>
      </p:sp>
      <p:sp>
        <p:nvSpPr>
          <p:cNvPr id="5" name="Rectangle 3"/>
          <p:cNvSpPr>
            <a:spLocks noGrp="1" noChangeArrowheads="1"/>
          </p:cNvSpPr>
          <p:nvPr>
            <p:ph idx="1"/>
          </p:nvPr>
        </p:nvSpPr>
        <p:spPr>
          <a:xfrm>
            <a:off x="646921" y="1039325"/>
            <a:ext cx="11201401" cy="6055632"/>
          </a:xfrm>
        </p:spPr>
        <p:txBody>
          <a:bodyPr>
            <a:normAutofit/>
          </a:bodyPr>
          <a:lstStyle/>
          <a:p>
            <a:pPr marL="0" indent="0" algn="just" fontAlgn="base">
              <a:lnSpc>
                <a:spcPct val="200000"/>
              </a:lnSpc>
              <a:buNone/>
            </a:pPr>
            <a:r>
              <a:rPr lang="en-US" sz="3200" b="1" dirty="0"/>
              <a:t>(b)Calculate effective nuclear charge and screening constant seen in 3p electron in Silicon.</a:t>
            </a:r>
          </a:p>
          <a:p>
            <a:pPr algn="just" fontAlgn="base">
              <a:lnSpc>
                <a:spcPct val="200000"/>
              </a:lnSpc>
            </a:pPr>
            <a:r>
              <a:rPr lang="en-US" sz="3200" dirty="0"/>
              <a:t>Electronic configuration- (1s</a:t>
            </a:r>
            <a:r>
              <a:rPr lang="en-US" sz="3200" baseline="30000" dirty="0"/>
              <a:t>2</a:t>
            </a:r>
            <a:r>
              <a:rPr lang="en-US" sz="3200" dirty="0"/>
              <a:t>) (2s</a:t>
            </a:r>
            <a:r>
              <a:rPr lang="en-US" sz="3200" baseline="30000" dirty="0"/>
              <a:t>2</a:t>
            </a:r>
            <a:r>
              <a:rPr lang="en-US" sz="3200" dirty="0"/>
              <a:t>, 2p</a:t>
            </a:r>
            <a:r>
              <a:rPr lang="en-US" sz="3200" baseline="30000" dirty="0"/>
              <a:t>6</a:t>
            </a:r>
            <a:r>
              <a:rPr lang="en-US" sz="3200" dirty="0"/>
              <a:t>)(3s</a:t>
            </a:r>
            <a:r>
              <a:rPr lang="en-US" sz="3200" baseline="30000" dirty="0"/>
              <a:t>2</a:t>
            </a:r>
            <a:r>
              <a:rPr lang="en-US" sz="3200" dirty="0"/>
              <a:t>, 3p</a:t>
            </a:r>
            <a:r>
              <a:rPr lang="en-US" sz="3200" baseline="30000" dirty="0"/>
              <a:t>2</a:t>
            </a:r>
            <a:r>
              <a:rPr lang="en-US" sz="3200" dirty="0"/>
              <a:t>).</a:t>
            </a:r>
          </a:p>
          <a:p>
            <a:pPr algn="just" fontAlgn="base">
              <a:lnSpc>
                <a:spcPct val="200000"/>
              </a:lnSpc>
            </a:pPr>
            <a:r>
              <a:rPr lang="en-US" sz="3200" dirty="0"/>
              <a:t>σ = (0.35 × 3) + (0.85 × 8) + (1 × 2) = 9.85</a:t>
            </a:r>
          </a:p>
          <a:p>
            <a:pPr algn="just" fontAlgn="base">
              <a:lnSpc>
                <a:spcPct val="200000"/>
              </a:lnSpc>
            </a:pPr>
            <a:r>
              <a:rPr lang="en-US" sz="3200" dirty="0"/>
              <a:t>Z* = Z – σ = 14 – 9.85 = 4.15</a:t>
            </a:r>
          </a:p>
          <a:p>
            <a:pPr algn="just">
              <a:lnSpc>
                <a:spcPct val="200000"/>
              </a:lnSpc>
              <a:spcBef>
                <a:spcPts val="0"/>
              </a:spcBef>
            </a:pPr>
            <a:endParaRPr lang="en-US" sz="3600" dirty="0"/>
          </a:p>
        </p:txBody>
      </p:sp>
      <p:sp>
        <p:nvSpPr>
          <p:cNvPr id="9" name="AutoShape 6" descr="Z_{\mathrm{eff}}"/>
          <p:cNvSpPr>
            <a:spLocks noChangeAspect="1" noChangeArrowheads="1"/>
          </p:cNvSpPr>
          <p:nvPr/>
        </p:nvSpPr>
        <p:spPr bwMode="auto">
          <a:xfrm>
            <a:off x="30543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Footer Placeholder 1">
            <a:extLst>
              <a:ext uri="{FF2B5EF4-FFF2-40B4-BE49-F238E27FC236}">
                <a16:creationId xmlns:a16="http://schemas.microsoft.com/office/drawing/2014/main" id="{39BF8FC0-563B-B707-07BE-E704716FA021}"/>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413223BA-1ABC-A1F1-D6D0-641937D33F6B}"/>
              </a:ext>
            </a:extLst>
          </p:cNvPr>
          <p:cNvSpPr>
            <a:spLocks noGrp="1"/>
          </p:cNvSpPr>
          <p:nvPr>
            <p:ph type="sldNum" sz="quarter" idx="12"/>
          </p:nvPr>
        </p:nvSpPr>
        <p:spPr/>
        <p:txBody>
          <a:bodyPr/>
          <a:lstStyle/>
          <a:p>
            <a:fld id="{18FFC5A6-CECA-42F5-ACA8-5C3F58FF9B21}" type="slidenum">
              <a:rPr lang="en-US" smtClean="0"/>
              <a:t>19</a:t>
            </a:fld>
            <a:endParaRPr lang="en-US"/>
          </a:p>
        </p:txBody>
      </p:sp>
      <p:sp>
        <p:nvSpPr>
          <p:cNvPr id="6" name="Date Placeholder 5">
            <a:extLst>
              <a:ext uri="{FF2B5EF4-FFF2-40B4-BE49-F238E27FC236}">
                <a16:creationId xmlns:a16="http://schemas.microsoft.com/office/drawing/2014/main" id="{AF1AB482-6709-A8DC-41E3-72C33F058D27}"/>
              </a:ext>
            </a:extLst>
          </p:cNvPr>
          <p:cNvSpPr>
            <a:spLocks noGrp="1"/>
          </p:cNvSpPr>
          <p:nvPr>
            <p:ph type="dt" sz="half" idx="10"/>
          </p:nvPr>
        </p:nvSpPr>
        <p:spPr/>
        <p:txBody>
          <a:bodyPr/>
          <a:lstStyle/>
          <a:p>
            <a:fld id="{7B780A8A-1CC5-4D12-9B63-EA924667FC64}" type="datetime1">
              <a:rPr lang="en-US" smtClean="0"/>
              <a:t>8/3/2023</a:t>
            </a:fld>
            <a:endParaRPr lang="en-US"/>
          </a:p>
        </p:txBody>
      </p:sp>
    </p:spTree>
    <p:extLst>
      <p:ext uri="{BB962C8B-B14F-4D97-AF65-F5344CB8AC3E}">
        <p14:creationId xmlns:p14="http://schemas.microsoft.com/office/powerpoint/2010/main" val="1405656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838200" y="376544"/>
            <a:ext cx="10515600" cy="1325563"/>
          </a:xfrm>
        </p:spPr>
        <p:txBody>
          <a:bodyPr>
            <a:normAutofit/>
          </a:bodyPr>
          <a:lstStyle/>
          <a:p>
            <a:pPr algn="ctr"/>
            <a:r>
              <a:rPr lang="en-US" b="1" dirty="0">
                <a:latin typeface="Aharoni" panose="02010803020104030203" pitchFamily="2" charset="-79"/>
                <a:cs typeface="Aharoni" panose="02010803020104030203" pitchFamily="2" charset="-79"/>
              </a:rPr>
              <a:t>Effective nuclear charge (Example):</a:t>
            </a:r>
            <a:r>
              <a:rPr lang="en-US" dirty="0"/>
              <a:t/>
            </a:r>
            <a:br>
              <a:rPr lang="en-US" dirty="0"/>
            </a:br>
            <a:endParaRPr lang="en-US" dirty="0"/>
          </a:p>
        </p:txBody>
      </p:sp>
      <p:sp>
        <p:nvSpPr>
          <p:cNvPr id="5" name="Rectangle 3"/>
          <p:cNvSpPr>
            <a:spLocks noGrp="1" noChangeArrowheads="1"/>
          </p:cNvSpPr>
          <p:nvPr>
            <p:ph idx="1"/>
          </p:nvPr>
        </p:nvSpPr>
        <p:spPr>
          <a:xfrm>
            <a:off x="646921" y="1039325"/>
            <a:ext cx="11201401" cy="6055632"/>
          </a:xfrm>
        </p:spPr>
        <p:txBody>
          <a:bodyPr>
            <a:normAutofit fontScale="92500" lnSpcReduction="10000"/>
          </a:bodyPr>
          <a:lstStyle/>
          <a:p>
            <a:pPr marL="0" indent="0" algn="just" fontAlgn="base">
              <a:lnSpc>
                <a:spcPct val="170000"/>
              </a:lnSpc>
              <a:buNone/>
            </a:pPr>
            <a:r>
              <a:rPr lang="en-US" b="1" dirty="0"/>
              <a:t>(c)Calculate effective nuclear charge in Zinc for 4s electron &amp; for 3d electron. </a:t>
            </a:r>
            <a:r>
              <a:rPr lang="en-US" dirty="0"/>
              <a:t>Electronic configuration- (1s</a:t>
            </a:r>
            <a:r>
              <a:rPr lang="en-US" baseline="30000" dirty="0"/>
              <a:t>2</a:t>
            </a:r>
            <a:r>
              <a:rPr lang="en-US" dirty="0"/>
              <a:t>) (2s</a:t>
            </a:r>
            <a:r>
              <a:rPr lang="en-US" baseline="30000" dirty="0"/>
              <a:t>2</a:t>
            </a:r>
            <a:r>
              <a:rPr lang="en-US" dirty="0"/>
              <a:t>, 2p</a:t>
            </a:r>
            <a:r>
              <a:rPr lang="en-US" baseline="30000" dirty="0"/>
              <a:t>6</a:t>
            </a:r>
            <a:r>
              <a:rPr lang="en-US" dirty="0"/>
              <a:t>)(3s</a:t>
            </a:r>
            <a:r>
              <a:rPr lang="en-US" baseline="30000" dirty="0"/>
              <a:t>2</a:t>
            </a:r>
            <a:r>
              <a:rPr lang="en-US" dirty="0"/>
              <a:t>, 3p</a:t>
            </a:r>
            <a:r>
              <a:rPr lang="en-US" baseline="30000" dirty="0"/>
              <a:t>6</a:t>
            </a:r>
            <a:r>
              <a:rPr lang="en-US" dirty="0"/>
              <a:t>)(3d</a:t>
            </a:r>
            <a:r>
              <a:rPr lang="en-US" baseline="30000" dirty="0"/>
              <a:t>10</a:t>
            </a:r>
            <a:r>
              <a:rPr lang="en-US" dirty="0"/>
              <a:t>)(4s</a:t>
            </a:r>
            <a:r>
              <a:rPr lang="en-US" baseline="30000" dirty="0"/>
              <a:t>2</a:t>
            </a:r>
            <a:r>
              <a:rPr lang="en-US" dirty="0"/>
              <a:t>).</a:t>
            </a:r>
          </a:p>
          <a:p>
            <a:pPr algn="just" fontAlgn="base">
              <a:lnSpc>
                <a:spcPct val="170000"/>
              </a:lnSpc>
            </a:pPr>
            <a:r>
              <a:rPr lang="en-US" b="1" dirty="0"/>
              <a:t>For 4s electron,</a:t>
            </a:r>
            <a:endParaRPr lang="en-US" dirty="0"/>
          </a:p>
          <a:p>
            <a:pPr algn="just" fontAlgn="base">
              <a:lnSpc>
                <a:spcPct val="170000"/>
              </a:lnSpc>
            </a:pPr>
            <a:r>
              <a:rPr lang="en-US" dirty="0"/>
              <a:t>σ = (0.35 × 1) + (0.85 × 18) + (1 × 10) = 25.65</a:t>
            </a:r>
          </a:p>
          <a:p>
            <a:pPr algn="just" fontAlgn="base">
              <a:lnSpc>
                <a:spcPct val="170000"/>
              </a:lnSpc>
            </a:pPr>
            <a:r>
              <a:rPr lang="en-US" dirty="0"/>
              <a:t>Z* = Z – σ = 30 – 25.65 = 4.35</a:t>
            </a:r>
          </a:p>
          <a:p>
            <a:pPr algn="just" fontAlgn="base">
              <a:lnSpc>
                <a:spcPct val="170000"/>
              </a:lnSpc>
            </a:pPr>
            <a:r>
              <a:rPr lang="en-US" b="1" dirty="0"/>
              <a:t>For 3d electron,</a:t>
            </a:r>
            <a:endParaRPr lang="en-US" dirty="0"/>
          </a:p>
          <a:p>
            <a:pPr algn="just" fontAlgn="base">
              <a:lnSpc>
                <a:spcPct val="170000"/>
              </a:lnSpc>
            </a:pPr>
            <a:r>
              <a:rPr lang="en-US" dirty="0"/>
              <a:t>σ = (0.35 × 9) + (1 × 18) = 21.15</a:t>
            </a:r>
          </a:p>
          <a:p>
            <a:pPr algn="just" fontAlgn="base">
              <a:lnSpc>
                <a:spcPct val="170000"/>
              </a:lnSpc>
            </a:pPr>
            <a:r>
              <a:rPr lang="en-US" dirty="0"/>
              <a:t>Z* = Z – σ = 30 – 21.15 = 8.85</a:t>
            </a:r>
          </a:p>
          <a:p>
            <a:pPr algn="just">
              <a:lnSpc>
                <a:spcPct val="170000"/>
              </a:lnSpc>
              <a:spcBef>
                <a:spcPts val="0"/>
              </a:spcBef>
            </a:pPr>
            <a:endParaRPr lang="en-US" sz="3200" dirty="0"/>
          </a:p>
        </p:txBody>
      </p:sp>
      <p:sp>
        <p:nvSpPr>
          <p:cNvPr id="9" name="AutoShape 6" descr="Z_{\mathrm{eff}}"/>
          <p:cNvSpPr>
            <a:spLocks noChangeAspect="1" noChangeArrowheads="1"/>
          </p:cNvSpPr>
          <p:nvPr/>
        </p:nvSpPr>
        <p:spPr bwMode="auto">
          <a:xfrm>
            <a:off x="3054350"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Footer Placeholder 1">
            <a:extLst>
              <a:ext uri="{FF2B5EF4-FFF2-40B4-BE49-F238E27FC236}">
                <a16:creationId xmlns:a16="http://schemas.microsoft.com/office/drawing/2014/main" id="{B4AA38A4-F464-D8CA-F3D9-8AF6B9EAF688}"/>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92605641-AC67-56FD-B6E6-1E189179F00F}"/>
              </a:ext>
            </a:extLst>
          </p:cNvPr>
          <p:cNvSpPr>
            <a:spLocks noGrp="1"/>
          </p:cNvSpPr>
          <p:nvPr>
            <p:ph type="sldNum" sz="quarter" idx="12"/>
          </p:nvPr>
        </p:nvSpPr>
        <p:spPr/>
        <p:txBody>
          <a:bodyPr/>
          <a:lstStyle/>
          <a:p>
            <a:fld id="{18FFC5A6-CECA-42F5-ACA8-5C3F58FF9B21}" type="slidenum">
              <a:rPr lang="en-US" smtClean="0"/>
              <a:t>20</a:t>
            </a:fld>
            <a:endParaRPr lang="en-US"/>
          </a:p>
        </p:txBody>
      </p:sp>
      <p:sp>
        <p:nvSpPr>
          <p:cNvPr id="6" name="Date Placeholder 5">
            <a:extLst>
              <a:ext uri="{FF2B5EF4-FFF2-40B4-BE49-F238E27FC236}">
                <a16:creationId xmlns:a16="http://schemas.microsoft.com/office/drawing/2014/main" id="{7812C66D-452E-1582-F958-A743913600A8}"/>
              </a:ext>
            </a:extLst>
          </p:cNvPr>
          <p:cNvSpPr>
            <a:spLocks noGrp="1"/>
          </p:cNvSpPr>
          <p:nvPr>
            <p:ph type="dt" sz="half" idx="10"/>
          </p:nvPr>
        </p:nvSpPr>
        <p:spPr/>
        <p:txBody>
          <a:bodyPr/>
          <a:lstStyle/>
          <a:p>
            <a:fld id="{793B7199-0EC2-43D9-B5CA-D6C2EBAB04F1}" type="datetime1">
              <a:rPr lang="en-US" smtClean="0"/>
              <a:t>8/3/2023</a:t>
            </a:fld>
            <a:endParaRPr lang="en-US"/>
          </a:p>
        </p:txBody>
      </p:sp>
    </p:spTree>
    <p:extLst>
      <p:ext uri="{BB962C8B-B14F-4D97-AF65-F5344CB8AC3E}">
        <p14:creationId xmlns:p14="http://schemas.microsoft.com/office/powerpoint/2010/main" val="18039765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p:txBody>
          <a:bodyPr>
            <a:normAutofit/>
          </a:bodyPr>
          <a:lstStyle/>
          <a:p>
            <a:r>
              <a:rPr lang="en-US" sz="3600" b="1" dirty="0">
                <a:latin typeface="Aharoni" panose="02010803020104030203" pitchFamily="2" charset="-79"/>
                <a:cs typeface="Aharoni" panose="02010803020104030203" pitchFamily="2" charset="-79"/>
              </a:rPr>
              <a:t>Explaining periodicity: Effective nuclear charge and shielding</a:t>
            </a:r>
          </a:p>
        </p:txBody>
      </p:sp>
      <p:sp>
        <p:nvSpPr>
          <p:cNvPr id="5" name="Rectangle 3"/>
          <p:cNvSpPr>
            <a:spLocks noGrp="1" noChangeArrowheads="1"/>
          </p:cNvSpPr>
          <p:nvPr>
            <p:ph idx="1"/>
          </p:nvPr>
        </p:nvSpPr>
        <p:spPr/>
        <p:txBody>
          <a:bodyPr>
            <a:normAutofit/>
          </a:bodyPr>
          <a:lstStyle/>
          <a:p>
            <a:pPr algn="just">
              <a:lnSpc>
                <a:spcPct val="150000"/>
              </a:lnSpc>
            </a:pPr>
            <a:r>
              <a:rPr lang="en-US" dirty="0"/>
              <a:t>Inner shell (core) electrons screen the outer (valence) electrons from the nuclear attraction</a:t>
            </a:r>
          </a:p>
          <a:p>
            <a:pPr lvl="1" algn="just">
              <a:lnSpc>
                <a:spcPct val="150000"/>
              </a:lnSpc>
            </a:pPr>
            <a:r>
              <a:rPr lang="en-US" sz="2800" dirty="0"/>
              <a:t>Shielding is more effective/ strong for electrons with higher angular momentum (higher </a:t>
            </a:r>
            <a:r>
              <a:rPr lang="en-US" sz="2800" i="1" dirty="0">
                <a:latin typeface="Times New Roman" panose="02020603050405020304" pitchFamily="18" charset="0"/>
                <a:cs typeface="Times New Roman" panose="02020603050405020304" pitchFamily="18" charset="0"/>
              </a:rPr>
              <a:t>l</a:t>
            </a:r>
            <a:r>
              <a:rPr lang="en-US" sz="2800" dirty="0"/>
              <a:t> value: 3d &gt; 3p &gt; 3s)</a:t>
            </a:r>
          </a:p>
          <a:p>
            <a:pPr lvl="1" algn="just">
              <a:lnSpc>
                <a:spcPct val="150000"/>
              </a:lnSpc>
            </a:pPr>
            <a:r>
              <a:rPr lang="en-US" sz="2800" dirty="0"/>
              <a:t>Decreases as the valence shell fills</a:t>
            </a:r>
          </a:p>
          <a:p>
            <a:pPr algn="just">
              <a:lnSpc>
                <a:spcPct val="150000"/>
              </a:lnSpc>
            </a:pPr>
            <a:r>
              <a:rPr lang="en-US" dirty="0"/>
              <a:t>Increased shielding means lower effective nuclear charge</a:t>
            </a:r>
          </a:p>
        </p:txBody>
      </p:sp>
      <p:sp>
        <p:nvSpPr>
          <p:cNvPr id="2" name="Footer Placeholder 1">
            <a:extLst>
              <a:ext uri="{FF2B5EF4-FFF2-40B4-BE49-F238E27FC236}">
                <a16:creationId xmlns:a16="http://schemas.microsoft.com/office/drawing/2014/main" id="{8A044ECC-EE71-0FD6-E7B0-217C707F4516}"/>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DFABD79C-2321-DD13-7299-A8D36CB4ECAB}"/>
              </a:ext>
            </a:extLst>
          </p:cNvPr>
          <p:cNvSpPr>
            <a:spLocks noGrp="1"/>
          </p:cNvSpPr>
          <p:nvPr>
            <p:ph type="sldNum" sz="quarter" idx="12"/>
          </p:nvPr>
        </p:nvSpPr>
        <p:spPr/>
        <p:txBody>
          <a:bodyPr/>
          <a:lstStyle/>
          <a:p>
            <a:fld id="{18FFC5A6-CECA-42F5-ACA8-5C3F58FF9B21}" type="slidenum">
              <a:rPr lang="en-US" smtClean="0"/>
              <a:t>21</a:t>
            </a:fld>
            <a:endParaRPr lang="en-US"/>
          </a:p>
        </p:txBody>
      </p:sp>
      <p:sp>
        <p:nvSpPr>
          <p:cNvPr id="6" name="Date Placeholder 5">
            <a:extLst>
              <a:ext uri="{FF2B5EF4-FFF2-40B4-BE49-F238E27FC236}">
                <a16:creationId xmlns:a16="http://schemas.microsoft.com/office/drawing/2014/main" id="{9561A617-C473-F044-F51F-7216BA78DF13}"/>
              </a:ext>
            </a:extLst>
          </p:cNvPr>
          <p:cNvSpPr>
            <a:spLocks noGrp="1"/>
          </p:cNvSpPr>
          <p:nvPr>
            <p:ph type="dt" sz="half" idx="10"/>
          </p:nvPr>
        </p:nvSpPr>
        <p:spPr/>
        <p:txBody>
          <a:bodyPr/>
          <a:lstStyle/>
          <a:p>
            <a:fld id="{E283768B-F068-4230-ABE8-D70C4E4618F8}" type="datetime1">
              <a:rPr lang="en-US" smtClean="0"/>
              <a:t>8/3/2023</a:t>
            </a:fld>
            <a:endParaRPr lang="en-US"/>
          </a:p>
        </p:txBody>
      </p:sp>
    </p:spTree>
    <p:extLst>
      <p:ext uri="{BB962C8B-B14F-4D97-AF65-F5344CB8AC3E}">
        <p14:creationId xmlns:p14="http://schemas.microsoft.com/office/powerpoint/2010/main" val="27452304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Periodicity</a:t>
            </a:r>
            <a:endParaRPr lang="en-IN" dirty="0"/>
          </a:p>
        </p:txBody>
      </p:sp>
      <p:sp>
        <p:nvSpPr>
          <p:cNvPr id="3" name="Content Placeholder 2"/>
          <p:cNvSpPr>
            <a:spLocks noGrp="1"/>
          </p:cNvSpPr>
          <p:nvPr>
            <p:ph idx="1"/>
          </p:nvPr>
        </p:nvSpPr>
        <p:spPr>
          <a:xfrm>
            <a:off x="591312" y="1441577"/>
            <a:ext cx="10515600" cy="4351338"/>
          </a:xfrm>
        </p:spPr>
        <p:txBody>
          <a:bodyPr/>
          <a:lstStyle/>
          <a:p>
            <a:r>
              <a:rPr lang="en-US" dirty="0"/>
              <a:t>The effective nuclear charge of an atom </a:t>
            </a:r>
            <a:r>
              <a:rPr lang="en-US" dirty="0">
                <a:solidFill>
                  <a:srgbClr val="FF0000"/>
                </a:solidFill>
              </a:rPr>
              <a:t>increases with increasing </a:t>
            </a:r>
            <a:r>
              <a:rPr lang="en-US" dirty="0"/>
              <a:t>atom number and </a:t>
            </a:r>
            <a:r>
              <a:rPr lang="en-US" dirty="0">
                <a:solidFill>
                  <a:srgbClr val="FF0000"/>
                </a:solidFill>
              </a:rPr>
              <a:t>with decreasing atomic radius </a:t>
            </a:r>
            <a:r>
              <a:rPr lang="en-US" dirty="0"/>
              <a:t>as you go across a </a:t>
            </a:r>
            <a:r>
              <a:rPr lang="en-US" dirty="0">
                <a:solidFill>
                  <a:srgbClr val="FF0000"/>
                </a:solidFill>
              </a:rPr>
              <a:t>period</a:t>
            </a:r>
            <a:r>
              <a:rPr lang="en-US" dirty="0"/>
              <a:t>.</a:t>
            </a:r>
            <a:endParaRPr lang="en-US" dirty="0" smtClean="0"/>
          </a:p>
          <a:p>
            <a:pPr algn="just"/>
            <a:r>
              <a:rPr lang="en-US" dirty="0" smtClean="0"/>
              <a:t>As </a:t>
            </a:r>
            <a:r>
              <a:rPr lang="en-US" dirty="0"/>
              <a:t>we move down the group the </a:t>
            </a:r>
            <a:r>
              <a:rPr lang="en-US" dirty="0">
                <a:solidFill>
                  <a:srgbClr val="FF0000"/>
                </a:solidFill>
              </a:rPr>
              <a:t>electrons are added to a new orbital </a:t>
            </a:r>
            <a:r>
              <a:rPr lang="en-US" dirty="0"/>
              <a:t>which </a:t>
            </a:r>
            <a:r>
              <a:rPr lang="en-US" dirty="0">
                <a:solidFill>
                  <a:srgbClr val="FF0000"/>
                </a:solidFill>
              </a:rPr>
              <a:t>increases the atomic size </a:t>
            </a:r>
            <a:r>
              <a:rPr lang="en-US" dirty="0"/>
              <a:t>of the atom, and </a:t>
            </a:r>
            <a:r>
              <a:rPr lang="en-US" dirty="0">
                <a:solidFill>
                  <a:srgbClr val="FF0000"/>
                </a:solidFill>
              </a:rPr>
              <a:t>reduces the influence of the nucleus</a:t>
            </a:r>
            <a:r>
              <a:rPr lang="en-US" dirty="0"/>
              <a:t> on the outermost electron, hence we observe a </a:t>
            </a:r>
            <a:r>
              <a:rPr lang="en-US" dirty="0">
                <a:solidFill>
                  <a:srgbClr val="FF0000"/>
                </a:solidFill>
              </a:rPr>
              <a:t>decreased value of the effective nuclear charge</a:t>
            </a:r>
            <a:r>
              <a:rPr lang="en-US" dirty="0" smtClean="0"/>
              <a:t>.</a:t>
            </a:r>
          </a:p>
          <a:p>
            <a:pPr marL="0" indent="0" algn="just">
              <a:buNone/>
            </a:pPr>
            <a:r>
              <a:rPr lang="en-US" sz="3200" b="1" dirty="0" smtClean="0">
                <a:solidFill>
                  <a:srgbClr val="00B050"/>
                </a:solidFill>
              </a:rPr>
              <a:t>Note: If we calculate from slaters rule it is observed that down the group ENC change marginally, hence we can say in a group from top to bottom ENC almost remains constant.</a:t>
            </a:r>
            <a:endParaRPr lang="en-IN" sz="3200" b="1" dirty="0">
              <a:solidFill>
                <a:srgbClr val="00B050"/>
              </a:solidFill>
            </a:endParaRPr>
          </a:p>
        </p:txBody>
      </p:sp>
      <p:sp>
        <p:nvSpPr>
          <p:cNvPr id="4" name="Date Placeholder 3"/>
          <p:cNvSpPr>
            <a:spLocks noGrp="1"/>
          </p:cNvSpPr>
          <p:nvPr>
            <p:ph type="dt" sz="half" idx="10"/>
          </p:nvPr>
        </p:nvSpPr>
        <p:spPr/>
        <p:txBody>
          <a:bodyPr/>
          <a:lstStyle/>
          <a:p>
            <a:fld id="{D96E4946-6555-4638-80A1-8857C0FECD8B}" type="datetime1">
              <a:rPr lang="en-US" smtClean="0"/>
              <a:t>8/3/2023</a:t>
            </a:fld>
            <a:endParaRPr lang="en-US"/>
          </a:p>
        </p:txBody>
      </p:sp>
      <p:sp>
        <p:nvSpPr>
          <p:cNvPr id="5" name="Footer Placeholder 4"/>
          <p:cNvSpPr>
            <a:spLocks noGrp="1"/>
          </p:cNvSpPr>
          <p:nvPr>
            <p:ph type="ftr" sz="quarter" idx="11"/>
          </p:nvPr>
        </p:nvSpPr>
        <p:spPr/>
        <p:txBody>
          <a:bodyPr/>
          <a:lstStyle/>
          <a:p>
            <a:r>
              <a:rPr lang="en-US" smtClean="0"/>
              <a:t>Periodic Properties of Elements</a:t>
            </a:r>
            <a:endParaRPr lang="en-US"/>
          </a:p>
        </p:txBody>
      </p:sp>
      <p:sp>
        <p:nvSpPr>
          <p:cNvPr id="6" name="Slide Number Placeholder 5"/>
          <p:cNvSpPr>
            <a:spLocks noGrp="1"/>
          </p:cNvSpPr>
          <p:nvPr>
            <p:ph type="sldNum" sz="quarter" idx="12"/>
          </p:nvPr>
        </p:nvSpPr>
        <p:spPr/>
        <p:txBody>
          <a:bodyPr/>
          <a:lstStyle/>
          <a:p>
            <a:fld id="{18FFC5A6-CECA-42F5-ACA8-5C3F58FF9B21}" type="slidenum">
              <a:rPr lang="en-US" smtClean="0"/>
              <a:t>22</a:t>
            </a:fld>
            <a:endParaRPr lang="en-US"/>
          </a:p>
        </p:txBody>
      </p:sp>
    </p:spTree>
    <p:extLst>
      <p:ext uri="{BB962C8B-B14F-4D97-AF65-F5344CB8AC3E}">
        <p14:creationId xmlns:p14="http://schemas.microsoft.com/office/powerpoint/2010/main" val="3616362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6172" y="0"/>
            <a:ext cx="10515600" cy="625475"/>
          </a:xfrm>
        </p:spPr>
        <p:txBody>
          <a:bodyPr>
            <a:noAutofit/>
          </a:bodyPr>
          <a:lstStyle/>
          <a:p>
            <a:r>
              <a:rPr lang="en-IN" sz="4000" b="1" dirty="0">
                <a:latin typeface="Aharoni" panose="02010803020104030203" pitchFamily="2" charset="-79"/>
                <a:cs typeface="Aharoni" panose="02010803020104030203" pitchFamily="2" charset="-79"/>
              </a:rPr>
              <a:t>Atomic</a:t>
            </a:r>
            <a:r>
              <a:rPr lang="en-IN" sz="4000" dirty="0">
                <a:latin typeface="Aharoni" panose="02010803020104030203" pitchFamily="2" charset="-79"/>
                <a:cs typeface="Aharoni" panose="02010803020104030203" pitchFamily="2" charset="-79"/>
              </a:rPr>
              <a:t> Radii - Concept and periodicity </a:t>
            </a:r>
            <a:endParaRPr lang="en-US" sz="4000" dirty="0">
              <a:latin typeface="Aharoni" panose="02010803020104030203" pitchFamily="2" charset="-79"/>
              <a:cs typeface="Aharoni" panose="02010803020104030203" pitchFamily="2" charset="-79"/>
            </a:endParaRPr>
          </a:p>
        </p:txBody>
      </p:sp>
      <p:sp>
        <p:nvSpPr>
          <p:cNvPr id="3" name="Content Placeholder 2"/>
          <p:cNvSpPr>
            <a:spLocks noGrp="1"/>
          </p:cNvSpPr>
          <p:nvPr>
            <p:ph idx="1"/>
          </p:nvPr>
        </p:nvSpPr>
        <p:spPr>
          <a:xfrm>
            <a:off x="310242" y="625475"/>
            <a:ext cx="11767457" cy="6075950"/>
          </a:xfrm>
        </p:spPr>
        <p:txBody>
          <a:bodyPr>
            <a:noAutofit/>
          </a:bodyPr>
          <a:lstStyle/>
          <a:p>
            <a:pPr algn="just">
              <a:lnSpc>
                <a:spcPct val="150000"/>
              </a:lnSpc>
            </a:pPr>
            <a:r>
              <a:rPr lang="en-US" sz="3200" dirty="0"/>
              <a:t>The absolute size of an atom is difficult to define as the electronic probability distribution is never zero even at far away distances from the nucleus. </a:t>
            </a:r>
          </a:p>
          <a:p>
            <a:pPr algn="just">
              <a:lnSpc>
                <a:spcPct val="150000"/>
              </a:lnSpc>
            </a:pPr>
            <a:r>
              <a:rPr lang="en-US" sz="3200" dirty="0"/>
              <a:t>Generally the radius of atom or an ion is defined as the </a:t>
            </a:r>
            <a:r>
              <a:rPr lang="en-US" sz="3200" i="1" dirty="0"/>
              <a:t>distance from the </a:t>
            </a:r>
            <a:r>
              <a:rPr lang="en-US" sz="3200" i="1" dirty="0" err="1"/>
              <a:t>centre</a:t>
            </a:r>
            <a:r>
              <a:rPr lang="en-US" sz="3200" i="1" dirty="0"/>
              <a:t> of the nucleus to the outermost shell of atom or an ion. </a:t>
            </a:r>
          </a:p>
          <a:p>
            <a:pPr algn="just">
              <a:lnSpc>
                <a:spcPct val="150000"/>
              </a:lnSpc>
            </a:pPr>
            <a:r>
              <a:rPr lang="en-US" sz="3200" dirty="0"/>
              <a:t>As it is impossible to isolate an individual atom, it is assumed that atoms behave as perfect hard spheres. </a:t>
            </a:r>
          </a:p>
          <a:p>
            <a:pPr marL="0" indent="0" algn="just">
              <a:lnSpc>
                <a:spcPct val="150000"/>
              </a:lnSpc>
              <a:buNone/>
            </a:pPr>
            <a:endParaRPr lang="en-IN" sz="1200" dirty="0"/>
          </a:p>
        </p:txBody>
      </p:sp>
      <p:sp>
        <p:nvSpPr>
          <p:cNvPr id="4" name="Footer Placeholder 3">
            <a:extLst>
              <a:ext uri="{FF2B5EF4-FFF2-40B4-BE49-F238E27FC236}">
                <a16:creationId xmlns:a16="http://schemas.microsoft.com/office/drawing/2014/main" id="{E9D5D67D-D467-B9C2-1F21-1C40DE4284DB}"/>
              </a:ext>
            </a:extLst>
          </p:cNvPr>
          <p:cNvSpPr>
            <a:spLocks noGrp="1"/>
          </p:cNvSpPr>
          <p:nvPr>
            <p:ph type="ftr" sz="quarter" idx="11"/>
          </p:nvPr>
        </p:nvSpPr>
        <p:spPr/>
        <p:txBody>
          <a:bodyPr/>
          <a:lstStyle/>
          <a:p>
            <a:r>
              <a:rPr lang="en-US"/>
              <a:t>Periodic Properties of Elements</a:t>
            </a:r>
          </a:p>
        </p:txBody>
      </p:sp>
      <p:sp>
        <p:nvSpPr>
          <p:cNvPr id="5" name="Slide Number Placeholder 4">
            <a:extLst>
              <a:ext uri="{FF2B5EF4-FFF2-40B4-BE49-F238E27FC236}">
                <a16:creationId xmlns:a16="http://schemas.microsoft.com/office/drawing/2014/main" id="{F9638586-CB2C-9F17-1B90-18092D5E6137}"/>
              </a:ext>
            </a:extLst>
          </p:cNvPr>
          <p:cNvSpPr>
            <a:spLocks noGrp="1"/>
          </p:cNvSpPr>
          <p:nvPr>
            <p:ph type="sldNum" sz="quarter" idx="12"/>
          </p:nvPr>
        </p:nvSpPr>
        <p:spPr/>
        <p:txBody>
          <a:bodyPr/>
          <a:lstStyle/>
          <a:p>
            <a:fld id="{18FFC5A6-CECA-42F5-ACA8-5C3F58FF9B21}" type="slidenum">
              <a:rPr lang="en-US" smtClean="0"/>
              <a:t>23</a:t>
            </a:fld>
            <a:endParaRPr lang="en-US"/>
          </a:p>
        </p:txBody>
      </p:sp>
      <p:sp>
        <p:nvSpPr>
          <p:cNvPr id="6" name="Date Placeholder 5">
            <a:extLst>
              <a:ext uri="{FF2B5EF4-FFF2-40B4-BE49-F238E27FC236}">
                <a16:creationId xmlns:a16="http://schemas.microsoft.com/office/drawing/2014/main" id="{4AF42024-3FDB-88AF-CC50-89B803A5106B}"/>
              </a:ext>
            </a:extLst>
          </p:cNvPr>
          <p:cNvSpPr>
            <a:spLocks noGrp="1"/>
          </p:cNvSpPr>
          <p:nvPr>
            <p:ph type="dt" sz="half" idx="10"/>
          </p:nvPr>
        </p:nvSpPr>
        <p:spPr/>
        <p:txBody>
          <a:bodyPr/>
          <a:lstStyle/>
          <a:p>
            <a:fld id="{C321A202-656E-45CC-AFD1-98A76ECC77BF}" type="datetime1">
              <a:rPr lang="en-US" smtClean="0"/>
              <a:t>8/3/2023</a:t>
            </a:fld>
            <a:endParaRPr lang="en-US"/>
          </a:p>
        </p:txBody>
      </p:sp>
    </p:spTree>
    <p:extLst>
      <p:ext uri="{BB962C8B-B14F-4D97-AF65-F5344CB8AC3E}">
        <p14:creationId xmlns:p14="http://schemas.microsoft.com/office/powerpoint/2010/main" val="3032260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6172" y="0"/>
            <a:ext cx="10515600" cy="625475"/>
          </a:xfrm>
        </p:spPr>
        <p:txBody>
          <a:bodyPr>
            <a:noAutofit/>
          </a:bodyPr>
          <a:lstStyle/>
          <a:p>
            <a:r>
              <a:rPr lang="en-IN" sz="4000" b="1" dirty="0">
                <a:latin typeface="Aharoni" panose="02010803020104030203" pitchFamily="2" charset="-79"/>
                <a:cs typeface="Aharoni" panose="02010803020104030203" pitchFamily="2" charset="-79"/>
              </a:rPr>
              <a:t>Atomic</a:t>
            </a:r>
            <a:r>
              <a:rPr lang="en-IN" sz="4000" dirty="0">
                <a:latin typeface="Aharoni" panose="02010803020104030203" pitchFamily="2" charset="-79"/>
                <a:cs typeface="Aharoni" panose="02010803020104030203" pitchFamily="2" charset="-79"/>
              </a:rPr>
              <a:t> Radii - Concept and periodicity </a:t>
            </a:r>
            <a:endParaRPr lang="en-US" sz="4000" dirty="0">
              <a:latin typeface="Aharoni" panose="02010803020104030203" pitchFamily="2" charset="-79"/>
              <a:cs typeface="Aharoni" panose="02010803020104030203" pitchFamily="2" charset="-79"/>
            </a:endParaRPr>
          </a:p>
        </p:txBody>
      </p:sp>
      <p:sp>
        <p:nvSpPr>
          <p:cNvPr id="3" name="Content Placeholder 2"/>
          <p:cNvSpPr>
            <a:spLocks noGrp="1"/>
          </p:cNvSpPr>
          <p:nvPr>
            <p:ph idx="1"/>
          </p:nvPr>
        </p:nvSpPr>
        <p:spPr>
          <a:xfrm>
            <a:off x="310242" y="709750"/>
            <a:ext cx="11767457" cy="5878939"/>
          </a:xfrm>
        </p:spPr>
        <p:txBody>
          <a:bodyPr>
            <a:noAutofit/>
          </a:bodyPr>
          <a:lstStyle/>
          <a:p>
            <a:pPr algn="just">
              <a:lnSpc>
                <a:spcPct val="200000"/>
              </a:lnSpc>
            </a:pPr>
            <a:r>
              <a:rPr lang="en-US" sz="3200" dirty="0"/>
              <a:t>In a homonuclear diatomic molecules two such spheres are just in contact with each other. The distance between the centres of two atoms i.e. internuclear distance (bond length) in a molecules can be measured by X-Ray and spectral studies. </a:t>
            </a:r>
            <a:r>
              <a:rPr lang="en-US" sz="3200" dirty="0" smtClean="0"/>
              <a:t>So the </a:t>
            </a:r>
            <a:r>
              <a:rPr lang="en-US" sz="3200" dirty="0"/>
              <a:t>radius of an atom is one half of the distance between the centres of the two atoms.</a:t>
            </a:r>
          </a:p>
          <a:p>
            <a:pPr marL="0" indent="0" algn="just">
              <a:lnSpc>
                <a:spcPct val="200000"/>
              </a:lnSpc>
              <a:buNone/>
            </a:pPr>
            <a:endParaRPr lang="en-IN" sz="1100" dirty="0"/>
          </a:p>
        </p:txBody>
      </p:sp>
      <p:sp>
        <p:nvSpPr>
          <p:cNvPr id="4" name="Footer Placeholder 3">
            <a:extLst>
              <a:ext uri="{FF2B5EF4-FFF2-40B4-BE49-F238E27FC236}">
                <a16:creationId xmlns:a16="http://schemas.microsoft.com/office/drawing/2014/main" id="{398D4C4C-80AD-C84C-6042-064B74A33608}"/>
              </a:ext>
            </a:extLst>
          </p:cNvPr>
          <p:cNvSpPr>
            <a:spLocks noGrp="1"/>
          </p:cNvSpPr>
          <p:nvPr>
            <p:ph type="ftr" sz="quarter" idx="11"/>
          </p:nvPr>
        </p:nvSpPr>
        <p:spPr/>
        <p:txBody>
          <a:bodyPr/>
          <a:lstStyle/>
          <a:p>
            <a:r>
              <a:rPr lang="en-US"/>
              <a:t>Periodic Properties of Elements</a:t>
            </a:r>
          </a:p>
        </p:txBody>
      </p:sp>
      <p:sp>
        <p:nvSpPr>
          <p:cNvPr id="5" name="Slide Number Placeholder 4">
            <a:extLst>
              <a:ext uri="{FF2B5EF4-FFF2-40B4-BE49-F238E27FC236}">
                <a16:creationId xmlns:a16="http://schemas.microsoft.com/office/drawing/2014/main" id="{C45DFFEF-8799-C91D-02FE-9A739BD9D9A8}"/>
              </a:ext>
            </a:extLst>
          </p:cNvPr>
          <p:cNvSpPr>
            <a:spLocks noGrp="1"/>
          </p:cNvSpPr>
          <p:nvPr>
            <p:ph type="sldNum" sz="quarter" idx="12"/>
          </p:nvPr>
        </p:nvSpPr>
        <p:spPr/>
        <p:txBody>
          <a:bodyPr/>
          <a:lstStyle/>
          <a:p>
            <a:fld id="{18FFC5A6-CECA-42F5-ACA8-5C3F58FF9B21}" type="slidenum">
              <a:rPr lang="en-US" smtClean="0"/>
              <a:t>24</a:t>
            </a:fld>
            <a:endParaRPr lang="en-US"/>
          </a:p>
        </p:txBody>
      </p:sp>
      <p:sp>
        <p:nvSpPr>
          <p:cNvPr id="6" name="Date Placeholder 5">
            <a:extLst>
              <a:ext uri="{FF2B5EF4-FFF2-40B4-BE49-F238E27FC236}">
                <a16:creationId xmlns:a16="http://schemas.microsoft.com/office/drawing/2014/main" id="{45026AE1-93BB-4DB4-C34E-1C2CDE19A6CA}"/>
              </a:ext>
            </a:extLst>
          </p:cNvPr>
          <p:cNvSpPr>
            <a:spLocks noGrp="1"/>
          </p:cNvSpPr>
          <p:nvPr>
            <p:ph type="dt" sz="half" idx="10"/>
          </p:nvPr>
        </p:nvSpPr>
        <p:spPr/>
        <p:txBody>
          <a:bodyPr/>
          <a:lstStyle/>
          <a:p>
            <a:fld id="{32F1CC3A-C551-493E-B66E-2DC05D483E8A}" type="datetime1">
              <a:rPr lang="en-US" smtClean="0"/>
              <a:t>8/3/2023</a:t>
            </a:fld>
            <a:endParaRPr lang="en-US"/>
          </a:p>
        </p:txBody>
      </p:sp>
    </p:spTree>
    <p:extLst>
      <p:ext uri="{BB962C8B-B14F-4D97-AF65-F5344CB8AC3E}">
        <p14:creationId xmlns:p14="http://schemas.microsoft.com/office/powerpoint/2010/main" val="10808591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6172" y="0"/>
            <a:ext cx="10515600" cy="625475"/>
          </a:xfrm>
        </p:spPr>
        <p:txBody>
          <a:bodyPr>
            <a:normAutofit fontScale="90000"/>
          </a:bodyPr>
          <a:lstStyle/>
          <a:p>
            <a:pPr algn="ctr"/>
            <a:r>
              <a:rPr lang="en-IN" b="1" dirty="0">
                <a:latin typeface="Aharoni" panose="02010803020104030203" pitchFamily="2" charset="-79"/>
                <a:cs typeface="Aharoni" panose="02010803020104030203" pitchFamily="2" charset="-79"/>
              </a:rPr>
              <a:t>Atomic Radii - Concept and periodicity </a:t>
            </a:r>
            <a:endParaRPr lang="en-US" b="1" dirty="0">
              <a:latin typeface="Aharoni" panose="02010803020104030203" pitchFamily="2" charset="-79"/>
              <a:cs typeface="Aharoni" panose="02010803020104030203" pitchFamily="2" charset="-79"/>
            </a:endParaRPr>
          </a:p>
        </p:txBody>
      </p:sp>
      <p:sp>
        <p:nvSpPr>
          <p:cNvPr id="3" name="Content Placeholder 2"/>
          <p:cNvSpPr>
            <a:spLocks noGrp="1"/>
          </p:cNvSpPr>
          <p:nvPr>
            <p:ph idx="1"/>
          </p:nvPr>
        </p:nvSpPr>
        <p:spPr>
          <a:xfrm>
            <a:off x="310242" y="709751"/>
            <a:ext cx="11767457" cy="4351338"/>
          </a:xfrm>
        </p:spPr>
        <p:txBody>
          <a:bodyPr>
            <a:noAutofit/>
          </a:bodyPr>
          <a:lstStyle/>
          <a:p>
            <a:pPr lvl="0" algn="just">
              <a:lnSpc>
                <a:spcPct val="150000"/>
              </a:lnSpc>
            </a:pPr>
            <a:r>
              <a:rPr lang="en-US" dirty="0"/>
              <a:t>The size of an atom decreases from left to right across the periodic table. For </a:t>
            </a:r>
            <a:r>
              <a:rPr lang="en-US" i="1" dirty="0" err="1"/>
              <a:t>eg</a:t>
            </a:r>
            <a:r>
              <a:rPr lang="en-US" i="1" dirty="0"/>
              <a:t> </a:t>
            </a:r>
            <a:r>
              <a:rPr lang="en-US" dirty="0"/>
              <a:t>as we move from Li {Z =3 } to F (Z=S), electrons are added to the same valence shell, as a consequence atom will contract in size.</a:t>
            </a:r>
          </a:p>
          <a:p>
            <a:pPr lvl="0" algn="just">
              <a:lnSpc>
                <a:spcPct val="150000"/>
              </a:lnSpc>
            </a:pPr>
            <a:r>
              <a:rPr lang="en-US" dirty="0"/>
              <a:t>The size of  atom  increases  from top  to  bottom  in  a  group this  is  due  to  addition  of new</a:t>
            </a:r>
          </a:p>
        </p:txBody>
      </p:sp>
      <p:graphicFrame>
        <p:nvGraphicFramePr>
          <p:cNvPr id="4" name="Table 3"/>
          <p:cNvGraphicFramePr>
            <a:graphicFrameLocks noGrp="1"/>
          </p:cNvGraphicFramePr>
          <p:nvPr>
            <p:extLst>
              <p:ext uri="{D42A27DB-BD31-4B8C-83A1-F6EECF244321}">
                <p14:modId xmlns:p14="http://schemas.microsoft.com/office/powerpoint/2010/main" val="627201587"/>
              </p:ext>
            </p:extLst>
          </p:nvPr>
        </p:nvGraphicFramePr>
        <p:xfrm>
          <a:off x="310242" y="4058434"/>
          <a:ext cx="11658602" cy="2799566"/>
        </p:xfrm>
        <a:graphic>
          <a:graphicData uri="http://schemas.openxmlformats.org/drawingml/2006/table">
            <a:tbl>
              <a:tblPr firstRow="1" firstCol="1" bandRow="1">
                <a:tableStyleId>{5C22544A-7EE6-4342-B048-85BDC9FD1C3A}</a:tableStyleId>
              </a:tblPr>
              <a:tblGrid>
                <a:gridCol w="3778637">
                  <a:extLst>
                    <a:ext uri="{9D8B030D-6E8A-4147-A177-3AD203B41FA5}">
                      <a16:colId xmlns:a16="http://schemas.microsoft.com/office/drawing/2014/main" val="20000"/>
                    </a:ext>
                  </a:extLst>
                </a:gridCol>
                <a:gridCol w="799706">
                  <a:extLst>
                    <a:ext uri="{9D8B030D-6E8A-4147-A177-3AD203B41FA5}">
                      <a16:colId xmlns:a16="http://schemas.microsoft.com/office/drawing/2014/main" val="20001"/>
                    </a:ext>
                  </a:extLst>
                </a:gridCol>
                <a:gridCol w="824747">
                  <a:extLst>
                    <a:ext uri="{9D8B030D-6E8A-4147-A177-3AD203B41FA5}">
                      <a16:colId xmlns:a16="http://schemas.microsoft.com/office/drawing/2014/main" val="20002"/>
                    </a:ext>
                  </a:extLst>
                </a:gridCol>
                <a:gridCol w="1404952">
                  <a:extLst>
                    <a:ext uri="{9D8B030D-6E8A-4147-A177-3AD203B41FA5}">
                      <a16:colId xmlns:a16="http://schemas.microsoft.com/office/drawing/2014/main" val="20003"/>
                    </a:ext>
                  </a:extLst>
                </a:gridCol>
                <a:gridCol w="1101793">
                  <a:extLst>
                    <a:ext uri="{9D8B030D-6E8A-4147-A177-3AD203B41FA5}">
                      <a16:colId xmlns:a16="http://schemas.microsoft.com/office/drawing/2014/main" val="20004"/>
                    </a:ext>
                  </a:extLst>
                </a:gridCol>
                <a:gridCol w="1270068">
                  <a:extLst>
                    <a:ext uri="{9D8B030D-6E8A-4147-A177-3AD203B41FA5}">
                      <a16:colId xmlns:a16="http://schemas.microsoft.com/office/drawing/2014/main" val="20005"/>
                    </a:ext>
                  </a:extLst>
                </a:gridCol>
                <a:gridCol w="1173911">
                  <a:extLst>
                    <a:ext uri="{9D8B030D-6E8A-4147-A177-3AD203B41FA5}">
                      <a16:colId xmlns:a16="http://schemas.microsoft.com/office/drawing/2014/main" val="20006"/>
                    </a:ext>
                  </a:extLst>
                </a:gridCol>
                <a:gridCol w="1304788">
                  <a:extLst>
                    <a:ext uri="{9D8B030D-6E8A-4147-A177-3AD203B41FA5}">
                      <a16:colId xmlns:a16="http://schemas.microsoft.com/office/drawing/2014/main" val="20007"/>
                    </a:ext>
                  </a:extLst>
                </a:gridCol>
              </a:tblGrid>
              <a:tr h="530811">
                <a:tc>
                  <a:txBody>
                    <a:bodyPr/>
                    <a:lstStyle/>
                    <a:p>
                      <a:pPr marL="0" marR="0" algn="ctr">
                        <a:lnSpc>
                          <a:spcPct val="107000"/>
                        </a:lnSpc>
                        <a:spcBef>
                          <a:spcPts val="0"/>
                        </a:spcBef>
                        <a:spcAft>
                          <a:spcPts val="0"/>
                        </a:spcAft>
                      </a:pPr>
                      <a:r>
                        <a:rPr lang="en-IN" sz="1800" dirty="0">
                          <a:effectLst/>
                        </a:rPr>
                        <a:t>Elements</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Li</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Be</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C</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N</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O</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F</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0"/>
                  </a:ext>
                </a:extLst>
              </a:tr>
              <a:tr h="394186">
                <a:tc>
                  <a:txBody>
                    <a:bodyPr/>
                    <a:lstStyle/>
                    <a:p>
                      <a:pPr marL="0" marR="0" algn="ctr">
                        <a:lnSpc>
                          <a:spcPct val="107000"/>
                        </a:lnSpc>
                        <a:spcBef>
                          <a:spcPts val="0"/>
                        </a:spcBef>
                        <a:spcAft>
                          <a:spcPts val="0"/>
                        </a:spcAft>
                      </a:pPr>
                      <a:r>
                        <a:rPr lang="en-IN" sz="1800" dirty="0">
                          <a:effectLst/>
                        </a:rPr>
                        <a:t>Atomic radius (pm)</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152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111</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88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77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70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66</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64</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1"/>
                  </a:ext>
                </a:extLst>
              </a:tr>
              <a:tr h="394186">
                <a:tc>
                  <a:txBody>
                    <a:bodyPr/>
                    <a:lstStyle/>
                    <a:p>
                      <a:pPr marL="0" marR="0" algn="ctr">
                        <a:lnSpc>
                          <a:spcPct val="107000"/>
                        </a:lnSpc>
                        <a:spcBef>
                          <a:spcPts val="0"/>
                        </a:spcBef>
                        <a:spcAft>
                          <a:spcPts val="0"/>
                        </a:spcAft>
                      </a:pPr>
                      <a:r>
                        <a:rPr lang="en-IN" sz="1800">
                          <a:effectLst/>
                        </a:rPr>
                        <a:t>Nuclear charge (Z)</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(+3)</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(+4)</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(+5)</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(+6)</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(+9)</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2"/>
                  </a:ext>
                </a:extLst>
              </a:tr>
              <a:tr h="394186">
                <a:tc>
                  <a:txBody>
                    <a:bodyPr/>
                    <a:lstStyle/>
                    <a:p>
                      <a:pPr marL="0" marR="0" algn="ctr">
                        <a:lnSpc>
                          <a:spcPct val="107000"/>
                        </a:lnSpc>
                        <a:spcBef>
                          <a:spcPts val="0"/>
                        </a:spcBef>
                        <a:spcAft>
                          <a:spcPts val="0"/>
                        </a:spcAft>
                      </a:pPr>
                      <a:r>
                        <a:rPr lang="en-IN" sz="1800" dirty="0">
                          <a:effectLst/>
                        </a:rPr>
                        <a:t>Effective Nuclear charge (Z*)</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1.3</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1.95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2.60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3.25</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3.90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4.55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5.20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3"/>
                  </a:ext>
                </a:extLst>
              </a:tr>
              <a:tr h="1086197">
                <a:tc>
                  <a:txBody>
                    <a:bodyPr/>
                    <a:lstStyle/>
                    <a:p>
                      <a:pPr marL="0" marR="0" algn="ctr">
                        <a:lnSpc>
                          <a:spcPct val="107000"/>
                        </a:lnSpc>
                        <a:spcBef>
                          <a:spcPts val="0"/>
                        </a:spcBef>
                        <a:spcAft>
                          <a:spcPts val="0"/>
                        </a:spcAft>
                      </a:pPr>
                      <a:r>
                        <a:rPr lang="en-IN" sz="1800" dirty="0">
                          <a:effectLst/>
                        </a:rPr>
                        <a:t>Electronic configuration</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1s</a:t>
                      </a:r>
                      <a:r>
                        <a:rPr lang="en-IN" sz="1800" baseline="30000">
                          <a:effectLst/>
                        </a:rPr>
                        <a:t>2</a:t>
                      </a:r>
                      <a:r>
                        <a:rPr lang="en-IN" sz="1800">
                          <a:effectLst/>
                        </a:rPr>
                        <a:t>2s</a:t>
                      </a:r>
                      <a:r>
                        <a:rPr lang="en-IN" sz="1800" baseline="30000">
                          <a:effectLst/>
                        </a:rPr>
                        <a:t>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1s</a:t>
                      </a:r>
                      <a:r>
                        <a:rPr lang="en-IN" sz="1800" baseline="30000">
                          <a:effectLst/>
                        </a:rPr>
                        <a:t>2</a:t>
                      </a:r>
                      <a:r>
                        <a:rPr lang="en-IN" sz="1800">
                          <a:effectLst/>
                        </a:rPr>
                        <a:t>2s</a:t>
                      </a:r>
                      <a:r>
                        <a:rPr lang="en-IN" sz="1800" baseline="30000">
                          <a:effectLst/>
                        </a:rPr>
                        <a:t>2</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1s</a:t>
                      </a:r>
                      <a:r>
                        <a:rPr lang="en-IN" sz="1800" baseline="30000">
                          <a:effectLst/>
                        </a:rPr>
                        <a:t>2</a:t>
                      </a:r>
                      <a:r>
                        <a:rPr lang="en-IN" sz="1800">
                          <a:effectLst/>
                        </a:rPr>
                        <a:t>2s</a:t>
                      </a:r>
                      <a:r>
                        <a:rPr lang="en-IN" sz="1800" baseline="30000">
                          <a:effectLst/>
                        </a:rPr>
                        <a:t>2</a:t>
                      </a:r>
                      <a:r>
                        <a:rPr lang="en-IN" sz="1800">
                          <a:effectLst/>
                        </a:rPr>
                        <a:t>2p</a:t>
                      </a:r>
                      <a:r>
                        <a:rPr lang="en-IN" sz="1800" baseline="30000">
                          <a:effectLst/>
                        </a:rPr>
                        <a:t>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1s</a:t>
                      </a:r>
                      <a:r>
                        <a:rPr lang="en-IN" sz="1800" baseline="30000">
                          <a:effectLst/>
                        </a:rPr>
                        <a:t>2</a:t>
                      </a:r>
                      <a:r>
                        <a:rPr lang="en-IN" sz="1800">
                          <a:effectLst/>
                        </a:rPr>
                        <a:t>2s</a:t>
                      </a:r>
                      <a:r>
                        <a:rPr lang="en-IN" sz="1800" baseline="30000">
                          <a:effectLst/>
                        </a:rPr>
                        <a:t>2</a:t>
                      </a:r>
                      <a:r>
                        <a:rPr lang="en-IN" sz="1800">
                          <a:effectLst/>
                        </a:rPr>
                        <a:t>2p</a:t>
                      </a:r>
                      <a:r>
                        <a:rPr lang="en-IN" sz="1800" baseline="30000">
                          <a:effectLst/>
                        </a:rPr>
                        <a:t>2</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1s</a:t>
                      </a:r>
                      <a:r>
                        <a:rPr lang="en-IN" sz="1800" baseline="30000">
                          <a:effectLst/>
                        </a:rPr>
                        <a:t>2</a:t>
                      </a:r>
                      <a:r>
                        <a:rPr lang="en-IN" sz="1800">
                          <a:effectLst/>
                        </a:rPr>
                        <a:t>2s</a:t>
                      </a:r>
                      <a:r>
                        <a:rPr lang="en-IN" sz="1800" baseline="30000">
                          <a:effectLst/>
                        </a:rPr>
                        <a:t>2</a:t>
                      </a:r>
                      <a:r>
                        <a:rPr lang="en-IN" sz="1800">
                          <a:effectLst/>
                        </a:rPr>
                        <a:t>2p</a:t>
                      </a:r>
                      <a:r>
                        <a:rPr lang="en-IN" sz="1800" baseline="30000">
                          <a:effectLst/>
                        </a:rPr>
                        <a:t>3</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1s</a:t>
                      </a:r>
                      <a:r>
                        <a:rPr lang="en-IN" sz="1800" baseline="30000" dirty="0">
                          <a:effectLst/>
                        </a:rPr>
                        <a:t>2</a:t>
                      </a:r>
                      <a:r>
                        <a:rPr lang="en-IN" sz="1800" dirty="0">
                          <a:effectLst/>
                        </a:rPr>
                        <a:t>2s</a:t>
                      </a:r>
                      <a:r>
                        <a:rPr lang="en-IN" sz="1800" baseline="30000" dirty="0">
                          <a:effectLst/>
                        </a:rPr>
                        <a:t>2</a:t>
                      </a:r>
                      <a:r>
                        <a:rPr lang="en-IN" sz="1800" dirty="0">
                          <a:effectLst/>
                        </a:rPr>
                        <a:t>2p</a:t>
                      </a:r>
                      <a:r>
                        <a:rPr lang="en-IN" sz="1800" baseline="30000" dirty="0">
                          <a:effectLst/>
                        </a:rPr>
                        <a:t>4</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1s</a:t>
                      </a:r>
                      <a:r>
                        <a:rPr lang="en-IN" sz="1800" baseline="30000" dirty="0">
                          <a:effectLst/>
                        </a:rPr>
                        <a:t>2</a:t>
                      </a:r>
                      <a:r>
                        <a:rPr lang="en-IN" sz="1800" dirty="0">
                          <a:effectLst/>
                        </a:rPr>
                        <a:t>2s</a:t>
                      </a:r>
                      <a:r>
                        <a:rPr lang="en-IN" sz="1800" baseline="30000" dirty="0">
                          <a:effectLst/>
                        </a:rPr>
                        <a:t>2</a:t>
                      </a:r>
                      <a:r>
                        <a:rPr lang="en-IN" sz="1800" dirty="0">
                          <a:effectLst/>
                        </a:rPr>
                        <a:t>2p</a:t>
                      </a:r>
                      <a:r>
                        <a:rPr lang="en-IN" sz="1800" baseline="30000" dirty="0">
                          <a:effectLst/>
                        </a:rPr>
                        <a:t>5</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4"/>
                  </a:ext>
                </a:extLst>
              </a:tr>
            </a:tbl>
          </a:graphicData>
        </a:graphic>
      </p:graphicFrame>
      <p:sp>
        <p:nvSpPr>
          <p:cNvPr id="5" name="Footer Placeholder 4">
            <a:extLst>
              <a:ext uri="{FF2B5EF4-FFF2-40B4-BE49-F238E27FC236}">
                <a16:creationId xmlns:a16="http://schemas.microsoft.com/office/drawing/2014/main" id="{072470D8-259B-05A5-842F-304228F0CF65}"/>
              </a:ext>
            </a:extLst>
          </p:cNvPr>
          <p:cNvSpPr>
            <a:spLocks noGrp="1"/>
          </p:cNvSpPr>
          <p:nvPr>
            <p:ph type="ftr" sz="quarter" idx="11"/>
          </p:nvPr>
        </p:nvSpPr>
        <p:spPr/>
        <p:txBody>
          <a:bodyPr/>
          <a:lstStyle/>
          <a:p>
            <a:r>
              <a:rPr lang="en-US"/>
              <a:t>Periodic Properties of Elements</a:t>
            </a:r>
          </a:p>
        </p:txBody>
      </p:sp>
      <p:sp>
        <p:nvSpPr>
          <p:cNvPr id="6" name="Slide Number Placeholder 5">
            <a:extLst>
              <a:ext uri="{FF2B5EF4-FFF2-40B4-BE49-F238E27FC236}">
                <a16:creationId xmlns:a16="http://schemas.microsoft.com/office/drawing/2014/main" id="{EF5D5172-E975-B494-2C3A-B369082B64B9}"/>
              </a:ext>
            </a:extLst>
          </p:cNvPr>
          <p:cNvSpPr>
            <a:spLocks noGrp="1"/>
          </p:cNvSpPr>
          <p:nvPr>
            <p:ph type="sldNum" sz="quarter" idx="12"/>
          </p:nvPr>
        </p:nvSpPr>
        <p:spPr/>
        <p:txBody>
          <a:bodyPr/>
          <a:lstStyle/>
          <a:p>
            <a:fld id="{18FFC5A6-CECA-42F5-ACA8-5C3F58FF9B21}" type="slidenum">
              <a:rPr lang="en-US" smtClean="0"/>
              <a:t>25</a:t>
            </a:fld>
            <a:endParaRPr lang="en-US"/>
          </a:p>
        </p:txBody>
      </p:sp>
      <p:sp>
        <p:nvSpPr>
          <p:cNvPr id="7" name="Date Placeholder 6">
            <a:extLst>
              <a:ext uri="{FF2B5EF4-FFF2-40B4-BE49-F238E27FC236}">
                <a16:creationId xmlns:a16="http://schemas.microsoft.com/office/drawing/2014/main" id="{11CF3314-7458-9324-4EEB-2AD19388B560}"/>
              </a:ext>
            </a:extLst>
          </p:cNvPr>
          <p:cNvSpPr>
            <a:spLocks noGrp="1"/>
          </p:cNvSpPr>
          <p:nvPr>
            <p:ph type="dt" sz="half" idx="10"/>
          </p:nvPr>
        </p:nvSpPr>
        <p:spPr/>
        <p:txBody>
          <a:bodyPr/>
          <a:lstStyle/>
          <a:p>
            <a:fld id="{9F3B7994-4BBE-4E51-B756-911E4750C5A9}" type="datetime1">
              <a:rPr lang="en-US" smtClean="0"/>
              <a:t>8/3/2023</a:t>
            </a:fld>
            <a:endParaRPr lang="en-US"/>
          </a:p>
        </p:txBody>
      </p:sp>
    </p:spTree>
    <p:extLst>
      <p:ext uri="{BB962C8B-B14F-4D97-AF65-F5344CB8AC3E}">
        <p14:creationId xmlns:p14="http://schemas.microsoft.com/office/powerpoint/2010/main" val="1606441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6172" y="0"/>
            <a:ext cx="10515600" cy="625475"/>
          </a:xfrm>
        </p:spPr>
        <p:txBody>
          <a:bodyPr>
            <a:normAutofit fontScale="90000"/>
          </a:bodyPr>
          <a:lstStyle/>
          <a:p>
            <a:pPr algn="ctr"/>
            <a:r>
              <a:rPr lang="en-IN" b="1" dirty="0">
                <a:latin typeface="Aharoni" panose="02010803020104030203" pitchFamily="2" charset="-79"/>
                <a:cs typeface="Aharoni" panose="02010803020104030203" pitchFamily="2" charset="-79"/>
              </a:rPr>
              <a:t>Atomic Radii - Concept and periodicity </a:t>
            </a:r>
            <a:endParaRPr lang="en-US" b="1" dirty="0">
              <a:latin typeface="Aharoni" panose="02010803020104030203" pitchFamily="2" charset="-79"/>
              <a:cs typeface="Aharoni" panose="02010803020104030203" pitchFamily="2" charset="-79"/>
            </a:endParaRPr>
          </a:p>
        </p:txBody>
      </p:sp>
      <p:sp>
        <p:nvSpPr>
          <p:cNvPr id="3" name="Content Placeholder 2"/>
          <p:cNvSpPr>
            <a:spLocks noGrp="1"/>
          </p:cNvSpPr>
          <p:nvPr>
            <p:ph idx="1"/>
          </p:nvPr>
        </p:nvSpPr>
        <p:spPr>
          <a:xfrm>
            <a:off x="201387" y="625475"/>
            <a:ext cx="11767457" cy="4351338"/>
          </a:xfrm>
        </p:spPr>
        <p:txBody>
          <a:bodyPr>
            <a:normAutofit/>
          </a:bodyPr>
          <a:lstStyle/>
          <a:p>
            <a:pPr marL="0" indent="0" algn="just">
              <a:lnSpc>
                <a:spcPct val="150000"/>
              </a:lnSpc>
              <a:buNone/>
            </a:pPr>
            <a:r>
              <a:rPr lang="en-IN" sz="2400" b="1" dirty="0"/>
              <a:t>Periodicity in atomic radii: </a:t>
            </a:r>
            <a:endParaRPr lang="en-US" sz="2400" b="1" dirty="0"/>
          </a:p>
          <a:p>
            <a:pPr algn="just">
              <a:lnSpc>
                <a:spcPct val="150000"/>
              </a:lnSpc>
            </a:pPr>
            <a:r>
              <a:rPr lang="en-IN" sz="2400" dirty="0"/>
              <a:t>As we move from left to right say Li (Z =3) to F (Z=9), electrons are added to the same valence shell. Also, the screening constant is same for all electrons in the same valence shell. So the value of Effective Nuclear charge will increase from left to right (as Z value increases but sigma is constant) i.e the positive attraction experienced by the nucleus will increase from left to right in the period and as a consequence atom will contract in size. </a:t>
            </a:r>
            <a:endParaRPr lang="en-US" sz="2400" dirty="0"/>
          </a:p>
        </p:txBody>
      </p:sp>
      <p:graphicFrame>
        <p:nvGraphicFramePr>
          <p:cNvPr id="5" name="Table 4"/>
          <p:cNvGraphicFramePr>
            <a:graphicFrameLocks noGrp="1"/>
          </p:cNvGraphicFramePr>
          <p:nvPr>
            <p:extLst>
              <p:ext uri="{D42A27DB-BD31-4B8C-83A1-F6EECF244321}">
                <p14:modId xmlns:p14="http://schemas.microsoft.com/office/powerpoint/2010/main" val="796066682"/>
              </p:ext>
            </p:extLst>
          </p:nvPr>
        </p:nvGraphicFramePr>
        <p:xfrm>
          <a:off x="305918" y="4058434"/>
          <a:ext cx="11658602" cy="2799566"/>
        </p:xfrm>
        <a:graphic>
          <a:graphicData uri="http://schemas.openxmlformats.org/drawingml/2006/table">
            <a:tbl>
              <a:tblPr firstRow="1" firstCol="1" bandRow="1">
                <a:tableStyleId>{5C22544A-7EE6-4342-B048-85BDC9FD1C3A}</a:tableStyleId>
              </a:tblPr>
              <a:tblGrid>
                <a:gridCol w="3778637">
                  <a:extLst>
                    <a:ext uri="{9D8B030D-6E8A-4147-A177-3AD203B41FA5}">
                      <a16:colId xmlns:a16="http://schemas.microsoft.com/office/drawing/2014/main" val="20000"/>
                    </a:ext>
                  </a:extLst>
                </a:gridCol>
                <a:gridCol w="799706">
                  <a:extLst>
                    <a:ext uri="{9D8B030D-6E8A-4147-A177-3AD203B41FA5}">
                      <a16:colId xmlns:a16="http://schemas.microsoft.com/office/drawing/2014/main" val="20001"/>
                    </a:ext>
                  </a:extLst>
                </a:gridCol>
                <a:gridCol w="824747">
                  <a:extLst>
                    <a:ext uri="{9D8B030D-6E8A-4147-A177-3AD203B41FA5}">
                      <a16:colId xmlns:a16="http://schemas.microsoft.com/office/drawing/2014/main" val="20002"/>
                    </a:ext>
                  </a:extLst>
                </a:gridCol>
                <a:gridCol w="1404952">
                  <a:extLst>
                    <a:ext uri="{9D8B030D-6E8A-4147-A177-3AD203B41FA5}">
                      <a16:colId xmlns:a16="http://schemas.microsoft.com/office/drawing/2014/main" val="20003"/>
                    </a:ext>
                  </a:extLst>
                </a:gridCol>
                <a:gridCol w="1101793">
                  <a:extLst>
                    <a:ext uri="{9D8B030D-6E8A-4147-A177-3AD203B41FA5}">
                      <a16:colId xmlns:a16="http://schemas.microsoft.com/office/drawing/2014/main" val="20004"/>
                    </a:ext>
                  </a:extLst>
                </a:gridCol>
                <a:gridCol w="1270068">
                  <a:extLst>
                    <a:ext uri="{9D8B030D-6E8A-4147-A177-3AD203B41FA5}">
                      <a16:colId xmlns:a16="http://schemas.microsoft.com/office/drawing/2014/main" val="20005"/>
                    </a:ext>
                  </a:extLst>
                </a:gridCol>
                <a:gridCol w="1173911">
                  <a:extLst>
                    <a:ext uri="{9D8B030D-6E8A-4147-A177-3AD203B41FA5}">
                      <a16:colId xmlns:a16="http://schemas.microsoft.com/office/drawing/2014/main" val="20006"/>
                    </a:ext>
                  </a:extLst>
                </a:gridCol>
                <a:gridCol w="1304788">
                  <a:extLst>
                    <a:ext uri="{9D8B030D-6E8A-4147-A177-3AD203B41FA5}">
                      <a16:colId xmlns:a16="http://schemas.microsoft.com/office/drawing/2014/main" val="20007"/>
                    </a:ext>
                  </a:extLst>
                </a:gridCol>
              </a:tblGrid>
              <a:tr h="530811">
                <a:tc>
                  <a:txBody>
                    <a:bodyPr/>
                    <a:lstStyle/>
                    <a:p>
                      <a:pPr marL="0" marR="0" algn="ctr">
                        <a:lnSpc>
                          <a:spcPct val="107000"/>
                        </a:lnSpc>
                        <a:spcBef>
                          <a:spcPts val="0"/>
                        </a:spcBef>
                        <a:spcAft>
                          <a:spcPts val="0"/>
                        </a:spcAft>
                      </a:pPr>
                      <a:r>
                        <a:rPr lang="en-IN" sz="1800" dirty="0">
                          <a:effectLst/>
                        </a:rPr>
                        <a:t>Elements</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Li</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Be</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C</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N</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O</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F</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0"/>
                  </a:ext>
                </a:extLst>
              </a:tr>
              <a:tr h="394186">
                <a:tc>
                  <a:txBody>
                    <a:bodyPr/>
                    <a:lstStyle/>
                    <a:p>
                      <a:pPr marL="0" marR="0" algn="ctr">
                        <a:lnSpc>
                          <a:spcPct val="107000"/>
                        </a:lnSpc>
                        <a:spcBef>
                          <a:spcPts val="0"/>
                        </a:spcBef>
                        <a:spcAft>
                          <a:spcPts val="0"/>
                        </a:spcAft>
                      </a:pPr>
                      <a:r>
                        <a:rPr lang="en-IN" sz="1800" dirty="0">
                          <a:effectLst/>
                        </a:rPr>
                        <a:t>Atomic radius (pm)</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152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111</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88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77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70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66</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64</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1"/>
                  </a:ext>
                </a:extLst>
              </a:tr>
              <a:tr h="394186">
                <a:tc>
                  <a:txBody>
                    <a:bodyPr/>
                    <a:lstStyle/>
                    <a:p>
                      <a:pPr marL="0" marR="0" algn="ctr">
                        <a:lnSpc>
                          <a:spcPct val="107000"/>
                        </a:lnSpc>
                        <a:spcBef>
                          <a:spcPts val="0"/>
                        </a:spcBef>
                        <a:spcAft>
                          <a:spcPts val="0"/>
                        </a:spcAft>
                      </a:pPr>
                      <a:r>
                        <a:rPr lang="en-IN" sz="1800">
                          <a:effectLst/>
                        </a:rPr>
                        <a:t>Nuclear charge (Z)</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(+3)</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(+4)</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(+5)</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(+6)</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(+9)</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2"/>
                  </a:ext>
                </a:extLst>
              </a:tr>
              <a:tr h="394186">
                <a:tc>
                  <a:txBody>
                    <a:bodyPr/>
                    <a:lstStyle/>
                    <a:p>
                      <a:pPr marL="0" marR="0" algn="ctr">
                        <a:lnSpc>
                          <a:spcPct val="107000"/>
                        </a:lnSpc>
                        <a:spcBef>
                          <a:spcPts val="0"/>
                        </a:spcBef>
                        <a:spcAft>
                          <a:spcPts val="0"/>
                        </a:spcAft>
                      </a:pPr>
                      <a:r>
                        <a:rPr lang="en-IN" sz="1800" dirty="0">
                          <a:effectLst/>
                        </a:rPr>
                        <a:t>Effective Nuclear charge (Z*)</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1.3</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1.95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2.60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3.25</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3.90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4.55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5.20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3"/>
                  </a:ext>
                </a:extLst>
              </a:tr>
              <a:tr h="1086197">
                <a:tc>
                  <a:txBody>
                    <a:bodyPr/>
                    <a:lstStyle/>
                    <a:p>
                      <a:pPr marL="0" marR="0" algn="ctr">
                        <a:lnSpc>
                          <a:spcPct val="107000"/>
                        </a:lnSpc>
                        <a:spcBef>
                          <a:spcPts val="0"/>
                        </a:spcBef>
                        <a:spcAft>
                          <a:spcPts val="0"/>
                        </a:spcAft>
                      </a:pPr>
                      <a:r>
                        <a:rPr lang="en-IN" sz="1800" dirty="0">
                          <a:effectLst/>
                        </a:rPr>
                        <a:t>Electronic configuration</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1s</a:t>
                      </a:r>
                      <a:r>
                        <a:rPr lang="en-IN" sz="1800" baseline="30000">
                          <a:effectLst/>
                        </a:rPr>
                        <a:t>2</a:t>
                      </a:r>
                      <a:r>
                        <a:rPr lang="en-IN" sz="1800">
                          <a:effectLst/>
                        </a:rPr>
                        <a:t>2s</a:t>
                      </a:r>
                      <a:r>
                        <a:rPr lang="en-IN" sz="1800" baseline="30000">
                          <a:effectLst/>
                        </a:rPr>
                        <a:t>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1s</a:t>
                      </a:r>
                      <a:r>
                        <a:rPr lang="en-IN" sz="1800" baseline="30000">
                          <a:effectLst/>
                        </a:rPr>
                        <a:t>2</a:t>
                      </a:r>
                      <a:r>
                        <a:rPr lang="en-IN" sz="1800">
                          <a:effectLst/>
                        </a:rPr>
                        <a:t>2s</a:t>
                      </a:r>
                      <a:r>
                        <a:rPr lang="en-IN" sz="1800" baseline="30000">
                          <a:effectLst/>
                        </a:rPr>
                        <a:t>2</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1s</a:t>
                      </a:r>
                      <a:r>
                        <a:rPr lang="en-IN" sz="1800" baseline="30000">
                          <a:effectLst/>
                        </a:rPr>
                        <a:t>2</a:t>
                      </a:r>
                      <a:r>
                        <a:rPr lang="en-IN" sz="1800">
                          <a:effectLst/>
                        </a:rPr>
                        <a:t>2s</a:t>
                      </a:r>
                      <a:r>
                        <a:rPr lang="en-IN" sz="1800" baseline="30000">
                          <a:effectLst/>
                        </a:rPr>
                        <a:t>2</a:t>
                      </a:r>
                      <a:r>
                        <a:rPr lang="en-IN" sz="1800">
                          <a:effectLst/>
                        </a:rPr>
                        <a:t>2p</a:t>
                      </a:r>
                      <a:r>
                        <a:rPr lang="en-IN" sz="1800" baseline="30000">
                          <a:effectLst/>
                        </a:rPr>
                        <a:t>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1s</a:t>
                      </a:r>
                      <a:r>
                        <a:rPr lang="en-IN" sz="1800" baseline="30000">
                          <a:effectLst/>
                        </a:rPr>
                        <a:t>2</a:t>
                      </a:r>
                      <a:r>
                        <a:rPr lang="en-IN" sz="1800">
                          <a:effectLst/>
                        </a:rPr>
                        <a:t>2s</a:t>
                      </a:r>
                      <a:r>
                        <a:rPr lang="en-IN" sz="1800" baseline="30000">
                          <a:effectLst/>
                        </a:rPr>
                        <a:t>2</a:t>
                      </a:r>
                      <a:r>
                        <a:rPr lang="en-IN" sz="1800">
                          <a:effectLst/>
                        </a:rPr>
                        <a:t>2p</a:t>
                      </a:r>
                      <a:r>
                        <a:rPr lang="en-IN" sz="1800" baseline="30000">
                          <a:effectLst/>
                        </a:rPr>
                        <a:t>2</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1s</a:t>
                      </a:r>
                      <a:r>
                        <a:rPr lang="en-IN" sz="1800" baseline="30000">
                          <a:effectLst/>
                        </a:rPr>
                        <a:t>2</a:t>
                      </a:r>
                      <a:r>
                        <a:rPr lang="en-IN" sz="1800">
                          <a:effectLst/>
                        </a:rPr>
                        <a:t>2s</a:t>
                      </a:r>
                      <a:r>
                        <a:rPr lang="en-IN" sz="1800" baseline="30000">
                          <a:effectLst/>
                        </a:rPr>
                        <a:t>2</a:t>
                      </a:r>
                      <a:r>
                        <a:rPr lang="en-IN" sz="1800">
                          <a:effectLst/>
                        </a:rPr>
                        <a:t>2p</a:t>
                      </a:r>
                      <a:r>
                        <a:rPr lang="en-IN" sz="1800" baseline="30000">
                          <a:effectLst/>
                        </a:rPr>
                        <a:t>3</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1s</a:t>
                      </a:r>
                      <a:r>
                        <a:rPr lang="en-IN" sz="1800" baseline="30000" dirty="0">
                          <a:effectLst/>
                        </a:rPr>
                        <a:t>2</a:t>
                      </a:r>
                      <a:r>
                        <a:rPr lang="en-IN" sz="1800" dirty="0">
                          <a:effectLst/>
                        </a:rPr>
                        <a:t>2s</a:t>
                      </a:r>
                      <a:r>
                        <a:rPr lang="en-IN" sz="1800" baseline="30000" dirty="0">
                          <a:effectLst/>
                        </a:rPr>
                        <a:t>2</a:t>
                      </a:r>
                      <a:r>
                        <a:rPr lang="en-IN" sz="1800" dirty="0">
                          <a:effectLst/>
                        </a:rPr>
                        <a:t>2p</a:t>
                      </a:r>
                      <a:r>
                        <a:rPr lang="en-IN" sz="1800" baseline="30000" dirty="0">
                          <a:effectLst/>
                        </a:rPr>
                        <a:t>4</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1s</a:t>
                      </a:r>
                      <a:r>
                        <a:rPr lang="en-IN" sz="1800" baseline="30000" dirty="0">
                          <a:effectLst/>
                        </a:rPr>
                        <a:t>2</a:t>
                      </a:r>
                      <a:r>
                        <a:rPr lang="en-IN" sz="1800" dirty="0">
                          <a:effectLst/>
                        </a:rPr>
                        <a:t>2s</a:t>
                      </a:r>
                      <a:r>
                        <a:rPr lang="en-IN" sz="1800" baseline="30000" dirty="0">
                          <a:effectLst/>
                        </a:rPr>
                        <a:t>2</a:t>
                      </a:r>
                      <a:r>
                        <a:rPr lang="en-IN" sz="1800" dirty="0">
                          <a:effectLst/>
                        </a:rPr>
                        <a:t>2p</a:t>
                      </a:r>
                      <a:r>
                        <a:rPr lang="en-IN" sz="1800" baseline="30000" dirty="0">
                          <a:effectLst/>
                        </a:rPr>
                        <a:t>5</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4"/>
                  </a:ext>
                </a:extLst>
              </a:tr>
            </a:tbl>
          </a:graphicData>
        </a:graphic>
      </p:graphicFrame>
      <p:sp>
        <p:nvSpPr>
          <p:cNvPr id="4" name="Footer Placeholder 3">
            <a:extLst>
              <a:ext uri="{FF2B5EF4-FFF2-40B4-BE49-F238E27FC236}">
                <a16:creationId xmlns:a16="http://schemas.microsoft.com/office/drawing/2014/main" id="{D27F44BE-10F7-70C9-AD17-8530176D7036}"/>
              </a:ext>
            </a:extLst>
          </p:cNvPr>
          <p:cNvSpPr>
            <a:spLocks noGrp="1"/>
          </p:cNvSpPr>
          <p:nvPr>
            <p:ph type="ftr" sz="quarter" idx="11"/>
          </p:nvPr>
        </p:nvSpPr>
        <p:spPr/>
        <p:txBody>
          <a:bodyPr/>
          <a:lstStyle/>
          <a:p>
            <a:r>
              <a:rPr lang="en-US"/>
              <a:t>Periodic Properties of Elements</a:t>
            </a:r>
          </a:p>
        </p:txBody>
      </p:sp>
      <p:sp>
        <p:nvSpPr>
          <p:cNvPr id="6" name="Slide Number Placeholder 5">
            <a:extLst>
              <a:ext uri="{FF2B5EF4-FFF2-40B4-BE49-F238E27FC236}">
                <a16:creationId xmlns:a16="http://schemas.microsoft.com/office/drawing/2014/main" id="{5EE538E3-EBAE-19A5-ABEB-D745DF492AEE}"/>
              </a:ext>
            </a:extLst>
          </p:cNvPr>
          <p:cNvSpPr>
            <a:spLocks noGrp="1"/>
          </p:cNvSpPr>
          <p:nvPr>
            <p:ph type="sldNum" sz="quarter" idx="12"/>
          </p:nvPr>
        </p:nvSpPr>
        <p:spPr/>
        <p:txBody>
          <a:bodyPr/>
          <a:lstStyle/>
          <a:p>
            <a:fld id="{18FFC5A6-CECA-42F5-ACA8-5C3F58FF9B21}" type="slidenum">
              <a:rPr lang="en-US" smtClean="0"/>
              <a:t>26</a:t>
            </a:fld>
            <a:endParaRPr lang="en-US"/>
          </a:p>
        </p:txBody>
      </p:sp>
      <p:sp>
        <p:nvSpPr>
          <p:cNvPr id="7" name="Date Placeholder 6">
            <a:extLst>
              <a:ext uri="{FF2B5EF4-FFF2-40B4-BE49-F238E27FC236}">
                <a16:creationId xmlns:a16="http://schemas.microsoft.com/office/drawing/2014/main" id="{FD85EB1A-52C8-9B0F-CF1B-CCD2D860DBF7}"/>
              </a:ext>
            </a:extLst>
          </p:cNvPr>
          <p:cNvSpPr>
            <a:spLocks noGrp="1"/>
          </p:cNvSpPr>
          <p:nvPr>
            <p:ph type="dt" sz="half" idx="10"/>
          </p:nvPr>
        </p:nvSpPr>
        <p:spPr/>
        <p:txBody>
          <a:bodyPr/>
          <a:lstStyle/>
          <a:p>
            <a:fld id="{42217FD9-5BAF-4C58-9866-3E82D38A3515}" type="datetime1">
              <a:rPr lang="en-US" smtClean="0"/>
              <a:t>8/3/2023</a:t>
            </a:fld>
            <a:endParaRPr lang="en-US"/>
          </a:p>
        </p:txBody>
      </p:sp>
    </p:spTree>
    <p:extLst>
      <p:ext uri="{BB962C8B-B14F-4D97-AF65-F5344CB8AC3E}">
        <p14:creationId xmlns:p14="http://schemas.microsoft.com/office/powerpoint/2010/main" val="29591511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604514241"/>
              </p:ext>
            </p:extLst>
          </p:nvPr>
        </p:nvGraphicFramePr>
        <p:xfrm>
          <a:off x="363255" y="1316556"/>
          <a:ext cx="11605587" cy="2929205"/>
        </p:xfrm>
        <a:graphic>
          <a:graphicData uri="http://schemas.openxmlformats.org/drawingml/2006/table">
            <a:tbl>
              <a:tblPr firstRow="1" firstCol="1" bandRow="1">
                <a:tableStyleId>{5C22544A-7EE6-4342-B048-85BDC9FD1C3A}</a:tableStyleId>
              </a:tblPr>
              <a:tblGrid>
                <a:gridCol w="1520750">
                  <a:extLst>
                    <a:ext uri="{9D8B030D-6E8A-4147-A177-3AD203B41FA5}">
                      <a16:colId xmlns:a16="http://schemas.microsoft.com/office/drawing/2014/main" val="20000"/>
                    </a:ext>
                  </a:extLst>
                </a:gridCol>
                <a:gridCol w="1928823">
                  <a:extLst>
                    <a:ext uri="{9D8B030D-6E8A-4147-A177-3AD203B41FA5}">
                      <a16:colId xmlns:a16="http://schemas.microsoft.com/office/drawing/2014/main" val="20001"/>
                    </a:ext>
                  </a:extLst>
                </a:gridCol>
                <a:gridCol w="1927464">
                  <a:extLst>
                    <a:ext uri="{9D8B030D-6E8A-4147-A177-3AD203B41FA5}">
                      <a16:colId xmlns:a16="http://schemas.microsoft.com/office/drawing/2014/main" val="20002"/>
                    </a:ext>
                  </a:extLst>
                </a:gridCol>
                <a:gridCol w="1735670">
                  <a:extLst>
                    <a:ext uri="{9D8B030D-6E8A-4147-A177-3AD203B41FA5}">
                      <a16:colId xmlns:a16="http://schemas.microsoft.com/office/drawing/2014/main" val="20003"/>
                    </a:ext>
                  </a:extLst>
                </a:gridCol>
                <a:gridCol w="4492880">
                  <a:extLst>
                    <a:ext uri="{9D8B030D-6E8A-4147-A177-3AD203B41FA5}">
                      <a16:colId xmlns:a16="http://schemas.microsoft.com/office/drawing/2014/main" val="20004"/>
                    </a:ext>
                  </a:extLst>
                </a:gridCol>
              </a:tblGrid>
              <a:tr h="938294">
                <a:tc>
                  <a:txBody>
                    <a:bodyPr/>
                    <a:lstStyle/>
                    <a:p>
                      <a:pPr marL="0" marR="0" algn="ctr">
                        <a:lnSpc>
                          <a:spcPct val="107000"/>
                        </a:lnSpc>
                        <a:spcBef>
                          <a:spcPts val="0"/>
                        </a:spcBef>
                        <a:spcAft>
                          <a:spcPts val="0"/>
                        </a:spcAft>
                      </a:pPr>
                      <a:r>
                        <a:rPr lang="en-IN" sz="1800" dirty="0">
                          <a:effectLst/>
                        </a:rPr>
                        <a:t>Elements of group I</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Atomic radius (pm)</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Nuclear charge (Z)</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Effective Nuclear charge (Z*)</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Electronic configuration</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0"/>
                  </a:ext>
                </a:extLst>
              </a:tr>
              <a:tr h="329285">
                <a:tc>
                  <a:txBody>
                    <a:bodyPr/>
                    <a:lstStyle/>
                    <a:p>
                      <a:pPr marL="0" marR="0" algn="ctr">
                        <a:lnSpc>
                          <a:spcPct val="107000"/>
                        </a:lnSpc>
                        <a:spcBef>
                          <a:spcPts val="0"/>
                        </a:spcBef>
                        <a:spcAft>
                          <a:spcPts val="0"/>
                        </a:spcAft>
                      </a:pPr>
                      <a:r>
                        <a:rPr lang="en-IN" sz="1800">
                          <a:effectLst/>
                        </a:rPr>
                        <a:t>Li</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152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3</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1.3</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highlight>
                            <a:srgbClr val="FFFF00"/>
                          </a:highlight>
                        </a:rPr>
                        <a:t>1s</a:t>
                      </a:r>
                      <a:r>
                        <a:rPr lang="en-IN" sz="1800" baseline="30000">
                          <a:effectLst/>
                          <a:highlight>
                            <a:srgbClr val="FFFF00"/>
                          </a:highlight>
                        </a:rPr>
                        <a:t>2</a:t>
                      </a:r>
                      <a:r>
                        <a:rPr lang="en-IN" sz="1800">
                          <a:effectLst/>
                          <a:highlight>
                            <a:srgbClr val="FFFF00"/>
                          </a:highlight>
                        </a:rPr>
                        <a:t>2s</a:t>
                      </a:r>
                      <a:r>
                        <a:rPr lang="en-IN" sz="1800" baseline="30000">
                          <a:effectLst/>
                          <a:highlight>
                            <a:srgbClr val="FFFF00"/>
                          </a:highlight>
                        </a:rPr>
                        <a:t>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1"/>
                  </a:ext>
                </a:extLst>
              </a:tr>
              <a:tr h="329285">
                <a:tc>
                  <a:txBody>
                    <a:bodyPr/>
                    <a:lstStyle/>
                    <a:p>
                      <a:pPr marL="0" marR="0" algn="ctr">
                        <a:lnSpc>
                          <a:spcPct val="107000"/>
                        </a:lnSpc>
                        <a:spcBef>
                          <a:spcPts val="0"/>
                        </a:spcBef>
                        <a:spcAft>
                          <a:spcPts val="0"/>
                        </a:spcAft>
                      </a:pPr>
                      <a:r>
                        <a:rPr lang="en-IN" sz="1800">
                          <a:effectLst/>
                        </a:rPr>
                        <a:t>Na</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186</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11</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2.2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highlight>
                            <a:srgbClr val="FFFF00"/>
                          </a:highlight>
                        </a:rPr>
                        <a:t>1s</a:t>
                      </a:r>
                      <a:r>
                        <a:rPr lang="en-IN" sz="1800" baseline="30000">
                          <a:effectLst/>
                          <a:highlight>
                            <a:srgbClr val="FFFF00"/>
                          </a:highlight>
                        </a:rPr>
                        <a:t>2</a:t>
                      </a:r>
                      <a:r>
                        <a:rPr lang="en-IN" sz="1800">
                          <a:effectLst/>
                          <a:highlight>
                            <a:srgbClr val="FFFF00"/>
                          </a:highlight>
                        </a:rPr>
                        <a:t>2s</a:t>
                      </a:r>
                      <a:r>
                        <a:rPr lang="en-IN" sz="1800" baseline="30000">
                          <a:effectLst/>
                          <a:highlight>
                            <a:srgbClr val="FFFF00"/>
                          </a:highlight>
                        </a:rPr>
                        <a:t>2</a:t>
                      </a:r>
                      <a:r>
                        <a:rPr lang="en-IN" sz="1800">
                          <a:effectLst/>
                          <a:highlight>
                            <a:srgbClr val="FFFF00"/>
                          </a:highlight>
                        </a:rPr>
                        <a:t>2p</a:t>
                      </a:r>
                      <a:r>
                        <a:rPr lang="en-IN" sz="1800" baseline="30000">
                          <a:effectLst/>
                          <a:highlight>
                            <a:srgbClr val="FFFF00"/>
                          </a:highlight>
                        </a:rPr>
                        <a:t>6</a:t>
                      </a:r>
                      <a:r>
                        <a:rPr lang="en-IN" sz="1800">
                          <a:effectLst/>
                          <a:highlight>
                            <a:srgbClr val="FFFF00"/>
                          </a:highlight>
                        </a:rPr>
                        <a:t>3s</a:t>
                      </a:r>
                      <a:r>
                        <a:rPr lang="en-IN" sz="1800" baseline="30000">
                          <a:effectLst/>
                          <a:highlight>
                            <a:srgbClr val="FFFF00"/>
                          </a:highlight>
                        </a:rPr>
                        <a:t>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2"/>
                  </a:ext>
                </a:extLst>
              </a:tr>
              <a:tr h="329285">
                <a:tc>
                  <a:txBody>
                    <a:bodyPr/>
                    <a:lstStyle/>
                    <a:p>
                      <a:pPr marL="0" marR="0" algn="ctr">
                        <a:lnSpc>
                          <a:spcPct val="107000"/>
                        </a:lnSpc>
                        <a:spcBef>
                          <a:spcPts val="0"/>
                        </a:spcBef>
                        <a:spcAft>
                          <a:spcPts val="0"/>
                        </a:spcAft>
                      </a:pPr>
                      <a:r>
                        <a:rPr lang="en-IN" sz="1800">
                          <a:effectLst/>
                        </a:rPr>
                        <a:t>K</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231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19</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2.2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highlight>
                            <a:srgbClr val="FFFF00"/>
                          </a:highlight>
                        </a:rPr>
                        <a:t>1s</a:t>
                      </a:r>
                      <a:r>
                        <a:rPr lang="en-IN" sz="1800" baseline="30000">
                          <a:effectLst/>
                          <a:highlight>
                            <a:srgbClr val="FFFF00"/>
                          </a:highlight>
                        </a:rPr>
                        <a:t>2</a:t>
                      </a:r>
                      <a:r>
                        <a:rPr lang="en-IN" sz="1800">
                          <a:effectLst/>
                          <a:highlight>
                            <a:srgbClr val="FFFF00"/>
                          </a:highlight>
                        </a:rPr>
                        <a:t>2s</a:t>
                      </a:r>
                      <a:r>
                        <a:rPr lang="en-IN" sz="1800" baseline="30000">
                          <a:effectLst/>
                          <a:highlight>
                            <a:srgbClr val="FFFF00"/>
                          </a:highlight>
                        </a:rPr>
                        <a:t>2</a:t>
                      </a:r>
                      <a:r>
                        <a:rPr lang="en-IN" sz="1800">
                          <a:effectLst/>
                          <a:highlight>
                            <a:srgbClr val="FFFF00"/>
                          </a:highlight>
                        </a:rPr>
                        <a:t>2p</a:t>
                      </a:r>
                      <a:r>
                        <a:rPr lang="en-IN" sz="1800" baseline="30000">
                          <a:effectLst/>
                          <a:highlight>
                            <a:srgbClr val="FFFF00"/>
                          </a:highlight>
                        </a:rPr>
                        <a:t>6</a:t>
                      </a:r>
                      <a:r>
                        <a:rPr lang="en-IN" sz="1800">
                          <a:effectLst/>
                          <a:highlight>
                            <a:srgbClr val="FFFF00"/>
                          </a:highlight>
                        </a:rPr>
                        <a:t>3s</a:t>
                      </a:r>
                      <a:r>
                        <a:rPr lang="en-IN" sz="1800" baseline="30000">
                          <a:effectLst/>
                          <a:highlight>
                            <a:srgbClr val="FFFF00"/>
                          </a:highlight>
                        </a:rPr>
                        <a:t>2</a:t>
                      </a:r>
                      <a:r>
                        <a:rPr lang="en-IN" sz="1800">
                          <a:effectLst/>
                          <a:highlight>
                            <a:srgbClr val="FFFF00"/>
                          </a:highlight>
                        </a:rPr>
                        <a:t>3p</a:t>
                      </a:r>
                      <a:r>
                        <a:rPr lang="en-IN" sz="1800" baseline="30000">
                          <a:effectLst/>
                          <a:highlight>
                            <a:srgbClr val="FFFF00"/>
                          </a:highlight>
                        </a:rPr>
                        <a:t>6</a:t>
                      </a:r>
                      <a:r>
                        <a:rPr lang="en-IN" sz="1800">
                          <a:effectLst/>
                          <a:highlight>
                            <a:srgbClr val="FFFF00"/>
                          </a:highlight>
                        </a:rPr>
                        <a:t>4s</a:t>
                      </a:r>
                      <a:r>
                        <a:rPr lang="en-IN" sz="1800" baseline="30000">
                          <a:effectLst/>
                          <a:highlight>
                            <a:srgbClr val="FFFF00"/>
                          </a:highlight>
                        </a:rPr>
                        <a:t>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3"/>
                  </a:ext>
                </a:extLst>
              </a:tr>
              <a:tr h="329285">
                <a:tc>
                  <a:txBody>
                    <a:bodyPr/>
                    <a:lstStyle/>
                    <a:p>
                      <a:pPr marL="0" marR="0" algn="ctr">
                        <a:lnSpc>
                          <a:spcPct val="107000"/>
                        </a:lnSpc>
                        <a:spcBef>
                          <a:spcPts val="0"/>
                        </a:spcBef>
                        <a:spcAft>
                          <a:spcPts val="0"/>
                        </a:spcAft>
                      </a:pPr>
                      <a:r>
                        <a:rPr lang="en-IN" sz="1800">
                          <a:effectLst/>
                        </a:rPr>
                        <a:t>Rb</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244</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37</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2.2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highlight>
                            <a:srgbClr val="FFFF00"/>
                          </a:highlight>
                        </a:rPr>
                        <a:t>1s</a:t>
                      </a:r>
                      <a:r>
                        <a:rPr lang="en-IN" sz="1800" baseline="30000">
                          <a:effectLst/>
                          <a:highlight>
                            <a:srgbClr val="FFFF00"/>
                          </a:highlight>
                        </a:rPr>
                        <a:t>2</a:t>
                      </a:r>
                      <a:r>
                        <a:rPr lang="en-IN" sz="1800">
                          <a:effectLst/>
                          <a:highlight>
                            <a:srgbClr val="FFFF00"/>
                          </a:highlight>
                        </a:rPr>
                        <a:t>2s</a:t>
                      </a:r>
                      <a:r>
                        <a:rPr lang="en-IN" sz="1800" baseline="30000">
                          <a:effectLst/>
                          <a:highlight>
                            <a:srgbClr val="FFFF00"/>
                          </a:highlight>
                        </a:rPr>
                        <a:t>2</a:t>
                      </a:r>
                      <a:r>
                        <a:rPr lang="en-IN" sz="1800">
                          <a:effectLst/>
                          <a:highlight>
                            <a:srgbClr val="FFFF00"/>
                          </a:highlight>
                        </a:rPr>
                        <a:t>2p</a:t>
                      </a:r>
                      <a:r>
                        <a:rPr lang="en-IN" sz="1800" baseline="30000">
                          <a:effectLst/>
                          <a:highlight>
                            <a:srgbClr val="FFFF00"/>
                          </a:highlight>
                        </a:rPr>
                        <a:t>6</a:t>
                      </a:r>
                      <a:r>
                        <a:rPr lang="en-IN" sz="1800">
                          <a:effectLst/>
                          <a:highlight>
                            <a:srgbClr val="FFFF00"/>
                          </a:highlight>
                        </a:rPr>
                        <a:t>3s</a:t>
                      </a:r>
                      <a:r>
                        <a:rPr lang="en-IN" sz="1800" baseline="30000">
                          <a:effectLst/>
                          <a:highlight>
                            <a:srgbClr val="FFFF00"/>
                          </a:highlight>
                        </a:rPr>
                        <a:t>2</a:t>
                      </a:r>
                      <a:r>
                        <a:rPr lang="en-IN" sz="1800">
                          <a:effectLst/>
                          <a:highlight>
                            <a:srgbClr val="FFFF00"/>
                          </a:highlight>
                        </a:rPr>
                        <a:t>3p</a:t>
                      </a:r>
                      <a:r>
                        <a:rPr lang="en-IN" sz="1800" baseline="30000">
                          <a:effectLst/>
                          <a:highlight>
                            <a:srgbClr val="FFFF00"/>
                          </a:highlight>
                        </a:rPr>
                        <a:t>6</a:t>
                      </a:r>
                      <a:r>
                        <a:rPr lang="en-IN" sz="1800">
                          <a:effectLst/>
                          <a:highlight>
                            <a:srgbClr val="FFFF00"/>
                          </a:highlight>
                        </a:rPr>
                        <a:t>4s</a:t>
                      </a:r>
                      <a:r>
                        <a:rPr lang="en-IN" sz="1800" baseline="30000">
                          <a:effectLst/>
                          <a:highlight>
                            <a:srgbClr val="FFFF00"/>
                          </a:highlight>
                        </a:rPr>
                        <a:t>2</a:t>
                      </a:r>
                      <a:r>
                        <a:rPr lang="en-IN" sz="1800">
                          <a:effectLst/>
                          <a:highlight>
                            <a:srgbClr val="FFFF00"/>
                          </a:highlight>
                        </a:rPr>
                        <a:t>3d</a:t>
                      </a:r>
                      <a:r>
                        <a:rPr lang="en-IN" sz="1800" baseline="30000">
                          <a:effectLst/>
                          <a:highlight>
                            <a:srgbClr val="FFFF00"/>
                          </a:highlight>
                        </a:rPr>
                        <a:t>10 </a:t>
                      </a:r>
                      <a:r>
                        <a:rPr lang="en-IN" sz="1800">
                          <a:effectLst/>
                          <a:highlight>
                            <a:srgbClr val="FFFF00"/>
                          </a:highlight>
                        </a:rPr>
                        <a:t>4p</a:t>
                      </a:r>
                      <a:r>
                        <a:rPr lang="en-IN" sz="1800" baseline="30000">
                          <a:effectLst/>
                          <a:highlight>
                            <a:srgbClr val="FFFF00"/>
                          </a:highlight>
                        </a:rPr>
                        <a:t>6</a:t>
                      </a:r>
                      <a:r>
                        <a:rPr lang="en-IN" sz="1800">
                          <a:effectLst/>
                          <a:highlight>
                            <a:srgbClr val="FFFF00"/>
                          </a:highlight>
                        </a:rPr>
                        <a:t>5s</a:t>
                      </a:r>
                      <a:r>
                        <a:rPr lang="en-IN" sz="1800" baseline="30000">
                          <a:effectLst/>
                          <a:highlight>
                            <a:srgbClr val="FFFF00"/>
                          </a:highlight>
                        </a:rPr>
                        <a:t>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4"/>
                  </a:ext>
                </a:extLst>
              </a:tr>
              <a:tr h="673771">
                <a:tc>
                  <a:txBody>
                    <a:bodyPr/>
                    <a:lstStyle/>
                    <a:p>
                      <a:pPr marL="0" marR="0" algn="ctr">
                        <a:lnSpc>
                          <a:spcPct val="107000"/>
                        </a:lnSpc>
                        <a:spcBef>
                          <a:spcPts val="0"/>
                        </a:spcBef>
                        <a:spcAft>
                          <a:spcPts val="0"/>
                        </a:spcAft>
                      </a:pPr>
                      <a:r>
                        <a:rPr lang="en-IN" sz="1800">
                          <a:effectLst/>
                        </a:rPr>
                        <a:t>Cs</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267</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55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2.2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highlight>
                            <a:srgbClr val="FFFF00"/>
                          </a:highlight>
                        </a:rPr>
                        <a:t>1s</a:t>
                      </a:r>
                      <a:r>
                        <a:rPr lang="en-IN" sz="1800" baseline="30000" dirty="0">
                          <a:effectLst/>
                          <a:highlight>
                            <a:srgbClr val="FFFF00"/>
                          </a:highlight>
                        </a:rPr>
                        <a:t>2</a:t>
                      </a:r>
                      <a:r>
                        <a:rPr lang="en-IN" sz="1800" dirty="0">
                          <a:effectLst/>
                          <a:highlight>
                            <a:srgbClr val="FFFF00"/>
                          </a:highlight>
                        </a:rPr>
                        <a:t>2s</a:t>
                      </a:r>
                      <a:r>
                        <a:rPr lang="en-IN" sz="1800" baseline="30000" dirty="0">
                          <a:effectLst/>
                          <a:highlight>
                            <a:srgbClr val="FFFF00"/>
                          </a:highlight>
                        </a:rPr>
                        <a:t>2</a:t>
                      </a:r>
                      <a:r>
                        <a:rPr lang="en-IN" sz="1800" dirty="0">
                          <a:effectLst/>
                          <a:highlight>
                            <a:srgbClr val="FFFF00"/>
                          </a:highlight>
                        </a:rPr>
                        <a:t>2p</a:t>
                      </a:r>
                      <a:r>
                        <a:rPr lang="en-IN" sz="1800" baseline="30000" dirty="0">
                          <a:effectLst/>
                          <a:highlight>
                            <a:srgbClr val="FFFF00"/>
                          </a:highlight>
                        </a:rPr>
                        <a:t>6</a:t>
                      </a:r>
                      <a:r>
                        <a:rPr lang="en-IN" sz="1800" dirty="0">
                          <a:effectLst/>
                          <a:highlight>
                            <a:srgbClr val="FFFF00"/>
                          </a:highlight>
                        </a:rPr>
                        <a:t>3s</a:t>
                      </a:r>
                      <a:r>
                        <a:rPr lang="en-IN" sz="1800" baseline="30000" dirty="0">
                          <a:effectLst/>
                          <a:highlight>
                            <a:srgbClr val="FFFF00"/>
                          </a:highlight>
                        </a:rPr>
                        <a:t>2</a:t>
                      </a:r>
                      <a:r>
                        <a:rPr lang="en-IN" sz="1800" dirty="0">
                          <a:effectLst/>
                          <a:highlight>
                            <a:srgbClr val="FFFF00"/>
                          </a:highlight>
                        </a:rPr>
                        <a:t>3p</a:t>
                      </a:r>
                      <a:r>
                        <a:rPr lang="en-IN" sz="1800" baseline="30000" dirty="0">
                          <a:effectLst/>
                          <a:highlight>
                            <a:srgbClr val="FFFF00"/>
                          </a:highlight>
                        </a:rPr>
                        <a:t>6</a:t>
                      </a:r>
                      <a:r>
                        <a:rPr lang="en-IN" sz="1800" dirty="0">
                          <a:effectLst/>
                          <a:highlight>
                            <a:srgbClr val="FFFF00"/>
                          </a:highlight>
                        </a:rPr>
                        <a:t>4s</a:t>
                      </a:r>
                      <a:r>
                        <a:rPr lang="en-IN" sz="1800" baseline="30000" dirty="0">
                          <a:effectLst/>
                          <a:highlight>
                            <a:srgbClr val="FFFF00"/>
                          </a:highlight>
                        </a:rPr>
                        <a:t>2</a:t>
                      </a:r>
                      <a:r>
                        <a:rPr lang="en-IN" sz="1800" dirty="0">
                          <a:effectLst/>
                          <a:highlight>
                            <a:srgbClr val="FFFF00"/>
                          </a:highlight>
                        </a:rPr>
                        <a:t>3d</a:t>
                      </a:r>
                      <a:r>
                        <a:rPr lang="en-IN" sz="1800" baseline="30000" dirty="0">
                          <a:effectLst/>
                          <a:highlight>
                            <a:srgbClr val="FFFF00"/>
                          </a:highlight>
                        </a:rPr>
                        <a:t>10</a:t>
                      </a:r>
                      <a:r>
                        <a:rPr lang="en-IN" sz="1800" dirty="0">
                          <a:effectLst/>
                          <a:highlight>
                            <a:srgbClr val="FFFF00"/>
                          </a:highlight>
                        </a:rPr>
                        <a:t>4p</a:t>
                      </a:r>
                      <a:r>
                        <a:rPr lang="en-IN" sz="1800" baseline="30000" dirty="0">
                          <a:effectLst/>
                          <a:highlight>
                            <a:srgbClr val="FFFF00"/>
                          </a:highlight>
                        </a:rPr>
                        <a:t>6</a:t>
                      </a:r>
                      <a:r>
                        <a:rPr lang="en-IN" sz="1800" dirty="0">
                          <a:effectLst/>
                          <a:highlight>
                            <a:srgbClr val="FFFF00"/>
                          </a:highlight>
                        </a:rPr>
                        <a:t>5s</a:t>
                      </a:r>
                      <a:r>
                        <a:rPr lang="en-IN" sz="1800" baseline="30000" dirty="0">
                          <a:effectLst/>
                          <a:highlight>
                            <a:srgbClr val="FFFF00"/>
                          </a:highlight>
                        </a:rPr>
                        <a:t>2</a:t>
                      </a:r>
                      <a:r>
                        <a:rPr lang="en-IN" sz="1800" dirty="0">
                          <a:effectLst/>
                          <a:highlight>
                            <a:srgbClr val="FFFF00"/>
                          </a:highlight>
                        </a:rPr>
                        <a:t>4d</a:t>
                      </a:r>
                      <a:r>
                        <a:rPr lang="en-IN" sz="1800" baseline="30000" dirty="0">
                          <a:effectLst/>
                          <a:highlight>
                            <a:srgbClr val="FFFF00"/>
                          </a:highlight>
                        </a:rPr>
                        <a:t>10 </a:t>
                      </a:r>
                      <a:r>
                        <a:rPr lang="en-IN" sz="1800" dirty="0">
                          <a:effectLst/>
                          <a:highlight>
                            <a:srgbClr val="FFFF00"/>
                          </a:highlight>
                        </a:rPr>
                        <a:t>5p</a:t>
                      </a:r>
                      <a:r>
                        <a:rPr lang="en-IN" sz="1800" baseline="30000" dirty="0">
                          <a:effectLst/>
                          <a:highlight>
                            <a:srgbClr val="FFFF00"/>
                          </a:highlight>
                        </a:rPr>
                        <a:t>6</a:t>
                      </a:r>
                      <a:r>
                        <a:rPr lang="en-IN" sz="1800" dirty="0">
                          <a:effectLst/>
                          <a:highlight>
                            <a:srgbClr val="FFFF00"/>
                          </a:highlight>
                        </a:rPr>
                        <a:t>6s</a:t>
                      </a:r>
                      <a:r>
                        <a:rPr lang="en-IN" sz="1800" baseline="30000" dirty="0">
                          <a:effectLst/>
                          <a:highlight>
                            <a:srgbClr val="FFFF00"/>
                          </a:highlight>
                        </a:rPr>
                        <a:t>1</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5"/>
                  </a:ext>
                </a:extLst>
              </a:tr>
            </a:tbl>
          </a:graphicData>
        </a:graphic>
      </p:graphicFrame>
      <p:sp>
        <p:nvSpPr>
          <p:cNvPr id="2" name="Rectangle 1"/>
          <p:cNvSpPr/>
          <p:nvPr/>
        </p:nvSpPr>
        <p:spPr>
          <a:xfrm>
            <a:off x="272143" y="162366"/>
            <a:ext cx="11821886" cy="2126864"/>
          </a:xfrm>
          <a:prstGeom prst="rect">
            <a:avLst/>
          </a:prstGeom>
        </p:spPr>
        <p:txBody>
          <a:bodyPr wrap="square">
            <a:spAutoFit/>
          </a:bodyPr>
          <a:lstStyle/>
          <a:p>
            <a:pPr algn="just">
              <a:lnSpc>
                <a:spcPct val="150000"/>
              </a:lnSpc>
            </a:pPr>
            <a:r>
              <a:rPr lang="en-IN" sz="2400" dirty="0"/>
              <a:t>The size of atom increases from top to bottom in a group this is due to addition of new electrons in newer shells. Eg. Li (Z =3) to Cs (Z=55) </a:t>
            </a:r>
          </a:p>
          <a:p>
            <a:pPr lvl="0" algn="just">
              <a:lnSpc>
                <a:spcPct val="150000"/>
              </a:lnSpc>
            </a:pPr>
            <a:endParaRPr lang="en-US" sz="2400" dirty="0"/>
          </a:p>
          <a:p>
            <a:pPr algn="just">
              <a:lnSpc>
                <a:spcPct val="150000"/>
              </a:lnSpc>
            </a:pPr>
            <a:endParaRPr lang="en-US" sz="1600" dirty="0"/>
          </a:p>
        </p:txBody>
      </p:sp>
      <p:sp>
        <p:nvSpPr>
          <p:cNvPr id="3" name="Rectangle 2"/>
          <p:cNvSpPr/>
          <p:nvPr/>
        </p:nvSpPr>
        <p:spPr>
          <a:xfrm>
            <a:off x="272143" y="4245762"/>
            <a:ext cx="10990589" cy="3970318"/>
          </a:xfrm>
          <a:prstGeom prst="rect">
            <a:avLst/>
          </a:prstGeom>
        </p:spPr>
        <p:txBody>
          <a:bodyPr wrap="square">
            <a:spAutoFit/>
          </a:bodyPr>
          <a:lstStyle/>
          <a:p>
            <a:pPr algn="just">
              <a:lnSpc>
                <a:spcPct val="150000"/>
              </a:lnSpc>
            </a:pPr>
            <a:r>
              <a:rPr lang="en-IN" sz="2400" dirty="0"/>
              <a:t>Therefore the Factors affecting Atomic Size are</a:t>
            </a:r>
          </a:p>
          <a:p>
            <a:pPr marL="457200" indent="-457200" algn="just">
              <a:lnSpc>
                <a:spcPct val="150000"/>
              </a:lnSpc>
              <a:buFont typeface="Arial" panose="020B0604020202020204" pitchFamily="34" charset="0"/>
              <a:buChar char="•"/>
            </a:pPr>
            <a:r>
              <a:rPr lang="en-US" sz="2400" dirty="0"/>
              <a:t>No. of Shells- atomic size directly proportional to the number of shells i.e as number of shells increase, atomic size increases.</a:t>
            </a:r>
          </a:p>
          <a:p>
            <a:pPr marL="457200" indent="-457200" algn="just">
              <a:lnSpc>
                <a:spcPct val="150000"/>
              </a:lnSpc>
              <a:buFont typeface="Arial" panose="020B0604020202020204" pitchFamily="34" charset="0"/>
              <a:buChar char="•"/>
            </a:pPr>
            <a:r>
              <a:rPr lang="en-US" sz="2400" dirty="0"/>
              <a:t>Nuclear charge- atomic size inversely proportional to the Nuclear charge</a:t>
            </a:r>
          </a:p>
          <a:p>
            <a:pPr algn="just">
              <a:lnSpc>
                <a:spcPct val="150000"/>
              </a:lnSpc>
            </a:pPr>
            <a:endParaRPr lang="en-IN" sz="2400" dirty="0"/>
          </a:p>
          <a:p>
            <a:pPr algn="just">
              <a:lnSpc>
                <a:spcPct val="150000"/>
              </a:lnSpc>
            </a:pPr>
            <a:endParaRPr lang="en-IN" sz="2400" dirty="0"/>
          </a:p>
          <a:p>
            <a:pPr algn="just">
              <a:lnSpc>
                <a:spcPct val="150000"/>
              </a:lnSpc>
            </a:pPr>
            <a:endParaRPr lang="en-IN" sz="2400" dirty="0"/>
          </a:p>
        </p:txBody>
      </p:sp>
      <p:sp>
        <p:nvSpPr>
          <p:cNvPr id="4" name="Footer Placeholder 3">
            <a:extLst>
              <a:ext uri="{FF2B5EF4-FFF2-40B4-BE49-F238E27FC236}">
                <a16:creationId xmlns:a16="http://schemas.microsoft.com/office/drawing/2014/main" id="{B3840834-AE89-9E60-AA9F-CFD2BB848FCE}"/>
              </a:ext>
            </a:extLst>
          </p:cNvPr>
          <p:cNvSpPr>
            <a:spLocks noGrp="1"/>
          </p:cNvSpPr>
          <p:nvPr>
            <p:ph type="ftr" sz="quarter" idx="11"/>
          </p:nvPr>
        </p:nvSpPr>
        <p:spPr/>
        <p:txBody>
          <a:bodyPr/>
          <a:lstStyle/>
          <a:p>
            <a:r>
              <a:rPr lang="en-US"/>
              <a:t>Periodic Properties of Elements</a:t>
            </a:r>
          </a:p>
        </p:txBody>
      </p:sp>
      <p:sp>
        <p:nvSpPr>
          <p:cNvPr id="5" name="Slide Number Placeholder 4">
            <a:extLst>
              <a:ext uri="{FF2B5EF4-FFF2-40B4-BE49-F238E27FC236}">
                <a16:creationId xmlns:a16="http://schemas.microsoft.com/office/drawing/2014/main" id="{EF910BFA-B6F0-C65F-5EC7-668113C5FB3D}"/>
              </a:ext>
            </a:extLst>
          </p:cNvPr>
          <p:cNvSpPr>
            <a:spLocks noGrp="1"/>
          </p:cNvSpPr>
          <p:nvPr>
            <p:ph type="sldNum" sz="quarter" idx="12"/>
          </p:nvPr>
        </p:nvSpPr>
        <p:spPr/>
        <p:txBody>
          <a:bodyPr/>
          <a:lstStyle/>
          <a:p>
            <a:fld id="{18FFC5A6-CECA-42F5-ACA8-5C3F58FF9B21}" type="slidenum">
              <a:rPr lang="en-US" smtClean="0"/>
              <a:t>27</a:t>
            </a:fld>
            <a:endParaRPr lang="en-US"/>
          </a:p>
        </p:txBody>
      </p:sp>
      <p:sp>
        <p:nvSpPr>
          <p:cNvPr id="6" name="Date Placeholder 5">
            <a:extLst>
              <a:ext uri="{FF2B5EF4-FFF2-40B4-BE49-F238E27FC236}">
                <a16:creationId xmlns:a16="http://schemas.microsoft.com/office/drawing/2014/main" id="{276B0A2E-D648-0637-B127-4D2C64D09A5C}"/>
              </a:ext>
            </a:extLst>
          </p:cNvPr>
          <p:cNvSpPr>
            <a:spLocks noGrp="1"/>
          </p:cNvSpPr>
          <p:nvPr>
            <p:ph type="dt" sz="half" idx="10"/>
          </p:nvPr>
        </p:nvSpPr>
        <p:spPr/>
        <p:txBody>
          <a:bodyPr/>
          <a:lstStyle/>
          <a:p>
            <a:fld id="{ADF26178-262E-4153-96D1-0C0627714FC1}" type="datetime1">
              <a:rPr lang="en-US" smtClean="0"/>
              <a:t>8/3/2023</a:t>
            </a:fld>
            <a:endParaRPr lang="en-US"/>
          </a:p>
        </p:txBody>
      </p:sp>
    </p:spTree>
    <p:extLst>
      <p:ext uri="{BB962C8B-B14F-4D97-AF65-F5344CB8AC3E}">
        <p14:creationId xmlns:p14="http://schemas.microsoft.com/office/powerpoint/2010/main" val="26079919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357437" y="1295400"/>
            <a:ext cx="7477125" cy="4267200"/>
          </a:xfrm>
          <a:prstGeom prst="rect">
            <a:avLst/>
          </a:prstGeom>
        </p:spPr>
      </p:pic>
      <p:sp>
        <p:nvSpPr>
          <p:cNvPr id="5" name="TextBox 4"/>
          <p:cNvSpPr txBox="1"/>
          <p:nvPr/>
        </p:nvSpPr>
        <p:spPr>
          <a:xfrm>
            <a:off x="546409" y="278780"/>
            <a:ext cx="11374244" cy="954107"/>
          </a:xfrm>
          <a:prstGeom prst="rect">
            <a:avLst/>
          </a:prstGeom>
          <a:noFill/>
        </p:spPr>
        <p:txBody>
          <a:bodyPr wrap="square" rtlCol="0">
            <a:spAutoFit/>
          </a:bodyPr>
          <a:lstStyle/>
          <a:p>
            <a:r>
              <a:rPr lang="en-US" sz="2800" b="1" dirty="0">
                <a:latin typeface="Aharoni" panose="02010803020104030203" pitchFamily="2" charset="-79"/>
                <a:cs typeface="Aharoni" panose="02010803020104030203" pitchFamily="2" charset="-79"/>
              </a:rPr>
              <a:t>How will the trend in atomic radius and effective nuclear charge (</a:t>
            </a:r>
            <a:r>
              <a:rPr lang="en-US" sz="2800" b="1" dirty="0" err="1">
                <a:latin typeface="Aharoni" panose="02010803020104030203" pitchFamily="2" charset="-79"/>
                <a:cs typeface="Aharoni" panose="02010803020104030203" pitchFamily="2" charset="-79"/>
              </a:rPr>
              <a:t>Z</a:t>
            </a:r>
            <a:r>
              <a:rPr lang="en-US" sz="2800" b="1" baseline="-25000" dirty="0" err="1">
                <a:latin typeface="Aharoni" panose="02010803020104030203" pitchFamily="2" charset="-79"/>
                <a:cs typeface="Aharoni" panose="02010803020104030203" pitchFamily="2" charset="-79"/>
              </a:rPr>
              <a:t>eff</a:t>
            </a:r>
            <a:r>
              <a:rPr lang="en-US" sz="2800" b="1" dirty="0">
                <a:latin typeface="Aharoni" panose="02010803020104030203" pitchFamily="2" charset="-79"/>
                <a:cs typeface="Aharoni" panose="02010803020104030203" pitchFamily="2" charset="-79"/>
              </a:rPr>
              <a:t>) across a period. Show in the below chart </a:t>
            </a:r>
            <a:r>
              <a:rPr lang="en-US" sz="2800" b="1" dirty="0" smtClean="0">
                <a:latin typeface="Aharoni" panose="02010803020104030203" pitchFamily="2" charset="-79"/>
                <a:cs typeface="Aharoni" panose="02010803020104030203" pitchFamily="2" charset="-79"/>
              </a:rPr>
              <a:t>?</a:t>
            </a:r>
            <a:endParaRPr lang="en-IN" sz="2800" b="1" dirty="0">
              <a:latin typeface="Aharoni" panose="02010803020104030203" pitchFamily="2" charset="-79"/>
              <a:cs typeface="Aharoni" panose="02010803020104030203" pitchFamily="2" charset="-79"/>
            </a:endParaRPr>
          </a:p>
        </p:txBody>
      </p:sp>
      <p:sp>
        <p:nvSpPr>
          <p:cNvPr id="2" name="Footer Placeholder 1">
            <a:extLst>
              <a:ext uri="{FF2B5EF4-FFF2-40B4-BE49-F238E27FC236}">
                <a16:creationId xmlns:a16="http://schemas.microsoft.com/office/drawing/2014/main" id="{459C981D-1917-C37E-75D6-BB54F82E9F5B}"/>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F9B01FA7-7066-6BA3-8CE4-17901B7CEBD7}"/>
              </a:ext>
            </a:extLst>
          </p:cNvPr>
          <p:cNvSpPr>
            <a:spLocks noGrp="1"/>
          </p:cNvSpPr>
          <p:nvPr>
            <p:ph type="sldNum" sz="quarter" idx="12"/>
          </p:nvPr>
        </p:nvSpPr>
        <p:spPr/>
        <p:txBody>
          <a:bodyPr/>
          <a:lstStyle/>
          <a:p>
            <a:fld id="{18FFC5A6-CECA-42F5-ACA8-5C3F58FF9B21}" type="slidenum">
              <a:rPr lang="en-US" smtClean="0"/>
              <a:t>28</a:t>
            </a:fld>
            <a:endParaRPr lang="en-US"/>
          </a:p>
        </p:txBody>
      </p:sp>
      <p:sp>
        <p:nvSpPr>
          <p:cNvPr id="6" name="Date Placeholder 5">
            <a:extLst>
              <a:ext uri="{FF2B5EF4-FFF2-40B4-BE49-F238E27FC236}">
                <a16:creationId xmlns:a16="http://schemas.microsoft.com/office/drawing/2014/main" id="{20EDD2B1-7C24-28AC-BE62-4355B541D1FD}"/>
              </a:ext>
            </a:extLst>
          </p:cNvPr>
          <p:cNvSpPr>
            <a:spLocks noGrp="1"/>
          </p:cNvSpPr>
          <p:nvPr>
            <p:ph type="dt" sz="half" idx="10"/>
          </p:nvPr>
        </p:nvSpPr>
        <p:spPr/>
        <p:txBody>
          <a:bodyPr/>
          <a:lstStyle/>
          <a:p>
            <a:fld id="{41E12A54-92F2-40DD-A521-D0B31BB690AF}" type="datetime1">
              <a:rPr lang="en-US" smtClean="0"/>
              <a:t>8/3/2023</a:t>
            </a:fld>
            <a:endParaRPr lang="en-US"/>
          </a:p>
        </p:txBody>
      </p:sp>
    </p:spTree>
    <p:extLst>
      <p:ext uri="{BB962C8B-B14F-4D97-AF65-F5344CB8AC3E}">
        <p14:creationId xmlns:p14="http://schemas.microsoft.com/office/powerpoint/2010/main" val="3454932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600205" y="0"/>
            <a:ext cx="11261942" cy="1325563"/>
          </a:xfrm>
        </p:spPr>
        <p:txBody>
          <a:bodyPr>
            <a:normAutofit/>
          </a:bodyPr>
          <a:lstStyle/>
          <a:p>
            <a:pPr algn="just"/>
            <a:r>
              <a:rPr lang="en-US" sz="3200" b="1" dirty="0">
                <a:latin typeface="Aharoni" panose="02010803020104030203" pitchFamily="2" charset="-79"/>
                <a:cs typeface="Aharoni" panose="02010803020104030203" pitchFamily="2" charset="-79"/>
              </a:rPr>
              <a:t>Correlating atomic radius and effective nuclear charge (</a:t>
            </a:r>
            <a:r>
              <a:rPr lang="en-US" sz="3200" b="1" dirty="0" err="1">
                <a:latin typeface="Aharoni" panose="02010803020104030203" pitchFamily="2" charset="-79"/>
                <a:cs typeface="Aharoni" panose="02010803020104030203" pitchFamily="2" charset="-79"/>
              </a:rPr>
              <a:t>Z</a:t>
            </a:r>
            <a:r>
              <a:rPr lang="en-US" sz="3200" b="1" baseline="-25000" dirty="0" err="1">
                <a:latin typeface="Aharoni" panose="02010803020104030203" pitchFamily="2" charset="-79"/>
                <a:cs typeface="Aharoni" panose="02010803020104030203" pitchFamily="2" charset="-79"/>
              </a:rPr>
              <a:t>eff</a:t>
            </a:r>
            <a:r>
              <a:rPr lang="en-US" sz="3200" b="1" dirty="0">
                <a:latin typeface="Aharoni" panose="02010803020104030203" pitchFamily="2" charset="-79"/>
                <a:cs typeface="Aharoni" panose="02010803020104030203" pitchFamily="2" charset="-79"/>
              </a:rPr>
              <a:t>) across a period</a:t>
            </a:r>
          </a:p>
        </p:txBody>
      </p:sp>
      <p:pic>
        <p:nvPicPr>
          <p:cNvPr id="5"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396378" y="1295400"/>
            <a:ext cx="7438184" cy="4351338"/>
          </a:xfrm>
          <a:noFill/>
          <a:ln/>
        </p:spPr>
      </p:pic>
      <p:sp>
        <p:nvSpPr>
          <p:cNvPr id="2" name="Footer Placeholder 1">
            <a:extLst>
              <a:ext uri="{FF2B5EF4-FFF2-40B4-BE49-F238E27FC236}">
                <a16:creationId xmlns:a16="http://schemas.microsoft.com/office/drawing/2014/main" id="{16DD9F90-1783-323A-E422-ED635FB812AB}"/>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1D663157-6291-3916-17EE-43BA17B19B36}"/>
              </a:ext>
            </a:extLst>
          </p:cNvPr>
          <p:cNvSpPr>
            <a:spLocks noGrp="1"/>
          </p:cNvSpPr>
          <p:nvPr>
            <p:ph type="sldNum" sz="quarter" idx="12"/>
          </p:nvPr>
        </p:nvSpPr>
        <p:spPr/>
        <p:txBody>
          <a:bodyPr/>
          <a:lstStyle/>
          <a:p>
            <a:fld id="{18FFC5A6-CECA-42F5-ACA8-5C3F58FF9B21}" type="slidenum">
              <a:rPr lang="en-US" smtClean="0"/>
              <a:t>29</a:t>
            </a:fld>
            <a:endParaRPr lang="en-US"/>
          </a:p>
        </p:txBody>
      </p:sp>
      <p:sp>
        <p:nvSpPr>
          <p:cNvPr id="6" name="Date Placeholder 5">
            <a:extLst>
              <a:ext uri="{FF2B5EF4-FFF2-40B4-BE49-F238E27FC236}">
                <a16:creationId xmlns:a16="http://schemas.microsoft.com/office/drawing/2014/main" id="{9F436676-A4F3-C5ED-0E48-4C8AA9AFB36A}"/>
              </a:ext>
            </a:extLst>
          </p:cNvPr>
          <p:cNvSpPr>
            <a:spLocks noGrp="1"/>
          </p:cNvSpPr>
          <p:nvPr>
            <p:ph type="dt" sz="half" idx="10"/>
          </p:nvPr>
        </p:nvSpPr>
        <p:spPr/>
        <p:txBody>
          <a:bodyPr/>
          <a:lstStyle/>
          <a:p>
            <a:fld id="{01DEF6B6-59E8-4CE4-A3B0-67CFA5C64799}" type="datetime1">
              <a:rPr lang="en-US" smtClean="0"/>
              <a:t>8/3/2023</a:t>
            </a:fld>
            <a:endParaRPr lang="en-US"/>
          </a:p>
        </p:txBody>
      </p:sp>
    </p:spTree>
    <p:extLst>
      <p:ext uri="{BB962C8B-B14F-4D97-AF65-F5344CB8AC3E}">
        <p14:creationId xmlns:p14="http://schemas.microsoft.com/office/powerpoint/2010/main" val="18148655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26C4C5E-126C-455D-AEC7-674D8DF78740}"/>
              </a:ext>
            </a:extLst>
          </p:cNvPr>
          <p:cNvSpPr txBox="1"/>
          <p:nvPr/>
        </p:nvSpPr>
        <p:spPr>
          <a:xfrm>
            <a:off x="214999" y="0"/>
            <a:ext cx="11400971" cy="8833187"/>
          </a:xfrm>
          <a:prstGeom prst="rect">
            <a:avLst/>
          </a:prstGeom>
          <a:noFill/>
        </p:spPr>
        <p:txBody>
          <a:bodyPr wrap="square" rtlCol="0">
            <a:spAutoFit/>
          </a:bodyPr>
          <a:lstStyle/>
          <a:p>
            <a:pPr algn="ctr"/>
            <a:r>
              <a:rPr lang="en-US" sz="4000" b="1" dirty="0">
                <a:latin typeface="Aharoni" panose="02010803020104030203" pitchFamily="2" charset="-79"/>
                <a:cs typeface="Aharoni" panose="02010803020104030203" pitchFamily="2" charset="-79"/>
              </a:rPr>
              <a:t>Iso electronic species</a:t>
            </a:r>
          </a:p>
          <a:p>
            <a:endParaRPr lang="en-US" dirty="0"/>
          </a:p>
          <a:p>
            <a:r>
              <a:rPr lang="en-US" dirty="0"/>
              <a:t>The iso electronic species are those which have the same  number of electrons</a:t>
            </a:r>
          </a:p>
          <a:p>
            <a:endParaRPr lang="en-US" dirty="0"/>
          </a:p>
          <a:p>
            <a:r>
              <a:rPr lang="en-US" b="1" dirty="0"/>
              <a:t>Size of isoelectronic cationic species decreases with increase in atomic number </a:t>
            </a:r>
          </a:p>
          <a:p>
            <a:endParaRPr lang="en-US" dirty="0"/>
          </a:p>
          <a:p>
            <a:r>
              <a:rPr lang="en-US" dirty="0"/>
              <a:t>As atomic number increases the nuclear charge increases and the nuclear charge acts on  same number of electrons in species and therefore size decreases																																																																																																																					</a:t>
            </a:r>
          </a:p>
          <a:p>
            <a:r>
              <a:rPr lang="en-US" dirty="0"/>
              <a:t>Anions with greater negative charge will have larger ionic radius , in this case net repulsion of electrons will out weigh nuclear charge and ion size will increase.</a:t>
            </a:r>
          </a:p>
          <a:p>
            <a:endParaRPr lang="en-US" dirty="0"/>
          </a:p>
          <a:p>
            <a:r>
              <a:rPr lang="en-US" dirty="0"/>
              <a:t>O</a:t>
            </a:r>
            <a:r>
              <a:rPr lang="en-US" baseline="30000" dirty="0"/>
              <a:t>2-</a:t>
            </a:r>
            <a:r>
              <a:rPr lang="en-US" dirty="0"/>
              <a:t>&gt; F</a:t>
            </a:r>
            <a:r>
              <a:rPr lang="en-US" baseline="30000" dirty="0"/>
              <a:t>-</a:t>
            </a:r>
          </a:p>
          <a:p>
            <a:endParaRPr lang="en-US" baseline="30000" dirty="0"/>
          </a:p>
          <a:p>
            <a:r>
              <a:rPr lang="en-US" dirty="0"/>
              <a:t>Among isoelectronic cation and anion , Anions with High charges will have higher radius</a:t>
            </a:r>
          </a:p>
          <a:p>
            <a:r>
              <a:rPr lang="en-US" dirty="0"/>
              <a:t>O</a:t>
            </a:r>
            <a:r>
              <a:rPr lang="en-US" baseline="30000" dirty="0"/>
              <a:t>2-</a:t>
            </a:r>
            <a:r>
              <a:rPr lang="en-US" dirty="0"/>
              <a:t>&gt; F</a:t>
            </a:r>
            <a:r>
              <a:rPr lang="en-US" baseline="30000" dirty="0"/>
              <a:t>-</a:t>
            </a:r>
            <a:r>
              <a:rPr lang="en-US" dirty="0"/>
              <a:t>&gt; Na</a:t>
            </a:r>
            <a:r>
              <a:rPr lang="en-US" baseline="30000" dirty="0"/>
              <a:t>+</a:t>
            </a:r>
            <a:r>
              <a:rPr lang="en-US" dirty="0"/>
              <a:t> &gt;Mg</a:t>
            </a:r>
            <a:r>
              <a:rPr lang="en-US" baseline="30000" dirty="0"/>
              <a:t>2+</a:t>
            </a:r>
          </a:p>
          <a:p>
            <a:endParaRPr lang="en-US" baseline="30000" dirty="0"/>
          </a:p>
          <a:p>
            <a:endParaRPr lang="en-US" dirty="0"/>
          </a:p>
          <a:p>
            <a:endParaRPr lang="en-US" dirty="0"/>
          </a:p>
          <a:p>
            <a:endParaRPr lang="en-US" dirty="0"/>
          </a:p>
          <a:p>
            <a:endParaRPr lang="en-US" dirty="0"/>
          </a:p>
          <a:p>
            <a:endParaRPr lang="en-US" dirty="0"/>
          </a:p>
          <a:p>
            <a:r>
              <a:rPr lang="en-US" dirty="0"/>
              <a:t> </a:t>
            </a:r>
          </a:p>
        </p:txBody>
      </p:sp>
      <p:graphicFrame>
        <p:nvGraphicFramePr>
          <p:cNvPr id="5" name="Table 4">
            <a:extLst>
              <a:ext uri="{FF2B5EF4-FFF2-40B4-BE49-F238E27FC236}">
                <a16:creationId xmlns:a16="http://schemas.microsoft.com/office/drawing/2014/main" id="{E159A41F-6AB3-42A1-B4FA-364705A7076B}"/>
              </a:ext>
            </a:extLst>
          </p:cNvPr>
          <p:cNvGraphicFramePr>
            <a:graphicFrameLocks noGrp="1"/>
          </p:cNvGraphicFramePr>
          <p:nvPr>
            <p:extLst>
              <p:ext uri="{D42A27DB-BD31-4B8C-83A1-F6EECF244321}">
                <p14:modId xmlns:p14="http://schemas.microsoft.com/office/powerpoint/2010/main" val="3752674230"/>
              </p:ext>
            </p:extLst>
          </p:nvPr>
        </p:nvGraphicFramePr>
        <p:xfrm>
          <a:off x="1026790" y="2727955"/>
          <a:ext cx="7653175" cy="2214258"/>
        </p:xfrm>
        <a:graphic>
          <a:graphicData uri="http://schemas.openxmlformats.org/drawingml/2006/table">
            <a:tbl>
              <a:tblPr firstRow="1" bandRow="1">
                <a:tableStyleId>{5940675A-B579-460E-94D1-54222C63F5DA}</a:tableStyleId>
              </a:tblPr>
              <a:tblGrid>
                <a:gridCol w="1530635">
                  <a:extLst>
                    <a:ext uri="{9D8B030D-6E8A-4147-A177-3AD203B41FA5}">
                      <a16:colId xmlns:a16="http://schemas.microsoft.com/office/drawing/2014/main" val="766521605"/>
                    </a:ext>
                  </a:extLst>
                </a:gridCol>
                <a:gridCol w="1530635">
                  <a:extLst>
                    <a:ext uri="{9D8B030D-6E8A-4147-A177-3AD203B41FA5}">
                      <a16:colId xmlns:a16="http://schemas.microsoft.com/office/drawing/2014/main" val="3381019860"/>
                    </a:ext>
                  </a:extLst>
                </a:gridCol>
                <a:gridCol w="1530635">
                  <a:extLst>
                    <a:ext uri="{9D8B030D-6E8A-4147-A177-3AD203B41FA5}">
                      <a16:colId xmlns:a16="http://schemas.microsoft.com/office/drawing/2014/main" val="4243944991"/>
                    </a:ext>
                  </a:extLst>
                </a:gridCol>
                <a:gridCol w="1530635">
                  <a:extLst>
                    <a:ext uri="{9D8B030D-6E8A-4147-A177-3AD203B41FA5}">
                      <a16:colId xmlns:a16="http://schemas.microsoft.com/office/drawing/2014/main" val="617365227"/>
                    </a:ext>
                  </a:extLst>
                </a:gridCol>
                <a:gridCol w="1530635">
                  <a:extLst>
                    <a:ext uri="{9D8B030D-6E8A-4147-A177-3AD203B41FA5}">
                      <a16:colId xmlns:a16="http://schemas.microsoft.com/office/drawing/2014/main" val="4105616663"/>
                    </a:ext>
                  </a:extLst>
                </a:gridCol>
              </a:tblGrid>
              <a:tr h="568338">
                <a:tc>
                  <a:txBody>
                    <a:bodyPr/>
                    <a:lstStyle/>
                    <a:p>
                      <a:r>
                        <a:rPr lang="en-US" dirty="0"/>
                        <a:t>Ions</a:t>
                      </a:r>
                    </a:p>
                  </a:txBody>
                  <a:tcPr/>
                </a:tc>
                <a:tc>
                  <a:txBody>
                    <a:bodyPr/>
                    <a:lstStyle/>
                    <a:p>
                      <a:r>
                        <a:rPr lang="en-US" dirty="0"/>
                        <a:t>Na</a:t>
                      </a:r>
                      <a:r>
                        <a:rPr lang="en-US" baseline="30000" dirty="0"/>
                        <a:t>+</a:t>
                      </a:r>
                      <a:r>
                        <a:rPr lang="en-US" dirty="0"/>
                        <a:t> </a:t>
                      </a:r>
                    </a:p>
                  </a:txBody>
                  <a:tcPr/>
                </a:tc>
                <a:tc>
                  <a:txBody>
                    <a:bodyPr/>
                    <a:lstStyle/>
                    <a:p>
                      <a:r>
                        <a:rPr lang="en-US" dirty="0"/>
                        <a:t>Mg </a:t>
                      </a:r>
                      <a:r>
                        <a:rPr lang="en-US" baseline="30000" dirty="0"/>
                        <a:t>2+</a:t>
                      </a:r>
                    </a:p>
                  </a:txBody>
                  <a:tcPr/>
                </a:tc>
                <a:tc>
                  <a:txBody>
                    <a:bodyPr/>
                    <a:lstStyle/>
                    <a:p>
                      <a:r>
                        <a:rPr lang="en-US" dirty="0"/>
                        <a:t>Al</a:t>
                      </a:r>
                      <a:r>
                        <a:rPr lang="en-US" baseline="30000" dirty="0"/>
                        <a:t>3+ </a:t>
                      </a:r>
                    </a:p>
                  </a:txBody>
                  <a:tcPr/>
                </a:tc>
                <a:tc>
                  <a:txBody>
                    <a:bodyPr/>
                    <a:lstStyle/>
                    <a:p>
                      <a:r>
                        <a:rPr lang="en-US" dirty="0"/>
                        <a:t>Si</a:t>
                      </a:r>
                      <a:r>
                        <a:rPr lang="en-US" baseline="30000" dirty="0"/>
                        <a:t>4+</a:t>
                      </a:r>
                    </a:p>
                  </a:txBody>
                  <a:tcPr/>
                </a:tc>
                <a:extLst>
                  <a:ext uri="{0D108BD9-81ED-4DB2-BD59-A6C34878D82A}">
                    <a16:rowId xmlns:a16="http://schemas.microsoft.com/office/drawing/2014/main" val="2185450639"/>
                  </a:ext>
                </a:extLst>
              </a:tr>
              <a:tr h="325765">
                <a:tc>
                  <a:txBody>
                    <a:bodyPr/>
                    <a:lstStyle/>
                    <a:p>
                      <a:r>
                        <a:rPr lang="en-US" dirty="0"/>
                        <a:t>No of electrons</a:t>
                      </a:r>
                    </a:p>
                  </a:txBody>
                  <a:tcPr/>
                </a:tc>
                <a:tc>
                  <a:txBody>
                    <a:bodyPr/>
                    <a:lstStyle/>
                    <a:p>
                      <a:r>
                        <a:rPr lang="en-US" dirty="0"/>
                        <a:t>10</a:t>
                      </a:r>
                    </a:p>
                  </a:txBody>
                  <a:tcPr/>
                </a:tc>
                <a:tc>
                  <a:txBody>
                    <a:bodyPr/>
                    <a:lstStyle/>
                    <a:p>
                      <a:r>
                        <a:rPr lang="en-US" dirty="0"/>
                        <a:t>10</a:t>
                      </a:r>
                    </a:p>
                  </a:txBody>
                  <a:tcPr/>
                </a:tc>
                <a:tc>
                  <a:txBody>
                    <a:bodyPr/>
                    <a:lstStyle/>
                    <a:p>
                      <a:r>
                        <a:rPr lang="en-US" dirty="0"/>
                        <a:t>10</a:t>
                      </a:r>
                    </a:p>
                  </a:txBody>
                  <a:tcPr/>
                </a:tc>
                <a:tc>
                  <a:txBody>
                    <a:bodyPr/>
                    <a:lstStyle/>
                    <a:p>
                      <a:r>
                        <a:rPr lang="en-US" dirty="0"/>
                        <a:t>10</a:t>
                      </a:r>
                    </a:p>
                  </a:txBody>
                  <a:tcPr/>
                </a:tc>
                <a:extLst>
                  <a:ext uri="{0D108BD9-81ED-4DB2-BD59-A6C34878D82A}">
                    <a16:rowId xmlns:a16="http://schemas.microsoft.com/office/drawing/2014/main" val="1892827540"/>
                  </a:ext>
                </a:extLst>
              </a:tr>
              <a:tr h="562279">
                <a:tc>
                  <a:txBody>
                    <a:bodyPr/>
                    <a:lstStyle/>
                    <a:p>
                      <a:r>
                        <a:rPr lang="en-US" dirty="0"/>
                        <a:t>At no( nuclear charge) </a:t>
                      </a:r>
                    </a:p>
                  </a:txBody>
                  <a:tcPr/>
                </a:tc>
                <a:tc>
                  <a:txBody>
                    <a:bodyPr/>
                    <a:lstStyle/>
                    <a:p>
                      <a:r>
                        <a:rPr lang="en-US" dirty="0"/>
                        <a:t>11</a:t>
                      </a:r>
                    </a:p>
                  </a:txBody>
                  <a:tcPr/>
                </a:tc>
                <a:tc>
                  <a:txBody>
                    <a:bodyPr/>
                    <a:lstStyle/>
                    <a:p>
                      <a:r>
                        <a:rPr lang="en-US" dirty="0"/>
                        <a:t>12</a:t>
                      </a:r>
                    </a:p>
                  </a:txBody>
                  <a:tcPr/>
                </a:tc>
                <a:tc>
                  <a:txBody>
                    <a:bodyPr/>
                    <a:lstStyle/>
                    <a:p>
                      <a:r>
                        <a:rPr lang="en-US" dirty="0"/>
                        <a:t>13</a:t>
                      </a:r>
                    </a:p>
                  </a:txBody>
                  <a:tcPr/>
                </a:tc>
                <a:tc>
                  <a:txBody>
                    <a:bodyPr/>
                    <a:lstStyle/>
                    <a:p>
                      <a:r>
                        <a:rPr lang="en-US" dirty="0"/>
                        <a:t>14</a:t>
                      </a:r>
                    </a:p>
                  </a:txBody>
                  <a:tcPr/>
                </a:tc>
                <a:extLst>
                  <a:ext uri="{0D108BD9-81ED-4DB2-BD59-A6C34878D82A}">
                    <a16:rowId xmlns:a16="http://schemas.microsoft.com/office/drawing/2014/main" val="1040505530"/>
                  </a:ext>
                </a:extLst>
              </a:tr>
              <a:tr h="325765">
                <a:tc>
                  <a:txBody>
                    <a:bodyPr/>
                    <a:lstStyle/>
                    <a:p>
                      <a:r>
                        <a:rPr lang="en-US" dirty="0"/>
                        <a:t>Ionic size (pm) </a:t>
                      </a:r>
                    </a:p>
                  </a:txBody>
                  <a:tcPr/>
                </a:tc>
                <a:tc>
                  <a:txBody>
                    <a:bodyPr/>
                    <a:lstStyle/>
                    <a:p>
                      <a:r>
                        <a:rPr lang="en-US" dirty="0"/>
                        <a:t>95</a:t>
                      </a:r>
                    </a:p>
                  </a:txBody>
                  <a:tcPr/>
                </a:tc>
                <a:tc>
                  <a:txBody>
                    <a:bodyPr/>
                    <a:lstStyle/>
                    <a:p>
                      <a:r>
                        <a:rPr lang="en-US" dirty="0"/>
                        <a:t>72</a:t>
                      </a:r>
                    </a:p>
                  </a:txBody>
                  <a:tcPr/>
                </a:tc>
                <a:tc>
                  <a:txBody>
                    <a:bodyPr/>
                    <a:lstStyle/>
                    <a:p>
                      <a:r>
                        <a:rPr lang="en-US" dirty="0"/>
                        <a:t>53.5</a:t>
                      </a:r>
                    </a:p>
                  </a:txBody>
                  <a:tcPr/>
                </a:tc>
                <a:tc>
                  <a:txBody>
                    <a:bodyPr/>
                    <a:lstStyle/>
                    <a:p>
                      <a:r>
                        <a:rPr lang="en-US" dirty="0"/>
                        <a:t>40</a:t>
                      </a:r>
                    </a:p>
                  </a:txBody>
                  <a:tcPr/>
                </a:tc>
                <a:extLst>
                  <a:ext uri="{0D108BD9-81ED-4DB2-BD59-A6C34878D82A}">
                    <a16:rowId xmlns:a16="http://schemas.microsoft.com/office/drawing/2014/main" val="2630833603"/>
                  </a:ext>
                </a:extLst>
              </a:tr>
            </a:tbl>
          </a:graphicData>
        </a:graphic>
      </p:graphicFrame>
      <p:sp>
        <p:nvSpPr>
          <p:cNvPr id="2" name="Footer Placeholder 1">
            <a:extLst>
              <a:ext uri="{FF2B5EF4-FFF2-40B4-BE49-F238E27FC236}">
                <a16:creationId xmlns:a16="http://schemas.microsoft.com/office/drawing/2014/main" id="{A565CB5E-58BF-E8F3-CD93-DC180263C2D1}"/>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A3714E14-EC80-A973-9341-E9F05B4E663C}"/>
              </a:ext>
            </a:extLst>
          </p:cNvPr>
          <p:cNvSpPr>
            <a:spLocks noGrp="1"/>
          </p:cNvSpPr>
          <p:nvPr>
            <p:ph type="sldNum" sz="quarter" idx="12"/>
          </p:nvPr>
        </p:nvSpPr>
        <p:spPr/>
        <p:txBody>
          <a:bodyPr/>
          <a:lstStyle/>
          <a:p>
            <a:fld id="{18FFC5A6-CECA-42F5-ACA8-5C3F58FF9B21}" type="slidenum">
              <a:rPr lang="en-US" smtClean="0"/>
              <a:t>30</a:t>
            </a:fld>
            <a:endParaRPr lang="en-US"/>
          </a:p>
        </p:txBody>
      </p:sp>
      <p:sp>
        <p:nvSpPr>
          <p:cNvPr id="6" name="Date Placeholder 5">
            <a:extLst>
              <a:ext uri="{FF2B5EF4-FFF2-40B4-BE49-F238E27FC236}">
                <a16:creationId xmlns:a16="http://schemas.microsoft.com/office/drawing/2014/main" id="{46A768B1-88E9-925F-056B-4CA58B5AF23E}"/>
              </a:ext>
            </a:extLst>
          </p:cNvPr>
          <p:cNvSpPr>
            <a:spLocks noGrp="1"/>
          </p:cNvSpPr>
          <p:nvPr>
            <p:ph type="dt" sz="half" idx="10"/>
          </p:nvPr>
        </p:nvSpPr>
        <p:spPr/>
        <p:txBody>
          <a:bodyPr/>
          <a:lstStyle/>
          <a:p>
            <a:fld id="{D5BFFE50-CBFA-4A35-A4F8-8F257CF69DE4}" type="datetime1">
              <a:rPr lang="en-US" smtClean="0"/>
              <a:t>8/3/2023</a:t>
            </a:fld>
            <a:endParaRPr lang="en-US"/>
          </a:p>
        </p:txBody>
      </p:sp>
    </p:spTree>
    <p:extLst>
      <p:ext uri="{BB962C8B-B14F-4D97-AF65-F5344CB8AC3E}">
        <p14:creationId xmlns:p14="http://schemas.microsoft.com/office/powerpoint/2010/main" val="26973049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DD12DE-B796-4D4C-91B5-E9A23CFABB62}"/>
              </a:ext>
            </a:extLst>
          </p:cNvPr>
          <p:cNvSpPr>
            <a:spLocks noGrp="1"/>
          </p:cNvSpPr>
          <p:nvPr>
            <p:ph idx="1"/>
          </p:nvPr>
        </p:nvSpPr>
        <p:spPr>
          <a:xfrm>
            <a:off x="931506" y="556661"/>
            <a:ext cx="10535816" cy="5396269"/>
          </a:xfrm>
        </p:spPr>
        <p:txBody>
          <a:bodyPr>
            <a:noAutofit/>
          </a:bodyPr>
          <a:lstStyle/>
          <a:p>
            <a:pPr marL="0" indent="0" algn="ctr">
              <a:lnSpc>
                <a:spcPct val="150000"/>
              </a:lnSpc>
              <a:buNone/>
            </a:pPr>
            <a:r>
              <a:rPr lang="en-US" sz="4000" b="1" dirty="0">
                <a:latin typeface="Aharoni" panose="02010803020104030203" pitchFamily="2" charset="-79"/>
                <a:cs typeface="Aharoni" panose="02010803020104030203" pitchFamily="2" charset="-79"/>
              </a:rPr>
              <a:t>Isoelectronic species</a:t>
            </a:r>
          </a:p>
          <a:p>
            <a:pPr>
              <a:lnSpc>
                <a:spcPct val="150000"/>
              </a:lnSpc>
            </a:pPr>
            <a:r>
              <a:rPr lang="en-US" dirty="0"/>
              <a:t>Species with the same no. of electrons, but different no. of protons</a:t>
            </a:r>
          </a:p>
          <a:p>
            <a:pPr>
              <a:lnSpc>
                <a:spcPct val="150000"/>
              </a:lnSpc>
            </a:pPr>
            <a:r>
              <a:rPr lang="en-US" dirty="0"/>
              <a:t>Ex. F</a:t>
            </a:r>
            <a:r>
              <a:rPr lang="en-US" baseline="30000" dirty="0"/>
              <a:t>-</a:t>
            </a:r>
            <a:r>
              <a:rPr lang="en-US" dirty="0"/>
              <a:t>                       &amp;                Na</a:t>
            </a:r>
            <a:r>
              <a:rPr lang="en-US" baseline="30000" dirty="0"/>
              <a:t>+</a:t>
            </a:r>
          </a:p>
          <a:p>
            <a:pPr marL="0" indent="0">
              <a:lnSpc>
                <a:spcPct val="150000"/>
              </a:lnSpc>
              <a:buNone/>
            </a:pPr>
            <a:r>
              <a:rPr lang="en-US" dirty="0"/>
              <a:t>       10 electrons                   10 electrons</a:t>
            </a:r>
          </a:p>
          <a:p>
            <a:pPr marL="0" indent="0">
              <a:lnSpc>
                <a:spcPct val="150000"/>
              </a:lnSpc>
              <a:buNone/>
            </a:pPr>
            <a:r>
              <a:rPr lang="en-US" dirty="0"/>
              <a:t>       9 protons                        11 protons</a:t>
            </a:r>
          </a:p>
          <a:p>
            <a:pPr marL="0" indent="0">
              <a:lnSpc>
                <a:spcPct val="150000"/>
              </a:lnSpc>
              <a:buNone/>
            </a:pPr>
            <a:r>
              <a:rPr lang="en-US" dirty="0"/>
              <a:t>Ex.               O</a:t>
            </a:r>
            <a:r>
              <a:rPr lang="en-US" baseline="30000" dirty="0"/>
              <a:t>2-</a:t>
            </a:r>
            <a:r>
              <a:rPr lang="en-US" dirty="0"/>
              <a:t>          &amp;                F</a:t>
            </a:r>
            <a:r>
              <a:rPr lang="en-US" baseline="30000" dirty="0"/>
              <a:t>-1</a:t>
            </a:r>
          </a:p>
          <a:p>
            <a:pPr marL="0" indent="0">
              <a:lnSpc>
                <a:spcPct val="150000"/>
              </a:lnSpc>
              <a:buNone/>
            </a:pPr>
            <a:r>
              <a:rPr lang="en-US" dirty="0"/>
              <a:t>          10 electrons                  10 electrons</a:t>
            </a:r>
          </a:p>
          <a:p>
            <a:pPr marL="0" indent="0">
              <a:lnSpc>
                <a:spcPct val="150000"/>
              </a:lnSpc>
              <a:buNone/>
            </a:pPr>
            <a:r>
              <a:rPr lang="en-US" dirty="0"/>
              <a:t>           8 protons                       9 protons</a:t>
            </a:r>
          </a:p>
          <a:p>
            <a:pPr marL="0" indent="0">
              <a:lnSpc>
                <a:spcPct val="150000"/>
              </a:lnSpc>
              <a:buNone/>
            </a:pPr>
            <a:endParaRPr lang="en-US" dirty="0"/>
          </a:p>
          <a:p>
            <a:pPr>
              <a:lnSpc>
                <a:spcPct val="150000"/>
              </a:lnSpc>
            </a:pPr>
            <a:endParaRPr lang="en-US" dirty="0"/>
          </a:p>
          <a:p>
            <a:pPr marL="0" indent="0">
              <a:lnSpc>
                <a:spcPct val="150000"/>
              </a:lnSpc>
              <a:buNone/>
            </a:pPr>
            <a:r>
              <a:rPr lang="en-US" dirty="0"/>
              <a:t> </a:t>
            </a:r>
          </a:p>
          <a:p>
            <a:pPr marL="0" indent="0" algn="just">
              <a:lnSpc>
                <a:spcPct val="150000"/>
              </a:lnSpc>
              <a:buNone/>
            </a:pPr>
            <a:endParaRPr lang="en-US" dirty="0"/>
          </a:p>
          <a:p>
            <a:pPr algn="just">
              <a:lnSpc>
                <a:spcPct val="150000"/>
              </a:lnSpc>
            </a:pPr>
            <a:endParaRPr lang="en-IN" dirty="0"/>
          </a:p>
        </p:txBody>
      </p:sp>
      <p:sp>
        <p:nvSpPr>
          <p:cNvPr id="2" name="Footer Placeholder 1">
            <a:extLst>
              <a:ext uri="{FF2B5EF4-FFF2-40B4-BE49-F238E27FC236}">
                <a16:creationId xmlns:a16="http://schemas.microsoft.com/office/drawing/2014/main" id="{EA787DE1-0A33-7E38-D8B2-1970E5A9F69A}"/>
              </a:ext>
            </a:extLst>
          </p:cNvPr>
          <p:cNvSpPr>
            <a:spLocks noGrp="1"/>
          </p:cNvSpPr>
          <p:nvPr>
            <p:ph type="ftr" sz="quarter" idx="11"/>
          </p:nvPr>
        </p:nvSpPr>
        <p:spPr/>
        <p:txBody>
          <a:bodyPr/>
          <a:lstStyle/>
          <a:p>
            <a:r>
              <a:rPr lang="en-US"/>
              <a:t>Periodic Properties of Elements</a:t>
            </a:r>
          </a:p>
        </p:txBody>
      </p:sp>
      <p:sp>
        <p:nvSpPr>
          <p:cNvPr id="4" name="Slide Number Placeholder 3">
            <a:extLst>
              <a:ext uri="{FF2B5EF4-FFF2-40B4-BE49-F238E27FC236}">
                <a16:creationId xmlns:a16="http://schemas.microsoft.com/office/drawing/2014/main" id="{C8EF4F77-9AEF-3A55-EAF1-AE404044CB1E}"/>
              </a:ext>
            </a:extLst>
          </p:cNvPr>
          <p:cNvSpPr>
            <a:spLocks noGrp="1"/>
          </p:cNvSpPr>
          <p:nvPr>
            <p:ph type="sldNum" sz="quarter" idx="12"/>
          </p:nvPr>
        </p:nvSpPr>
        <p:spPr/>
        <p:txBody>
          <a:bodyPr/>
          <a:lstStyle/>
          <a:p>
            <a:fld id="{18FFC5A6-CECA-42F5-ACA8-5C3F58FF9B21}" type="slidenum">
              <a:rPr lang="en-US" smtClean="0"/>
              <a:t>31</a:t>
            </a:fld>
            <a:endParaRPr lang="en-US"/>
          </a:p>
        </p:txBody>
      </p:sp>
      <p:sp>
        <p:nvSpPr>
          <p:cNvPr id="5" name="Date Placeholder 4">
            <a:extLst>
              <a:ext uri="{FF2B5EF4-FFF2-40B4-BE49-F238E27FC236}">
                <a16:creationId xmlns:a16="http://schemas.microsoft.com/office/drawing/2014/main" id="{A2054A3B-C7F3-A90B-26EA-CAF2C5E88A9A}"/>
              </a:ext>
            </a:extLst>
          </p:cNvPr>
          <p:cNvSpPr>
            <a:spLocks noGrp="1"/>
          </p:cNvSpPr>
          <p:nvPr>
            <p:ph type="dt" sz="half" idx="10"/>
          </p:nvPr>
        </p:nvSpPr>
        <p:spPr/>
        <p:txBody>
          <a:bodyPr/>
          <a:lstStyle/>
          <a:p>
            <a:fld id="{B6E24A58-3D28-4A56-B75B-A8432EB1DDEB}" type="datetime1">
              <a:rPr lang="en-US" smtClean="0"/>
              <a:t>8/3/2023</a:t>
            </a:fld>
            <a:endParaRPr lang="en-US"/>
          </a:p>
        </p:txBody>
      </p:sp>
    </p:spTree>
    <p:extLst>
      <p:ext uri="{BB962C8B-B14F-4D97-AF65-F5344CB8AC3E}">
        <p14:creationId xmlns:p14="http://schemas.microsoft.com/office/powerpoint/2010/main" val="32599700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1534884" y="457200"/>
            <a:ext cx="8229600" cy="1143000"/>
          </a:xfrm>
        </p:spPr>
        <p:txBody>
          <a:bodyPr/>
          <a:lstStyle/>
          <a:p>
            <a:pPr algn="ctr"/>
            <a:r>
              <a:rPr lang="en-US" b="1" dirty="0">
                <a:latin typeface="Aharoni" panose="02010803020104030203" pitchFamily="2" charset="-79"/>
                <a:cs typeface="Aharoni" panose="02010803020104030203" pitchFamily="2" charset="-79"/>
              </a:rPr>
              <a:t>Ionization energy</a:t>
            </a:r>
          </a:p>
        </p:txBody>
      </p:sp>
      <p:sp>
        <p:nvSpPr>
          <p:cNvPr id="5" name="Rectangle 3"/>
          <p:cNvSpPr txBox="1">
            <a:spLocks noChangeArrowheads="1"/>
          </p:cNvSpPr>
          <p:nvPr/>
        </p:nvSpPr>
        <p:spPr>
          <a:xfrm>
            <a:off x="457199" y="1600200"/>
            <a:ext cx="11173969" cy="47679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t>It is possible to remove one or more electrons from an atom, ion or molecule provided sufficient energy is given to the system. The ionization energy of an element is defined as </a:t>
            </a:r>
            <a:r>
              <a:rPr lang="en-US" i="1" dirty="0"/>
              <a:t>the amount of energy required to remove the most loosely bound electron from an atom of the</a:t>
            </a:r>
            <a:r>
              <a:rPr lang="en-US" dirty="0"/>
              <a:t> </a:t>
            </a:r>
            <a:r>
              <a:rPr lang="en-US" i="1" dirty="0"/>
              <a:t>element in the gas phase.</a:t>
            </a:r>
            <a:endParaRPr lang="en-US" dirty="0"/>
          </a:p>
          <a:p>
            <a:pPr algn="ctr">
              <a:buFontTx/>
              <a:buNone/>
            </a:pPr>
            <a:r>
              <a:rPr lang="en-US" dirty="0"/>
              <a:t>M(g) = M(g)</a:t>
            </a:r>
            <a:r>
              <a:rPr lang="en-US" baseline="30000" dirty="0"/>
              <a:t>+</a:t>
            </a:r>
            <a:r>
              <a:rPr lang="en-US" dirty="0"/>
              <a:t> + e</a:t>
            </a:r>
          </a:p>
          <a:p>
            <a:pPr algn="just"/>
            <a:r>
              <a:rPr lang="en-US" dirty="0"/>
              <a:t>As I increases, atoms are harder to ionize</a:t>
            </a:r>
          </a:p>
          <a:p>
            <a:pPr algn="just"/>
            <a:r>
              <a:rPr lang="en-US" dirty="0"/>
              <a:t>Successive ionizations for electrons are represented by I</a:t>
            </a:r>
            <a:r>
              <a:rPr lang="en-US" baseline="-25000" dirty="0"/>
              <a:t>i</a:t>
            </a:r>
            <a:r>
              <a:rPr lang="en-US" dirty="0"/>
              <a:t> (i = 1,2,3,…)</a:t>
            </a:r>
          </a:p>
          <a:p>
            <a:pPr algn="ctr">
              <a:buFontTx/>
              <a:buNone/>
            </a:pPr>
            <a:r>
              <a:rPr lang="en-US" dirty="0"/>
              <a:t>I</a:t>
            </a:r>
            <a:r>
              <a:rPr lang="en-US" baseline="-25000" dirty="0"/>
              <a:t>1</a:t>
            </a:r>
            <a:r>
              <a:rPr lang="en-US" dirty="0"/>
              <a:t> &lt; I</a:t>
            </a:r>
            <a:r>
              <a:rPr lang="en-US" baseline="-25000" dirty="0"/>
              <a:t>2</a:t>
            </a:r>
            <a:r>
              <a:rPr lang="en-US" dirty="0"/>
              <a:t> &lt; I</a:t>
            </a:r>
            <a:r>
              <a:rPr lang="en-US" baseline="-25000" dirty="0"/>
              <a:t>3</a:t>
            </a:r>
            <a:r>
              <a:rPr lang="en-US" dirty="0"/>
              <a:t> &lt;… </a:t>
            </a:r>
          </a:p>
        </p:txBody>
      </p:sp>
      <p:sp>
        <p:nvSpPr>
          <p:cNvPr id="2" name="Footer Placeholder 1">
            <a:extLst>
              <a:ext uri="{FF2B5EF4-FFF2-40B4-BE49-F238E27FC236}">
                <a16:creationId xmlns:a16="http://schemas.microsoft.com/office/drawing/2014/main" id="{ABF201A5-7652-E943-FFAA-28E18D807656}"/>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E10D3C60-77DD-5846-A8ED-C6AAFA415321}"/>
              </a:ext>
            </a:extLst>
          </p:cNvPr>
          <p:cNvSpPr>
            <a:spLocks noGrp="1"/>
          </p:cNvSpPr>
          <p:nvPr>
            <p:ph type="sldNum" sz="quarter" idx="12"/>
          </p:nvPr>
        </p:nvSpPr>
        <p:spPr/>
        <p:txBody>
          <a:bodyPr/>
          <a:lstStyle/>
          <a:p>
            <a:fld id="{18FFC5A6-CECA-42F5-ACA8-5C3F58FF9B21}" type="slidenum">
              <a:rPr lang="en-US" smtClean="0"/>
              <a:t>32</a:t>
            </a:fld>
            <a:endParaRPr lang="en-US"/>
          </a:p>
        </p:txBody>
      </p:sp>
      <p:sp>
        <p:nvSpPr>
          <p:cNvPr id="6" name="Date Placeholder 5">
            <a:extLst>
              <a:ext uri="{FF2B5EF4-FFF2-40B4-BE49-F238E27FC236}">
                <a16:creationId xmlns:a16="http://schemas.microsoft.com/office/drawing/2014/main" id="{706C1E60-267F-883B-2D68-783C4B5A549D}"/>
              </a:ext>
            </a:extLst>
          </p:cNvPr>
          <p:cNvSpPr>
            <a:spLocks noGrp="1"/>
          </p:cNvSpPr>
          <p:nvPr>
            <p:ph type="dt" sz="half" idx="10"/>
          </p:nvPr>
        </p:nvSpPr>
        <p:spPr/>
        <p:txBody>
          <a:bodyPr/>
          <a:lstStyle/>
          <a:p>
            <a:fld id="{2CB43D05-4574-42B3-A510-E39D1F0FD485}" type="datetime1">
              <a:rPr lang="en-US" smtClean="0"/>
              <a:t>8/3/2023</a:t>
            </a:fld>
            <a:endParaRPr lang="en-US"/>
          </a:p>
        </p:txBody>
      </p:sp>
    </p:spTree>
    <p:extLst>
      <p:ext uri="{BB962C8B-B14F-4D97-AF65-F5344CB8AC3E}">
        <p14:creationId xmlns:p14="http://schemas.microsoft.com/office/powerpoint/2010/main" val="23972059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haroni" panose="02010803020104030203" pitchFamily="2" charset="-79"/>
                <a:cs typeface="Aharoni" panose="02010803020104030203" pitchFamily="2" charset="-79"/>
              </a:rPr>
              <a:t>Periodicity in ionization energy</a:t>
            </a:r>
          </a:p>
        </p:txBody>
      </p:sp>
      <p:sp>
        <p:nvSpPr>
          <p:cNvPr id="3" name="Content Placeholder 2"/>
          <p:cNvSpPr>
            <a:spLocks noGrp="1"/>
          </p:cNvSpPr>
          <p:nvPr>
            <p:ph idx="1"/>
          </p:nvPr>
        </p:nvSpPr>
        <p:spPr>
          <a:xfrm>
            <a:off x="738392" y="1690688"/>
            <a:ext cx="10515600" cy="4351338"/>
          </a:xfrm>
        </p:spPr>
        <p:txBody>
          <a:bodyPr>
            <a:normAutofit fontScale="92500" lnSpcReduction="10000"/>
          </a:bodyPr>
          <a:lstStyle/>
          <a:p>
            <a:pPr lvl="0" algn="just">
              <a:lnSpc>
                <a:spcPct val="150000"/>
              </a:lnSpc>
            </a:pPr>
            <a:r>
              <a:rPr lang="en-US" dirty="0"/>
              <a:t>Within each period for example, Li (Z = 3) to Ne (Z = 10) as atomic size decreases, nuclear charge increases, the ionization energy  rises steeply from Li to Ne.</a:t>
            </a:r>
          </a:p>
          <a:p>
            <a:pPr algn="just">
              <a:lnSpc>
                <a:spcPct val="150000"/>
              </a:lnSpc>
            </a:pPr>
            <a:r>
              <a:rPr lang="en-US" dirty="0"/>
              <a:t>Exception: the irregularity </a:t>
            </a:r>
            <a:r>
              <a:rPr lang="en-US" dirty="0" err="1"/>
              <a:t>i.e.higher</a:t>
            </a:r>
            <a:r>
              <a:rPr lang="en-US" dirty="0"/>
              <a:t> IE value can be explained on the basis of </a:t>
            </a:r>
            <a:r>
              <a:rPr lang="en-US" dirty="0" err="1"/>
              <a:t>empty,half</a:t>
            </a:r>
            <a:r>
              <a:rPr lang="en-US" dirty="0"/>
              <a:t>- filled and completely filled configuration having extra stability as seen for Be which has</a:t>
            </a:r>
          </a:p>
          <a:p>
            <a:pPr algn="just">
              <a:lnSpc>
                <a:spcPct val="150000"/>
              </a:lnSpc>
            </a:pPr>
            <a:r>
              <a:rPr lang="en-US" dirty="0"/>
              <a:t>filled 2s</a:t>
            </a:r>
            <a:r>
              <a:rPr lang="en-US" baseline="30000" dirty="0"/>
              <a:t>2</a:t>
            </a:r>
            <a:r>
              <a:rPr lang="en-US" dirty="0"/>
              <a:t> orbital and N has half-filled 2p</a:t>
            </a:r>
            <a:r>
              <a:rPr lang="en-US" baseline="30000" dirty="0"/>
              <a:t>5</a:t>
            </a:r>
            <a:r>
              <a:rPr lang="en-US" dirty="0"/>
              <a:t> orbital</a:t>
            </a:r>
          </a:p>
        </p:txBody>
      </p:sp>
      <p:graphicFrame>
        <p:nvGraphicFramePr>
          <p:cNvPr id="4" name="Table 3"/>
          <p:cNvGraphicFramePr>
            <a:graphicFrameLocks noGrp="1"/>
          </p:cNvGraphicFramePr>
          <p:nvPr>
            <p:extLst>
              <p:ext uri="{D42A27DB-BD31-4B8C-83A1-F6EECF244321}">
                <p14:modId xmlns:p14="http://schemas.microsoft.com/office/powerpoint/2010/main" val="205886530"/>
              </p:ext>
            </p:extLst>
          </p:nvPr>
        </p:nvGraphicFramePr>
        <p:xfrm>
          <a:off x="618648" y="3626100"/>
          <a:ext cx="10635344" cy="3123042"/>
        </p:xfrm>
        <a:graphic>
          <a:graphicData uri="http://schemas.openxmlformats.org/drawingml/2006/table">
            <a:tbl>
              <a:tblPr firstRow="1" firstCol="1" bandRow="1">
                <a:tableStyleId>{5C22544A-7EE6-4342-B048-85BDC9FD1C3A}</a:tableStyleId>
              </a:tblPr>
              <a:tblGrid>
                <a:gridCol w="2755496">
                  <a:extLst>
                    <a:ext uri="{9D8B030D-6E8A-4147-A177-3AD203B41FA5}">
                      <a16:colId xmlns:a16="http://schemas.microsoft.com/office/drawing/2014/main" val="20000"/>
                    </a:ext>
                  </a:extLst>
                </a:gridCol>
                <a:gridCol w="984030">
                  <a:extLst>
                    <a:ext uri="{9D8B030D-6E8A-4147-A177-3AD203B41FA5}">
                      <a16:colId xmlns:a16="http://schemas.microsoft.com/office/drawing/2014/main" val="20001"/>
                    </a:ext>
                  </a:extLst>
                </a:gridCol>
                <a:gridCol w="985298">
                  <a:extLst>
                    <a:ext uri="{9D8B030D-6E8A-4147-A177-3AD203B41FA5}">
                      <a16:colId xmlns:a16="http://schemas.microsoft.com/office/drawing/2014/main" val="20002"/>
                    </a:ext>
                  </a:extLst>
                </a:gridCol>
                <a:gridCol w="985298">
                  <a:extLst>
                    <a:ext uri="{9D8B030D-6E8A-4147-A177-3AD203B41FA5}">
                      <a16:colId xmlns:a16="http://schemas.microsoft.com/office/drawing/2014/main" val="20003"/>
                    </a:ext>
                  </a:extLst>
                </a:gridCol>
                <a:gridCol w="985298">
                  <a:extLst>
                    <a:ext uri="{9D8B030D-6E8A-4147-A177-3AD203B41FA5}">
                      <a16:colId xmlns:a16="http://schemas.microsoft.com/office/drawing/2014/main" val="20004"/>
                    </a:ext>
                  </a:extLst>
                </a:gridCol>
                <a:gridCol w="984030">
                  <a:extLst>
                    <a:ext uri="{9D8B030D-6E8A-4147-A177-3AD203B41FA5}">
                      <a16:colId xmlns:a16="http://schemas.microsoft.com/office/drawing/2014/main" val="20005"/>
                    </a:ext>
                  </a:extLst>
                </a:gridCol>
                <a:gridCol w="985298">
                  <a:extLst>
                    <a:ext uri="{9D8B030D-6E8A-4147-A177-3AD203B41FA5}">
                      <a16:colId xmlns:a16="http://schemas.microsoft.com/office/drawing/2014/main" val="20006"/>
                    </a:ext>
                  </a:extLst>
                </a:gridCol>
                <a:gridCol w="985298">
                  <a:extLst>
                    <a:ext uri="{9D8B030D-6E8A-4147-A177-3AD203B41FA5}">
                      <a16:colId xmlns:a16="http://schemas.microsoft.com/office/drawing/2014/main" val="20007"/>
                    </a:ext>
                  </a:extLst>
                </a:gridCol>
                <a:gridCol w="985298">
                  <a:extLst>
                    <a:ext uri="{9D8B030D-6E8A-4147-A177-3AD203B41FA5}">
                      <a16:colId xmlns:a16="http://schemas.microsoft.com/office/drawing/2014/main" val="20008"/>
                    </a:ext>
                  </a:extLst>
                </a:gridCol>
              </a:tblGrid>
              <a:tr h="685639">
                <a:tc>
                  <a:txBody>
                    <a:bodyPr/>
                    <a:lstStyle/>
                    <a:p>
                      <a:pPr marL="0" marR="0" algn="ctr">
                        <a:lnSpc>
                          <a:spcPct val="107000"/>
                        </a:lnSpc>
                        <a:spcBef>
                          <a:spcPts val="0"/>
                        </a:spcBef>
                        <a:spcAft>
                          <a:spcPts val="0"/>
                        </a:spcAft>
                      </a:pPr>
                      <a:r>
                        <a:rPr lang="en-IN" sz="2000" dirty="0">
                          <a:effectLst/>
                        </a:rPr>
                        <a:t>Element</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Li</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Be</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B</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C</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N</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O</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F</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Ne</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10000"/>
                  </a:ext>
                </a:extLst>
              </a:tr>
              <a:tr h="685639">
                <a:tc>
                  <a:txBody>
                    <a:bodyPr/>
                    <a:lstStyle/>
                    <a:p>
                      <a:pPr marL="0" marR="0" algn="ctr">
                        <a:lnSpc>
                          <a:spcPct val="107000"/>
                        </a:lnSpc>
                        <a:spcBef>
                          <a:spcPts val="0"/>
                        </a:spcBef>
                        <a:spcAft>
                          <a:spcPts val="0"/>
                        </a:spcAft>
                      </a:pPr>
                      <a:r>
                        <a:rPr lang="en-IN" sz="2000" dirty="0">
                          <a:effectLst/>
                        </a:rPr>
                        <a:t>Radius (pm)</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123</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89</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80</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77</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74</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74</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72</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10001"/>
                  </a:ext>
                </a:extLst>
              </a:tr>
              <a:tr h="685639">
                <a:tc>
                  <a:txBody>
                    <a:bodyPr/>
                    <a:lstStyle/>
                    <a:p>
                      <a:pPr marL="0" marR="0" algn="ctr">
                        <a:lnSpc>
                          <a:spcPct val="107000"/>
                        </a:lnSpc>
                        <a:spcBef>
                          <a:spcPts val="0"/>
                        </a:spcBef>
                        <a:spcAft>
                          <a:spcPts val="0"/>
                        </a:spcAft>
                      </a:pPr>
                      <a:r>
                        <a:rPr lang="en-IN" sz="2000" dirty="0">
                          <a:effectLst/>
                        </a:rPr>
                        <a:t>Nuclear charge</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dirty="0">
                          <a:effectLst/>
                        </a:rPr>
                        <a:t>+3</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dirty="0">
                          <a:effectLst/>
                        </a:rPr>
                        <a:t>+4</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+5</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+6</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dirty="0">
                          <a:effectLst/>
                        </a:rPr>
                        <a:t>+7</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+8</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+9</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+10</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10002"/>
                  </a:ext>
                </a:extLst>
              </a:tr>
              <a:tr h="1066125">
                <a:tc>
                  <a:txBody>
                    <a:bodyPr/>
                    <a:lstStyle/>
                    <a:p>
                      <a:pPr marL="0" marR="0" algn="ctr">
                        <a:lnSpc>
                          <a:spcPct val="107000"/>
                        </a:lnSpc>
                        <a:spcBef>
                          <a:spcPts val="0"/>
                        </a:spcBef>
                        <a:spcAft>
                          <a:spcPts val="0"/>
                        </a:spcAft>
                      </a:pPr>
                      <a:r>
                        <a:rPr lang="en-IN" sz="2000">
                          <a:effectLst/>
                        </a:rPr>
                        <a:t>Ionization energy (kJ mol</a:t>
                      </a:r>
                      <a:r>
                        <a:rPr lang="en-IN" sz="2000" baseline="30000">
                          <a:effectLst/>
                        </a:rPr>
                        <a:t>-1</a:t>
                      </a:r>
                      <a:r>
                        <a:rPr lang="en-IN" sz="2000">
                          <a:effectLst/>
                        </a:rPr>
                        <a:t>)</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520</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dirty="0">
                          <a:effectLst/>
                        </a:rPr>
                        <a:t>900</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dirty="0">
                          <a:effectLst/>
                        </a:rPr>
                        <a:t>800</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dirty="0">
                          <a:effectLst/>
                        </a:rPr>
                        <a:t>1090</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dirty="0">
                          <a:effectLst/>
                        </a:rPr>
                        <a:t>1400</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dirty="0">
                          <a:effectLst/>
                        </a:rPr>
                        <a:t>1310</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1680</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dirty="0">
                          <a:effectLst/>
                        </a:rPr>
                        <a:t>2080</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10003"/>
                  </a:ext>
                </a:extLst>
              </a:tr>
            </a:tbl>
          </a:graphicData>
        </a:graphic>
      </p:graphicFrame>
      <p:sp>
        <p:nvSpPr>
          <p:cNvPr id="5" name="Footer Placeholder 4">
            <a:extLst>
              <a:ext uri="{FF2B5EF4-FFF2-40B4-BE49-F238E27FC236}">
                <a16:creationId xmlns:a16="http://schemas.microsoft.com/office/drawing/2014/main" id="{34BD81EE-46F5-A1DE-36DE-D5C4183A603A}"/>
              </a:ext>
            </a:extLst>
          </p:cNvPr>
          <p:cNvSpPr>
            <a:spLocks noGrp="1"/>
          </p:cNvSpPr>
          <p:nvPr>
            <p:ph type="ftr" sz="quarter" idx="11"/>
          </p:nvPr>
        </p:nvSpPr>
        <p:spPr/>
        <p:txBody>
          <a:bodyPr/>
          <a:lstStyle/>
          <a:p>
            <a:r>
              <a:rPr lang="en-US"/>
              <a:t>Periodic Properties of Elements</a:t>
            </a:r>
          </a:p>
        </p:txBody>
      </p:sp>
      <p:sp>
        <p:nvSpPr>
          <p:cNvPr id="6" name="Slide Number Placeholder 5">
            <a:extLst>
              <a:ext uri="{FF2B5EF4-FFF2-40B4-BE49-F238E27FC236}">
                <a16:creationId xmlns:a16="http://schemas.microsoft.com/office/drawing/2014/main" id="{6BF072F3-FA9C-0269-4E0D-6DBEA8AC95DD}"/>
              </a:ext>
            </a:extLst>
          </p:cNvPr>
          <p:cNvSpPr>
            <a:spLocks noGrp="1"/>
          </p:cNvSpPr>
          <p:nvPr>
            <p:ph type="sldNum" sz="quarter" idx="12"/>
          </p:nvPr>
        </p:nvSpPr>
        <p:spPr/>
        <p:txBody>
          <a:bodyPr/>
          <a:lstStyle/>
          <a:p>
            <a:fld id="{18FFC5A6-CECA-42F5-ACA8-5C3F58FF9B21}" type="slidenum">
              <a:rPr lang="en-US" smtClean="0"/>
              <a:t>33</a:t>
            </a:fld>
            <a:endParaRPr lang="en-US"/>
          </a:p>
        </p:txBody>
      </p:sp>
      <p:sp>
        <p:nvSpPr>
          <p:cNvPr id="7" name="Date Placeholder 6">
            <a:extLst>
              <a:ext uri="{FF2B5EF4-FFF2-40B4-BE49-F238E27FC236}">
                <a16:creationId xmlns:a16="http://schemas.microsoft.com/office/drawing/2014/main" id="{95511D9F-622B-90B2-AA21-9B581FA6CF42}"/>
              </a:ext>
            </a:extLst>
          </p:cNvPr>
          <p:cNvSpPr>
            <a:spLocks noGrp="1"/>
          </p:cNvSpPr>
          <p:nvPr>
            <p:ph type="dt" sz="half" idx="10"/>
          </p:nvPr>
        </p:nvSpPr>
        <p:spPr/>
        <p:txBody>
          <a:bodyPr/>
          <a:lstStyle/>
          <a:p>
            <a:fld id="{4D941D13-8800-4BD2-9958-E2DAC19176AA}" type="datetime1">
              <a:rPr lang="en-US" smtClean="0"/>
              <a:t>8/3/2023</a:t>
            </a:fld>
            <a:endParaRPr lang="en-US"/>
          </a:p>
        </p:txBody>
      </p:sp>
    </p:spTree>
    <p:extLst>
      <p:ext uri="{BB962C8B-B14F-4D97-AF65-F5344CB8AC3E}">
        <p14:creationId xmlns:p14="http://schemas.microsoft.com/office/powerpoint/2010/main" val="34807859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Aharoni" panose="02010803020104030203" pitchFamily="2" charset="-79"/>
                <a:cs typeface="Aharoni" panose="02010803020104030203" pitchFamily="2" charset="-79"/>
              </a:rPr>
              <a:t>Periodicity in ionization energy (IE)</a:t>
            </a:r>
          </a:p>
        </p:txBody>
      </p:sp>
      <p:sp>
        <p:nvSpPr>
          <p:cNvPr id="3" name="Content Placeholder 2"/>
          <p:cNvSpPr>
            <a:spLocks noGrp="1"/>
          </p:cNvSpPr>
          <p:nvPr>
            <p:ph idx="1"/>
          </p:nvPr>
        </p:nvSpPr>
        <p:spPr>
          <a:xfrm>
            <a:off x="206523" y="1154217"/>
            <a:ext cx="11472498" cy="4351338"/>
          </a:xfrm>
        </p:spPr>
        <p:txBody>
          <a:bodyPr>
            <a:normAutofit/>
          </a:bodyPr>
          <a:lstStyle/>
          <a:p>
            <a:pPr algn="just">
              <a:lnSpc>
                <a:spcPct val="150000"/>
              </a:lnSpc>
            </a:pPr>
            <a:r>
              <a:rPr lang="en-US" b="1" dirty="0"/>
              <a:t>Exception</a:t>
            </a:r>
            <a:r>
              <a:rPr lang="en-US" dirty="0"/>
              <a:t>: the irregularity i.e. higher IE value can be explained on the basis of empty, half- filled and completely filled configuration having extra stability as seen for Be which has filled 2s</a:t>
            </a:r>
            <a:r>
              <a:rPr lang="en-US" baseline="30000" dirty="0"/>
              <a:t>2</a:t>
            </a:r>
            <a:r>
              <a:rPr lang="en-US" dirty="0"/>
              <a:t> orbital and N has half-filled 2p orbitals.</a:t>
            </a:r>
          </a:p>
        </p:txBody>
      </p:sp>
      <p:graphicFrame>
        <p:nvGraphicFramePr>
          <p:cNvPr id="4" name="Table 3"/>
          <p:cNvGraphicFramePr>
            <a:graphicFrameLocks noGrp="1"/>
          </p:cNvGraphicFramePr>
          <p:nvPr/>
        </p:nvGraphicFramePr>
        <p:xfrm>
          <a:off x="489858" y="3626100"/>
          <a:ext cx="10635344" cy="3123042"/>
        </p:xfrm>
        <a:graphic>
          <a:graphicData uri="http://schemas.openxmlformats.org/drawingml/2006/table">
            <a:tbl>
              <a:tblPr firstRow="1" firstCol="1" bandRow="1">
                <a:tableStyleId>{5C22544A-7EE6-4342-B048-85BDC9FD1C3A}</a:tableStyleId>
              </a:tblPr>
              <a:tblGrid>
                <a:gridCol w="2755496">
                  <a:extLst>
                    <a:ext uri="{9D8B030D-6E8A-4147-A177-3AD203B41FA5}">
                      <a16:colId xmlns:a16="http://schemas.microsoft.com/office/drawing/2014/main" val="20000"/>
                    </a:ext>
                  </a:extLst>
                </a:gridCol>
                <a:gridCol w="984030">
                  <a:extLst>
                    <a:ext uri="{9D8B030D-6E8A-4147-A177-3AD203B41FA5}">
                      <a16:colId xmlns:a16="http://schemas.microsoft.com/office/drawing/2014/main" val="20001"/>
                    </a:ext>
                  </a:extLst>
                </a:gridCol>
                <a:gridCol w="985298">
                  <a:extLst>
                    <a:ext uri="{9D8B030D-6E8A-4147-A177-3AD203B41FA5}">
                      <a16:colId xmlns:a16="http://schemas.microsoft.com/office/drawing/2014/main" val="20002"/>
                    </a:ext>
                  </a:extLst>
                </a:gridCol>
                <a:gridCol w="985298">
                  <a:extLst>
                    <a:ext uri="{9D8B030D-6E8A-4147-A177-3AD203B41FA5}">
                      <a16:colId xmlns:a16="http://schemas.microsoft.com/office/drawing/2014/main" val="20003"/>
                    </a:ext>
                  </a:extLst>
                </a:gridCol>
                <a:gridCol w="985298">
                  <a:extLst>
                    <a:ext uri="{9D8B030D-6E8A-4147-A177-3AD203B41FA5}">
                      <a16:colId xmlns:a16="http://schemas.microsoft.com/office/drawing/2014/main" val="20004"/>
                    </a:ext>
                  </a:extLst>
                </a:gridCol>
                <a:gridCol w="984030">
                  <a:extLst>
                    <a:ext uri="{9D8B030D-6E8A-4147-A177-3AD203B41FA5}">
                      <a16:colId xmlns:a16="http://schemas.microsoft.com/office/drawing/2014/main" val="20005"/>
                    </a:ext>
                  </a:extLst>
                </a:gridCol>
                <a:gridCol w="985298">
                  <a:extLst>
                    <a:ext uri="{9D8B030D-6E8A-4147-A177-3AD203B41FA5}">
                      <a16:colId xmlns:a16="http://schemas.microsoft.com/office/drawing/2014/main" val="20006"/>
                    </a:ext>
                  </a:extLst>
                </a:gridCol>
                <a:gridCol w="985298">
                  <a:extLst>
                    <a:ext uri="{9D8B030D-6E8A-4147-A177-3AD203B41FA5}">
                      <a16:colId xmlns:a16="http://schemas.microsoft.com/office/drawing/2014/main" val="20007"/>
                    </a:ext>
                  </a:extLst>
                </a:gridCol>
                <a:gridCol w="985298">
                  <a:extLst>
                    <a:ext uri="{9D8B030D-6E8A-4147-A177-3AD203B41FA5}">
                      <a16:colId xmlns:a16="http://schemas.microsoft.com/office/drawing/2014/main" val="20008"/>
                    </a:ext>
                  </a:extLst>
                </a:gridCol>
              </a:tblGrid>
              <a:tr h="685639">
                <a:tc>
                  <a:txBody>
                    <a:bodyPr/>
                    <a:lstStyle/>
                    <a:p>
                      <a:pPr marL="0" marR="0" algn="ctr">
                        <a:lnSpc>
                          <a:spcPct val="107000"/>
                        </a:lnSpc>
                        <a:spcBef>
                          <a:spcPts val="0"/>
                        </a:spcBef>
                        <a:spcAft>
                          <a:spcPts val="0"/>
                        </a:spcAft>
                      </a:pPr>
                      <a:r>
                        <a:rPr lang="en-IN" sz="2000" dirty="0">
                          <a:effectLst/>
                        </a:rPr>
                        <a:t>Element</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Li</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Be</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B</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C</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dirty="0">
                          <a:effectLst/>
                        </a:rPr>
                        <a:t>N</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O</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F</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Ne</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10000"/>
                  </a:ext>
                </a:extLst>
              </a:tr>
              <a:tr h="685639">
                <a:tc>
                  <a:txBody>
                    <a:bodyPr/>
                    <a:lstStyle/>
                    <a:p>
                      <a:pPr marL="0" marR="0" algn="ctr">
                        <a:lnSpc>
                          <a:spcPct val="107000"/>
                        </a:lnSpc>
                        <a:spcBef>
                          <a:spcPts val="0"/>
                        </a:spcBef>
                        <a:spcAft>
                          <a:spcPts val="0"/>
                        </a:spcAft>
                      </a:pPr>
                      <a:r>
                        <a:rPr lang="en-IN" sz="2000" dirty="0">
                          <a:effectLst/>
                        </a:rPr>
                        <a:t>Radius (pm)</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123</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89</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80</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77</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74</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74</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72</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10001"/>
                  </a:ext>
                </a:extLst>
              </a:tr>
              <a:tr h="685639">
                <a:tc>
                  <a:txBody>
                    <a:bodyPr/>
                    <a:lstStyle/>
                    <a:p>
                      <a:pPr marL="0" marR="0" algn="ctr">
                        <a:lnSpc>
                          <a:spcPct val="107000"/>
                        </a:lnSpc>
                        <a:spcBef>
                          <a:spcPts val="0"/>
                        </a:spcBef>
                        <a:spcAft>
                          <a:spcPts val="0"/>
                        </a:spcAft>
                      </a:pPr>
                      <a:r>
                        <a:rPr lang="en-IN" sz="2000" dirty="0">
                          <a:effectLst/>
                        </a:rPr>
                        <a:t>Nuclear charge</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dirty="0">
                          <a:effectLst/>
                        </a:rPr>
                        <a:t>+3</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dirty="0">
                          <a:effectLst/>
                        </a:rPr>
                        <a:t>+4</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+5</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+6</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dirty="0">
                          <a:effectLst/>
                        </a:rPr>
                        <a:t>+7</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+8</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+9</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+10</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10002"/>
                  </a:ext>
                </a:extLst>
              </a:tr>
              <a:tr h="1066125">
                <a:tc>
                  <a:txBody>
                    <a:bodyPr/>
                    <a:lstStyle/>
                    <a:p>
                      <a:pPr marL="0" marR="0" algn="ctr">
                        <a:lnSpc>
                          <a:spcPct val="107000"/>
                        </a:lnSpc>
                        <a:spcBef>
                          <a:spcPts val="0"/>
                        </a:spcBef>
                        <a:spcAft>
                          <a:spcPts val="0"/>
                        </a:spcAft>
                      </a:pPr>
                      <a:r>
                        <a:rPr lang="en-IN" sz="2000">
                          <a:effectLst/>
                        </a:rPr>
                        <a:t>Ionization energy (kJ mol</a:t>
                      </a:r>
                      <a:r>
                        <a:rPr lang="en-IN" sz="2000" baseline="30000">
                          <a:effectLst/>
                        </a:rPr>
                        <a:t>-1</a:t>
                      </a:r>
                      <a:r>
                        <a:rPr lang="en-IN" sz="2000">
                          <a:effectLst/>
                        </a:rPr>
                        <a:t>)</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520</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dirty="0">
                          <a:effectLst/>
                        </a:rPr>
                        <a:t>900</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dirty="0">
                          <a:effectLst/>
                        </a:rPr>
                        <a:t>800</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dirty="0">
                          <a:effectLst/>
                        </a:rPr>
                        <a:t>1090</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dirty="0">
                          <a:effectLst/>
                        </a:rPr>
                        <a:t>1400</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1310</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a:effectLst/>
                        </a:rPr>
                        <a:t>1680</a:t>
                      </a:r>
                      <a:endParaRPr lang="en-US" sz="20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marL="0" marR="0" algn="ctr">
                        <a:lnSpc>
                          <a:spcPct val="107000"/>
                        </a:lnSpc>
                        <a:spcBef>
                          <a:spcPts val="0"/>
                        </a:spcBef>
                        <a:spcAft>
                          <a:spcPts val="0"/>
                        </a:spcAft>
                      </a:pPr>
                      <a:r>
                        <a:rPr lang="en-IN" sz="2000" dirty="0">
                          <a:effectLst/>
                        </a:rPr>
                        <a:t>2080</a:t>
                      </a:r>
                      <a:endParaRPr lang="en-US" sz="20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10003"/>
                  </a:ext>
                </a:extLst>
              </a:tr>
            </a:tbl>
          </a:graphicData>
        </a:graphic>
      </p:graphicFrame>
      <p:sp>
        <p:nvSpPr>
          <p:cNvPr id="5" name="Footer Placeholder 4">
            <a:extLst>
              <a:ext uri="{FF2B5EF4-FFF2-40B4-BE49-F238E27FC236}">
                <a16:creationId xmlns:a16="http://schemas.microsoft.com/office/drawing/2014/main" id="{DB633322-0B72-9EAC-45D9-FD34575E6398}"/>
              </a:ext>
            </a:extLst>
          </p:cNvPr>
          <p:cNvSpPr>
            <a:spLocks noGrp="1"/>
          </p:cNvSpPr>
          <p:nvPr>
            <p:ph type="ftr" sz="quarter" idx="11"/>
          </p:nvPr>
        </p:nvSpPr>
        <p:spPr/>
        <p:txBody>
          <a:bodyPr/>
          <a:lstStyle/>
          <a:p>
            <a:r>
              <a:rPr lang="en-US"/>
              <a:t>Periodic Properties of Elements</a:t>
            </a:r>
          </a:p>
        </p:txBody>
      </p:sp>
      <p:sp>
        <p:nvSpPr>
          <p:cNvPr id="6" name="Slide Number Placeholder 5">
            <a:extLst>
              <a:ext uri="{FF2B5EF4-FFF2-40B4-BE49-F238E27FC236}">
                <a16:creationId xmlns:a16="http://schemas.microsoft.com/office/drawing/2014/main" id="{C248D118-F4AF-6C08-1F86-80469112AD2E}"/>
              </a:ext>
            </a:extLst>
          </p:cNvPr>
          <p:cNvSpPr>
            <a:spLocks noGrp="1"/>
          </p:cNvSpPr>
          <p:nvPr>
            <p:ph type="sldNum" sz="quarter" idx="12"/>
          </p:nvPr>
        </p:nvSpPr>
        <p:spPr/>
        <p:txBody>
          <a:bodyPr/>
          <a:lstStyle/>
          <a:p>
            <a:fld id="{18FFC5A6-CECA-42F5-ACA8-5C3F58FF9B21}" type="slidenum">
              <a:rPr lang="en-US" smtClean="0"/>
              <a:t>34</a:t>
            </a:fld>
            <a:endParaRPr lang="en-US"/>
          </a:p>
        </p:txBody>
      </p:sp>
      <p:sp>
        <p:nvSpPr>
          <p:cNvPr id="7" name="Date Placeholder 6">
            <a:extLst>
              <a:ext uri="{FF2B5EF4-FFF2-40B4-BE49-F238E27FC236}">
                <a16:creationId xmlns:a16="http://schemas.microsoft.com/office/drawing/2014/main" id="{AA8608F1-0F64-445E-C957-B991CA1821A7}"/>
              </a:ext>
            </a:extLst>
          </p:cNvPr>
          <p:cNvSpPr>
            <a:spLocks noGrp="1"/>
          </p:cNvSpPr>
          <p:nvPr>
            <p:ph type="dt" sz="half" idx="10"/>
          </p:nvPr>
        </p:nvSpPr>
        <p:spPr/>
        <p:txBody>
          <a:bodyPr/>
          <a:lstStyle/>
          <a:p>
            <a:fld id="{0B40D8A0-6663-4946-A6F7-19BE752A9470}" type="datetime1">
              <a:rPr lang="en-US" smtClean="0"/>
              <a:t>8/3/2023</a:t>
            </a:fld>
            <a:endParaRPr lang="en-US"/>
          </a:p>
        </p:txBody>
      </p:sp>
    </p:spTree>
    <p:extLst>
      <p:ext uri="{BB962C8B-B14F-4D97-AF65-F5344CB8AC3E}">
        <p14:creationId xmlns:p14="http://schemas.microsoft.com/office/powerpoint/2010/main" val="23161306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375" y="1285813"/>
            <a:ext cx="11627241" cy="4351338"/>
          </a:xfrm>
        </p:spPr>
        <p:txBody>
          <a:bodyPr/>
          <a:lstStyle/>
          <a:p>
            <a:pPr algn="just">
              <a:lnSpc>
                <a:spcPct val="150000"/>
              </a:lnSpc>
            </a:pPr>
            <a:r>
              <a:rPr lang="en-IN" dirty="0"/>
              <a:t>As we move from top to bottom in a group the IE value decreases. Due to addition of new electrons in newer shells, distance between nucleus and the valence electrons increases, therefore less energy is required to expel the valence electron as the attractive force of the nucleus is less.</a:t>
            </a:r>
            <a:endParaRPr lang="en-US" dirty="0"/>
          </a:p>
          <a:p>
            <a:pPr algn="just">
              <a:lnSpc>
                <a:spcPct val="150000"/>
              </a:lnSpc>
            </a:pPr>
            <a:endParaRPr lang="en-US" dirty="0"/>
          </a:p>
        </p:txBody>
      </p:sp>
      <p:sp>
        <p:nvSpPr>
          <p:cNvPr id="5" name="AutoShape 2" descr="Image result for ionization energy in grou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descr="number_1.png"/>
          <p:cNvPicPr/>
          <p:nvPr/>
        </p:nvPicPr>
        <p:blipFill>
          <a:blip r:embed="rId2">
            <a:extLst>
              <a:ext uri="{28A0092B-C50C-407E-A947-70E740481C1C}">
                <a14:useLocalDpi xmlns:a14="http://schemas.microsoft.com/office/drawing/2010/main" val="0"/>
              </a:ext>
            </a:extLst>
          </a:blip>
          <a:srcRect/>
          <a:stretch>
            <a:fillRect/>
          </a:stretch>
        </p:blipFill>
        <p:spPr bwMode="auto">
          <a:xfrm>
            <a:off x="614670" y="3757808"/>
            <a:ext cx="10834119" cy="3100192"/>
          </a:xfrm>
          <a:prstGeom prst="rect">
            <a:avLst/>
          </a:prstGeom>
          <a:noFill/>
          <a:ln>
            <a:noFill/>
          </a:ln>
        </p:spPr>
      </p:pic>
      <p:sp>
        <p:nvSpPr>
          <p:cNvPr id="7" name="Title 1"/>
          <p:cNvSpPr>
            <a:spLocks noGrp="1"/>
          </p:cNvSpPr>
          <p:nvPr>
            <p:ph type="title"/>
          </p:nvPr>
        </p:nvSpPr>
        <p:spPr>
          <a:xfrm>
            <a:off x="838200" y="365125"/>
            <a:ext cx="10515600" cy="1325563"/>
          </a:xfrm>
        </p:spPr>
        <p:txBody>
          <a:bodyPr/>
          <a:lstStyle/>
          <a:p>
            <a:pPr algn="ctr"/>
            <a:r>
              <a:rPr lang="en-US" b="1" dirty="0">
                <a:latin typeface="Aharoni" panose="02010803020104030203" pitchFamily="2" charset="-79"/>
                <a:cs typeface="Aharoni" panose="02010803020104030203" pitchFamily="2" charset="-79"/>
              </a:rPr>
              <a:t>Periodicity in ionization energy (IE)</a:t>
            </a:r>
          </a:p>
        </p:txBody>
      </p:sp>
      <p:sp>
        <p:nvSpPr>
          <p:cNvPr id="2" name="Footer Placeholder 1">
            <a:extLst>
              <a:ext uri="{FF2B5EF4-FFF2-40B4-BE49-F238E27FC236}">
                <a16:creationId xmlns:a16="http://schemas.microsoft.com/office/drawing/2014/main" id="{3127993B-B210-AB8F-C9DB-F0BB3F4CA072}"/>
              </a:ext>
            </a:extLst>
          </p:cNvPr>
          <p:cNvSpPr>
            <a:spLocks noGrp="1"/>
          </p:cNvSpPr>
          <p:nvPr>
            <p:ph type="ftr" sz="quarter" idx="11"/>
          </p:nvPr>
        </p:nvSpPr>
        <p:spPr/>
        <p:txBody>
          <a:bodyPr/>
          <a:lstStyle/>
          <a:p>
            <a:r>
              <a:rPr lang="en-US"/>
              <a:t>Periodic Properties of Elements</a:t>
            </a:r>
          </a:p>
        </p:txBody>
      </p:sp>
      <p:sp>
        <p:nvSpPr>
          <p:cNvPr id="4" name="Slide Number Placeholder 3">
            <a:extLst>
              <a:ext uri="{FF2B5EF4-FFF2-40B4-BE49-F238E27FC236}">
                <a16:creationId xmlns:a16="http://schemas.microsoft.com/office/drawing/2014/main" id="{E47C3BBF-834C-0871-2462-558B6B84ED6D}"/>
              </a:ext>
            </a:extLst>
          </p:cNvPr>
          <p:cNvSpPr>
            <a:spLocks noGrp="1"/>
          </p:cNvSpPr>
          <p:nvPr>
            <p:ph type="sldNum" sz="quarter" idx="12"/>
          </p:nvPr>
        </p:nvSpPr>
        <p:spPr/>
        <p:txBody>
          <a:bodyPr/>
          <a:lstStyle/>
          <a:p>
            <a:fld id="{18FFC5A6-CECA-42F5-ACA8-5C3F58FF9B21}" type="slidenum">
              <a:rPr lang="en-US" smtClean="0"/>
              <a:t>35</a:t>
            </a:fld>
            <a:endParaRPr lang="en-US"/>
          </a:p>
        </p:txBody>
      </p:sp>
      <p:sp>
        <p:nvSpPr>
          <p:cNvPr id="8" name="Date Placeholder 7">
            <a:extLst>
              <a:ext uri="{FF2B5EF4-FFF2-40B4-BE49-F238E27FC236}">
                <a16:creationId xmlns:a16="http://schemas.microsoft.com/office/drawing/2014/main" id="{73751E91-B9ED-A40F-8CE5-0A04BA50190A}"/>
              </a:ext>
            </a:extLst>
          </p:cNvPr>
          <p:cNvSpPr>
            <a:spLocks noGrp="1"/>
          </p:cNvSpPr>
          <p:nvPr>
            <p:ph type="dt" sz="half" idx="10"/>
          </p:nvPr>
        </p:nvSpPr>
        <p:spPr/>
        <p:txBody>
          <a:bodyPr/>
          <a:lstStyle/>
          <a:p>
            <a:fld id="{B165FC87-BF1C-4620-A278-8299AA8F7559}" type="datetime1">
              <a:rPr lang="en-US" smtClean="0"/>
              <a:t>8/3/2023</a:t>
            </a:fld>
            <a:endParaRPr lang="en-US"/>
          </a:p>
        </p:txBody>
      </p:sp>
    </p:spTree>
    <p:extLst>
      <p:ext uri="{BB962C8B-B14F-4D97-AF65-F5344CB8AC3E}">
        <p14:creationId xmlns:p14="http://schemas.microsoft.com/office/powerpoint/2010/main" val="16882710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584" y="-283464"/>
            <a:ext cx="10515600" cy="1325563"/>
          </a:xfrm>
        </p:spPr>
        <p:txBody>
          <a:bodyPr/>
          <a:lstStyle/>
          <a:p>
            <a:pPr algn="ctr"/>
            <a:r>
              <a:rPr lang="en-US" b="1" dirty="0">
                <a:latin typeface="Aharoni" panose="02010803020104030203" pitchFamily="2" charset="-79"/>
                <a:cs typeface="Aharoni" panose="02010803020104030203" pitchFamily="2" charset="-79"/>
              </a:rPr>
              <a:t>Electron Affinity (EA)</a:t>
            </a:r>
          </a:p>
        </p:txBody>
      </p:sp>
      <p:sp>
        <p:nvSpPr>
          <p:cNvPr id="3" name="Content Placeholder 2"/>
          <p:cNvSpPr>
            <a:spLocks noGrp="1"/>
          </p:cNvSpPr>
          <p:nvPr>
            <p:ph idx="1"/>
          </p:nvPr>
        </p:nvSpPr>
        <p:spPr>
          <a:xfrm>
            <a:off x="194482" y="379317"/>
            <a:ext cx="11774099" cy="6119845"/>
          </a:xfrm>
        </p:spPr>
        <p:txBody>
          <a:bodyPr vert="horz" lIns="91440" tIns="45720" rIns="91440" bIns="45720" rtlCol="0" anchor="t">
            <a:noAutofit/>
          </a:bodyPr>
          <a:lstStyle/>
          <a:p>
            <a:pPr algn="just">
              <a:lnSpc>
                <a:spcPct val="200000"/>
              </a:lnSpc>
            </a:pPr>
            <a:r>
              <a:rPr lang="en-IN" dirty="0"/>
              <a:t>The electron affinity of an atom is defined as, </a:t>
            </a:r>
            <a:r>
              <a:rPr lang="en-IN" i="1" dirty="0"/>
              <a:t>change in energy (</a:t>
            </a:r>
            <a:r>
              <a:rPr lang="en-IN" dirty="0"/>
              <a:t>energy released or spent) </a:t>
            </a:r>
            <a:r>
              <a:rPr lang="en-IN" i="1" dirty="0"/>
              <a:t>when an electron is added to neutral gaseous atom</a:t>
            </a:r>
            <a:r>
              <a:rPr lang="en-IN" dirty="0"/>
              <a:t> </a:t>
            </a:r>
            <a:r>
              <a:rPr lang="en-IN" i="1" dirty="0"/>
              <a:t>to form a negative ion. OR </a:t>
            </a:r>
            <a:r>
              <a:rPr lang="en-US" dirty="0"/>
              <a:t> </a:t>
            </a:r>
            <a:r>
              <a:rPr lang="en-US" b="1" dirty="0"/>
              <a:t>the amount of energy liberated when an electron is added to a neutral atom to form a negatively charged ion</a:t>
            </a:r>
            <a:endParaRPr lang="en-US" i="1" dirty="0"/>
          </a:p>
          <a:p>
            <a:pPr marL="0" indent="0" algn="ctr">
              <a:lnSpc>
                <a:spcPct val="200000"/>
              </a:lnSpc>
              <a:buNone/>
            </a:pPr>
            <a:r>
              <a:rPr lang="en-US" dirty="0"/>
              <a:t>   X(g) + e</a:t>
            </a:r>
            <a:r>
              <a:rPr lang="en-US" baseline="30000" dirty="0"/>
              <a:t>-</a:t>
            </a:r>
            <a:r>
              <a:rPr lang="en-US" dirty="0"/>
              <a:t> </a:t>
            </a:r>
            <a:r>
              <a:rPr lang="en-US" altLang="en-US" dirty="0"/>
              <a:t>→</a:t>
            </a:r>
            <a:r>
              <a:rPr lang="en-US" dirty="0"/>
              <a:t> X(g)</a:t>
            </a:r>
            <a:r>
              <a:rPr lang="en-US" baseline="30000" dirty="0"/>
              <a:t>-</a:t>
            </a:r>
            <a:r>
              <a:rPr lang="en-IN" i="1" dirty="0"/>
              <a:t>The electron affinity is a measure of the attraction between the incoming electron and the nucleus - the stronger the attraction, the more energy is released.</a:t>
            </a:r>
            <a:endParaRPr lang="en-US" i="1">
              <a:cs typeface="Calibri"/>
            </a:endParaRPr>
          </a:p>
          <a:p>
            <a:pPr marL="0" indent="0" algn="just">
              <a:lnSpc>
                <a:spcPct val="200000"/>
              </a:lnSpc>
              <a:buNone/>
            </a:pPr>
            <a:endParaRPr lang="en-IN" dirty="0"/>
          </a:p>
        </p:txBody>
      </p:sp>
      <p:sp>
        <p:nvSpPr>
          <p:cNvPr id="4" name="Footer Placeholder 3">
            <a:extLst>
              <a:ext uri="{FF2B5EF4-FFF2-40B4-BE49-F238E27FC236}">
                <a16:creationId xmlns:a16="http://schemas.microsoft.com/office/drawing/2014/main" id="{DE72BEEF-EB18-4D0A-E0EB-D72A1C21276F}"/>
              </a:ext>
            </a:extLst>
          </p:cNvPr>
          <p:cNvSpPr>
            <a:spLocks noGrp="1"/>
          </p:cNvSpPr>
          <p:nvPr>
            <p:ph type="ftr" sz="quarter" idx="11"/>
          </p:nvPr>
        </p:nvSpPr>
        <p:spPr/>
        <p:txBody>
          <a:bodyPr/>
          <a:lstStyle/>
          <a:p>
            <a:r>
              <a:rPr lang="en-US"/>
              <a:t>Periodic Properties of Elements</a:t>
            </a:r>
          </a:p>
        </p:txBody>
      </p:sp>
      <p:sp>
        <p:nvSpPr>
          <p:cNvPr id="5" name="Slide Number Placeholder 4">
            <a:extLst>
              <a:ext uri="{FF2B5EF4-FFF2-40B4-BE49-F238E27FC236}">
                <a16:creationId xmlns:a16="http://schemas.microsoft.com/office/drawing/2014/main" id="{D8824192-D4D2-A082-4726-B7CC03AF29B1}"/>
              </a:ext>
            </a:extLst>
          </p:cNvPr>
          <p:cNvSpPr>
            <a:spLocks noGrp="1"/>
          </p:cNvSpPr>
          <p:nvPr>
            <p:ph type="sldNum" sz="quarter" idx="12"/>
          </p:nvPr>
        </p:nvSpPr>
        <p:spPr/>
        <p:txBody>
          <a:bodyPr/>
          <a:lstStyle/>
          <a:p>
            <a:fld id="{18FFC5A6-CECA-42F5-ACA8-5C3F58FF9B21}" type="slidenum">
              <a:rPr lang="en-US" smtClean="0"/>
              <a:t>36</a:t>
            </a:fld>
            <a:endParaRPr lang="en-US"/>
          </a:p>
        </p:txBody>
      </p:sp>
      <p:sp>
        <p:nvSpPr>
          <p:cNvPr id="6" name="Date Placeholder 5">
            <a:extLst>
              <a:ext uri="{FF2B5EF4-FFF2-40B4-BE49-F238E27FC236}">
                <a16:creationId xmlns:a16="http://schemas.microsoft.com/office/drawing/2014/main" id="{E8CE949A-B85F-5DF8-DF6E-D383A7292E1A}"/>
              </a:ext>
            </a:extLst>
          </p:cNvPr>
          <p:cNvSpPr>
            <a:spLocks noGrp="1"/>
          </p:cNvSpPr>
          <p:nvPr>
            <p:ph type="dt" sz="half" idx="10"/>
          </p:nvPr>
        </p:nvSpPr>
        <p:spPr/>
        <p:txBody>
          <a:bodyPr/>
          <a:lstStyle/>
          <a:p>
            <a:fld id="{681AA81E-8D7F-427F-9DEC-F00DC1BAF824}" type="datetime1">
              <a:rPr lang="en-US" smtClean="0"/>
              <a:t>8/3/2023</a:t>
            </a:fld>
            <a:endParaRPr lang="en-US"/>
          </a:p>
        </p:txBody>
      </p:sp>
    </p:spTree>
    <p:extLst>
      <p:ext uri="{BB962C8B-B14F-4D97-AF65-F5344CB8AC3E}">
        <p14:creationId xmlns:p14="http://schemas.microsoft.com/office/powerpoint/2010/main" val="19161173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450761" y="719679"/>
            <a:ext cx="11487953" cy="698652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lnSpc>
                <a:spcPct val="200000"/>
              </a:lnSpc>
            </a:pPr>
            <a:r>
              <a:rPr lang="en-US" altLang="en-US" sz="3200" dirty="0">
                <a:latin typeface="+mn-lt"/>
              </a:rPr>
              <a:t>When an electron is added to a neutral atom with ease (i.e., first electron affinity) energy is released; thus, the first electron affinity is negative.</a:t>
            </a:r>
          </a:p>
          <a:p>
            <a:pPr algn="just">
              <a:lnSpc>
                <a:spcPct val="200000"/>
              </a:lnSpc>
            </a:pPr>
            <a:r>
              <a:rPr lang="en-US" altLang="en-US" sz="3200" dirty="0"/>
              <a:t>First Electron Affinity (negative energy because energy released):</a:t>
            </a:r>
          </a:p>
          <a:p>
            <a:pPr marL="0" lvl="0" indent="0" algn="just">
              <a:lnSpc>
                <a:spcPct val="200000"/>
              </a:lnSpc>
              <a:buNone/>
            </a:pPr>
            <a:r>
              <a:rPr lang="en-US" altLang="en-US" sz="3200" dirty="0"/>
              <a:t>    X</a:t>
            </a:r>
            <a:r>
              <a:rPr lang="en-US" altLang="en-US" sz="3200" baseline="-25000" dirty="0"/>
              <a:t>(g)</a:t>
            </a:r>
            <a:r>
              <a:rPr lang="en-US" altLang="en-US" sz="3200" dirty="0"/>
              <a:t>+e</a:t>
            </a:r>
            <a:r>
              <a:rPr lang="en-US" altLang="en-US" sz="3200" baseline="30000" dirty="0"/>
              <a:t>−</a:t>
            </a:r>
            <a:r>
              <a:rPr lang="en-US" altLang="en-US" sz="3200" dirty="0"/>
              <a:t>→X</a:t>
            </a:r>
            <a:r>
              <a:rPr lang="en-US" altLang="en-US" sz="3200" baseline="30000" dirty="0"/>
              <a:t>−</a:t>
            </a:r>
            <a:r>
              <a:rPr lang="en-US" altLang="en-US" sz="3200" baseline="-25000" dirty="0"/>
              <a:t>(g)</a:t>
            </a:r>
            <a:r>
              <a:rPr kumimoji="0" lang="en-US" altLang="en-US" sz="3200" b="0" i="0" u="none" strike="noStrike" cap="none" normalizeH="0" baseline="0" dirty="0">
                <a:ln>
                  <a:noFill/>
                </a:ln>
                <a:solidFill>
                  <a:schemeClr val="tx1"/>
                </a:solidFill>
                <a:effectLst/>
              </a:rPr>
              <a:t/>
            </a:r>
            <a:br>
              <a:rPr kumimoji="0" lang="en-US" altLang="en-US" sz="3200" b="0" i="0" u="none" strike="noStrike" cap="none" normalizeH="0" baseline="0" dirty="0">
                <a:ln>
                  <a:noFill/>
                </a:ln>
                <a:solidFill>
                  <a:schemeClr val="tx1"/>
                </a:solidFill>
                <a:effectLst/>
              </a:rPr>
            </a:br>
            <a:endParaRPr kumimoji="0" lang="en-US" altLang="en-US" sz="3200" b="0" i="0" u="none" strike="noStrike" cap="none" normalizeH="0" baseline="0" dirty="0">
              <a:ln>
                <a:noFill/>
              </a:ln>
              <a:solidFill>
                <a:schemeClr val="tx1"/>
              </a:solidFill>
              <a:effectLst/>
            </a:endParaRPr>
          </a:p>
        </p:txBody>
      </p:sp>
      <p:sp>
        <p:nvSpPr>
          <p:cNvPr id="3" name="Title 1"/>
          <p:cNvSpPr>
            <a:spLocks noGrp="1"/>
          </p:cNvSpPr>
          <p:nvPr>
            <p:ph type="title"/>
          </p:nvPr>
        </p:nvSpPr>
        <p:spPr>
          <a:xfrm>
            <a:off x="0" y="0"/>
            <a:ext cx="10515600" cy="1325563"/>
          </a:xfrm>
        </p:spPr>
        <p:txBody>
          <a:bodyPr/>
          <a:lstStyle/>
          <a:p>
            <a:pPr algn="ctr"/>
            <a:r>
              <a:rPr lang="en-US" b="1" dirty="0">
                <a:latin typeface="Aharoni" panose="02010803020104030203" pitchFamily="2" charset="-79"/>
                <a:cs typeface="Aharoni" panose="02010803020104030203" pitchFamily="2" charset="-79"/>
              </a:rPr>
              <a:t>Electron Affinity (EA)</a:t>
            </a:r>
          </a:p>
        </p:txBody>
      </p:sp>
      <p:sp>
        <p:nvSpPr>
          <p:cNvPr id="2" name="Footer Placeholder 1">
            <a:extLst>
              <a:ext uri="{FF2B5EF4-FFF2-40B4-BE49-F238E27FC236}">
                <a16:creationId xmlns:a16="http://schemas.microsoft.com/office/drawing/2014/main" id="{19AC88E2-788E-620F-4EDC-EAEA98F80657}"/>
              </a:ext>
            </a:extLst>
          </p:cNvPr>
          <p:cNvSpPr>
            <a:spLocks noGrp="1"/>
          </p:cNvSpPr>
          <p:nvPr>
            <p:ph type="ftr" sz="quarter" idx="11"/>
          </p:nvPr>
        </p:nvSpPr>
        <p:spPr/>
        <p:txBody>
          <a:bodyPr/>
          <a:lstStyle/>
          <a:p>
            <a:r>
              <a:rPr lang="en-US"/>
              <a:t>Periodic Properties of Elements</a:t>
            </a:r>
          </a:p>
        </p:txBody>
      </p:sp>
      <p:sp>
        <p:nvSpPr>
          <p:cNvPr id="5" name="Slide Number Placeholder 4">
            <a:extLst>
              <a:ext uri="{FF2B5EF4-FFF2-40B4-BE49-F238E27FC236}">
                <a16:creationId xmlns:a16="http://schemas.microsoft.com/office/drawing/2014/main" id="{058F4C0B-D73B-6740-D547-ACA943ABF52F}"/>
              </a:ext>
            </a:extLst>
          </p:cNvPr>
          <p:cNvSpPr>
            <a:spLocks noGrp="1"/>
          </p:cNvSpPr>
          <p:nvPr>
            <p:ph type="sldNum" sz="quarter" idx="12"/>
          </p:nvPr>
        </p:nvSpPr>
        <p:spPr/>
        <p:txBody>
          <a:bodyPr/>
          <a:lstStyle/>
          <a:p>
            <a:fld id="{18FFC5A6-CECA-42F5-ACA8-5C3F58FF9B21}" type="slidenum">
              <a:rPr lang="en-US" smtClean="0"/>
              <a:t>37</a:t>
            </a:fld>
            <a:endParaRPr lang="en-US"/>
          </a:p>
        </p:txBody>
      </p:sp>
      <p:sp>
        <p:nvSpPr>
          <p:cNvPr id="6" name="Date Placeholder 5">
            <a:extLst>
              <a:ext uri="{FF2B5EF4-FFF2-40B4-BE49-F238E27FC236}">
                <a16:creationId xmlns:a16="http://schemas.microsoft.com/office/drawing/2014/main" id="{6569E839-5075-68EF-2F0A-A9920897EF7F}"/>
              </a:ext>
            </a:extLst>
          </p:cNvPr>
          <p:cNvSpPr>
            <a:spLocks noGrp="1"/>
          </p:cNvSpPr>
          <p:nvPr>
            <p:ph type="dt" sz="half" idx="10"/>
          </p:nvPr>
        </p:nvSpPr>
        <p:spPr/>
        <p:txBody>
          <a:bodyPr/>
          <a:lstStyle/>
          <a:p>
            <a:fld id="{2C83F03E-A784-4777-89D8-2123D416036B}" type="datetime1">
              <a:rPr lang="en-US" smtClean="0"/>
              <a:t>8/3/2023</a:t>
            </a:fld>
            <a:endParaRPr lang="en-US"/>
          </a:p>
        </p:txBody>
      </p:sp>
    </p:spTree>
    <p:extLst>
      <p:ext uri="{BB962C8B-B14F-4D97-AF65-F5344CB8AC3E}">
        <p14:creationId xmlns:p14="http://schemas.microsoft.com/office/powerpoint/2010/main" val="1243638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242538" y="662781"/>
            <a:ext cx="11706923" cy="600408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lnSpc>
                <a:spcPct val="200000"/>
              </a:lnSpc>
            </a:pPr>
            <a:r>
              <a:rPr lang="en-US" altLang="en-US" dirty="0">
                <a:latin typeface="+mn-lt"/>
              </a:rPr>
              <a:t>However, more energy is required to add an electron to a negative ion </a:t>
            </a:r>
          </a:p>
          <a:p>
            <a:pPr marL="0" marR="0" lvl="0" indent="0" algn="just" defTabSz="914400" rtl="0" eaLnBrk="0" fontAlgn="base" latinLnBrk="0" hangingPunct="0">
              <a:lnSpc>
                <a:spcPct val="200000"/>
              </a:lnSpc>
              <a:spcBef>
                <a:spcPct val="0"/>
              </a:spcBef>
              <a:spcAft>
                <a:spcPct val="0"/>
              </a:spcAft>
              <a:buClrTx/>
              <a:buSzTx/>
              <a:buFontTx/>
              <a:buNone/>
              <a:tabLst/>
            </a:pPr>
            <a:r>
              <a:rPr lang="en-US" altLang="en-US" dirty="0">
                <a:latin typeface="+mn-lt"/>
              </a:rPr>
              <a:t>(i.e., second electron affinity) which overwhelms any the release of energy from the electron attachment process and hence, second electron affinities are positive.</a:t>
            </a:r>
          </a:p>
          <a:p>
            <a:pPr algn="just">
              <a:lnSpc>
                <a:spcPct val="200000"/>
              </a:lnSpc>
            </a:pPr>
            <a:r>
              <a:rPr lang="en-US" altLang="en-US" dirty="0">
                <a:latin typeface="+mn-lt"/>
              </a:rPr>
              <a:t>Second Electron Affinity (positive energy because energy needed is more  </a:t>
            </a:r>
          </a:p>
          <a:p>
            <a:pPr marL="0" marR="0" lvl="0" indent="0" algn="just" defTabSz="914400" rtl="0" eaLnBrk="0" fontAlgn="base" latinLnBrk="0" hangingPunct="0">
              <a:lnSpc>
                <a:spcPct val="200000"/>
              </a:lnSpc>
              <a:spcBef>
                <a:spcPct val="0"/>
              </a:spcBef>
              <a:spcAft>
                <a:spcPct val="0"/>
              </a:spcAft>
              <a:buClrTx/>
              <a:buSzTx/>
              <a:buNone/>
              <a:tabLst/>
            </a:pPr>
            <a:r>
              <a:rPr lang="en-US" altLang="en-US" dirty="0">
                <a:latin typeface="+mn-lt"/>
              </a:rPr>
              <a:t>   than gained):</a:t>
            </a:r>
          </a:p>
          <a:p>
            <a:pPr marL="0" marR="0" lvl="0" indent="0" algn="ctr" defTabSz="914400" rtl="0" eaLnBrk="0" fontAlgn="base" latinLnBrk="0" hangingPunct="0">
              <a:lnSpc>
                <a:spcPct val="200000"/>
              </a:lnSpc>
              <a:spcBef>
                <a:spcPct val="0"/>
              </a:spcBef>
              <a:spcAft>
                <a:spcPct val="0"/>
              </a:spcAft>
              <a:buClrTx/>
              <a:buSzTx/>
              <a:buFontTx/>
              <a:buNone/>
              <a:tabLst/>
            </a:pPr>
            <a:r>
              <a:rPr lang="en-US" altLang="en-US" dirty="0">
                <a:latin typeface="+mn-lt"/>
              </a:rPr>
              <a:t>   X</a:t>
            </a:r>
            <a:r>
              <a:rPr lang="en-US" altLang="en-US" baseline="30000" dirty="0">
                <a:latin typeface="+mn-lt"/>
              </a:rPr>
              <a:t>−</a:t>
            </a:r>
            <a:r>
              <a:rPr lang="en-US" altLang="en-US" baseline="-25000" dirty="0">
                <a:latin typeface="+mn-lt"/>
              </a:rPr>
              <a:t>(g)</a:t>
            </a:r>
            <a:r>
              <a:rPr lang="en-US" altLang="en-US" dirty="0">
                <a:latin typeface="+mn-lt"/>
              </a:rPr>
              <a:t>+e</a:t>
            </a:r>
            <a:r>
              <a:rPr lang="en-US" altLang="en-US" baseline="30000" dirty="0">
                <a:latin typeface="+mn-lt"/>
              </a:rPr>
              <a:t>−</a:t>
            </a:r>
            <a:r>
              <a:rPr lang="en-US" altLang="en-US" dirty="0">
                <a:latin typeface="+mn-lt"/>
              </a:rPr>
              <a:t>→X</a:t>
            </a:r>
            <a:r>
              <a:rPr lang="en-US" altLang="en-US" baseline="30000" dirty="0">
                <a:latin typeface="+mn-lt"/>
              </a:rPr>
              <a:t>2−</a:t>
            </a:r>
            <a:r>
              <a:rPr lang="en-US" altLang="en-US" baseline="-25000" dirty="0">
                <a:latin typeface="+mn-lt"/>
              </a:rPr>
              <a:t>(g)</a:t>
            </a:r>
          </a:p>
        </p:txBody>
      </p:sp>
      <p:sp>
        <p:nvSpPr>
          <p:cNvPr id="3" name="Title 1"/>
          <p:cNvSpPr>
            <a:spLocks noGrp="1"/>
          </p:cNvSpPr>
          <p:nvPr>
            <p:ph type="title"/>
          </p:nvPr>
        </p:nvSpPr>
        <p:spPr>
          <a:xfrm>
            <a:off x="0" y="0"/>
            <a:ext cx="10515600" cy="1325563"/>
          </a:xfrm>
        </p:spPr>
        <p:txBody>
          <a:bodyPr/>
          <a:lstStyle/>
          <a:p>
            <a:pPr algn="ctr"/>
            <a:r>
              <a:rPr lang="en-US" b="1" dirty="0">
                <a:latin typeface="Aharoni" panose="02010803020104030203" pitchFamily="2" charset="-79"/>
                <a:cs typeface="Aharoni" panose="02010803020104030203" pitchFamily="2" charset="-79"/>
              </a:rPr>
              <a:t>Electron Affinity (EA)</a:t>
            </a:r>
          </a:p>
        </p:txBody>
      </p:sp>
      <p:sp>
        <p:nvSpPr>
          <p:cNvPr id="2" name="Footer Placeholder 1">
            <a:extLst>
              <a:ext uri="{FF2B5EF4-FFF2-40B4-BE49-F238E27FC236}">
                <a16:creationId xmlns:a16="http://schemas.microsoft.com/office/drawing/2014/main" id="{9DBE6C65-C573-867A-4D2F-C92D50FE2938}"/>
              </a:ext>
            </a:extLst>
          </p:cNvPr>
          <p:cNvSpPr>
            <a:spLocks noGrp="1"/>
          </p:cNvSpPr>
          <p:nvPr>
            <p:ph type="ftr" sz="quarter" idx="11"/>
          </p:nvPr>
        </p:nvSpPr>
        <p:spPr/>
        <p:txBody>
          <a:bodyPr/>
          <a:lstStyle/>
          <a:p>
            <a:r>
              <a:rPr lang="en-US"/>
              <a:t>Periodic Properties of Elements</a:t>
            </a:r>
          </a:p>
        </p:txBody>
      </p:sp>
      <p:sp>
        <p:nvSpPr>
          <p:cNvPr id="5" name="Slide Number Placeholder 4">
            <a:extLst>
              <a:ext uri="{FF2B5EF4-FFF2-40B4-BE49-F238E27FC236}">
                <a16:creationId xmlns:a16="http://schemas.microsoft.com/office/drawing/2014/main" id="{5B79E42B-01EB-9771-169D-10C1EE9CBD49}"/>
              </a:ext>
            </a:extLst>
          </p:cNvPr>
          <p:cNvSpPr>
            <a:spLocks noGrp="1"/>
          </p:cNvSpPr>
          <p:nvPr>
            <p:ph type="sldNum" sz="quarter" idx="12"/>
          </p:nvPr>
        </p:nvSpPr>
        <p:spPr/>
        <p:txBody>
          <a:bodyPr/>
          <a:lstStyle/>
          <a:p>
            <a:fld id="{18FFC5A6-CECA-42F5-ACA8-5C3F58FF9B21}" type="slidenum">
              <a:rPr lang="en-US" smtClean="0"/>
              <a:t>38</a:t>
            </a:fld>
            <a:endParaRPr lang="en-US"/>
          </a:p>
        </p:txBody>
      </p:sp>
      <p:sp>
        <p:nvSpPr>
          <p:cNvPr id="6" name="Date Placeholder 5">
            <a:extLst>
              <a:ext uri="{FF2B5EF4-FFF2-40B4-BE49-F238E27FC236}">
                <a16:creationId xmlns:a16="http://schemas.microsoft.com/office/drawing/2014/main" id="{79BF313E-7C29-CAED-31FC-CFC00F720D44}"/>
              </a:ext>
            </a:extLst>
          </p:cNvPr>
          <p:cNvSpPr>
            <a:spLocks noGrp="1"/>
          </p:cNvSpPr>
          <p:nvPr>
            <p:ph type="dt" sz="half" idx="10"/>
          </p:nvPr>
        </p:nvSpPr>
        <p:spPr/>
        <p:txBody>
          <a:bodyPr/>
          <a:lstStyle/>
          <a:p>
            <a:fld id="{3A455385-8119-4690-A688-96A8F5C353B3}" type="datetime1">
              <a:rPr lang="en-US" smtClean="0"/>
              <a:t>8/3/2023</a:t>
            </a:fld>
            <a:endParaRPr lang="en-US"/>
          </a:p>
        </p:txBody>
      </p:sp>
    </p:spTree>
    <p:extLst>
      <p:ext uri="{BB962C8B-B14F-4D97-AF65-F5344CB8AC3E}">
        <p14:creationId xmlns:p14="http://schemas.microsoft.com/office/powerpoint/2010/main" val="33492429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pPr algn="ctr"/>
            <a:r>
              <a:rPr lang="en-US" b="1" dirty="0">
                <a:latin typeface="Aharoni" panose="02010803020104030203" pitchFamily="2" charset="-79"/>
                <a:cs typeface="Aharoni" panose="02010803020104030203" pitchFamily="2" charset="-79"/>
              </a:rPr>
              <a:t>Periodicity in Electron Affinity (EA)</a:t>
            </a:r>
          </a:p>
        </p:txBody>
      </p:sp>
      <p:sp>
        <p:nvSpPr>
          <p:cNvPr id="3" name="Content Placeholder 2"/>
          <p:cNvSpPr>
            <a:spLocks noGrp="1"/>
          </p:cNvSpPr>
          <p:nvPr>
            <p:ph idx="1"/>
          </p:nvPr>
        </p:nvSpPr>
        <p:spPr>
          <a:xfrm>
            <a:off x="206828" y="1085395"/>
            <a:ext cx="11803035" cy="5772605"/>
          </a:xfrm>
        </p:spPr>
        <p:txBody>
          <a:bodyPr>
            <a:normAutofit/>
          </a:bodyPr>
          <a:lstStyle/>
          <a:p>
            <a:pPr lvl="0" algn="just">
              <a:lnSpc>
                <a:spcPct val="200000"/>
              </a:lnSpc>
            </a:pPr>
            <a:r>
              <a:rPr lang="en-IN" sz="3600" i="1" dirty="0">
                <a:solidFill>
                  <a:srgbClr val="FF0000"/>
                </a:solidFill>
              </a:rPr>
              <a:t>Within each period</a:t>
            </a:r>
            <a:r>
              <a:rPr lang="en-IN" sz="3600" i="1" dirty="0"/>
              <a:t> for example, Li (Z = 3) to F (Z = 9) the size of atom decreases and their nuclear charge increases, both these factors favour </a:t>
            </a:r>
            <a:r>
              <a:rPr lang="en-IN" sz="3600" i="1" dirty="0">
                <a:solidFill>
                  <a:srgbClr val="FF0000"/>
                </a:solidFill>
              </a:rPr>
              <a:t>increase in electron affinity.</a:t>
            </a:r>
            <a:endParaRPr lang="en-US" sz="3600" i="1" dirty="0">
              <a:solidFill>
                <a:srgbClr val="FF0000"/>
              </a:solidFill>
            </a:endParaRPr>
          </a:p>
          <a:p>
            <a:pPr lvl="0" algn="just">
              <a:lnSpc>
                <a:spcPct val="200000"/>
              </a:lnSpc>
            </a:pPr>
            <a:r>
              <a:rPr lang="en-IN" sz="3600" i="1" dirty="0"/>
              <a:t>As we move from </a:t>
            </a:r>
            <a:r>
              <a:rPr lang="en-IN" sz="3600" i="1" dirty="0">
                <a:solidFill>
                  <a:srgbClr val="FF0000"/>
                </a:solidFill>
              </a:rPr>
              <a:t>top to bottom in a group </a:t>
            </a:r>
            <a:r>
              <a:rPr lang="en-IN" sz="3600" i="1" dirty="0"/>
              <a:t>the </a:t>
            </a:r>
            <a:r>
              <a:rPr lang="en-IN" sz="3600" i="1" dirty="0">
                <a:solidFill>
                  <a:srgbClr val="FF0000"/>
                </a:solidFill>
              </a:rPr>
              <a:t>EA value decreases</a:t>
            </a:r>
            <a:r>
              <a:rPr lang="en-IN" sz="3600" i="1" dirty="0"/>
              <a:t>. </a:t>
            </a:r>
            <a:endParaRPr lang="en-US" sz="3600" i="1" dirty="0"/>
          </a:p>
        </p:txBody>
      </p:sp>
      <p:sp>
        <p:nvSpPr>
          <p:cNvPr id="4" name="Footer Placeholder 3">
            <a:extLst>
              <a:ext uri="{FF2B5EF4-FFF2-40B4-BE49-F238E27FC236}">
                <a16:creationId xmlns:a16="http://schemas.microsoft.com/office/drawing/2014/main" id="{DBE110BD-4C0C-C494-2E46-ADE17283FA6F}"/>
              </a:ext>
            </a:extLst>
          </p:cNvPr>
          <p:cNvSpPr>
            <a:spLocks noGrp="1"/>
          </p:cNvSpPr>
          <p:nvPr>
            <p:ph type="ftr" sz="quarter" idx="11"/>
          </p:nvPr>
        </p:nvSpPr>
        <p:spPr/>
        <p:txBody>
          <a:bodyPr/>
          <a:lstStyle/>
          <a:p>
            <a:r>
              <a:rPr lang="en-US"/>
              <a:t>Periodic Properties of Elements</a:t>
            </a:r>
          </a:p>
        </p:txBody>
      </p:sp>
      <p:sp>
        <p:nvSpPr>
          <p:cNvPr id="5" name="Slide Number Placeholder 4">
            <a:extLst>
              <a:ext uri="{FF2B5EF4-FFF2-40B4-BE49-F238E27FC236}">
                <a16:creationId xmlns:a16="http://schemas.microsoft.com/office/drawing/2014/main" id="{7A87149B-5362-E129-8D3F-4DC67172E960}"/>
              </a:ext>
            </a:extLst>
          </p:cNvPr>
          <p:cNvSpPr>
            <a:spLocks noGrp="1"/>
          </p:cNvSpPr>
          <p:nvPr>
            <p:ph type="sldNum" sz="quarter" idx="12"/>
          </p:nvPr>
        </p:nvSpPr>
        <p:spPr/>
        <p:txBody>
          <a:bodyPr/>
          <a:lstStyle/>
          <a:p>
            <a:fld id="{18FFC5A6-CECA-42F5-ACA8-5C3F58FF9B21}" type="slidenum">
              <a:rPr lang="en-US" smtClean="0"/>
              <a:t>39</a:t>
            </a:fld>
            <a:endParaRPr lang="en-US"/>
          </a:p>
        </p:txBody>
      </p:sp>
      <p:sp>
        <p:nvSpPr>
          <p:cNvPr id="6" name="Date Placeholder 5">
            <a:extLst>
              <a:ext uri="{FF2B5EF4-FFF2-40B4-BE49-F238E27FC236}">
                <a16:creationId xmlns:a16="http://schemas.microsoft.com/office/drawing/2014/main" id="{BBEF4D40-C09F-814C-56D7-47D11DD8B051}"/>
              </a:ext>
            </a:extLst>
          </p:cNvPr>
          <p:cNvSpPr>
            <a:spLocks noGrp="1"/>
          </p:cNvSpPr>
          <p:nvPr>
            <p:ph type="dt" sz="half" idx="10"/>
          </p:nvPr>
        </p:nvSpPr>
        <p:spPr/>
        <p:txBody>
          <a:bodyPr/>
          <a:lstStyle/>
          <a:p>
            <a:fld id="{B51B0612-9E89-4A65-BEFF-ABA1133AF2CF}" type="datetime1">
              <a:rPr lang="en-US" smtClean="0"/>
              <a:t>8/3/2023</a:t>
            </a:fld>
            <a:endParaRPr lang="en-US"/>
          </a:p>
        </p:txBody>
      </p:sp>
    </p:spTree>
    <p:extLst>
      <p:ext uri="{BB962C8B-B14F-4D97-AF65-F5344CB8AC3E}">
        <p14:creationId xmlns:p14="http://schemas.microsoft.com/office/powerpoint/2010/main" val="42266597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07_12"/>
          <p:cNvPicPr>
            <a:picLocks noChangeAspect="1" noChangeArrowheads="1"/>
          </p:cNvPicPr>
          <p:nvPr/>
        </p:nvPicPr>
        <p:blipFill rotWithShape="1">
          <a:blip r:embed="rId2">
            <a:extLst>
              <a:ext uri="{28A0092B-C50C-407E-A947-70E740481C1C}">
                <a14:useLocalDpi xmlns:a14="http://schemas.microsoft.com/office/drawing/2010/main" val="0"/>
              </a:ext>
            </a:extLst>
          </a:blip>
          <a:srcRect b="4087"/>
          <a:stretch/>
        </p:blipFill>
        <p:spPr>
          <a:xfrm>
            <a:off x="1300525" y="0"/>
            <a:ext cx="9504849" cy="364472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Rectangle 2"/>
          <p:cNvSpPr>
            <a:spLocks noChangeArrowheads="1"/>
          </p:cNvSpPr>
          <p:nvPr/>
        </p:nvSpPr>
        <p:spPr bwMode="auto">
          <a:xfrm>
            <a:off x="244577" y="3971768"/>
            <a:ext cx="11616743" cy="2597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682750" algn="l"/>
              </a:tabLst>
              <a:defRPr>
                <a:solidFill>
                  <a:schemeClr val="tx1"/>
                </a:solidFill>
                <a:latin typeface="Arial" panose="020B0604020202020204" pitchFamily="34" charset="0"/>
              </a:defRPr>
            </a:lvl1pPr>
            <a:lvl2pPr eaLnBrk="0" fontAlgn="base" hangingPunct="0">
              <a:spcBef>
                <a:spcPct val="0"/>
              </a:spcBef>
              <a:spcAft>
                <a:spcPct val="0"/>
              </a:spcAft>
              <a:tabLst>
                <a:tab pos="1682750" algn="l"/>
              </a:tabLst>
              <a:defRPr>
                <a:solidFill>
                  <a:schemeClr val="tx1"/>
                </a:solidFill>
                <a:latin typeface="Arial" panose="020B0604020202020204" pitchFamily="34" charset="0"/>
              </a:defRPr>
            </a:lvl2pPr>
            <a:lvl3pPr eaLnBrk="0" fontAlgn="base" hangingPunct="0">
              <a:spcBef>
                <a:spcPct val="0"/>
              </a:spcBef>
              <a:spcAft>
                <a:spcPct val="0"/>
              </a:spcAft>
              <a:tabLst>
                <a:tab pos="1682750" algn="l"/>
              </a:tabLst>
              <a:defRPr>
                <a:solidFill>
                  <a:schemeClr val="tx1"/>
                </a:solidFill>
                <a:latin typeface="Arial" panose="020B0604020202020204" pitchFamily="34" charset="0"/>
              </a:defRPr>
            </a:lvl3pPr>
            <a:lvl4pPr eaLnBrk="0" fontAlgn="base" hangingPunct="0">
              <a:spcBef>
                <a:spcPct val="0"/>
              </a:spcBef>
              <a:spcAft>
                <a:spcPct val="0"/>
              </a:spcAft>
              <a:tabLst>
                <a:tab pos="1682750" algn="l"/>
              </a:tabLst>
              <a:defRPr>
                <a:solidFill>
                  <a:schemeClr val="tx1"/>
                </a:solidFill>
                <a:latin typeface="Arial" panose="020B0604020202020204" pitchFamily="34" charset="0"/>
              </a:defRPr>
            </a:lvl4pPr>
            <a:lvl5pPr eaLnBrk="0" fontAlgn="base" hangingPunct="0">
              <a:spcBef>
                <a:spcPct val="0"/>
              </a:spcBef>
              <a:spcAft>
                <a:spcPct val="0"/>
              </a:spcAft>
              <a:tabLst>
                <a:tab pos="1682750" algn="l"/>
              </a:tabLst>
              <a:defRPr>
                <a:solidFill>
                  <a:schemeClr val="tx1"/>
                </a:solidFill>
                <a:latin typeface="Arial" panose="020B0604020202020204" pitchFamily="34" charset="0"/>
              </a:defRPr>
            </a:lvl5pPr>
            <a:lvl6pPr eaLnBrk="0" fontAlgn="base" hangingPunct="0">
              <a:spcBef>
                <a:spcPct val="0"/>
              </a:spcBef>
              <a:spcAft>
                <a:spcPct val="0"/>
              </a:spcAft>
              <a:tabLst>
                <a:tab pos="1682750" algn="l"/>
              </a:tabLst>
              <a:defRPr>
                <a:solidFill>
                  <a:schemeClr val="tx1"/>
                </a:solidFill>
                <a:latin typeface="Arial" panose="020B0604020202020204" pitchFamily="34" charset="0"/>
              </a:defRPr>
            </a:lvl6pPr>
            <a:lvl7pPr eaLnBrk="0" fontAlgn="base" hangingPunct="0">
              <a:spcBef>
                <a:spcPct val="0"/>
              </a:spcBef>
              <a:spcAft>
                <a:spcPct val="0"/>
              </a:spcAft>
              <a:tabLst>
                <a:tab pos="1682750" algn="l"/>
              </a:tabLst>
              <a:defRPr>
                <a:solidFill>
                  <a:schemeClr val="tx1"/>
                </a:solidFill>
                <a:latin typeface="Arial" panose="020B0604020202020204" pitchFamily="34" charset="0"/>
              </a:defRPr>
            </a:lvl7pPr>
            <a:lvl8pPr eaLnBrk="0" fontAlgn="base" hangingPunct="0">
              <a:spcBef>
                <a:spcPct val="0"/>
              </a:spcBef>
              <a:spcAft>
                <a:spcPct val="0"/>
              </a:spcAft>
              <a:tabLst>
                <a:tab pos="1682750" algn="l"/>
              </a:tabLst>
              <a:defRPr>
                <a:solidFill>
                  <a:schemeClr val="tx1"/>
                </a:solidFill>
                <a:latin typeface="Arial" panose="020B0604020202020204" pitchFamily="34" charset="0"/>
              </a:defRPr>
            </a:lvl8pPr>
            <a:lvl9pPr eaLnBrk="0" fontAlgn="base" hangingPunct="0">
              <a:spcBef>
                <a:spcPct val="0"/>
              </a:spcBef>
              <a:spcAft>
                <a:spcPct val="0"/>
              </a:spcAft>
              <a:tabLst>
                <a:tab pos="168275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tab pos="1682750" algn="l"/>
              </a:tabLst>
            </a:pPr>
            <a:r>
              <a:rPr kumimoji="0" lang="en-US" altLang="en-US" sz="2800" b="1" i="0" u="none" strike="noStrike" cap="none" normalizeH="0" baseline="0" dirty="0">
                <a:ln>
                  <a:noFill/>
                </a:ln>
                <a:solidFill>
                  <a:schemeClr val="tx1"/>
                </a:solidFill>
                <a:effectLst/>
                <a:ea typeface="Arial" panose="020B0604020202020204" pitchFamily="34" charset="0"/>
              </a:rPr>
              <a:t>Exception</a:t>
            </a:r>
            <a:r>
              <a:rPr kumimoji="0" lang="en-US" altLang="en-US" sz="2800" b="0" i="0" u="none" strike="noStrike" cap="none" normalizeH="0" baseline="0" dirty="0">
                <a:ln>
                  <a:noFill/>
                </a:ln>
                <a:solidFill>
                  <a:schemeClr val="tx1"/>
                </a:solidFill>
                <a:effectLst/>
                <a:ea typeface="Arial" panose="020B0604020202020204" pitchFamily="34" charset="0"/>
              </a:rPr>
              <a:t>: In halogens group 17,the low value of EA of F (-328Kj/mole) relative to that of Cl</a:t>
            </a:r>
            <a:r>
              <a:rPr lang="en-US" altLang="en-US" sz="2800" dirty="0"/>
              <a:t> </a:t>
            </a:r>
            <a:r>
              <a:rPr kumimoji="0" lang="en-US" altLang="en-US" sz="2800" b="0" i="0" u="none" strike="noStrike" cap="none" normalizeH="0" baseline="0" dirty="0">
                <a:ln>
                  <a:noFill/>
                </a:ln>
                <a:solidFill>
                  <a:schemeClr val="tx1"/>
                </a:solidFill>
                <a:effectLst/>
                <a:ea typeface="Arial" panose="020B0604020202020204" pitchFamily="34" charset="0"/>
              </a:rPr>
              <a:t>(- 349KJ/mole) is  due to the strong inter  electronic  repulsion in the relatively small and</a:t>
            </a:r>
            <a:r>
              <a:rPr kumimoji="0" lang="en-US" altLang="en-US" sz="2800" b="0" i="0" u="none" strike="noStrike" cap="none" normalizeH="0" dirty="0">
                <a:ln>
                  <a:noFill/>
                </a:ln>
                <a:solidFill>
                  <a:schemeClr val="tx1"/>
                </a:solidFill>
                <a:effectLst/>
                <a:ea typeface="Arial" panose="020B0604020202020204" pitchFamily="34" charset="0"/>
              </a:rPr>
              <a:t> </a:t>
            </a:r>
            <a:r>
              <a:rPr lang="en-US" altLang="en-US" sz="2800" dirty="0">
                <a:ea typeface="Arial" panose="020B0604020202020204" pitchFamily="34" charset="0"/>
              </a:rPr>
              <a:t>compact 2p orbital of F on the addition of another electron.</a:t>
            </a:r>
            <a:endParaRPr kumimoji="0" lang="en-US" altLang="en-US" sz="2800" b="0" i="0" u="none" strike="noStrike" cap="none" normalizeH="0" baseline="0" dirty="0">
              <a:ln>
                <a:noFill/>
              </a:ln>
              <a:solidFill>
                <a:schemeClr val="tx1"/>
              </a:solidFill>
              <a:effectLst/>
            </a:endParaRPr>
          </a:p>
        </p:txBody>
      </p:sp>
      <p:sp>
        <p:nvSpPr>
          <p:cNvPr id="8" name="Text Box 1"/>
          <p:cNvSpPr txBox="1">
            <a:spLocks noChangeArrowheads="1"/>
          </p:cNvSpPr>
          <p:nvPr/>
        </p:nvSpPr>
        <p:spPr bwMode="auto">
          <a:xfrm>
            <a:off x="1147763" y="98425"/>
            <a:ext cx="190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a:ln>
                  <a:noFill/>
                </a:ln>
                <a:solidFill>
                  <a:schemeClr val="tx1"/>
                </a:solidFill>
                <a:effectLst/>
                <a:latin typeface="Arial" panose="020B0604020202020204" pitchFamily="34" charset="0"/>
                <a:ea typeface="Arial" panose="020B0604020202020204" pitchFamily="34" charset="0"/>
              </a:rPr>
              <a:t>_</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Title 1"/>
          <p:cNvSpPr>
            <a:spLocks noGrp="1"/>
          </p:cNvSpPr>
          <p:nvPr>
            <p:ph type="title"/>
          </p:nvPr>
        </p:nvSpPr>
        <p:spPr>
          <a:xfrm>
            <a:off x="746978" y="-257580"/>
            <a:ext cx="10515600" cy="1325563"/>
          </a:xfrm>
        </p:spPr>
        <p:txBody>
          <a:bodyPr/>
          <a:lstStyle/>
          <a:p>
            <a:pPr algn="ctr"/>
            <a:r>
              <a:rPr lang="en-US" b="1" dirty="0">
                <a:latin typeface="Aharoni" panose="02010803020104030203" pitchFamily="2" charset="-79"/>
                <a:cs typeface="Aharoni" panose="02010803020104030203" pitchFamily="2" charset="-79"/>
              </a:rPr>
              <a:t>Electron Affinity (EA)</a:t>
            </a:r>
          </a:p>
        </p:txBody>
      </p:sp>
      <p:sp>
        <p:nvSpPr>
          <p:cNvPr id="2" name="Footer Placeholder 1">
            <a:extLst>
              <a:ext uri="{FF2B5EF4-FFF2-40B4-BE49-F238E27FC236}">
                <a16:creationId xmlns:a16="http://schemas.microsoft.com/office/drawing/2014/main" id="{F77EE66C-EDD0-741C-961C-CD27F4FC6821}"/>
              </a:ext>
            </a:extLst>
          </p:cNvPr>
          <p:cNvSpPr>
            <a:spLocks noGrp="1"/>
          </p:cNvSpPr>
          <p:nvPr>
            <p:ph type="ftr" sz="quarter" idx="11"/>
          </p:nvPr>
        </p:nvSpPr>
        <p:spPr/>
        <p:txBody>
          <a:bodyPr/>
          <a:lstStyle/>
          <a:p>
            <a:r>
              <a:rPr lang="en-US"/>
              <a:t>Periodic Properties of Elements</a:t>
            </a:r>
          </a:p>
        </p:txBody>
      </p:sp>
      <p:sp>
        <p:nvSpPr>
          <p:cNvPr id="3" name="Slide Number Placeholder 2">
            <a:extLst>
              <a:ext uri="{FF2B5EF4-FFF2-40B4-BE49-F238E27FC236}">
                <a16:creationId xmlns:a16="http://schemas.microsoft.com/office/drawing/2014/main" id="{B7E0C548-59DF-905A-3E2E-D5605819E038}"/>
              </a:ext>
            </a:extLst>
          </p:cNvPr>
          <p:cNvSpPr>
            <a:spLocks noGrp="1"/>
          </p:cNvSpPr>
          <p:nvPr>
            <p:ph type="sldNum" sz="quarter" idx="12"/>
          </p:nvPr>
        </p:nvSpPr>
        <p:spPr/>
        <p:txBody>
          <a:bodyPr/>
          <a:lstStyle/>
          <a:p>
            <a:fld id="{18FFC5A6-CECA-42F5-ACA8-5C3F58FF9B21}" type="slidenum">
              <a:rPr lang="en-US" smtClean="0"/>
              <a:t>40</a:t>
            </a:fld>
            <a:endParaRPr lang="en-US"/>
          </a:p>
        </p:txBody>
      </p:sp>
      <p:sp>
        <p:nvSpPr>
          <p:cNvPr id="5" name="Date Placeholder 4">
            <a:extLst>
              <a:ext uri="{FF2B5EF4-FFF2-40B4-BE49-F238E27FC236}">
                <a16:creationId xmlns:a16="http://schemas.microsoft.com/office/drawing/2014/main" id="{18E3DEF7-5911-6B3F-7D1B-3A014AFC514D}"/>
              </a:ext>
            </a:extLst>
          </p:cNvPr>
          <p:cNvSpPr>
            <a:spLocks noGrp="1"/>
          </p:cNvSpPr>
          <p:nvPr>
            <p:ph type="dt" sz="half" idx="10"/>
          </p:nvPr>
        </p:nvSpPr>
        <p:spPr/>
        <p:txBody>
          <a:bodyPr/>
          <a:lstStyle/>
          <a:p>
            <a:fld id="{1264AB94-23AC-4CC8-A32E-3437DC3C7668}" type="datetime1">
              <a:rPr lang="en-US" smtClean="0"/>
              <a:t>8/3/2023</a:t>
            </a:fld>
            <a:endParaRPr lang="en-US"/>
          </a:p>
        </p:txBody>
      </p:sp>
    </p:spTree>
    <p:extLst>
      <p:ext uri="{BB962C8B-B14F-4D97-AF65-F5344CB8AC3E}">
        <p14:creationId xmlns:p14="http://schemas.microsoft.com/office/powerpoint/2010/main" val="34145155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4910" y="58338"/>
            <a:ext cx="10515600" cy="1512885"/>
          </a:xfrm>
        </p:spPr>
        <p:txBody>
          <a:bodyPr>
            <a:normAutofit/>
          </a:bodyPr>
          <a:lstStyle/>
          <a:p>
            <a:pPr algn="ctr"/>
            <a:r>
              <a:rPr lang="en-IN" dirty="0">
                <a:latin typeface="Aharoni" panose="02010803020104030203" pitchFamily="2" charset="-79"/>
                <a:cs typeface="Aharoni" panose="02010803020104030203" pitchFamily="2" charset="-79"/>
              </a:rPr>
              <a:t>Electronegativity </a:t>
            </a:r>
            <a:r>
              <a:rPr lang="en-US" dirty="0">
                <a:latin typeface="Aharoni" panose="02010803020104030203" pitchFamily="2" charset="-79"/>
                <a:cs typeface="Aharoni" panose="02010803020104030203" pitchFamily="2" charset="-79"/>
              </a:rPr>
              <a:t/>
            </a:r>
            <a:br>
              <a:rPr lang="en-US" dirty="0">
                <a:latin typeface="Aharoni" panose="02010803020104030203" pitchFamily="2" charset="-79"/>
                <a:cs typeface="Aharoni" panose="02010803020104030203" pitchFamily="2" charset="-79"/>
              </a:rPr>
            </a:br>
            <a:endParaRPr lang="en-US" dirty="0">
              <a:latin typeface="Aharoni" panose="02010803020104030203" pitchFamily="2" charset="-79"/>
              <a:cs typeface="Aharoni" panose="02010803020104030203" pitchFamily="2" charset="-79"/>
            </a:endParaRPr>
          </a:p>
        </p:txBody>
      </p:sp>
      <p:sp>
        <p:nvSpPr>
          <p:cNvPr id="5" name="Rectangle 4"/>
          <p:cNvSpPr/>
          <p:nvPr/>
        </p:nvSpPr>
        <p:spPr>
          <a:xfrm>
            <a:off x="180304" y="814780"/>
            <a:ext cx="11784169" cy="225106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400" dirty="0"/>
              <a:t>Electronegativity is defined as </a:t>
            </a:r>
            <a:r>
              <a:rPr lang="en-US" sz="2400" i="1" dirty="0"/>
              <a:t>a </a:t>
            </a:r>
            <a:r>
              <a:rPr lang="en-US" sz="2400" dirty="0"/>
              <a:t>measure </a:t>
            </a:r>
            <a:r>
              <a:rPr lang="en-US" sz="2400" i="1" dirty="0"/>
              <a:t>of the ability of an atom in a </a:t>
            </a:r>
            <a:r>
              <a:rPr lang="en-US" sz="2400" dirty="0"/>
              <a:t>molecule to </a:t>
            </a:r>
            <a:r>
              <a:rPr lang="en-US" sz="2400" i="1" dirty="0"/>
              <a:t>attract the shared electron pair towards itself. </a:t>
            </a:r>
          </a:p>
          <a:p>
            <a:pPr marL="285750" indent="-285750" algn="just">
              <a:lnSpc>
                <a:spcPct val="150000"/>
              </a:lnSpc>
              <a:buFont typeface="Arial" panose="020B0604020202020204" pitchFamily="34" charset="0"/>
              <a:buChar char="•"/>
            </a:pPr>
            <a:r>
              <a:rPr lang="en-US" sz="2400" dirty="0"/>
              <a:t>In a  homonuclear  diatomic molecule such as H</a:t>
            </a:r>
            <a:r>
              <a:rPr lang="en-US" sz="2400" baseline="-25000" dirty="0"/>
              <a:t>2</a:t>
            </a:r>
            <a:r>
              <a:rPr lang="en-US" sz="2400" dirty="0"/>
              <a:t>  and Cl</a:t>
            </a:r>
            <a:r>
              <a:rPr lang="en-US" sz="2400" baseline="-25000" dirty="0"/>
              <a:t>2</a:t>
            </a:r>
            <a:r>
              <a:rPr lang="en-US" sz="2400" dirty="0"/>
              <a:t> the shared electron pair is attracted equally by both the bonding atoms and there is no net polarity in the molecule. </a:t>
            </a:r>
          </a:p>
        </p:txBody>
      </p:sp>
      <p:sp>
        <p:nvSpPr>
          <p:cNvPr id="3" name="Footer Placeholder 2">
            <a:extLst>
              <a:ext uri="{FF2B5EF4-FFF2-40B4-BE49-F238E27FC236}">
                <a16:creationId xmlns:a16="http://schemas.microsoft.com/office/drawing/2014/main" id="{C86FEFD1-BADD-0150-AEB7-DB8C47FF5547}"/>
              </a:ext>
            </a:extLst>
          </p:cNvPr>
          <p:cNvSpPr>
            <a:spLocks noGrp="1"/>
          </p:cNvSpPr>
          <p:nvPr>
            <p:ph type="ftr" sz="quarter" idx="11"/>
          </p:nvPr>
        </p:nvSpPr>
        <p:spPr/>
        <p:txBody>
          <a:bodyPr/>
          <a:lstStyle/>
          <a:p>
            <a:r>
              <a:rPr lang="en-US"/>
              <a:t>Periodic Properties of Elements</a:t>
            </a:r>
          </a:p>
        </p:txBody>
      </p:sp>
      <p:sp>
        <p:nvSpPr>
          <p:cNvPr id="6" name="Slide Number Placeholder 5">
            <a:extLst>
              <a:ext uri="{FF2B5EF4-FFF2-40B4-BE49-F238E27FC236}">
                <a16:creationId xmlns:a16="http://schemas.microsoft.com/office/drawing/2014/main" id="{71B80F55-F8D5-D032-3D6C-DD11E9BD0D1F}"/>
              </a:ext>
            </a:extLst>
          </p:cNvPr>
          <p:cNvSpPr>
            <a:spLocks noGrp="1"/>
          </p:cNvSpPr>
          <p:nvPr>
            <p:ph type="sldNum" sz="quarter" idx="12"/>
          </p:nvPr>
        </p:nvSpPr>
        <p:spPr/>
        <p:txBody>
          <a:bodyPr/>
          <a:lstStyle/>
          <a:p>
            <a:fld id="{18FFC5A6-CECA-42F5-ACA8-5C3F58FF9B21}" type="slidenum">
              <a:rPr lang="en-US" smtClean="0"/>
              <a:t>41</a:t>
            </a:fld>
            <a:endParaRPr lang="en-US"/>
          </a:p>
        </p:txBody>
      </p:sp>
      <p:sp>
        <p:nvSpPr>
          <p:cNvPr id="7" name="Date Placeholder 6">
            <a:extLst>
              <a:ext uri="{FF2B5EF4-FFF2-40B4-BE49-F238E27FC236}">
                <a16:creationId xmlns:a16="http://schemas.microsoft.com/office/drawing/2014/main" id="{6D588D4D-6947-4886-0A1B-81B5F9265FD2}"/>
              </a:ext>
            </a:extLst>
          </p:cNvPr>
          <p:cNvSpPr>
            <a:spLocks noGrp="1"/>
          </p:cNvSpPr>
          <p:nvPr>
            <p:ph type="dt" sz="half" idx="10"/>
          </p:nvPr>
        </p:nvSpPr>
        <p:spPr/>
        <p:txBody>
          <a:bodyPr/>
          <a:lstStyle/>
          <a:p>
            <a:fld id="{A493DA62-F2BF-47F9-BE07-C77323072A25}" type="datetime1">
              <a:rPr lang="en-US" smtClean="0"/>
              <a:t>8/3/2023</a:t>
            </a:fld>
            <a:endParaRPr lang="en-US"/>
          </a:p>
        </p:txBody>
      </p:sp>
      <p:graphicFrame>
        <p:nvGraphicFramePr>
          <p:cNvPr id="8" name="Table 7"/>
          <p:cNvGraphicFramePr>
            <a:graphicFrameLocks noGrp="1"/>
          </p:cNvGraphicFramePr>
          <p:nvPr>
            <p:extLst>
              <p:ext uri="{D42A27DB-BD31-4B8C-83A1-F6EECF244321}">
                <p14:modId xmlns:p14="http://schemas.microsoft.com/office/powerpoint/2010/main" val="1193373198"/>
              </p:ext>
            </p:extLst>
          </p:nvPr>
        </p:nvGraphicFramePr>
        <p:xfrm>
          <a:off x="830790" y="3124995"/>
          <a:ext cx="10743840" cy="3661572"/>
        </p:xfrm>
        <a:graphic>
          <a:graphicData uri="http://schemas.openxmlformats.org/drawingml/2006/table">
            <a:tbl>
              <a:tblPr firstRow="1" firstCol="1" bandRow="1">
                <a:tableStyleId>{5C22544A-7EE6-4342-B048-85BDC9FD1C3A}</a:tableStyleId>
              </a:tblPr>
              <a:tblGrid>
                <a:gridCol w="1342980">
                  <a:extLst>
                    <a:ext uri="{9D8B030D-6E8A-4147-A177-3AD203B41FA5}">
                      <a16:colId xmlns:a16="http://schemas.microsoft.com/office/drawing/2014/main" val="20000"/>
                    </a:ext>
                  </a:extLst>
                </a:gridCol>
                <a:gridCol w="1342980">
                  <a:extLst>
                    <a:ext uri="{9D8B030D-6E8A-4147-A177-3AD203B41FA5}">
                      <a16:colId xmlns:a16="http://schemas.microsoft.com/office/drawing/2014/main" val="20001"/>
                    </a:ext>
                  </a:extLst>
                </a:gridCol>
                <a:gridCol w="1342980">
                  <a:extLst>
                    <a:ext uri="{9D8B030D-6E8A-4147-A177-3AD203B41FA5}">
                      <a16:colId xmlns:a16="http://schemas.microsoft.com/office/drawing/2014/main" val="20002"/>
                    </a:ext>
                  </a:extLst>
                </a:gridCol>
                <a:gridCol w="1342980">
                  <a:extLst>
                    <a:ext uri="{9D8B030D-6E8A-4147-A177-3AD203B41FA5}">
                      <a16:colId xmlns:a16="http://schemas.microsoft.com/office/drawing/2014/main" val="20003"/>
                    </a:ext>
                  </a:extLst>
                </a:gridCol>
                <a:gridCol w="1342980">
                  <a:extLst>
                    <a:ext uri="{9D8B030D-6E8A-4147-A177-3AD203B41FA5}">
                      <a16:colId xmlns:a16="http://schemas.microsoft.com/office/drawing/2014/main" val="20004"/>
                    </a:ext>
                  </a:extLst>
                </a:gridCol>
                <a:gridCol w="1342980">
                  <a:extLst>
                    <a:ext uri="{9D8B030D-6E8A-4147-A177-3AD203B41FA5}">
                      <a16:colId xmlns:a16="http://schemas.microsoft.com/office/drawing/2014/main" val="20005"/>
                    </a:ext>
                  </a:extLst>
                </a:gridCol>
                <a:gridCol w="1342980">
                  <a:extLst>
                    <a:ext uri="{9D8B030D-6E8A-4147-A177-3AD203B41FA5}">
                      <a16:colId xmlns:a16="http://schemas.microsoft.com/office/drawing/2014/main" val="20006"/>
                    </a:ext>
                  </a:extLst>
                </a:gridCol>
                <a:gridCol w="1342980">
                  <a:extLst>
                    <a:ext uri="{9D8B030D-6E8A-4147-A177-3AD203B41FA5}">
                      <a16:colId xmlns:a16="http://schemas.microsoft.com/office/drawing/2014/main" val="20007"/>
                    </a:ext>
                  </a:extLst>
                </a:gridCol>
              </a:tblGrid>
              <a:tr h="610262">
                <a:tc>
                  <a:txBody>
                    <a:bodyPr/>
                    <a:lstStyle/>
                    <a:p>
                      <a:pPr marL="0" marR="0" algn="ctr">
                        <a:lnSpc>
                          <a:spcPct val="107000"/>
                        </a:lnSpc>
                        <a:spcBef>
                          <a:spcPts val="0"/>
                        </a:spcBef>
                        <a:spcAft>
                          <a:spcPts val="0"/>
                        </a:spcAft>
                      </a:pPr>
                      <a:r>
                        <a:rPr lang="en-IN" sz="1800" dirty="0">
                          <a:effectLst/>
                        </a:rPr>
                        <a:t>H</a:t>
                      </a:r>
                      <a:endParaRPr lang="en-US" sz="1800" dirty="0">
                        <a:effectLst/>
                      </a:endParaRPr>
                    </a:p>
                    <a:p>
                      <a:pPr marL="0" marR="0" algn="ctr">
                        <a:lnSpc>
                          <a:spcPct val="107000"/>
                        </a:lnSpc>
                        <a:spcBef>
                          <a:spcPts val="0"/>
                        </a:spcBef>
                        <a:spcAft>
                          <a:spcPts val="0"/>
                        </a:spcAft>
                      </a:pPr>
                      <a:r>
                        <a:rPr lang="en-IN" sz="1800" dirty="0">
                          <a:effectLst/>
                        </a:rPr>
                        <a:t>2.2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 </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He</a:t>
                      </a:r>
                      <a:endParaRPr lang="en-US" sz="1800">
                        <a:effectLst/>
                      </a:endParaRPr>
                    </a:p>
                    <a:p>
                      <a:pPr marL="0" marR="0" algn="ctr">
                        <a:lnSpc>
                          <a:spcPct val="107000"/>
                        </a:lnSpc>
                        <a:spcBef>
                          <a:spcPts val="0"/>
                        </a:spcBef>
                        <a:spcAft>
                          <a:spcPts val="0"/>
                        </a:spcAft>
                      </a:pPr>
                      <a:r>
                        <a:rPr lang="en-IN" sz="1800">
                          <a:effectLst/>
                        </a:rPr>
                        <a:t>-</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0"/>
                  </a:ext>
                </a:extLst>
              </a:tr>
              <a:tr h="610262">
                <a:tc>
                  <a:txBody>
                    <a:bodyPr/>
                    <a:lstStyle/>
                    <a:p>
                      <a:pPr marL="0" marR="0" algn="ctr">
                        <a:lnSpc>
                          <a:spcPct val="107000"/>
                        </a:lnSpc>
                        <a:spcBef>
                          <a:spcPts val="0"/>
                        </a:spcBef>
                        <a:spcAft>
                          <a:spcPts val="0"/>
                        </a:spcAft>
                      </a:pPr>
                      <a:r>
                        <a:rPr lang="en-IN" sz="1800" dirty="0">
                          <a:effectLst/>
                        </a:rPr>
                        <a:t>Li</a:t>
                      </a:r>
                      <a:endParaRPr lang="en-US" sz="1800" dirty="0">
                        <a:effectLst/>
                      </a:endParaRPr>
                    </a:p>
                    <a:p>
                      <a:pPr marL="0" marR="0" algn="ctr">
                        <a:lnSpc>
                          <a:spcPct val="107000"/>
                        </a:lnSpc>
                        <a:spcBef>
                          <a:spcPts val="0"/>
                        </a:spcBef>
                        <a:spcAft>
                          <a:spcPts val="0"/>
                        </a:spcAft>
                      </a:pPr>
                      <a:r>
                        <a:rPr lang="en-IN" sz="1800" dirty="0" smtClean="0">
                          <a:effectLst/>
                        </a:rPr>
                        <a:t>1.0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Be</a:t>
                      </a:r>
                      <a:endParaRPr lang="en-US" sz="1800" dirty="0">
                        <a:effectLst/>
                      </a:endParaRPr>
                    </a:p>
                    <a:p>
                      <a:pPr marL="0" marR="0" algn="ctr">
                        <a:lnSpc>
                          <a:spcPct val="107000"/>
                        </a:lnSpc>
                        <a:spcBef>
                          <a:spcPts val="0"/>
                        </a:spcBef>
                        <a:spcAft>
                          <a:spcPts val="0"/>
                        </a:spcAft>
                      </a:pPr>
                      <a:r>
                        <a:rPr lang="en-IN" sz="1800" dirty="0">
                          <a:effectLst/>
                        </a:rPr>
                        <a:t>1.5</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a:t>
                      </a:r>
                      <a:endParaRPr lang="en-US" sz="1800">
                        <a:effectLst/>
                      </a:endParaRPr>
                    </a:p>
                    <a:p>
                      <a:pPr marL="0" marR="0" algn="ctr">
                        <a:lnSpc>
                          <a:spcPct val="107000"/>
                        </a:lnSpc>
                        <a:spcBef>
                          <a:spcPts val="0"/>
                        </a:spcBef>
                        <a:spcAft>
                          <a:spcPts val="0"/>
                        </a:spcAft>
                      </a:pPr>
                      <a:r>
                        <a:rPr lang="en-IN" sz="1800">
                          <a:effectLst/>
                        </a:rPr>
                        <a:t>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C</a:t>
                      </a:r>
                      <a:endParaRPr lang="en-US" sz="1800">
                        <a:effectLst/>
                      </a:endParaRPr>
                    </a:p>
                    <a:p>
                      <a:pPr marL="0" marR="0" algn="ctr">
                        <a:lnSpc>
                          <a:spcPct val="107000"/>
                        </a:lnSpc>
                        <a:spcBef>
                          <a:spcPts val="0"/>
                        </a:spcBef>
                        <a:spcAft>
                          <a:spcPts val="0"/>
                        </a:spcAft>
                      </a:pPr>
                      <a:r>
                        <a:rPr lang="en-IN" sz="1800">
                          <a:effectLst/>
                        </a:rPr>
                        <a:t>2.5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N</a:t>
                      </a:r>
                      <a:endParaRPr lang="en-US" sz="1800">
                        <a:effectLst/>
                      </a:endParaRPr>
                    </a:p>
                    <a:p>
                      <a:pPr marL="0" marR="0" algn="ctr">
                        <a:lnSpc>
                          <a:spcPct val="107000"/>
                        </a:lnSpc>
                        <a:spcBef>
                          <a:spcPts val="0"/>
                        </a:spcBef>
                        <a:spcAft>
                          <a:spcPts val="0"/>
                        </a:spcAft>
                      </a:pPr>
                      <a:r>
                        <a:rPr lang="en-IN" sz="1800">
                          <a:effectLst/>
                        </a:rPr>
                        <a:t>3.1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O</a:t>
                      </a:r>
                      <a:endParaRPr lang="en-US" sz="1800">
                        <a:effectLst/>
                      </a:endParaRPr>
                    </a:p>
                    <a:p>
                      <a:pPr marL="0" marR="0" algn="ctr">
                        <a:lnSpc>
                          <a:spcPct val="107000"/>
                        </a:lnSpc>
                        <a:spcBef>
                          <a:spcPts val="0"/>
                        </a:spcBef>
                        <a:spcAft>
                          <a:spcPts val="0"/>
                        </a:spcAft>
                      </a:pPr>
                      <a:r>
                        <a:rPr lang="en-IN" sz="1800">
                          <a:effectLst/>
                        </a:rPr>
                        <a:t>3.5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F</a:t>
                      </a:r>
                      <a:endParaRPr lang="en-US" sz="1800">
                        <a:effectLst/>
                      </a:endParaRPr>
                    </a:p>
                    <a:p>
                      <a:pPr marL="0" marR="0" algn="ctr">
                        <a:lnSpc>
                          <a:spcPct val="107000"/>
                        </a:lnSpc>
                        <a:spcBef>
                          <a:spcPts val="0"/>
                        </a:spcBef>
                        <a:spcAft>
                          <a:spcPts val="0"/>
                        </a:spcAft>
                      </a:pPr>
                      <a:r>
                        <a:rPr lang="en-IN" sz="1800">
                          <a:effectLst/>
                        </a:rPr>
                        <a:t>4.1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Ne</a:t>
                      </a:r>
                      <a:endParaRPr lang="en-US" sz="1800">
                        <a:effectLst/>
                      </a:endParaRPr>
                    </a:p>
                    <a:p>
                      <a:pPr marL="0" marR="0" algn="ctr">
                        <a:lnSpc>
                          <a:spcPct val="107000"/>
                        </a:lnSpc>
                        <a:spcBef>
                          <a:spcPts val="0"/>
                        </a:spcBef>
                        <a:spcAft>
                          <a:spcPts val="0"/>
                        </a:spcAft>
                      </a:pPr>
                      <a:r>
                        <a:rPr lang="en-IN" sz="1800">
                          <a:effectLst/>
                        </a:rPr>
                        <a:t>-</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1"/>
                  </a:ext>
                </a:extLst>
              </a:tr>
              <a:tr h="610262">
                <a:tc>
                  <a:txBody>
                    <a:bodyPr/>
                    <a:lstStyle/>
                    <a:p>
                      <a:pPr marL="0" marR="0" algn="ctr">
                        <a:lnSpc>
                          <a:spcPct val="107000"/>
                        </a:lnSpc>
                        <a:spcBef>
                          <a:spcPts val="0"/>
                        </a:spcBef>
                        <a:spcAft>
                          <a:spcPts val="0"/>
                        </a:spcAft>
                      </a:pPr>
                      <a:r>
                        <a:rPr lang="en-IN" sz="1800" dirty="0">
                          <a:effectLst/>
                        </a:rPr>
                        <a:t>Na</a:t>
                      </a:r>
                      <a:endParaRPr lang="en-US" sz="1800" dirty="0">
                        <a:effectLst/>
                      </a:endParaRPr>
                    </a:p>
                    <a:p>
                      <a:pPr marL="0" marR="0" algn="ctr">
                        <a:lnSpc>
                          <a:spcPct val="107000"/>
                        </a:lnSpc>
                        <a:spcBef>
                          <a:spcPts val="0"/>
                        </a:spcBef>
                        <a:spcAft>
                          <a:spcPts val="0"/>
                        </a:spcAft>
                      </a:pPr>
                      <a:r>
                        <a:rPr lang="en-IN" sz="1800" dirty="0" smtClean="0">
                          <a:effectLst/>
                        </a:rPr>
                        <a:t>0.9</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Mg</a:t>
                      </a:r>
                      <a:endParaRPr lang="en-US" sz="1800" dirty="0">
                        <a:effectLst/>
                      </a:endParaRPr>
                    </a:p>
                    <a:p>
                      <a:pPr marL="0" marR="0" algn="ctr">
                        <a:lnSpc>
                          <a:spcPct val="107000"/>
                        </a:lnSpc>
                        <a:spcBef>
                          <a:spcPts val="0"/>
                        </a:spcBef>
                        <a:spcAft>
                          <a:spcPts val="0"/>
                        </a:spcAft>
                      </a:pPr>
                      <a:r>
                        <a:rPr lang="en-IN" sz="1800" dirty="0">
                          <a:effectLst/>
                        </a:rPr>
                        <a:t>1.2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Al</a:t>
                      </a:r>
                      <a:endParaRPr lang="en-US" sz="1800">
                        <a:effectLst/>
                      </a:endParaRPr>
                    </a:p>
                    <a:p>
                      <a:pPr marL="0" marR="0" algn="ctr">
                        <a:lnSpc>
                          <a:spcPct val="107000"/>
                        </a:lnSpc>
                        <a:spcBef>
                          <a:spcPts val="0"/>
                        </a:spcBef>
                        <a:spcAft>
                          <a:spcPts val="0"/>
                        </a:spcAft>
                      </a:pPr>
                      <a:r>
                        <a:rPr lang="en-IN" sz="1800">
                          <a:effectLst/>
                        </a:rPr>
                        <a:t>1.3</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Si</a:t>
                      </a:r>
                      <a:endParaRPr lang="en-US" sz="1800">
                        <a:effectLst/>
                      </a:endParaRPr>
                    </a:p>
                    <a:p>
                      <a:pPr marL="0" marR="0" algn="ctr">
                        <a:lnSpc>
                          <a:spcPct val="107000"/>
                        </a:lnSpc>
                        <a:spcBef>
                          <a:spcPts val="0"/>
                        </a:spcBef>
                        <a:spcAft>
                          <a:spcPts val="0"/>
                        </a:spcAft>
                      </a:pPr>
                      <a:r>
                        <a:rPr lang="en-IN" sz="1800">
                          <a:effectLst/>
                        </a:rPr>
                        <a:t>1.7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P</a:t>
                      </a:r>
                      <a:endParaRPr lang="en-US" sz="1800">
                        <a:effectLst/>
                      </a:endParaRPr>
                    </a:p>
                    <a:p>
                      <a:pPr marL="0" marR="0" algn="ctr">
                        <a:lnSpc>
                          <a:spcPct val="107000"/>
                        </a:lnSpc>
                        <a:spcBef>
                          <a:spcPts val="0"/>
                        </a:spcBef>
                        <a:spcAft>
                          <a:spcPts val="0"/>
                        </a:spcAft>
                      </a:pPr>
                      <a:r>
                        <a:rPr lang="en-IN" sz="1800">
                          <a:effectLst/>
                        </a:rPr>
                        <a:t>2.1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a:t>
                      </a:r>
                      <a:endParaRPr lang="en-US" sz="1800">
                        <a:effectLst/>
                      </a:endParaRPr>
                    </a:p>
                    <a:p>
                      <a:pPr marL="0" marR="0" algn="ctr">
                        <a:lnSpc>
                          <a:spcPct val="107000"/>
                        </a:lnSpc>
                        <a:spcBef>
                          <a:spcPts val="0"/>
                        </a:spcBef>
                        <a:spcAft>
                          <a:spcPts val="0"/>
                        </a:spcAft>
                      </a:pPr>
                      <a:r>
                        <a:rPr lang="en-IN" sz="1800">
                          <a:effectLst/>
                        </a:rPr>
                        <a:t>2.4</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Cl</a:t>
                      </a:r>
                      <a:endParaRPr lang="en-US" sz="1800">
                        <a:effectLst/>
                      </a:endParaRPr>
                    </a:p>
                    <a:p>
                      <a:pPr marL="0" marR="0" algn="ctr">
                        <a:lnSpc>
                          <a:spcPct val="107000"/>
                        </a:lnSpc>
                        <a:spcBef>
                          <a:spcPts val="0"/>
                        </a:spcBef>
                        <a:spcAft>
                          <a:spcPts val="0"/>
                        </a:spcAft>
                      </a:pPr>
                      <a:r>
                        <a:rPr lang="en-IN" sz="1800">
                          <a:effectLst/>
                        </a:rPr>
                        <a:t>2.8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Ar</a:t>
                      </a:r>
                      <a:endParaRPr lang="en-US" sz="1800">
                        <a:effectLst/>
                      </a:endParaRPr>
                    </a:p>
                    <a:p>
                      <a:pPr marL="0" marR="0" algn="ctr">
                        <a:lnSpc>
                          <a:spcPct val="107000"/>
                        </a:lnSpc>
                        <a:spcBef>
                          <a:spcPts val="0"/>
                        </a:spcBef>
                        <a:spcAft>
                          <a:spcPts val="0"/>
                        </a:spcAft>
                      </a:pPr>
                      <a:r>
                        <a:rPr lang="en-IN" sz="1800">
                          <a:effectLst/>
                        </a:rPr>
                        <a:t>-</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2"/>
                  </a:ext>
                </a:extLst>
              </a:tr>
              <a:tr h="610262">
                <a:tc>
                  <a:txBody>
                    <a:bodyPr/>
                    <a:lstStyle/>
                    <a:p>
                      <a:pPr marL="0" marR="0" algn="ctr">
                        <a:lnSpc>
                          <a:spcPct val="107000"/>
                        </a:lnSpc>
                        <a:spcBef>
                          <a:spcPts val="0"/>
                        </a:spcBef>
                        <a:spcAft>
                          <a:spcPts val="0"/>
                        </a:spcAft>
                      </a:pPr>
                      <a:r>
                        <a:rPr lang="en-IN" sz="1800" dirty="0">
                          <a:effectLst/>
                        </a:rPr>
                        <a:t>K</a:t>
                      </a:r>
                      <a:endParaRPr lang="en-US" sz="1800" dirty="0">
                        <a:effectLst/>
                      </a:endParaRPr>
                    </a:p>
                    <a:p>
                      <a:pPr marL="0" marR="0" algn="ctr">
                        <a:lnSpc>
                          <a:spcPct val="107000"/>
                        </a:lnSpc>
                        <a:spcBef>
                          <a:spcPts val="0"/>
                        </a:spcBef>
                        <a:spcAft>
                          <a:spcPts val="0"/>
                        </a:spcAft>
                      </a:pPr>
                      <a:r>
                        <a:rPr lang="en-IN" sz="1800" dirty="0" smtClean="0">
                          <a:effectLst/>
                        </a:rPr>
                        <a:t>0.8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Ca</a:t>
                      </a:r>
                      <a:endParaRPr lang="en-US" sz="1800" dirty="0">
                        <a:effectLst/>
                      </a:endParaRPr>
                    </a:p>
                    <a:p>
                      <a:pPr marL="0" marR="0" algn="ctr">
                        <a:lnSpc>
                          <a:spcPct val="107000"/>
                        </a:lnSpc>
                        <a:spcBef>
                          <a:spcPts val="0"/>
                        </a:spcBef>
                        <a:spcAft>
                          <a:spcPts val="0"/>
                        </a:spcAft>
                      </a:pPr>
                      <a:r>
                        <a:rPr lang="en-IN" sz="1800" dirty="0">
                          <a:effectLst/>
                        </a:rPr>
                        <a:t>1.0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Ga</a:t>
                      </a:r>
                      <a:endParaRPr lang="en-US" sz="1800" dirty="0">
                        <a:effectLst/>
                      </a:endParaRPr>
                    </a:p>
                    <a:p>
                      <a:pPr marL="0" marR="0" algn="ctr">
                        <a:lnSpc>
                          <a:spcPct val="107000"/>
                        </a:lnSpc>
                        <a:spcBef>
                          <a:spcPts val="0"/>
                        </a:spcBef>
                        <a:spcAft>
                          <a:spcPts val="0"/>
                        </a:spcAft>
                      </a:pPr>
                      <a:r>
                        <a:rPr lang="en-IN" sz="1800" dirty="0">
                          <a:effectLst/>
                        </a:rPr>
                        <a:t>1.8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Ge</a:t>
                      </a:r>
                      <a:endParaRPr lang="en-US" sz="1800">
                        <a:effectLst/>
                      </a:endParaRPr>
                    </a:p>
                    <a:p>
                      <a:pPr marL="0" marR="0" algn="ctr">
                        <a:lnSpc>
                          <a:spcPct val="107000"/>
                        </a:lnSpc>
                        <a:spcBef>
                          <a:spcPts val="0"/>
                        </a:spcBef>
                        <a:spcAft>
                          <a:spcPts val="0"/>
                        </a:spcAft>
                      </a:pPr>
                      <a:r>
                        <a:rPr lang="en-IN" sz="1800">
                          <a:effectLst/>
                        </a:rPr>
                        <a:t>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As</a:t>
                      </a:r>
                      <a:endParaRPr lang="en-US" sz="1800">
                        <a:effectLst/>
                      </a:endParaRPr>
                    </a:p>
                    <a:p>
                      <a:pPr marL="0" marR="0" algn="ctr">
                        <a:lnSpc>
                          <a:spcPct val="107000"/>
                        </a:lnSpc>
                        <a:spcBef>
                          <a:spcPts val="0"/>
                        </a:spcBef>
                        <a:spcAft>
                          <a:spcPts val="0"/>
                        </a:spcAft>
                      </a:pPr>
                      <a:r>
                        <a:rPr lang="en-IN" sz="1800">
                          <a:effectLst/>
                        </a:rPr>
                        <a:t>2.2</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Se</a:t>
                      </a:r>
                      <a:endParaRPr lang="en-US" sz="1800">
                        <a:effectLst/>
                      </a:endParaRPr>
                    </a:p>
                    <a:p>
                      <a:pPr marL="0" marR="0" algn="ctr">
                        <a:lnSpc>
                          <a:spcPct val="107000"/>
                        </a:lnSpc>
                        <a:spcBef>
                          <a:spcPts val="0"/>
                        </a:spcBef>
                        <a:spcAft>
                          <a:spcPts val="0"/>
                        </a:spcAft>
                      </a:pPr>
                      <a:r>
                        <a:rPr lang="en-IN" sz="1800">
                          <a:effectLst/>
                        </a:rPr>
                        <a:t>2.5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Br</a:t>
                      </a:r>
                      <a:endParaRPr lang="en-US" sz="1800">
                        <a:effectLst/>
                      </a:endParaRPr>
                    </a:p>
                    <a:p>
                      <a:pPr marL="0" marR="0" algn="ctr">
                        <a:lnSpc>
                          <a:spcPct val="107000"/>
                        </a:lnSpc>
                        <a:spcBef>
                          <a:spcPts val="0"/>
                        </a:spcBef>
                        <a:spcAft>
                          <a:spcPts val="0"/>
                        </a:spcAft>
                      </a:pPr>
                      <a:r>
                        <a:rPr lang="en-IN" sz="1800">
                          <a:effectLst/>
                        </a:rPr>
                        <a:t>2.7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Kr</a:t>
                      </a:r>
                      <a:endParaRPr lang="en-US" sz="1800">
                        <a:effectLst/>
                      </a:endParaRPr>
                    </a:p>
                    <a:p>
                      <a:pPr marL="0" marR="0" algn="ctr">
                        <a:lnSpc>
                          <a:spcPct val="107000"/>
                        </a:lnSpc>
                        <a:spcBef>
                          <a:spcPts val="0"/>
                        </a:spcBef>
                        <a:spcAft>
                          <a:spcPts val="0"/>
                        </a:spcAft>
                      </a:pPr>
                      <a:r>
                        <a:rPr lang="en-IN" sz="1800">
                          <a:effectLst/>
                        </a:rPr>
                        <a:t>3.1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3"/>
                  </a:ext>
                </a:extLst>
              </a:tr>
              <a:tr h="610262">
                <a:tc>
                  <a:txBody>
                    <a:bodyPr/>
                    <a:lstStyle/>
                    <a:p>
                      <a:pPr marL="0" marR="0" algn="ctr">
                        <a:lnSpc>
                          <a:spcPct val="107000"/>
                        </a:lnSpc>
                        <a:spcBef>
                          <a:spcPts val="0"/>
                        </a:spcBef>
                        <a:spcAft>
                          <a:spcPts val="0"/>
                        </a:spcAft>
                      </a:pPr>
                      <a:r>
                        <a:rPr lang="en-IN" sz="1800" dirty="0">
                          <a:effectLst/>
                        </a:rPr>
                        <a:t>Rb</a:t>
                      </a:r>
                      <a:endParaRPr lang="en-US" sz="1800" dirty="0">
                        <a:effectLst/>
                      </a:endParaRPr>
                    </a:p>
                    <a:p>
                      <a:pPr marL="0" marR="0" algn="ctr">
                        <a:lnSpc>
                          <a:spcPct val="107000"/>
                        </a:lnSpc>
                        <a:spcBef>
                          <a:spcPts val="0"/>
                        </a:spcBef>
                        <a:spcAft>
                          <a:spcPts val="0"/>
                        </a:spcAft>
                      </a:pPr>
                      <a:r>
                        <a:rPr lang="en-IN" sz="1800" dirty="0" smtClean="0">
                          <a:effectLst/>
                        </a:rPr>
                        <a:t>0.8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Sr</a:t>
                      </a:r>
                      <a:endParaRPr lang="en-US" sz="1800">
                        <a:effectLst/>
                      </a:endParaRPr>
                    </a:p>
                    <a:p>
                      <a:pPr marL="0" marR="0" algn="ctr">
                        <a:lnSpc>
                          <a:spcPct val="107000"/>
                        </a:lnSpc>
                        <a:spcBef>
                          <a:spcPts val="0"/>
                        </a:spcBef>
                        <a:spcAft>
                          <a:spcPts val="0"/>
                        </a:spcAft>
                      </a:pPr>
                      <a:r>
                        <a:rPr lang="en-IN" sz="1800">
                          <a:effectLst/>
                        </a:rPr>
                        <a:t>1.0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In</a:t>
                      </a:r>
                      <a:endParaRPr lang="en-US" sz="1800" dirty="0">
                        <a:effectLst/>
                      </a:endParaRPr>
                    </a:p>
                    <a:p>
                      <a:pPr marL="0" marR="0" algn="ctr">
                        <a:lnSpc>
                          <a:spcPct val="107000"/>
                        </a:lnSpc>
                        <a:spcBef>
                          <a:spcPts val="0"/>
                        </a:spcBef>
                        <a:spcAft>
                          <a:spcPts val="0"/>
                        </a:spcAft>
                      </a:pPr>
                      <a:r>
                        <a:rPr lang="en-IN" sz="1800" dirty="0">
                          <a:effectLst/>
                        </a:rPr>
                        <a:t>1.5</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Sn</a:t>
                      </a:r>
                      <a:endParaRPr lang="en-US" sz="1800" dirty="0">
                        <a:effectLst/>
                      </a:endParaRPr>
                    </a:p>
                    <a:p>
                      <a:pPr marL="0" marR="0" algn="ctr">
                        <a:lnSpc>
                          <a:spcPct val="107000"/>
                        </a:lnSpc>
                        <a:spcBef>
                          <a:spcPts val="0"/>
                        </a:spcBef>
                        <a:spcAft>
                          <a:spcPts val="0"/>
                        </a:spcAft>
                      </a:pPr>
                      <a:r>
                        <a:rPr lang="en-IN" sz="1800" dirty="0">
                          <a:effectLst/>
                        </a:rPr>
                        <a:t>1.7</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Sb</a:t>
                      </a:r>
                      <a:endParaRPr lang="en-US" sz="1800">
                        <a:effectLst/>
                      </a:endParaRPr>
                    </a:p>
                    <a:p>
                      <a:pPr marL="0" marR="0" algn="ctr">
                        <a:lnSpc>
                          <a:spcPct val="107000"/>
                        </a:lnSpc>
                        <a:spcBef>
                          <a:spcPts val="0"/>
                        </a:spcBef>
                        <a:spcAft>
                          <a:spcPts val="0"/>
                        </a:spcAft>
                      </a:pPr>
                      <a:r>
                        <a:rPr lang="en-IN" sz="1800">
                          <a:effectLst/>
                        </a:rPr>
                        <a:t>1.8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Te</a:t>
                      </a:r>
                      <a:endParaRPr lang="en-US" sz="1800">
                        <a:effectLst/>
                      </a:endParaRPr>
                    </a:p>
                    <a:p>
                      <a:pPr marL="0" marR="0" algn="ctr">
                        <a:lnSpc>
                          <a:spcPct val="107000"/>
                        </a:lnSpc>
                        <a:spcBef>
                          <a:spcPts val="0"/>
                        </a:spcBef>
                        <a:spcAft>
                          <a:spcPts val="0"/>
                        </a:spcAft>
                      </a:pPr>
                      <a:r>
                        <a:rPr lang="en-IN" sz="1800">
                          <a:effectLst/>
                        </a:rPr>
                        <a:t>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I</a:t>
                      </a:r>
                      <a:endParaRPr lang="en-US" sz="1800">
                        <a:effectLst/>
                      </a:endParaRPr>
                    </a:p>
                    <a:p>
                      <a:pPr marL="0" marR="0" algn="ctr">
                        <a:lnSpc>
                          <a:spcPct val="107000"/>
                        </a:lnSpc>
                        <a:spcBef>
                          <a:spcPts val="0"/>
                        </a:spcBef>
                        <a:spcAft>
                          <a:spcPts val="0"/>
                        </a:spcAft>
                      </a:pPr>
                      <a:r>
                        <a:rPr lang="en-IN" sz="1800">
                          <a:effectLst/>
                        </a:rPr>
                        <a:t>2.2</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Xe</a:t>
                      </a:r>
                      <a:endParaRPr lang="en-US" sz="1800">
                        <a:effectLst/>
                      </a:endParaRPr>
                    </a:p>
                    <a:p>
                      <a:pPr marL="0" marR="0" algn="ctr">
                        <a:lnSpc>
                          <a:spcPct val="107000"/>
                        </a:lnSpc>
                        <a:spcBef>
                          <a:spcPts val="0"/>
                        </a:spcBef>
                        <a:spcAft>
                          <a:spcPts val="0"/>
                        </a:spcAft>
                      </a:pPr>
                      <a:r>
                        <a:rPr lang="en-IN" sz="1800">
                          <a:effectLst/>
                        </a:rPr>
                        <a:t>2.4</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4"/>
                  </a:ext>
                </a:extLst>
              </a:tr>
              <a:tr h="610262">
                <a:tc>
                  <a:txBody>
                    <a:bodyPr/>
                    <a:lstStyle/>
                    <a:p>
                      <a:pPr marL="0" marR="0" algn="ctr">
                        <a:lnSpc>
                          <a:spcPct val="107000"/>
                        </a:lnSpc>
                        <a:spcBef>
                          <a:spcPts val="0"/>
                        </a:spcBef>
                        <a:spcAft>
                          <a:spcPts val="0"/>
                        </a:spcAft>
                      </a:pPr>
                      <a:r>
                        <a:rPr lang="en-IN" sz="1800">
                          <a:effectLst/>
                        </a:rPr>
                        <a:t>Cs</a:t>
                      </a:r>
                      <a:endParaRPr lang="en-US" sz="1800">
                        <a:effectLst/>
                      </a:endParaRPr>
                    </a:p>
                    <a:p>
                      <a:pPr marL="0" marR="0" algn="ctr">
                        <a:lnSpc>
                          <a:spcPct val="107000"/>
                        </a:lnSpc>
                        <a:spcBef>
                          <a:spcPts val="0"/>
                        </a:spcBef>
                        <a:spcAft>
                          <a:spcPts val="0"/>
                        </a:spcAft>
                      </a:pPr>
                      <a:r>
                        <a:rPr lang="en-IN" sz="1800">
                          <a:effectLst/>
                        </a:rPr>
                        <a:t>0.7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Ba</a:t>
                      </a:r>
                      <a:endParaRPr lang="en-US" sz="1800">
                        <a:effectLst/>
                      </a:endParaRPr>
                    </a:p>
                    <a:p>
                      <a:pPr marL="0" marR="0" algn="ctr">
                        <a:lnSpc>
                          <a:spcPct val="107000"/>
                        </a:lnSpc>
                        <a:spcBef>
                          <a:spcPts val="0"/>
                        </a:spcBef>
                        <a:spcAft>
                          <a:spcPts val="0"/>
                        </a:spcAft>
                      </a:pPr>
                      <a:r>
                        <a:rPr lang="en-IN" sz="1800">
                          <a:effectLst/>
                        </a:rPr>
                        <a:t>0.9</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Tl</a:t>
                      </a:r>
                      <a:endParaRPr lang="en-US" sz="1800">
                        <a:effectLst/>
                      </a:endParaRPr>
                    </a:p>
                    <a:p>
                      <a:pPr marL="0" marR="0" algn="ctr">
                        <a:lnSpc>
                          <a:spcPct val="107000"/>
                        </a:lnSpc>
                        <a:spcBef>
                          <a:spcPts val="0"/>
                        </a:spcBef>
                        <a:spcAft>
                          <a:spcPts val="0"/>
                        </a:spcAft>
                      </a:pPr>
                      <a:r>
                        <a:rPr lang="en-IN" sz="1800">
                          <a:effectLst/>
                        </a:rPr>
                        <a:t>1.8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Pb</a:t>
                      </a:r>
                      <a:endParaRPr lang="en-US" sz="1800" dirty="0">
                        <a:effectLst/>
                      </a:endParaRPr>
                    </a:p>
                    <a:p>
                      <a:pPr marL="0" marR="0" algn="ctr">
                        <a:lnSpc>
                          <a:spcPct val="107000"/>
                        </a:lnSpc>
                        <a:spcBef>
                          <a:spcPts val="0"/>
                        </a:spcBef>
                        <a:spcAft>
                          <a:spcPts val="0"/>
                        </a:spcAft>
                      </a:pPr>
                      <a:r>
                        <a:rPr lang="en-IN" sz="1800" dirty="0">
                          <a:effectLst/>
                        </a:rPr>
                        <a:t>1.8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Bi</a:t>
                      </a:r>
                      <a:endParaRPr lang="en-US" sz="1800" dirty="0">
                        <a:effectLst/>
                      </a:endParaRPr>
                    </a:p>
                    <a:p>
                      <a:pPr marL="0" marR="0" algn="ctr">
                        <a:lnSpc>
                          <a:spcPct val="107000"/>
                        </a:lnSpc>
                        <a:spcBef>
                          <a:spcPts val="0"/>
                        </a:spcBef>
                        <a:spcAft>
                          <a:spcPts val="0"/>
                        </a:spcAft>
                      </a:pPr>
                      <a:r>
                        <a:rPr lang="en-IN" sz="1800" dirty="0">
                          <a:effectLst/>
                        </a:rPr>
                        <a:t>1.7</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Po</a:t>
                      </a:r>
                      <a:endParaRPr lang="en-US" sz="1800" dirty="0">
                        <a:effectLst/>
                      </a:endParaRPr>
                    </a:p>
                    <a:p>
                      <a:pPr marL="0" marR="0" algn="ctr">
                        <a:lnSpc>
                          <a:spcPct val="107000"/>
                        </a:lnSpc>
                        <a:spcBef>
                          <a:spcPts val="0"/>
                        </a:spcBef>
                        <a:spcAft>
                          <a:spcPts val="0"/>
                        </a:spcAft>
                      </a:pPr>
                      <a:r>
                        <a:rPr lang="en-IN" sz="1800" dirty="0">
                          <a:effectLst/>
                        </a:rPr>
                        <a:t>1.8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At</a:t>
                      </a:r>
                      <a:endParaRPr lang="en-US" sz="1800" dirty="0">
                        <a:effectLst/>
                      </a:endParaRPr>
                    </a:p>
                    <a:p>
                      <a:pPr marL="0" marR="0" algn="ctr">
                        <a:lnSpc>
                          <a:spcPct val="107000"/>
                        </a:lnSpc>
                        <a:spcBef>
                          <a:spcPts val="0"/>
                        </a:spcBef>
                        <a:spcAft>
                          <a:spcPts val="0"/>
                        </a:spcAft>
                      </a:pPr>
                      <a:r>
                        <a:rPr lang="en-IN" sz="1800" dirty="0">
                          <a:effectLst/>
                        </a:rPr>
                        <a:t>2.0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Rn</a:t>
                      </a:r>
                      <a:endParaRPr lang="en-US" sz="1800" dirty="0">
                        <a:effectLst/>
                      </a:endParaRPr>
                    </a:p>
                    <a:p>
                      <a:pPr marL="0" marR="0" algn="ctr">
                        <a:lnSpc>
                          <a:spcPct val="107000"/>
                        </a:lnSpc>
                        <a:spcBef>
                          <a:spcPts val="0"/>
                        </a:spcBef>
                        <a:spcAft>
                          <a:spcPts val="0"/>
                        </a:spcAft>
                      </a:pPr>
                      <a:r>
                        <a:rPr lang="en-IN" sz="1800" dirty="0">
                          <a:effectLst/>
                        </a:rPr>
                        <a:t>-</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127579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4910" y="58338"/>
            <a:ext cx="10515600" cy="1512885"/>
          </a:xfrm>
        </p:spPr>
        <p:txBody>
          <a:bodyPr>
            <a:normAutofit/>
          </a:bodyPr>
          <a:lstStyle/>
          <a:p>
            <a:pPr algn="ctr"/>
            <a:r>
              <a:rPr lang="en-IN" dirty="0">
                <a:latin typeface="Aharoni" panose="02010803020104030203" pitchFamily="2" charset="-79"/>
                <a:cs typeface="Aharoni" panose="02010803020104030203" pitchFamily="2" charset="-79"/>
              </a:rPr>
              <a:t>Electronegativity </a:t>
            </a:r>
            <a:r>
              <a:rPr lang="en-US" dirty="0">
                <a:latin typeface="Aharoni" panose="02010803020104030203" pitchFamily="2" charset="-79"/>
                <a:cs typeface="Aharoni" panose="02010803020104030203" pitchFamily="2" charset="-79"/>
              </a:rPr>
              <a:t/>
            </a:r>
            <a:br>
              <a:rPr lang="en-US" dirty="0">
                <a:latin typeface="Aharoni" panose="02010803020104030203" pitchFamily="2" charset="-79"/>
                <a:cs typeface="Aharoni" panose="02010803020104030203" pitchFamily="2" charset="-79"/>
              </a:rPr>
            </a:br>
            <a:endParaRPr lang="en-US" dirty="0">
              <a:latin typeface="Aharoni" panose="02010803020104030203" pitchFamily="2" charset="-79"/>
              <a:cs typeface="Aharoni" panose="02010803020104030203" pitchFamily="2" charset="-79"/>
            </a:endParaRPr>
          </a:p>
        </p:txBody>
      </p:sp>
      <p:graphicFrame>
        <p:nvGraphicFramePr>
          <p:cNvPr id="4" name="Table 3"/>
          <p:cNvGraphicFramePr>
            <a:graphicFrameLocks noGrp="1"/>
          </p:cNvGraphicFramePr>
          <p:nvPr>
            <p:extLst>
              <p:ext uri="{D42A27DB-BD31-4B8C-83A1-F6EECF244321}">
                <p14:modId xmlns:p14="http://schemas.microsoft.com/office/powerpoint/2010/main" val="1664721086"/>
              </p:ext>
            </p:extLst>
          </p:nvPr>
        </p:nvGraphicFramePr>
        <p:xfrm>
          <a:off x="830790" y="3124995"/>
          <a:ext cx="10743840" cy="3661572"/>
        </p:xfrm>
        <a:graphic>
          <a:graphicData uri="http://schemas.openxmlformats.org/drawingml/2006/table">
            <a:tbl>
              <a:tblPr firstRow="1" firstCol="1" bandRow="1">
                <a:tableStyleId>{5C22544A-7EE6-4342-B048-85BDC9FD1C3A}</a:tableStyleId>
              </a:tblPr>
              <a:tblGrid>
                <a:gridCol w="1342980">
                  <a:extLst>
                    <a:ext uri="{9D8B030D-6E8A-4147-A177-3AD203B41FA5}">
                      <a16:colId xmlns:a16="http://schemas.microsoft.com/office/drawing/2014/main" val="20000"/>
                    </a:ext>
                  </a:extLst>
                </a:gridCol>
                <a:gridCol w="1342980">
                  <a:extLst>
                    <a:ext uri="{9D8B030D-6E8A-4147-A177-3AD203B41FA5}">
                      <a16:colId xmlns:a16="http://schemas.microsoft.com/office/drawing/2014/main" val="20001"/>
                    </a:ext>
                  </a:extLst>
                </a:gridCol>
                <a:gridCol w="1342980">
                  <a:extLst>
                    <a:ext uri="{9D8B030D-6E8A-4147-A177-3AD203B41FA5}">
                      <a16:colId xmlns:a16="http://schemas.microsoft.com/office/drawing/2014/main" val="20002"/>
                    </a:ext>
                  </a:extLst>
                </a:gridCol>
                <a:gridCol w="1342980">
                  <a:extLst>
                    <a:ext uri="{9D8B030D-6E8A-4147-A177-3AD203B41FA5}">
                      <a16:colId xmlns:a16="http://schemas.microsoft.com/office/drawing/2014/main" val="20003"/>
                    </a:ext>
                  </a:extLst>
                </a:gridCol>
                <a:gridCol w="1342980">
                  <a:extLst>
                    <a:ext uri="{9D8B030D-6E8A-4147-A177-3AD203B41FA5}">
                      <a16:colId xmlns:a16="http://schemas.microsoft.com/office/drawing/2014/main" val="20004"/>
                    </a:ext>
                  </a:extLst>
                </a:gridCol>
                <a:gridCol w="1342980">
                  <a:extLst>
                    <a:ext uri="{9D8B030D-6E8A-4147-A177-3AD203B41FA5}">
                      <a16:colId xmlns:a16="http://schemas.microsoft.com/office/drawing/2014/main" val="20005"/>
                    </a:ext>
                  </a:extLst>
                </a:gridCol>
                <a:gridCol w="1342980">
                  <a:extLst>
                    <a:ext uri="{9D8B030D-6E8A-4147-A177-3AD203B41FA5}">
                      <a16:colId xmlns:a16="http://schemas.microsoft.com/office/drawing/2014/main" val="20006"/>
                    </a:ext>
                  </a:extLst>
                </a:gridCol>
                <a:gridCol w="1342980">
                  <a:extLst>
                    <a:ext uri="{9D8B030D-6E8A-4147-A177-3AD203B41FA5}">
                      <a16:colId xmlns:a16="http://schemas.microsoft.com/office/drawing/2014/main" val="20007"/>
                    </a:ext>
                  </a:extLst>
                </a:gridCol>
              </a:tblGrid>
              <a:tr h="610262">
                <a:tc>
                  <a:txBody>
                    <a:bodyPr/>
                    <a:lstStyle/>
                    <a:p>
                      <a:pPr marL="0" marR="0" algn="ctr">
                        <a:lnSpc>
                          <a:spcPct val="107000"/>
                        </a:lnSpc>
                        <a:spcBef>
                          <a:spcPts val="0"/>
                        </a:spcBef>
                        <a:spcAft>
                          <a:spcPts val="0"/>
                        </a:spcAft>
                      </a:pPr>
                      <a:r>
                        <a:rPr lang="en-IN" sz="1800" dirty="0">
                          <a:effectLst/>
                        </a:rPr>
                        <a:t>H</a:t>
                      </a:r>
                      <a:endParaRPr lang="en-US" sz="1800" dirty="0">
                        <a:effectLst/>
                      </a:endParaRPr>
                    </a:p>
                    <a:p>
                      <a:pPr marL="0" marR="0" algn="ctr">
                        <a:lnSpc>
                          <a:spcPct val="107000"/>
                        </a:lnSpc>
                        <a:spcBef>
                          <a:spcPts val="0"/>
                        </a:spcBef>
                        <a:spcAft>
                          <a:spcPts val="0"/>
                        </a:spcAft>
                      </a:pPr>
                      <a:r>
                        <a:rPr lang="en-IN" sz="1800" dirty="0">
                          <a:effectLst/>
                        </a:rPr>
                        <a:t>2.2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 </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He</a:t>
                      </a:r>
                      <a:endParaRPr lang="en-US" sz="1800">
                        <a:effectLst/>
                      </a:endParaRPr>
                    </a:p>
                    <a:p>
                      <a:pPr marL="0" marR="0" algn="ctr">
                        <a:lnSpc>
                          <a:spcPct val="107000"/>
                        </a:lnSpc>
                        <a:spcBef>
                          <a:spcPts val="0"/>
                        </a:spcBef>
                        <a:spcAft>
                          <a:spcPts val="0"/>
                        </a:spcAft>
                      </a:pPr>
                      <a:r>
                        <a:rPr lang="en-IN" sz="1800">
                          <a:effectLst/>
                        </a:rPr>
                        <a:t>-</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0"/>
                  </a:ext>
                </a:extLst>
              </a:tr>
              <a:tr h="610262">
                <a:tc>
                  <a:txBody>
                    <a:bodyPr/>
                    <a:lstStyle/>
                    <a:p>
                      <a:pPr marL="0" marR="0" algn="ctr">
                        <a:lnSpc>
                          <a:spcPct val="107000"/>
                        </a:lnSpc>
                        <a:spcBef>
                          <a:spcPts val="0"/>
                        </a:spcBef>
                        <a:spcAft>
                          <a:spcPts val="0"/>
                        </a:spcAft>
                      </a:pPr>
                      <a:r>
                        <a:rPr lang="en-IN" sz="1800" dirty="0">
                          <a:effectLst/>
                        </a:rPr>
                        <a:t>Li</a:t>
                      </a:r>
                      <a:endParaRPr lang="en-US" sz="1800" dirty="0">
                        <a:effectLst/>
                      </a:endParaRPr>
                    </a:p>
                    <a:p>
                      <a:pPr marL="0" marR="0" algn="ctr">
                        <a:lnSpc>
                          <a:spcPct val="107000"/>
                        </a:lnSpc>
                        <a:spcBef>
                          <a:spcPts val="0"/>
                        </a:spcBef>
                        <a:spcAft>
                          <a:spcPts val="0"/>
                        </a:spcAft>
                      </a:pPr>
                      <a:r>
                        <a:rPr lang="en-IN" sz="1800" dirty="0" smtClean="0">
                          <a:effectLst/>
                        </a:rPr>
                        <a:t>1.0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Be</a:t>
                      </a:r>
                      <a:endParaRPr lang="en-US" sz="1800" dirty="0">
                        <a:effectLst/>
                      </a:endParaRPr>
                    </a:p>
                    <a:p>
                      <a:pPr marL="0" marR="0" algn="ctr">
                        <a:lnSpc>
                          <a:spcPct val="107000"/>
                        </a:lnSpc>
                        <a:spcBef>
                          <a:spcPts val="0"/>
                        </a:spcBef>
                        <a:spcAft>
                          <a:spcPts val="0"/>
                        </a:spcAft>
                      </a:pPr>
                      <a:r>
                        <a:rPr lang="en-IN" sz="1800" dirty="0">
                          <a:effectLst/>
                        </a:rPr>
                        <a:t>1.5</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a:t>
                      </a:r>
                      <a:endParaRPr lang="en-US" sz="1800">
                        <a:effectLst/>
                      </a:endParaRPr>
                    </a:p>
                    <a:p>
                      <a:pPr marL="0" marR="0" algn="ctr">
                        <a:lnSpc>
                          <a:spcPct val="107000"/>
                        </a:lnSpc>
                        <a:spcBef>
                          <a:spcPts val="0"/>
                        </a:spcBef>
                        <a:spcAft>
                          <a:spcPts val="0"/>
                        </a:spcAft>
                      </a:pPr>
                      <a:r>
                        <a:rPr lang="en-IN" sz="1800">
                          <a:effectLst/>
                        </a:rPr>
                        <a:t>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C</a:t>
                      </a:r>
                      <a:endParaRPr lang="en-US" sz="1800">
                        <a:effectLst/>
                      </a:endParaRPr>
                    </a:p>
                    <a:p>
                      <a:pPr marL="0" marR="0" algn="ctr">
                        <a:lnSpc>
                          <a:spcPct val="107000"/>
                        </a:lnSpc>
                        <a:spcBef>
                          <a:spcPts val="0"/>
                        </a:spcBef>
                        <a:spcAft>
                          <a:spcPts val="0"/>
                        </a:spcAft>
                      </a:pPr>
                      <a:r>
                        <a:rPr lang="en-IN" sz="1800">
                          <a:effectLst/>
                        </a:rPr>
                        <a:t>2.5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N</a:t>
                      </a:r>
                      <a:endParaRPr lang="en-US" sz="1800">
                        <a:effectLst/>
                      </a:endParaRPr>
                    </a:p>
                    <a:p>
                      <a:pPr marL="0" marR="0" algn="ctr">
                        <a:lnSpc>
                          <a:spcPct val="107000"/>
                        </a:lnSpc>
                        <a:spcBef>
                          <a:spcPts val="0"/>
                        </a:spcBef>
                        <a:spcAft>
                          <a:spcPts val="0"/>
                        </a:spcAft>
                      </a:pPr>
                      <a:r>
                        <a:rPr lang="en-IN" sz="1800">
                          <a:effectLst/>
                        </a:rPr>
                        <a:t>3.1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O</a:t>
                      </a:r>
                      <a:endParaRPr lang="en-US" sz="1800">
                        <a:effectLst/>
                      </a:endParaRPr>
                    </a:p>
                    <a:p>
                      <a:pPr marL="0" marR="0" algn="ctr">
                        <a:lnSpc>
                          <a:spcPct val="107000"/>
                        </a:lnSpc>
                        <a:spcBef>
                          <a:spcPts val="0"/>
                        </a:spcBef>
                        <a:spcAft>
                          <a:spcPts val="0"/>
                        </a:spcAft>
                      </a:pPr>
                      <a:r>
                        <a:rPr lang="en-IN" sz="1800">
                          <a:effectLst/>
                        </a:rPr>
                        <a:t>3.5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F</a:t>
                      </a:r>
                      <a:endParaRPr lang="en-US" sz="1800">
                        <a:effectLst/>
                      </a:endParaRPr>
                    </a:p>
                    <a:p>
                      <a:pPr marL="0" marR="0" algn="ctr">
                        <a:lnSpc>
                          <a:spcPct val="107000"/>
                        </a:lnSpc>
                        <a:spcBef>
                          <a:spcPts val="0"/>
                        </a:spcBef>
                        <a:spcAft>
                          <a:spcPts val="0"/>
                        </a:spcAft>
                      </a:pPr>
                      <a:r>
                        <a:rPr lang="en-IN" sz="1800">
                          <a:effectLst/>
                        </a:rPr>
                        <a:t>4.1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Ne</a:t>
                      </a:r>
                      <a:endParaRPr lang="en-US" sz="1800">
                        <a:effectLst/>
                      </a:endParaRPr>
                    </a:p>
                    <a:p>
                      <a:pPr marL="0" marR="0" algn="ctr">
                        <a:lnSpc>
                          <a:spcPct val="107000"/>
                        </a:lnSpc>
                        <a:spcBef>
                          <a:spcPts val="0"/>
                        </a:spcBef>
                        <a:spcAft>
                          <a:spcPts val="0"/>
                        </a:spcAft>
                      </a:pPr>
                      <a:r>
                        <a:rPr lang="en-IN" sz="1800">
                          <a:effectLst/>
                        </a:rPr>
                        <a:t>-</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1"/>
                  </a:ext>
                </a:extLst>
              </a:tr>
              <a:tr h="610262">
                <a:tc>
                  <a:txBody>
                    <a:bodyPr/>
                    <a:lstStyle/>
                    <a:p>
                      <a:pPr marL="0" marR="0" algn="ctr">
                        <a:lnSpc>
                          <a:spcPct val="107000"/>
                        </a:lnSpc>
                        <a:spcBef>
                          <a:spcPts val="0"/>
                        </a:spcBef>
                        <a:spcAft>
                          <a:spcPts val="0"/>
                        </a:spcAft>
                      </a:pPr>
                      <a:r>
                        <a:rPr lang="en-IN" sz="1800" dirty="0">
                          <a:effectLst/>
                        </a:rPr>
                        <a:t>Na</a:t>
                      </a:r>
                      <a:endParaRPr lang="en-US" sz="1800" dirty="0">
                        <a:effectLst/>
                      </a:endParaRPr>
                    </a:p>
                    <a:p>
                      <a:pPr marL="0" marR="0" algn="ctr">
                        <a:lnSpc>
                          <a:spcPct val="107000"/>
                        </a:lnSpc>
                        <a:spcBef>
                          <a:spcPts val="0"/>
                        </a:spcBef>
                        <a:spcAft>
                          <a:spcPts val="0"/>
                        </a:spcAft>
                      </a:pPr>
                      <a:r>
                        <a:rPr lang="en-IN" sz="1800" dirty="0" smtClean="0">
                          <a:effectLst/>
                        </a:rPr>
                        <a:t>0.9</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Mg</a:t>
                      </a:r>
                      <a:endParaRPr lang="en-US" sz="1800" dirty="0">
                        <a:effectLst/>
                      </a:endParaRPr>
                    </a:p>
                    <a:p>
                      <a:pPr marL="0" marR="0" algn="ctr">
                        <a:lnSpc>
                          <a:spcPct val="107000"/>
                        </a:lnSpc>
                        <a:spcBef>
                          <a:spcPts val="0"/>
                        </a:spcBef>
                        <a:spcAft>
                          <a:spcPts val="0"/>
                        </a:spcAft>
                      </a:pPr>
                      <a:r>
                        <a:rPr lang="en-IN" sz="1800" dirty="0">
                          <a:effectLst/>
                        </a:rPr>
                        <a:t>1.2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Al</a:t>
                      </a:r>
                      <a:endParaRPr lang="en-US" sz="1800">
                        <a:effectLst/>
                      </a:endParaRPr>
                    </a:p>
                    <a:p>
                      <a:pPr marL="0" marR="0" algn="ctr">
                        <a:lnSpc>
                          <a:spcPct val="107000"/>
                        </a:lnSpc>
                        <a:spcBef>
                          <a:spcPts val="0"/>
                        </a:spcBef>
                        <a:spcAft>
                          <a:spcPts val="0"/>
                        </a:spcAft>
                      </a:pPr>
                      <a:r>
                        <a:rPr lang="en-IN" sz="1800">
                          <a:effectLst/>
                        </a:rPr>
                        <a:t>1.3</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Si</a:t>
                      </a:r>
                      <a:endParaRPr lang="en-US" sz="1800">
                        <a:effectLst/>
                      </a:endParaRPr>
                    </a:p>
                    <a:p>
                      <a:pPr marL="0" marR="0" algn="ctr">
                        <a:lnSpc>
                          <a:spcPct val="107000"/>
                        </a:lnSpc>
                        <a:spcBef>
                          <a:spcPts val="0"/>
                        </a:spcBef>
                        <a:spcAft>
                          <a:spcPts val="0"/>
                        </a:spcAft>
                      </a:pPr>
                      <a:r>
                        <a:rPr lang="en-IN" sz="1800">
                          <a:effectLst/>
                        </a:rPr>
                        <a:t>1.7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P</a:t>
                      </a:r>
                      <a:endParaRPr lang="en-US" sz="1800">
                        <a:effectLst/>
                      </a:endParaRPr>
                    </a:p>
                    <a:p>
                      <a:pPr marL="0" marR="0" algn="ctr">
                        <a:lnSpc>
                          <a:spcPct val="107000"/>
                        </a:lnSpc>
                        <a:spcBef>
                          <a:spcPts val="0"/>
                        </a:spcBef>
                        <a:spcAft>
                          <a:spcPts val="0"/>
                        </a:spcAft>
                      </a:pPr>
                      <a:r>
                        <a:rPr lang="en-IN" sz="1800">
                          <a:effectLst/>
                        </a:rPr>
                        <a:t>2.1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a:t>
                      </a:r>
                      <a:endParaRPr lang="en-US" sz="1800">
                        <a:effectLst/>
                      </a:endParaRPr>
                    </a:p>
                    <a:p>
                      <a:pPr marL="0" marR="0" algn="ctr">
                        <a:lnSpc>
                          <a:spcPct val="107000"/>
                        </a:lnSpc>
                        <a:spcBef>
                          <a:spcPts val="0"/>
                        </a:spcBef>
                        <a:spcAft>
                          <a:spcPts val="0"/>
                        </a:spcAft>
                      </a:pPr>
                      <a:r>
                        <a:rPr lang="en-IN" sz="1800">
                          <a:effectLst/>
                        </a:rPr>
                        <a:t>2.4</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Cl</a:t>
                      </a:r>
                      <a:endParaRPr lang="en-US" sz="1800">
                        <a:effectLst/>
                      </a:endParaRPr>
                    </a:p>
                    <a:p>
                      <a:pPr marL="0" marR="0" algn="ctr">
                        <a:lnSpc>
                          <a:spcPct val="107000"/>
                        </a:lnSpc>
                        <a:spcBef>
                          <a:spcPts val="0"/>
                        </a:spcBef>
                        <a:spcAft>
                          <a:spcPts val="0"/>
                        </a:spcAft>
                      </a:pPr>
                      <a:r>
                        <a:rPr lang="en-IN" sz="1800">
                          <a:effectLst/>
                        </a:rPr>
                        <a:t>2.8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Ar</a:t>
                      </a:r>
                      <a:endParaRPr lang="en-US" sz="1800">
                        <a:effectLst/>
                      </a:endParaRPr>
                    </a:p>
                    <a:p>
                      <a:pPr marL="0" marR="0" algn="ctr">
                        <a:lnSpc>
                          <a:spcPct val="107000"/>
                        </a:lnSpc>
                        <a:spcBef>
                          <a:spcPts val="0"/>
                        </a:spcBef>
                        <a:spcAft>
                          <a:spcPts val="0"/>
                        </a:spcAft>
                      </a:pPr>
                      <a:r>
                        <a:rPr lang="en-IN" sz="1800">
                          <a:effectLst/>
                        </a:rPr>
                        <a:t>-</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2"/>
                  </a:ext>
                </a:extLst>
              </a:tr>
              <a:tr h="610262">
                <a:tc>
                  <a:txBody>
                    <a:bodyPr/>
                    <a:lstStyle/>
                    <a:p>
                      <a:pPr marL="0" marR="0" algn="ctr">
                        <a:lnSpc>
                          <a:spcPct val="107000"/>
                        </a:lnSpc>
                        <a:spcBef>
                          <a:spcPts val="0"/>
                        </a:spcBef>
                        <a:spcAft>
                          <a:spcPts val="0"/>
                        </a:spcAft>
                      </a:pPr>
                      <a:r>
                        <a:rPr lang="en-IN" sz="1800" dirty="0">
                          <a:effectLst/>
                        </a:rPr>
                        <a:t>K</a:t>
                      </a:r>
                      <a:endParaRPr lang="en-US" sz="1800" dirty="0">
                        <a:effectLst/>
                      </a:endParaRPr>
                    </a:p>
                    <a:p>
                      <a:pPr marL="0" marR="0" algn="ctr">
                        <a:lnSpc>
                          <a:spcPct val="107000"/>
                        </a:lnSpc>
                        <a:spcBef>
                          <a:spcPts val="0"/>
                        </a:spcBef>
                        <a:spcAft>
                          <a:spcPts val="0"/>
                        </a:spcAft>
                      </a:pPr>
                      <a:r>
                        <a:rPr lang="en-IN" sz="1800" dirty="0" smtClean="0">
                          <a:effectLst/>
                        </a:rPr>
                        <a:t>0.8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Ca</a:t>
                      </a:r>
                      <a:endParaRPr lang="en-US" sz="1800" dirty="0">
                        <a:effectLst/>
                      </a:endParaRPr>
                    </a:p>
                    <a:p>
                      <a:pPr marL="0" marR="0" algn="ctr">
                        <a:lnSpc>
                          <a:spcPct val="107000"/>
                        </a:lnSpc>
                        <a:spcBef>
                          <a:spcPts val="0"/>
                        </a:spcBef>
                        <a:spcAft>
                          <a:spcPts val="0"/>
                        </a:spcAft>
                      </a:pPr>
                      <a:r>
                        <a:rPr lang="en-IN" sz="1800" dirty="0">
                          <a:effectLst/>
                        </a:rPr>
                        <a:t>1.0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Ga</a:t>
                      </a:r>
                      <a:endParaRPr lang="en-US" sz="1800" dirty="0">
                        <a:effectLst/>
                      </a:endParaRPr>
                    </a:p>
                    <a:p>
                      <a:pPr marL="0" marR="0" algn="ctr">
                        <a:lnSpc>
                          <a:spcPct val="107000"/>
                        </a:lnSpc>
                        <a:spcBef>
                          <a:spcPts val="0"/>
                        </a:spcBef>
                        <a:spcAft>
                          <a:spcPts val="0"/>
                        </a:spcAft>
                      </a:pPr>
                      <a:r>
                        <a:rPr lang="en-IN" sz="1800" dirty="0">
                          <a:effectLst/>
                        </a:rPr>
                        <a:t>1.8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Ge</a:t>
                      </a:r>
                      <a:endParaRPr lang="en-US" sz="1800">
                        <a:effectLst/>
                      </a:endParaRPr>
                    </a:p>
                    <a:p>
                      <a:pPr marL="0" marR="0" algn="ctr">
                        <a:lnSpc>
                          <a:spcPct val="107000"/>
                        </a:lnSpc>
                        <a:spcBef>
                          <a:spcPts val="0"/>
                        </a:spcBef>
                        <a:spcAft>
                          <a:spcPts val="0"/>
                        </a:spcAft>
                      </a:pPr>
                      <a:r>
                        <a:rPr lang="en-IN" sz="1800">
                          <a:effectLst/>
                        </a:rPr>
                        <a:t>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As</a:t>
                      </a:r>
                      <a:endParaRPr lang="en-US" sz="1800">
                        <a:effectLst/>
                      </a:endParaRPr>
                    </a:p>
                    <a:p>
                      <a:pPr marL="0" marR="0" algn="ctr">
                        <a:lnSpc>
                          <a:spcPct val="107000"/>
                        </a:lnSpc>
                        <a:spcBef>
                          <a:spcPts val="0"/>
                        </a:spcBef>
                        <a:spcAft>
                          <a:spcPts val="0"/>
                        </a:spcAft>
                      </a:pPr>
                      <a:r>
                        <a:rPr lang="en-IN" sz="1800">
                          <a:effectLst/>
                        </a:rPr>
                        <a:t>2.2</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Se</a:t>
                      </a:r>
                      <a:endParaRPr lang="en-US" sz="1800">
                        <a:effectLst/>
                      </a:endParaRPr>
                    </a:p>
                    <a:p>
                      <a:pPr marL="0" marR="0" algn="ctr">
                        <a:lnSpc>
                          <a:spcPct val="107000"/>
                        </a:lnSpc>
                        <a:spcBef>
                          <a:spcPts val="0"/>
                        </a:spcBef>
                        <a:spcAft>
                          <a:spcPts val="0"/>
                        </a:spcAft>
                      </a:pPr>
                      <a:r>
                        <a:rPr lang="en-IN" sz="1800">
                          <a:effectLst/>
                        </a:rPr>
                        <a:t>2.5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Br</a:t>
                      </a:r>
                      <a:endParaRPr lang="en-US" sz="1800">
                        <a:effectLst/>
                      </a:endParaRPr>
                    </a:p>
                    <a:p>
                      <a:pPr marL="0" marR="0" algn="ctr">
                        <a:lnSpc>
                          <a:spcPct val="107000"/>
                        </a:lnSpc>
                        <a:spcBef>
                          <a:spcPts val="0"/>
                        </a:spcBef>
                        <a:spcAft>
                          <a:spcPts val="0"/>
                        </a:spcAft>
                      </a:pPr>
                      <a:r>
                        <a:rPr lang="en-IN" sz="1800">
                          <a:effectLst/>
                        </a:rPr>
                        <a:t>2.7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Kr</a:t>
                      </a:r>
                      <a:endParaRPr lang="en-US" sz="1800">
                        <a:effectLst/>
                      </a:endParaRPr>
                    </a:p>
                    <a:p>
                      <a:pPr marL="0" marR="0" algn="ctr">
                        <a:lnSpc>
                          <a:spcPct val="107000"/>
                        </a:lnSpc>
                        <a:spcBef>
                          <a:spcPts val="0"/>
                        </a:spcBef>
                        <a:spcAft>
                          <a:spcPts val="0"/>
                        </a:spcAft>
                      </a:pPr>
                      <a:r>
                        <a:rPr lang="en-IN" sz="1800">
                          <a:effectLst/>
                        </a:rPr>
                        <a:t>3.1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3"/>
                  </a:ext>
                </a:extLst>
              </a:tr>
              <a:tr h="610262">
                <a:tc>
                  <a:txBody>
                    <a:bodyPr/>
                    <a:lstStyle/>
                    <a:p>
                      <a:pPr marL="0" marR="0" algn="ctr">
                        <a:lnSpc>
                          <a:spcPct val="107000"/>
                        </a:lnSpc>
                        <a:spcBef>
                          <a:spcPts val="0"/>
                        </a:spcBef>
                        <a:spcAft>
                          <a:spcPts val="0"/>
                        </a:spcAft>
                      </a:pPr>
                      <a:r>
                        <a:rPr lang="en-IN" sz="1800" dirty="0">
                          <a:effectLst/>
                        </a:rPr>
                        <a:t>Rb</a:t>
                      </a:r>
                      <a:endParaRPr lang="en-US" sz="1800" dirty="0">
                        <a:effectLst/>
                      </a:endParaRPr>
                    </a:p>
                    <a:p>
                      <a:pPr marL="0" marR="0" algn="ctr">
                        <a:lnSpc>
                          <a:spcPct val="107000"/>
                        </a:lnSpc>
                        <a:spcBef>
                          <a:spcPts val="0"/>
                        </a:spcBef>
                        <a:spcAft>
                          <a:spcPts val="0"/>
                        </a:spcAft>
                      </a:pPr>
                      <a:r>
                        <a:rPr lang="en-IN" sz="1800" dirty="0" smtClean="0">
                          <a:effectLst/>
                        </a:rPr>
                        <a:t>0.8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Sr</a:t>
                      </a:r>
                      <a:endParaRPr lang="en-US" sz="1800">
                        <a:effectLst/>
                      </a:endParaRPr>
                    </a:p>
                    <a:p>
                      <a:pPr marL="0" marR="0" algn="ctr">
                        <a:lnSpc>
                          <a:spcPct val="107000"/>
                        </a:lnSpc>
                        <a:spcBef>
                          <a:spcPts val="0"/>
                        </a:spcBef>
                        <a:spcAft>
                          <a:spcPts val="0"/>
                        </a:spcAft>
                      </a:pPr>
                      <a:r>
                        <a:rPr lang="en-IN" sz="1800">
                          <a:effectLst/>
                        </a:rPr>
                        <a:t>1.0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In</a:t>
                      </a:r>
                      <a:endParaRPr lang="en-US" sz="1800" dirty="0">
                        <a:effectLst/>
                      </a:endParaRPr>
                    </a:p>
                    <a:p>
                      <a:pPr marL="0" marR="0" algn="ctr">
                        <a:lnSpc>
                          <a:spcPct val="107000"/>
                        </a:lnSpc>
                        <a:spcBef>
                          <a:spcPts val="0"/>
                        </a:spcBef>
                        <a:spcAft>
                          <a:spcPts val="0"/>
                        </a:spcAft>
                      </a:pPr>
                      <a:r>
                        <a:rPr lang="en-IN" sz="1800" dirty="0">
                          <a:effectLst/>
                        </a:rPr>
                        <a:t>1.5</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Sn</a:t>
                      </a:r>
                      <a:endParaRPr lang="en-US" sz="1800" dirty="0">
                        <a:effectLst/>
                      </a:endParaRPr>
                    </a:p>
                    <a:p>
                      <a:pPr marL="0" marR="0" algn="ctr">
                        <a:lnSpc>
                          <a:spcPct val="107000"/>
                        </a:lnSpc>
                        <a:spcBef>
                          <a:spcPts val="0"/>
                        </a:spcBef>
                        <a:spcAft>
                          <a:spcPts val="0"/>
                        </a:spcAft>
                      </a:pPr>
                      <a:r>
                        <a:rPr lang="en-IN" sz="1800" dirty="0">
                          <a:effectLst/>
                        </a:rPr>
                        <a:t>1.7</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Sb</a:t>
                      </a:r>
                      <a:endParaRPr lang="en-US" sz="1800">
                        <a:effectLst/>
                      </a:endParaRPr>
                    </a:p>
                    <a:p>
                      <a:pPr marL="0" marR="0" algn="ctr">
                        <a:lnSpc>
                          <a:spcPct val="107000"/>
                        </a:lnSpc>
                        <a:spcBef>
                          <a:spcPts val="0"/>
                        </a:spcBef>
                        <a:spcAft>
                          <a:spcPts val="0"/>
                        </a:spcAft>
                      </a:pPr>
                      <a:r>
                        <a:rPr lang="en-IN" sz="1800">
                          <a:effectLst/>
                        </a:rPr>
                        <a:t>1.8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Te</a:t>
                      </a:r>
                      <a:endParaRPr lang="en-US" sz="1800">
                        <a:effectLst/>
                      </a:endParaRPr>
                    </a:p>
                    <a:p>
                      <a:pPr marL="0" marR="0" algn="ctr">
                        <a:lnSpc>
                          <a:spcPct val="107000"/>
                        </a:lnSpc>
                        <a:spcBef>
                          <a:spcPts val="0"/>
                        </a:spcBef>
                        <a:spcAft>
                          <a:spcPts val="0"/>
                        </a:spcAft>
                      </a:pPr>
                      <a:r>
                        <a:rPr lang="en-IN" sz="1800">
                          <a:effectLst/>
                        </a:rPr>
                        <a:t>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I</a:t>
                      </a:r>
                      <a:endParaRPr lang="en-US" sz="1800">
                        <a:effectLst/>
                      </a:endParaRPr>
                    </a:p>
                    <a:p>
                      <a:pPr marL="0" marR="0" algn="ctr">
                        <a:lnSpc>
                          <a:spcPct val="107000"/>
                        </a:lnSpc>
                        <a:spcBef>
                          <a:spcPts val="0"/>
                        </a:spcBef>
                        <a:spcAft>
                          <a:spcPts val="0"/>
                        </a:spcAft>
                      </a:pPr>
                      <a:r>
                        <a:rPr lang="en-IN" sz="1800">
                          <a:effectLst/>
                        </a:rPr>
                        <a:t>2.2</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Xe</a:t>
                      </a:r>
                      <a:endParaRPr lang="en-US" sz="1800">
                        <a:effectLst/>
                      </a:endParaRPr>
                    </a:p>
                    <a:p>
                      <a:pPr marL="0" marR="0" algn="ctr">
                        <a:lnSpc>
                          <a:spcPct val="107000"/>
                        </a:lnSpc>
                        <a:spcBef>
                          <a:spcPts val="0"/>
                        </a:spcBef>
                        <a:spcAft>
                          <a:spcPts val="0"/>
                        </a:spcAft>
                      </a:pPr>
                      <a:r>
                        <a:rPr lang="en-IN" sz="1800">
                          <a:effectLst/>
                        </a:rPr>
                        <a:t>2.4</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4"/>
                  </a:ext>
                </a:extLst>
              </a:tr>
              <a:tr h="610262">
                <a:tc>
                  <a:txBody>
                    <a:bodyPr/>
                    <a:lstStyle/>
                    <a:p>
                      <a:pPr marL="0" marR="0" algn="ctr">
                        <a:lnSpc>
                          <a:spcPct val="107000"/>
                        </a:lnSpc>
                        <a:spcBef>
                          <a:spcPts val="0"/>
                        </a:spcBef>
                        <a:spcAft>
                          <a:spcPts val="0"/>
                        </a:spcAft>
                      </a:pPr>
                      <a:r>
                        <a:rPr lang="en-IN" sz="1800">
                          <a:effectLst/>
                        </a:rPr>
                        <a:t>Cs</a:t>
                      </a:r>
                      <a:endParaRPr lang="en-US" sz="1800">
                        <a:effectLst/>
                      </a:endParaRPr>
                    </a:p>
                    <a:p>
                      <a:pPr marL="0" marR="0" algn="ctr">
                        <a:lnSpc>
                          <a:spcPct val="107000"/>
                        </a:lnSpc>
                        <a:spcBef>
                          <a:spcPts val="0"/>
                        </a:spcBef>
                        <a:spcAft>
                          <a:spcPts val="0"/>
                        </a:spcAft>
                      </a:pPr>
                      <a:r>
                        <a:rPr lang="en-IN" sz="1800">
                          <a:effectLst/>
                        </a:rPr>
                        <a:t>0.7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Ba</a:t>
                      </a:r>
                      <a:endParaRPr lang="en-US" sz="1800">
                        <a:effectLst/>
                      </a:endParaRPr>
                    </a:p>
                    <a:p>
                      <a:pPr marL="0" marR="0" algn="ctr">
                        <a:lnSpc>
                          <a:spcPct val="107000"/>
                        </a:lnSpc>
                        <a:spcBef>
                          <a:spcPts val="0"/>
                        </a:spcBef>
                        <a:spcAft>
                          <a:spcPts val="0"/>
                        </a:spcAft>
                      </a:pPr>
                      <a:r>
                        <a:rPr lang="en-IN" sz="1800">
                          <a:effectLst/>
                        </a:rPr>
                        <a:t>0.9</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Tl</a:t>
                      </a:r>
                      <a:endParaRPr lang="en-US" sz="1800">
                        <a:effectLst/>
                      </a:endParaRPr>
                    </a:p>
                    <a:p>
                      <a:pPr marL="0" marR="0" algn="ctr">
                        <a:lnSpc>
                          <a:spcPct val="107000"/>
                        </a:lnSpc>
                        <a:spcBef>
                          <a:spcPts val="0"/>
                        </a:spcBef>
                        <a:spcAft>
                          <a:spcPts val="0"/>
                        </a:spcAft>
                      </a:pPr>
                      <a:r>
                        <a:rPr lang="en-IN" sz="1800">
                          <a:effectLst/>
                        </a:rPr>
                        <a:t>1.8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Pb</a:t>
                      </a:r>
                      <a:endParaRPr lang="en-US" sz="1800" dirty="0">
                        <a:effectLst/>
                      </a:endParaRPr>
                    </a:p>
                    <a:p>
                      <a:pPr marL="0" marR="0" algn="ctr">
                        <a:lnSpc>
                          <a:spcPct val="107000"/>
                        </a:lnSpc>
                        <a:spcBef>
                          <a:spcPts val="0"/>
                        </a:spcBef>
                        <a:spcAft>
                          <a:spcPts val="0"/>
                        </a:spcAft>
                      </a:pPr>
                      <a:r>
                        <a:rPr lang="en-IN" sz="1800" dirty="0">
                          <a:effectLst/>
                        </a:rPr>
                        <a:t>1.8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Bi</a:t>
                      </a:r>
                      <a:endParaRPr lang="en-US" sz="1800" dirty="0">
                        <a:effectLst/>
                      </a:endParaRPr>
                    </a:p>
                    <a:p>
                      <a:pPr marL="0" marR="0" algn="ctr">
                        <a:lnSpc>
                          <a:spcPct val="107000"/>
                        </a:lnSpc>
                        <a:spcBef>
                          <a:spcPts val="0"/>
                        </a:spcBef>
                        <a:spcAft>
                          <a:spcPts val="0"/>
                        </a:spcAft>
                      </a:pPr>
                      <a:r>
                        <a:rPr lang="en-IN" sz="1800" dirty="0">
                          <a:effectLst/>
                        </a:rPr>
                        <a:t>1.7</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Po</a:t>
                      </a:r>
                      <a:endParaRPr lang="en-US" sz="1800" dirty="0">
                        <a:effectLst/>
                      </a:endParaRPr>
                    </a:p>
                    <a:p>
                      <a:pPr marL="0" marR="0" algn="ctr">
                        <a:lnSpc>
                          <a:spcPct val="107000"/>
                        </a:lnSpc>
                        <a:spcBef>
                          <a:spcPts val="0"/>
                        </a:spcBef>
                        <a:spcAft>
                          <a:spcPts val="0"/>
                        </a:spcAft>
                      </a:pPr>
                      <a:r>
                        <a:rPr lang="en-IN" sz="1800" dirty="0">
                          <a:effectLst/>
                        </a:rPr>
                        <a:t>1.8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At</a:t>
                      </a:r>
                      <a:endParaRPr lang="en-US" sz="1800" dirty="0">
                        <a:effectLst/>
                      </a:endParaRPr>
                    </a:p>
                    <a:p>
                      <a:pPr marL="0" marR="0" algn="ctr">
                        <a:lnSpc>
                          <a:spcPct val="107000"/>
                        </a:lnSpc>
                        <a:spcBef>
                          <a:spcPts val="0"/>
                        </a:spcBef>
                        <a:spcAft>
                          <a:spcPts val="0"/>
                        </a:spcAft>
                      </a:pPr>
                      <a:r>
                        <a:rPr lang="en-IN" sz="1800" dirty="0">
                          <a:effectLst/>
                        </a:rPr>
                        <a:t>2.0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Rn</a:t>
                      </a:r>
                      <a:endParaRPr lang="en-US" sz="1800" dirty="0">
                        <a:effectLst/>
                      </a:endParaRPr>
                    </a:p>
                    <a:p>
                      <a:pPr marL="0" marR="0" algn="ctr">
                        <a:lnSpc>
                          <a:spcPct val="107000"/>
                        </a:lnSpc>
                        <a:spcBef>
                          <a:spcPts val="0"/>
                        </a:spcBef>
                        <a:spcAft>
                          <a:spcPts val="0"/>
                        </a:spcAft>
                      </a:pPr>
                      <a:r>
                        <a:rPr lang="en-IN" sz="1800" dirty="0">
                          <a:effectLst/>
                        </a:rPr>
                        <a:t>-</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5"/>
                  </a:ext>
                </a:extLst>
              </a:tr>
            </a:tbl>
          </a:graphicData>
        </a:graphic>
      </p:graphicFrame>
      <p:sp>
        <p:nvSpPr>
          <p:cNvPr id="5" name="Rectangle 4"/>
          <p:cNvSpPr/>
          <p:nvPr/>
        </p:nvSpPr>
        <p:spPr>
          <a:xfrm>
            <a:off x="0" y="875429"/>
            <a:ext cx="12191999" cy="196451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800" dirty="0"/>
              <a:t>This is because the electronegativity of both the atoms is same. </a:t>
            </a:r>
          </a:p>
          <a:p>
            <a:pPr marL="285750" indent="-285750" algn="just">
              <a:lnSpc>
                <a:spcPct val="150000"/>
              </a:lnSpc>
              <a:buFont typeface="Arial" panose="020B0604020202020204" pitchFamily="34" charset="0"/>
              <a:buChar char="•"/>
            </a:pPr>
            <a:r>
              <a:rPr lang="en-US" sz="2800" dirty="0"/>
              <a:t>However in a </a:t>
            </a:r>
            <a:r>
              <a:rPr lang="en-US" sz="2800" dirty="0" err="1"/>
              <a:t>heteronuclear</a:t>
            </a:r>
            <a:r>
              <a:rPr lang="en-US" sz="2800" dirty="0"/>
              <a:t> molecule such as </a:t>
            </a:r>
            <a:r>
              <a:rPr lang="en-US" sz="2800" dirty="0" err="1"/>
              <a:t>HCl</a:t>
            </a:r>
            <a:r>
              <a:rPr lang="en-US" sz="2800" dirty="0"/>
              <a:t>  the shared electron pair  is not  equally attracted by the bonding atoms.</a:t>
            </a:r>
          </a:p>
        </p:txBody>
      </p:sp>
      <p:sp>
        <p:nvSpPr>
          <p:cNvPr id="3" name="Footer Placeholder 2">
            <a:extLst>
              <a:ext uri="{FF2B5EF4-FFF2-40B4-BE49-F238E27FC236}">
                <a16:creationId xmlns:a16="http://schemas.microsoft.com/office/drawing/2014/main" id="{E4B6D1E7-8B68-6EAE-27B2-7220FCD6056A}"/>
              </a:ext>
            </a:extLst>
          </p:cNvPr>
          <p:cNvSpPr>
            <a:spLocks noGrp="1"/>
          </p:cNvSpPr>
          <p:nvPr>
            <p:ph type="ftr" sz="quarter" idx="11"/>
          </p:nvPr>
        </p:nvSpPr>
        <p:spPr/>
        <p:txBody>
          <a:bodyPr/>
          <a:lstStyle/>
          <a:p>
            <a:r>
              <a:rPr lang="en-US"/>
              <a:t>Periodic Properties of Elements</a:t>
            </a:r>
          </a:p>
        </p:txBody>
      </p:sp>
      <p:sp>
        <p:nvSpPr>
          <p:cNvPr id="6" name="Slide Number Placeholder 5">
            <a:extLst>
              <a:ext uri="{FF2B5EF4-FFF2-40B4-BE49-F238E27FC236}">
                <a16:creationId xmlns:a16="http://schemas.microsoft.com/office/drawing/2014/main" id="{095DB192-5BDF-2D31-7080-00A66CAFF043}"/>
              </a:ext>
            </a:extLst>
          </p:cNvPr>
          <p:cNvSpPr>
            <a:spLocks noGrp="1"/>
          </p:cNvSpPr>
          <p:nvPr>
            <p:ph type="sldNum" sz="quarter" idx="12"/>
          </p:nvPr>
        </p:nvSpPr>
        <p:spPr/>
        <p:txBody>
          <a:bodyPr/>
          <a:lstStyle/>
          <a:p>
            <a:fld id="{18FFC5A6-CECA-42F5-ACA8-5C3F58FF9B21}" type="slidenum">
              <a:rPr lang="en-US" smtClean="0"/>
              <a:t>42</a:t>
            </a:fld>
            <a:endParaRPr lang="en-US"/>
          </a:p>
        </p:txBody>
      </p:sp>
      <p:sp>
        <p:nvSpPr>
          <p:cNvPr id="7" name="Date Placeholder 6">
            <a:extLst>
              <a:ext uri="{FF2B5EF4-FFF2-40B4-BE49-F238E27FC236}">
                <a16:creationId xmlns:a16="http://schemas.microsoft.com/office/drawing/2014/main" id="{36336D30-C51C-93A8-D944-5F7E1F4A281D}"/>
              </a:ext>
            </a:extLst>
          </p:cNvPr>
          <p:cNvSpPr>
            <a:spLocks noGrp="1"/>
          </p:cNvSpPr>
          <p:nvPr>
            <p:ph type="dt" sz="half" idx="10"/>
          </p:nvPr>
        </p:nvSpPr>
        <p:spPr/>
        <p:txBody>
          <a:bodyPr/>
          <a:lstStyle/>
          <a:p>
            <a:fld id="{D5B051E1-542C-4026-B57F-EFBC29BAB163}" type="datetime1">
              <a:rPr lang="en-US" smtClean="0"/>
              <a:t>8/3/2023</a:t>
            </a:fld>
            <a:endParaRPr lang="en-US"/>
          </a:p>
        </p:txBody>
      </p:sp>
    </p:spTree>
    <p:extLst>
      <p:ext uri="{BB962C8B-B14F-4D97-AF65-F5344CB8AC3E}">
        <p14:creationId xmlns:p14="http://schemas.microsoft.com/office/powerpoint/2010/main" val="34497670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4910" y="-6057"/>
            <a:ext cx="10515600" cy="1512885"/>
          </a:xfrm>
        </p:spPr>
        <p:txBody>
          <a:bodyPr>
            <a:normAutofit/>
          </a:bodyPr>
          <a:lstStyle/>
          <a:p>
            <a:pPr algn="ctr"/>
            <a:r>
              <a:rPr lang="en-IN" dirty="0">
                <a:latin typeface="Aharoni" panose="02010803020104030203" pitchFamily="2" charset="-79"/>
                <a:cs typeface="Aharoni" panose="02010803020104030203" pitchFamily="2" charset="-79"/>
              </a:rPr>
              <a:t>Electronegativity </a:t>
            </a:r>
            <a:r>
              <a:rPr lang="en-US" dirty="0">
                <a:latin typeface="Aharoni" panose="02010803020104030203" pitchFamily="2" charset="-79"/>
                <a:cs typeface="Aharoni" panose="02010803020104030203" pitchFamily="2" charset="-79"/>
              </a:rPr>
              <a:t/>
            </a:r>
            <a:br>
              <a:rPr lang="en-US" dirty="0">
                <a:latin typeface="Aharoni" panose="02010803020104030203" pitchFamily="2" charset="-79"/>
                <a:cs typeface="Aharoni" panose="02010803020104030203" pitchFamily="2" charset="-79"/>
              </a:rPr>
            </a:br>
            <a:endParaRPr lang="en-US" dirty="0">
              <a:latin typeface="Aharoni" panose="02010803020104030203" pitchFamily="2" charset="-79"/>
              <a:cs typeface="Aharoni" panose="02010803020104030203" pitchFamily="2" charset="-79"/>
            </a:endParaRPr>
          </a:p>
        </p:txBody>
      </p:sp>
      <p:sp>
        <p:nvSpPr>
          <p:cNvPr id="5" name="Rectangle 4"/>
          <p:cNvSpPr/>
          <p:nvPr/>
        </p:nvSpPr>
        <p:spPr>
          <a:xfrm>
            <a:off x="390045" y="514821"/>
            <a:ext cx="11625329" cy="286232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400" dirty="0"/>
              <a:t>The electron pair is shifted more towards Cl than H  and the molecule acquires polarity H </a:t>
            </a:r>
            <a:r>
              <a:rPr lang="el-GR" sz="2400" baseline="30000" dirty="0"/>
              <a:t>δ</a:t>
            </a:r>
            <a:r>
              <a:rPr lang="en-US" sz="2400" baseline="30000" dirty="0"/>
              <a:t>+</a:t>
            </a:r>
            <a:r>
              <a:rPr lang="en-US" sz="2400" dirty="0"/>
              <a:t>…….Cl </a:t>
            </a:r>
            <a:r>
              <a:rPr lang="el-GR" sz="2400" i="1" baseline="30000" dirty="0"/>
              <a:t>δ−</a:t>
            </a:r>
            <a:r>
              <a:rPr lang="en-US" sz="2400" i="1" baseline="30000" dirty="0"/>
              <a:t>  </a:t>
            </a:r>
            <a:r>
              <a:rPr lang="en-US" sz="2400" i="1" dirty="0"/>
              <a:t>. </a:t>
            </a:r>
            <a:r>
              <a:rPr lang="en-US" sz="2400" dirty="0"/>
              <a:t>These charges are of equal magnitude but are of opposite sign and the overall charge is zero. </a:t>
            </a:r>
          </a:p>
          <a:p>
            <a:pPr marL="285750" indent="-285750" algn="just">
              <a:lnSpc>
                <a:spcPct val="150000"/>
              </a:lnSpc>
              <a:buFont typeface="Arial" panose="020B0604020202020204" pitchFamily="34" charset="0"/>
              <a:buChar char="•"/>
            </a:pPr>
            <a:r>
              <a:rPr lang="en-US" sz="2400" dirty="0"/>
              <a:t>This implies that the Cl is more electronegative than H because it has more electron affinity to complete its octet.</a:t>
            </a:r>
            <a:endParaRPr lang="en-IN" sz="3600" dirty="0"/>
          </a:p>
        </p:txBody>
      </p:sp>
      <p:sp>
        <p:nvSpPr>
          <p:cNvPr id="3" name="Footer Placeholder 2">
            <a:extLst>
              <a:ext uri="{FF2B5EF4-FFF2-40B4-BE49-F238E27FC236}">
                <a16:creationId xmlns:a16="http://schemas.microsoft.com/office/drawing/2014/main" id="{E5C31871-AC2C-A0FB-2BF5-03FE2D97E5E2}"/>
              </a:ext>
            </a:extLst>
          </p:cNvPr>
          <p:cNvSpPr>
            <a:spLocks noGrp="1"/>
          </p:cNvSpPr>
          <p:nvPr>
            <p:ph type="ftr" sz="quarter" idx="11"/>
          </p:nvPr>
        </p:nvSpPr>
        <p:spPr/>
        <p:txBody>
          <a:bodyPr/>
          <a:lstStyle/>
          <a:p>
            <a:r>
              <a:rPr lang="en-US"/>
              <a:t>Periodic Properties of Elements</a:t>
            </a:r>
          </a:p>
        </p:txBody>
      </p:sp>
      <p:sp>
        <p:nvSpPr>
          <p:cNvPr id="6" name="Slide Number Placeholder 5">
            <a:extLst>
              <a:ext uri="{FF2B5EF4-FFF2-40B4-BE49-F238E27FC236}">
                <a16:creationId xmlns:a16="http://schemas.microsoft.com/office/drawing/2014/main" id="{D39FF928-419A-21D0-0C9E-E98ED8C10D77}"/>
              </a:ext>
            </a:extLst>
          </p:cNvPr>
          <p:cNvSpPr>
            <a:spLocks noGrp="1"/>
          </p:cNvSpPr>
          <p:nvPr>
            <p:ph type="sldNum" sz="quarter" idx="12"/>
          </p:nvPr>
        </p:nvSpPr>
        <p:spPr/>
        <p:txBody>
          <a:bodyPr/>
          <a:lstStyle/>
          <a:p>
            <a:fld id="{18FFC5A6-CECA-42F5-ACA8-5C3F58FF9B21}" type="slidenum">
              <a:rPr lang="en-US" smtClean="0"/>
              <a:t>43</a:t>
            </a:fld>
            <a:endParaRPr lang="en-US"/>
          </a:p>
        </p:txBody>
      </p:sp>
      <p:sp>
        <p:nvSpPr>
          <p:cNvPr id="7" name="Date Placeholder 6">
            <a:extLst>
              <a:ext uri="{FF2B5EF4-FFF2-40B4-BE49-F238E27FC236}">
                <a16:creationId xmlns:a16="http://schemas.microsoft.com/office/drawing/2014/main" id="{9EE7B624-BD26-2998-3822-A483925A8476}"/>
              </a:ext>
            </a:extLst>
          </p:cNvPr>
          <p:cNvSpPr>
            <a:spLocks noGrp="1"/>
          </p:cNvSpPr>
          <p:nvPr>
            <p:ph type="dt" sz="half" idx="10"/>
          </p:nvPr>
        </p:nvSpPr>
        <p:spPr/>
        <p:txBody>
          <a:bodyPr/>
          <a:lstStyle/>
          <a:p>
            <a:fld id="{FDC5E4E0-B273-41E2-9F6B-4F3732BF8BE4}" type="datetime1">
              <a:rPr lang="en-US" smtClean="0"/>
              <a:t>8/3/2023</a:t>
            </a:fld>
            <a:endParaRPr lang="en-US"/>
          </a:p>
        </p:txBody>
      </p:sp>
      <p:graphicFrame>
        <p:nvGraphicFramePr>
          <p:cNvPr id="8" name="Table 7"/>
          <p:cNvGraphicFramePr>
            <a:graphicFrameLocks noGrp="1"/>
          </p:cNvGraphicFramePr>
          <p:nvPr>
            <p:extLst>
              <p:ext uri="{D42A27DB-BD31-4B8C-83A1-F6EECF244321}">
                <p14:modId xmlns:p14="http://schemas.microsoft.com/office/powerpoint/2010/main" val="3157559201"/>
              </p:ext>
            </p:extLst>
          </p:nvPr>
        </p:nvGraphicFramePr>
        <p:xfrm>
          <a:off x="1069846" y="3264603"/>
          <a:ext cx="10504784" cy="3521964"/>
        </p:xfrm>
        <a:graphic>
          <a:graphicData uri="http://schemas.openxmlformats.org/drawingml/2006/table">
            <a:tbl>
              <a:tblPr firstRow="1" firstCol="1" bandRow="1">
                <a:tableStyleId>{5C22544A-7EE6-4342-B048-85BDC9FD1C3A}</a:tableStyleId>
              </a:tblPr>
              <a:tblGrid>
                <a:gridCol w="1313098">
                  <a:extLst>
                    <a:ext uri="{9D8B030D-6E8A-4147-A177-3AD203B41FA5}">
                      <a16:colId xmlns:a16="http://schemas.microsoft.com/office/drawing/2014/main" val="20000"/>
                    </a:ext>
                  </a:extLst>
                </a:gridCol>
                <a:gridCol w="1313098">
                  <a:extLst>
                    <a:ext uri="{9D8B030D-6E8A-4147-A177-3AD203B41FA5}">
                      <a16:colId xmlns:a16="http://schemas.microsoft.com/office/drawing/2014/main" val="20001"/>
                    </a:ext>
                  </a:extLst>
                </a:gridCol>
                <a:gridCol w="1313098">
                  <a:extLst>
                    <a:ext uri="{9D8B030D-6E8A-4147-A177-3AD203B41FA5}">
                      <a16:colId xmlns:a16="http://schemas.microsoft.com/office/drawing/2014/main" val="20002"/>
                    </a:ext>
                  </a:extLst>
                </a:gridCol>
                <a:gridCol w="1313098">
                  <a:extLst>
                    <a:ext uri="{9D8B030D-6E8A-4147-A177-3AD203B41FA5}">
                      <a16:colId xmlns:a16="http://schemas.microsoft.com/office/drawing/2014/main" val="20003"/>
                    </a:ext>
                  </a:extLst>
                </a:gridCol>
                <a:gridCol w="1313098">
                  <a:extLst>
                    <a:ext uri="{9D8B030D-6E8A-4147-A177-3AD203B41FA5}">
                      <a16:colId xmlns:a16="http://schemas.microsoft.com/office/drawing/2014/main" val="20004"/>
                    </a:ext>
                  </a:extLst>
                </a:gridCol>
                <a:gridCol w="1313098">
                  <a:extLst>
                    <a:ext uri="{9D8B030D-6E8A-4147-A177-3AD203B41FA5}">
                      <a16:colId xmlns:a16="http://schemas.microsoft.com/office/drawing/2014/main" val="20005"/>
                    </a:ext>
                  </a:extLst>
                </a:gridCol>
                <a:gridCol w="1313098">
                  <a:extLst>
                    <a:ext uri="{9D8B030D-6E8A-4147-A177-3AD203B41FA5}">
                      <a16:colId xmlns:a16="http://schemas.microsoft.com/office/drawing/2014/main" val="20006"/>
                    </a:ext>
                  </a:extLst>
                </a:gridCol>
                <a:gridCol w="1313098">
                  <a:extLst>
                    <a:ext uri="{9D8B030D-6E8A-4147-A177-3AD203B41FA5}">
                      <a16:colId xmlns:a16="http://schemas.microsoft.com/office/drawing/2014/main" val="20007"/>
                    </a:ext>
                  </a:extLst>
                </a:gridCol>
              </a:tblGrid>
              <a:tr h="568237">
                <a:tc>
                  <a:txBody>
                    <a:bodyPr/>
                    <a:lstStyle/>
                    <a:p>
                      <a:pPr marL="0" marR="0" algn="ctr">
                        <a:lnSpc>
                          <a:spcPct val="107000"/>
                        </a:lnSpc>
                        <a:spcBef>
                          <a:spcPts val="0"/>
                        </a:spcBef>
                        <a:spcAft>
                          <a:spcPts val="0"/>
                        </a:spcAft>
                      </a:pPr>
                      <a:r>
                        <a:rPr lang="en-IN" sz="1800" dirty="0">
                          <a:effectLst/>
                        </a:rPr>
                        <a:t>H</a:t>
                      </a:r>
                      <a:endParaRPr lang="en-US" sz="1800" dirty="0">
                        <a:effectLst/>
                      </a:endParaRPr>
                    </a:p>
                    <a:p>
                      <a:pPr marL="0" marR="0" algn="ctr">
                        <a:lnSpc>
                          <a:spcPct val="107000"/>
                        </a:lnSpc>
                        <a:spcBef>
                          <a:spcPts val="0"/>
                        </a:spcBef>
                        <a:spcAft>
                          <a:spcPts val="0"/>
                        </a:spcAft>
                      </a:pPr>
                      <a:r>
                        <a:rPr lang="en-IN" sz="1800" dirty="0">
                          <a:effectLst/>
                        </a:rPr>
                        <a:t>2.2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 </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He</a:t>
                      </a:r>
                      <a:endParaRPr lang="en-US" sz="1800">
                        <a:effectLst/>
                      </a:endParaRPr>
                    </a:p>
                    <a:p>
                      <a:pPr marL="0" marR="0" algn="ctr">
                        <a:lnSpc>
                          <a:spcPct val="107000"/>
                        </a:lnSpc>
                        <a:spcBef>
                          <a:spcPts val="0"/>
                        </a:spcBef>
                        <a:spcAft>
                          <a:spcPts val="0"/>
                        </a:spcAft>
                      </a:pPr>
                      <a:r>
                        <a:rPr lang="en-IN" sz="1800">
                          <a:effectLst/>
                        </a:rPr>
                        <a:t>-</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0"/>
                  </a:ext>
                </a:extLst>
              </a:tr>
              <a:tr h="568237">
                <a:tc>
                  <a:txBody>
                    <a:bodyPr/>
                    <a:lstStyle/>
                    <a:p>
                      <a:pPr marL="0" marR="0" algn="ctr">
                        <a:lnSpc>
                          <a:spcPct val="107000"/>
                        </a:lnSpc>
                        <a:spcBef>
                          <a:spcPts val="0"/>
                        </a:spcBef>
                        <a:spcAft>
                          <a:spcPts val="0"/>
                        </a:spcAft>
                      </a:pPr>
                      <a:r>
                        <a:rPr lang="en-IN" sz="1800" dirty="0">
                          <a:effectLst/>
                        </a:rPr>
                        <a:t>Li</a:t>
                      </a:r>
                      <a:endParaRPr lang="en-US" sz="1800" dirty="0">
                        <a:effectLst/>
                      </a:endParaRPr>
                    </a:p>
                    <a:p>
                      <a:pPr marL="0" marR="0" algn="ctr">
                        <a:lnSpc>
                          <a:spcPct val="107000"/>
                        </a:lnSpc>
                        <a:spcBef>
                          <a:spcPts val="0"/>
                        </a:spcBef>
                        <a:spcAft>
                          <a:spcPts val="0"/>
                        </a:spcAft>
                      </a:pPr>
                      <a:r>
                        <a:rPr lang="en-IN" sz="1800" dirty="0" smtClean="0">
                          <a:effectLst/>
                        </a:rPr>
                        <a:t>1.0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Be</a:t>
                      </a:r>
                      <a:endParaRPr lang="en-US" sz="1800" dirty="0">
                        <a:effectLst/>
                      </a:endParaRPr>
                    </a:p>
                    <a:p>
                      <a:pPr marL="0" marR="0" algn="ctr">
                        <a:lnSpc>
                          <a:spcPct val="107000"/>
                        </a:lnSpc>
                        <a:spcBef>
                          <a:spcPts val="0"/>
                        </a:spcBef>
                        <a:spcAft>
                          <a:spcPts val="0"/>
                        </a:spcAft>
                      </a:pPr>
                      <a:r>
                        <a:rPr lang="en-IN" sz="1800" dirty="0">
                          <a:effectLst/>
                        </a:rPr>
                        <a:t>1.5</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a:t>
                      </a:r>
                      <a:endParaRPr lang="en-US" sz="1800">
                        <a:effectLst/>
                      </a:endParaRPr>
                    </a:p>
                    <a:p>
                      <a:pPr marL="0" marR="0" algn="ctr">
                        <a:lnSpc>
                          <a:spcPct val="107000"/>
                        </a:lnSpc>
                        <a:spcBef>
                          <a:spcPts val="0"/>
                        </a:spcBef>
                        <a:spcAft>
                          <a:spcPts val="0"/>
                        </a:spcAft>
                      </a:pPr>
                      <a:r>
                        <a:rPr lang="en-IN" sz="1800">
                          <a:effectLst/>
                        </a:rPr>
                        <a:t>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C</a:t>
                      </a:r>
                      <a:endParaRPr lang="en-US" sz="1800">
                        <a:effectLst/>
                      </a:endParaRPr>
                    </a:p>
                    <a:p>
                      <a:pPr marL="0" marR="0" algn="ctr">
                        <a:lnSpc>
                          <a:spcPct val="107000"/>
                        </a:lnSpc>
                        <a:spcBef>
                          <a:spcPts val="0"/>
                        </a:spcBef>
                        <a:spcAft>
                          <a:spcPts val="0"/>
                        </a:spcAft>
                      </a:pPr>
                      <a:r>
                        <a:rPr lang="en-IN" sz="1800">
                          <a:effectLst/>
                        </a:rPr>
                        <a:t>2.5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N</a:t>
                      </a:r>
                      <a:endParaRPr lang="en-US" sz="1800">
                        <a:effectLst/>
                      </a:endParaRPr>
                    </a:p>
                    <a:p>
                      <a:pPr marL="0" marR="0" algn="ctr">
                        <a:lnSpc>
                          <a:spcPct val="107000"/>
                        </a:lnSpc>
                        <a:spcBef>
                          <a:spcPts val="0"/>
                        </a:spcBef>
                        <a:spcAft>
                          <a:spcPts val="0"/>
                        </a:spcAft>
                      </a:pPr>
                      <a:r>
                        <a:rPr lang="en-IN" sz="1800">
                          <a:effectLst/>
                        </a:rPr>
                        <a:t>3.1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O</a:t>
                      </a:r>
                      <a:endParaRPr lang="en-US" sz="1800">
                        <a:effectLst/>
                      </a:endParaRPr>
                    </a:p>
                    <a:p>
                      <a:pPr marL="0" marR="0" algn="ctr">
                        <a:lnSpc>
                          <a:spcPct val="107000"/>
                        </a:lnSpc>
                        <a:spcBef>
                          <a:spcPts val="0"/>
                        </a:spcBef>
                        <a:spcAft>
                          <a:spcPts val="0"/>
                        </a:spcAft>
                      </a:pPr>
                      <a:r>
                        <a:rPr lang="en-IN" sz="1800">
                          <a:effectLst/>
                        </a:rPr>
                        <a:t>3.5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F</a:t>
                      </a:r>
                      <a:endParaRPr lang="en-US" sz="1800">
                        <a:effectLst/>
                      </a:endParaRPr>
                    </a:p>
                    <a:p>
                      <a:pPr marL="0" marR="0" algn="ctr">
                        <a:lnSpc>
                          <a:spcPct val="107000"/>
                        </a:lnSpc>
                        <a:spcBef>
                          <a:spcPts val="0"/>
                        </a:spcBef>
                        <a:spcAft>
                          <a:spcPts val="0"/>
                        </a:spcAft>
                      </a:pPr>
                      <a:r>
                        <a:rPr lang="en-IN" sz="1800">
                          <a:effectLst/>
                        </a:rPr>
                        <a:t>4.1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Ne</a:t>
                      </a:r>
                      <a:endParaRPr lang="en-US" sz="1800">
                        <a:effectLst/>
                      </a:endParaRPr>
                    </a:p>
                    <a:p>
                      <a:pPr marL="0" marR="0" algn="ctr">
                        <a:lnSpc>
                          <a:spcPct val="107000"/>
                        </a:lnSpc>
                        <a:spcBef>
                          <a:spcPts val="0"/>
                        </a:spcBef>
                        <a:spcAft>
                          <a:spcPts val="0"/>
                        </a:spcAft>
                      </a:pPr>
                      <a:r>
                        <a:rPr lang="en-IN" sz="1800">
                          <a:effectLst/>
                        </a:rPr>
                        <a:t>-</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1"/>
                  </a:ext>
                </a:extLst>
              </a:tr>
              <a:tr h="568237">
                <a:tc>
                  <a:txBody>
                    <a:bodyPr/>
                    <a:lstStyle/>
                    <a:p>
                      <a:pPr marL="0" marR="0" algn="ctr">
                        <a:lnSpc>
                          <a:spcPct val="107000"/>
                        </a:lnSpc>
                        <a:spcBef>
                          <a:spcPts val="0"/>
                        </a:spcBef>
                        <a:spcAft>
                          <a:spcPts val="0"/>
                        </a:spcAft>
                      </a:pPr>
                      <a:r>
                        <a:rPr lang="en-IN" sz="1800" dirty="0">
                          <a:effectLst/>
                        </a:rPr>
                        <a:t>Na</a:t>
                      </a:r>
                      <a:endParaRPr lang="en-US" sz="1800" dirty="0">
                        <a:effectLst/>
                      </a:endParaRPr>
                    </a:p>
                    <a:p>
                      <a:pPr marL="0" marR="0" algn="ctr">
                        <a:lnSpc>
                          <a:spcPct val="107000"/>
                        </a:lnSpc>
                        <a:spcBef>
                          <a:spcPts val="0"/>
                        </a:spcBef>
                        <a:spcAft>
                          <a:spcPts val="0"/>
                        </a:spcAft>
                      </a:pPr>
                      <a:r>
                        <a:rPr lang="en-IN" sz="1800" dirty="0" smtClean="0">
                          <a:effectLst/>
                        </a:rPr>
                        <a:t>0.9</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Mg</a:t>
                      </a:r>
                      <a:endParaRPr lang="en-US" sz="1800" dirty="0">
                        <a:effectLst/>
                      </a:endParaRPr>
                    </a:p>
                    <a:p>
                      <a:pPr marL="0" marR="0" algn="ctr">
                        <a:lnSpc>
                          <a:spcPct val="107000"/>
                        </a:lnSpc>
                        <a:spcBef>
                          <a:spcPts val="0"/>
                        </a:spcBef>
                        <a:spcAft>
                          <a:spcPts val="0"/>
                        </a:spcAft>
                      </a:pPr>
                      <a:r>
                        <a:rPr lang="en-IN" sz="1800" dirty="0">
                          <a:effectLst/>
                        </a:rPr>
                        <a:t>1.2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Al</a:t>
                      </a:r>
                      <a:endParaRPr lang="en-US" sz="1800">
                        <a:effectLst/>
                      </a:endParaRPr>
                    </a:p>
                    <a:p>
                      <a:pPr marL="0" marR="0" algn="ctr">
                        <a:lnSpc>
                          <a:spcPct val="107000"/>
                        </a:lnSpc>
                        <a:spcBef>
                          <a:spcPts val="0"/>
                        </a:spcBef>
                        <a:spcAft>
                          <a:spcPts val="0"/>
                        </a:spcAft>
                      </a:pPr>
                      <a:r>
                        <a:rPr lang="en-IN" sz="1800">
                          <a:effectLst/>
                        </a:rPr>
                        <a:t>1.3</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Si</a:t>
                      </a:r>
                      <a:endParaRPr lang="en-US" sz="1800">
                        <a:effectLst/>
                      </a:endParaRPr>
                    </a:p>
                    <a:p>
                      <a:pPr marL="0" marR="0" algn="ctr">
                        <a:lnSpc>
                          <a:spcPct val="107000"/>
                        </a:lnSpc>
                        <a:spcBef>
                          <a:spcPts val="0"/>
                        </a:spcBef>
                        <a:spcAft>
                          <a:spcPts val="0"/>
                        </a:spcAft>
                      </a:pPr>
                      <a:r>
                        <a:rPr lang="en-IN" sz="1800">
                          <a:effectLst/>
                        </a:rPr>
                        <a:t>1.7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P</a:t>
                      </a:r>
                      <a:endParaRPr lang="en-US" sz="1800">
                        <a:effectLst/>
                      </a:endParaRPr>
                    </a:p>
                    <a:p>
                      <a:pPr marL="0" marR="0" algn="ctr">
                        <a:lnSpc>
                          <a:spcPct val="107000"/>
                        </a:lnSpc>
                        <a:spcBef>
                          <a:spcPts val="0"/>
                        </a:spcBef>
                        <a:spcAft>
                          <a:spcPts val="0"/>
                        </a:spcAft>
                      </a:pPr>
                      <a:r>
                        <a:rPr lang="en-IN" sz="1800">
                          <a:effectLst/>
                        </a:rPr>
                        <a:t>2.1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a:t>
                      </a:r>
                      <a:endParaRPr lang="en-US" sz="1800">
                        <a:effectLst/>
                      </a:endParaRPr>
                    </a:p>
                    <a:p>
                      <a:pPr marL="0" marR="0" algn="ctr">
                        <a:lnSpc>
                          <a:spcPct val="107000"/>
                        </a:lnSpc>
                        <a:spcBef>
                          <a:spcPts val="0"/>
                        </a:spcBef>
                        <a:spcAft>
                          <a:spcPts val="0"/>
                        </a:spcAft>
                      </a:pPr>
                      <a:r>
                        <a:rPr lang="en-IN" sz="1800">
                          <a:effectLst/>
                        </a:rPr>
                        <a:t>2.4</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Cl</a:t>
                      </a:r>
                      <a:endParaRPr lang="en-US" sz="1800">
                        <a:effectLst/>
                      </a:endParaRPr>
                    </a:p>
                    <a:p>
                      <a:pPr marL="0" marR="0" algn="ctr">
                        <a:lnSpc>
                          <a:spcPct val="107000"/>
                        </a:lnSpc>
                        <a:spcBef>
                          <a:spcPts val="0"/>
                        </a:spcBef>
                        <a:spcAft>
                          <a:spcPts val="0"/>
                        </a:spcAft>
                      </a:pPr>
                      <a:r>
                        <a:rPr lang="en-IN" sz="1800">
                          <a:effectLst/>
                        </a:rPr>
                        <a:t>2.8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Ar</a:t>
                      </a:r>
                      <a:endParaRPr lang="en-US" sz="1800">
                        <a:effectLst/>
                      </a:endParaRPr>
                    </a:p>
                    <a:p>
                      <a:pPr marL="0" marR="0" algn="ctr">
                        <a:lnSpc>
                          <a:spcPct val="107000"/>
                        </a:lnSpc>
                        <a:spcBef>
                          <a:spcPts val="0"/>
                        </a:spcBef>
                        <a:spcAft>
                          <a:spcPts val="0"/>
                        </a:spcAft>
                      </a:pPr>
                      <a:r>
                        <a:rPr lang="en-IN" sz="1800">
                          <a:effectLst/>
                        </a:rPr>
                        <a:t>-</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2"/>
                  </a:ext>
                </a:extLst>
              </a:tr>
              <a:tr h="568237">
                <a:tc>
                  <a:txBody>
                    <a:bodyPr/>
                    <a:lstStyle/>
                    <a:p>
                      <a:pPr marL="0" marR="0" algn="ctr">
                        <a:lnSpc>
                          <a:spcPct val="107000"/>
                        </a:lnSpc>
                        <a:spcBef>
                          <a:spcPts val="0"/>
                        </a:spcBef>
                        <a:spcAft>
                          <a:spcPts val="0"/>
                        </a:spcAft>
                      </a:pPr>
                      <a:r>
                        <a:rPr lang="en-IN" sz="1800" dirty="0">
                          <a:effectLst/>
                        </a:rPr>
                        <a:t>K</a:t>
                      </a:r>
                      <a:endParaRPr lang="en-US" sz="1800" dirty="0">
                        <a:effectLst/>
                      </a:endParaRPr>
                    </a:p>
                    <a:p>
                      <a:pPr marL="0" marR="0" algn="ctr">
                        <a:lnSpc>
                          <a:spcPct val="107000"/>
                        </a:lnSpc>
                        <a:spcBef>
                          <a:spcPts val="0"/>
                        </a:spcBef>
                        <a:spcAft>
                          <a:spcPts val="0"/>
                        </a:spcAft>
                      </a:pPr>
                      <a:r>
                        <a:rPr lang="en-IN" sz="1800" dirty="0" smtClean="0">
                          <a:effectLst/>
                        </a:rPr>
                        <a:t>0.8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Ca</a:t>
                      </a:r>
                      <a:endParaRPr lang="en-US" sz="1800" dirty="0">
                        <a:effectLst/>
                      </a:endParaRPr>
                    </a:p>
                    <a:p>
                      <a:pPr marL="0" marR="0" algn="ctr">
                        <a:lnSpc>
                          <a:spcPct val="107000"/>
                        </a:lnSpc>
                        <a:spcBef>
                          <a:spcPts val="0"/>
                        </a:spcBef>
                        <a:spcAft>
                          <a:spcPts val="0"/>
                        </a:spcAft>
                      </a:pPr>
                      <a:r>
                        <a:rPr lang="en-IN" sz="1800" dirty="0">
                          <a:effectLst/>
                        </a:rPr>
                        <a:t>1.0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Ga</a:t>
                      </a:r>
                      <a:endParaRPr lang="en-US" sz="1800" dirty="0">
                        <a:effectLst/>
                      </a:endParaRPr>
                    </a:p>
                    <a:p>
                      <a:pPr marL="0" marR="0" algn="ctr">
                        <a:lnSpc>
                          <a:spcPct val="107000"/>
                        </a:lnSpc>
                        <a:spcBef>
                          <a:spcPts val="0"/>
                        </a:spcBef>
                        <a:spcAft>
                          <a:spcPts val="0"/>
                        </a:spcAft>
                      </a:pPr>
                      <a:r>
                        <a:rPr lang="en-IN" sz="1800" dirty="0">
                          <a:effectLst/>
                        </a:rPr>
                        <a:t>1.8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Ge</a:t>
                      </a:r>
                      <a:endParaRPr lang="en-US" sz="1800">
                        <a:effectLst/>
                      </a:endParaRPr>
                    </a:p>
                    <a:p>
                      <a:pPr marL="0" marR="0" algn="ctr">
                        <a:lnSpc>
                          <a:spcPct val="107000"/>
                        </a:lnSpc>
                        <a:spcBef>
                          <a:spcPts val="0"/>
                        </a:spcBef>
                        <a:spcAft>
                          <a:spcPts val="0"/>
                        </a:spcAft>
                      </a:pPr>
                      <a:r>
                        <a:rPr lang="en-IN" sz="1800">
                          <a:effectLst/>
                        </a:rPr>
                        <a:t>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As</a:t>
                      </a:r>
                      <a:endParaRPr lang="en-US" sz="1800">
                        <a:effectLst/>
                      </a:endParaRPr>
                    </a:p>
                    <a:p>
                      <a:pPr marL="0" marR="0" algn="ctr">
                        <a:lnSpc>
                          <a:spcPct val="107000"/>
                        </a:lnSpc>
                        <a:spcBef>
                          <a:spcPts val="0"/>
                        </a:spcBef>
                        <a:spcAft>
                          <a:spcPts val="0"/>
                        </a:spcAft>
                      </a:pPr>
                      <a:r>
                        <a:rPr lang="en-IN" sz="1800">
                          <a:effectLst/>
                        </a:rPr>
                        <a:t>2.2</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Se</a:t>
                      </a:r>
                      <a:endParaRPr lang="en-US" sz="1800">
                        <a:effectLst/>
                      </a:endParaRPr>
                    </a:p>
                    <a:p>
                      <a:pPr marL="0" marR="0" algn="ctr">
                        <a:lnSpc>
                          <a:spcPct val="107000"/>
                        </a:lnSpc>
                        <a:spcBef>
                          <a:spcPts val="0"/>
                        </a:spcBef>
                        <a:spcAft>
                          <a:spcPts val="0"/>
                        </a:spcAft>
                      </a:pPr>
                      <a:r>
                        <a:rPr lang="en-IN" sz="1800">
                          <a:effectLst/>
                        </a:rPr>
                        <a:t>2.5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Br</a:t>
                      </a:r>
                      <a:endParaRPr lang="en-US" sz="1800">
                        <a:effectLst/>
                      </a:endParaRPr>
                    </a:p>
                    <a:p>
                      <a:pPr marL="0" marR="0" algn="ctr">
                        <a:lnSpc>
                          <a:spcPct val="107000"/>
                        </a:lnSpc>
                        <a:spcBef>
                          <a:spcPts val="0"/>
                        </a:spcBef>
                        <a:spcAft>
                          <a:spcPts val="0"/>
                        </a:spcAft>
                      </a:pPr>
                      <a:r>
                        <a:rPr lang="en-IN" sz="1800">
                          <a:effectLst/>
                        </a:rPr>
                        <a:t>2.7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Kr</a:t>
                      </a:r>
                      <a:endParaRPr lang="en-US" sz="1800">
                        <a:effectLst/>
                      </a:endParaRPr>
                    </a:p>
                    <a:p>
                      <a:pPr marL="0" marR="0" algn="ctr">
                        <a:lnSpc>
                          <a:spcPct val="107000"/>
                        </a:lnSpc>
                        <a:spcBef>
                          <a:spcPts val="0"/>
                        </a:spcBef>
                        <a:spcAft>
                          <a:spcPts val="0"/>
                        </a:spcAft>
                      </a:pPr>
                      <a:r>
                        <a:rPr lang="en-IN" sz="1800">
                          <a:effectLst/>
                        </a:rPr>
                        <a:t>3.1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3"/>
                  </a:ext>
                </a:extLst>
              </a:tr>
              <a:tr h="568237">
                <a:tc>
                  <a:txBody>
                    <a:bodyPr/>
                    <a:lstStyle/>
                    <a:p>
                      <a:pPr marL="0" marR="0" algn="ctr">
                        <a:lnSpc>
                          <a:spcPct val="107000"/>
                        </a:lnSpc>
                        <a:spcBef>
                          <a:spcPts val="0"/>
                        </a:spcBef>
                        <a:spcAft>
                          <a:spcPts val="0"/>
                        </a:spcAft>
                      </a:pPr>
                      <a:r>
                        <a:rPr lang="en-IN" sz="1800" dirty="0">
                          <a:effectLst/>
                        </a:rPr>
                        <a:t>Rb</a:t>
                      </a:r>
                      <a:endParaRPr lang="en-US" sz="1800" dirty="0">
                        <a:effectLst/>
                      </a:endParaRPr>
                    </a:p>
                    <a:p>
                      <a:pPr marL="0" marR="0" algn="ctr">
                        <a:lnSpc>
                          <a:spcPct val="107000"/>
                        </a:lnSpc>
                        <a:spcBef>
                          <a:spcPts val="0"/>
                        </a:spcBef>
                        <a:spcAft>
                          <a:spcPts val="0"/>
                        </a:spcAft>
                      </a:pPr>
                      <a:r>
                        <a:rPr lang="en-IN" sz="1800" dirty="0" smtClean="0">
                          <a:effectLst/>
                        </a:rPr>
                        <a:t>0.8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Sr</a:t>
                      </a:r>
                      <a:endParaRPr lang="en-US" sz="1800">
                        <a:effectLst/>
                      </a:endParaRPr>
                    </a:p>
                    <a:p>
                      <a:pPr marL="0" marR="0" algn="ctr">
                        <a:lnSpc>
                          <a:spcPct val="107000"/>
                        </a:lnSpc>
                        <a:spcBef>
                          <a:spcPts val="0"/>
                        </a:spcBef>
                        <a:spcAft>
                          <a:spcPts val="0"/>
                        </a:spcAft>
                      </a:pPr>
                      <a:r>
                        <a:rPr lang="en-IN" sz="1800">
                          <a:effectLst/>
                        </a:rPr>
                        <a:t>1.0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In</a:t>
                      </a:r>
                      <a:endParaRPr lang="en-US" sz="1800" dirty="0">
                        <a:effectLst/>
                      </a:endParaRPr>
                    </a:p>
                    <a:p>
                      <a:pPr marL="0" marR="0" algn="ctr">
                        <a:lnSpc>
                          <a:spcPct val="107000"/>
                        </a:lnSpc>
                        <a:spcBef>
                          <a:spcPts val="0"/>
                        </a:spcBef>
                        <a:spcAft>
                          <a:spcPts val="0"/>
                        </a:spcAft>
                      </a:pPr>
                      <a:r>
                        <a:rPr lang="en-IN" sz="1800" dirty="0">
                          <a:effectLst/>
                        </a:rPr>
                        <a:t>1.5</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Sn</a:t>
                      </a:r>
                      <a:endParaRPr lang="en-US" sz="1800" dirty="0">
                        <a:effectLst/>
                      </a:endParaRPr>
                    </a:p>
                    <a:p>
                      <a:pPr marL="0" marR="0" algn="ctr">
                        <a:lnSpc>
                          <a:spcPct val="107000"/>
                        </a:lnSpc>
                        <a:spcBef>
                          <a:spcPts val="0"/>
                        </a:spcBef>
                        <a:spcAft>
                          <a:spcPts val="0"/>
                        </a:spcAft>
                      </a:pPr>
                      <a:r>
                        <a:rPr lang="en-IN" sz="1800" dirty="0">
                          <a:effectLst/>
                        </a:rPr>
                        <a:t>1.7</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Sb</a:t>
                      </a:r>
                      <a:endParaRPr lang="en-US" sz="1800">
                        <a:effectLst/>
                      </a:endParaRPr>
                    </a:p>
                    <a:p>
                      <a:pPr marL="0" marR="0" algn="ctr">
                        <a:lnSpc>
                          <a:spcPct val="107000"/>
                        </a:lnSpc>
                        <a:spcBef>
                          <a:spcPts val="0"/>
                        </a:spcBef>
                        <a:spcAft>
                          <a:spcPts val="0"/>
                        </a:spcAft>
                      </a:pPr>
                      <a:r>
                        <a:rPr lang="en-IN" sz="1800">
                          <a:effectLst/>
                        </a:rPr>
                        <a:t>1.8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Te</a:t>
                      </a:r>
                      <a:endParaRPr lang="en-US" sz="1800">
                        <a:effectLst/>
                      </a:endParaRPr>
                    </a:p>
                    <a:p>
                      <a:pPr marL="0" marR="0" algn="ctr">
                        <a:lnSpc>
                          <a:spcPct val="107000"/>
                        </a:lnSpc>
                        <a:spcBef>
                          <a:spcPts val="0"/>
                        </a:spcBef>
                        <a:spcAft>
                          <a:spcPts val="0"/>
                        </a:spcAft>
                      </a:pPr>
                      <a:r>
                        <a:rPr lang="en-IN" sz="1800">
                          <a:effectLst/>
                        </a:rPr>
                        <a:t>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I</a:t>
                      </a:r>
                      <a:endParaRPr lang="en-US" sz="1800">
                        <a:effectLst/>
                      </a:endParaRPr>
                    </a:p>
                    <a:p>
                      <a:pPr marL="0" marR="0" algn="ctr">
                        <a:lnSpc>
                          <a:spcPct val="107000"/>
                        </a:lnSpc>
                        <a:spcBef>
                          <a:spcPts val="0"/>
                        </a:spcBef>
                        <a:spcAft>
                          <a:spcPts val="0"/>
                        </a:spcAft>
                      </a:pPr>
                      <a:r>
                        <a:rPr lang="en-IN" sz="1800">
                          <a:effectLst/>
                        </a:rPr>
                        <a:t>2.2</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Xe</a:t>
                      </a:r>
                      <a:endParaRPr lang="en-US" sz="1800">
                        <a:effectLst/>
                      </a:endParaRPr>
                    </a:p>
                    <a:p>
                      <a:pPr marL="0" marR="0" algn="ctr">
                        <a:lnSpc>
                          <a:spcPct val="107000"/>
                        </a:lnSpc>
                        <a:spcBef>
                          <a:spcPts val="0"/>
                        </a:spcBef>
                        <a:spcAft>
                          <a:spcPts val="0"/>
                        </a:spcAft>
                      </a:pPr>
                      <a:r>
                        <a:rPr lang="en-IN" sz="1800">
                          <a:effectLst/>
                        </a:rPr>
                        <a:t>2.4</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4"/>
                  </a:ext>
                </a:extLst>
              </a:tr>
              <a:tr h="568237">
                <a:tc>
                  <a:txBody>
                    <a:bodyPr/>
                    <a:lstStyle/>
                    <a:p>
                      <a:pPr marL="0" marR="0" algn="ctr">
                        <a:lnSpc>
                          <a:spcPct val="107000"/>
                        </a:lnSpc>
                        <a:spcBef>
                          <a:spcPts val="0"/>
                        </a:spcBef>
                        <a:spcAft>
                          <a:spcPts val="0"/>
                        </a:spcAft>
                      </a:pPr>
                      <a:r>
                        <a:rPr lang="en-IN" sz="1800">
                          <a:effectLst/>
                        </a:rPr>
                        <a:t>Cs</a:t>
                      </a:r>
                      <a:endParaRPr lang="en-US" sz="1800">
                        <a:effectLst/>
                      </a:endParaRPr>
                    </a:p>
                    <a:p>
                      <a:pPr marL="0" marR="0" algn="ctr">
                        <a:lnSpc>
                          <a:spcPct val="107000"/>
                        </a:lnSpc>
                        <a:spcBef>
                          <a:spcPts val="0"/>
                        </a:spcBef>
                        <a:spcAft>
                          <a:spcPts val="0"/>
                        </a:spcAft>
                      </a:pPr>
                      <a:r>
                        <a:rPr lang="en-IN" sz="1800">
                          <a:effectLst/>
                        </a:rPr>
                        <a:t>0.7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Ba</a:t>
                      </a:r>
                      <a:endParaRPr lang="en-US" sz="1800">
                        <a:effectLst/>
                      </a:endParaRPr>
                    </a:p>
                    <a:p>
                      <a:pPr marL="0" marR="0" algn="ctr">
                        <a:lnSpc>
                          <a:spcPct val="107000"/>
                        </a:lnSpc>
                        <a:spcBef>
                          <a:spcPts val="0"/>
                        </a:spcBef>
                        <a:spcAft>
                          <a:spcPts val="0"/>
                        </a:spcAft>
                      </a:pPr>
                      <a:r>
                        <a:rPr lang="en-IN" sz="1800">
                          <a:effectLst/>
                        </a:rPr>
                        <a:t>0.9</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Tl</a:t>
                      </a:r>
                      <a:endParaRPr lang="en-US" sz="1800">
                        <a:effectLst/>
                      </a:endParaRPr>
                    </a:p>
                    <a:p>
                      <a:pPr marL="0" marR="0" algn="ctr">
                        <a:lnSpc>
                          <a:spcPct val="107000"/>
                        </a:lnSpc>
                        <a:spcBef>
                          <a:spcPts val="0"/>
                        </a:spcBef>
                        <a:spcAft>
                          <a:spcPts val="0"/>
                        </a:spcAft>
                      </a:pPr>
                      <a:r>
                        <a:rPr lang="en-IN" sz="1800">
                          <a:effectLst/>
                        </a:rPr>
                        <a:t>1.8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Pb</a:t>
                      </a:r>
                      <a:endParaRPr lang="en-US" sz="1800" dirty="0">
                        <a:effectLst/>
                      </a:endParaRPr>
                    </a:p>
                    <a:p>
                      <a:pPr marL="0" marR="0" algn="ctr">
                        <a:lnSpc>
                          <a:spcPct val="107000"/>
                        </a:lnSpc>
                        <a:spcBef>
                          <a:spcPts val="0"/>
                        </a:spcBef>
                        <a:spcAft>
                          <a:spcPts val="0"/>
                        </a:spcAft>
                      </a:pPr>
                      <a:r>
                        <a:rPr lang="en-IN" sz="1800" dirty="0">
                          <a:effectLst/>
                        </a:rPr>
                        <a:t>1.8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Bi</a:t>
                      </a:r>
                      <a:endParaRPr lang="en-US" sz="1800" dirty="0">
                        <a:effectLst/>
                      </a:endParaRPr>
                    </a:p>
                    <a:p>
                      <a:pPr marL="0" marR="0" algn="ctr">
                        <a:lnSpc>
                          <a:spcPct val="107000"/>
                        </a:lnSpc>
                        <a:spcBef>
                          <a:spcPts val="0"/>
                        </a:spcBef>
                        <a:spcAft>
                          <a:spcPts val="0"/>
                        </a:spcAft>
                      </a:pPr>
                      <a:r>
                        <a:rPr lang="en-IN" sz="1800" dirty="0">
                          <a:effectLst/>
                        </a:rPr>
                        <a:t>1.7</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Po</a:t>
                      </a:r>
                      <a:endParaRPr lang="en-US" sz="1800" dirty="0">
                        <a:effectLst/>
                      </a:endParaRPr>
                    </a:p>
                    <a:p>
                      <a:pPr marL="0" marR="0" algn="ctr">
                        <a:lnSpc>
                          <a:spcPct val="107000"/>
                        </a:lnSpc>
                        <a:spcBef>
                          <a:spcPts val="0"/>
                        </a:spcBef>
                        <a:spcAft>
                          <a:spcPts val="0"/>
                        </a:spcAft>
                      </a:pPr>
                      <a:r>
                        <a:rPr lang="en-IN" sz="1800" dirty="0">
                          <a:effectLst/>
                        </a:rPr>
                        <a:t>1.8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At</a:t>
                      </a:r>
                      <a:endParaRPr lang="en-US" sz="1800" dirty="0">
                        <a:effectLst/>
                      </a:endParaRPr>
                    </a:p>
                    <a:p>
                      <a:pPr marL="0" marR="0" algn="ctr">
                        <a:lnSpc>
                          <a:spcPct val="107000"/>
                        </a:lnSpc>
                        <a:spcBef>
                          <a:spcPts val="0"/>
                        </a:spcBef>
                        <a:spcAft>
                          <a:spcPts val="0"/>
                        </a:spcAft>
                      </a:pPr>
                      <a:r>
                        <a:rPr lang="en-IN" sz="1800" dirty="0">
                          <a:effectLst/>
                        </a:rPr>
                        <a:t>2.0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Rn</a:t>
                      </a:r>
                      <a:endParaRPr lang="en-US" sz="1800" dirty="0">
                        <a:effectLst/>
                      </a:endParaRPr>
                    </a:p>
                    <a:p>
                      <a:pPr marL="0" marR="0" algn="ctr">
                        <a:lnSpc>
                          <a:spcPct val="107000"/>
                        </a:lnSpc>
                        <a:spcBef>
                          <a:spcPts val="0"/>
                        </a:spcBef>
                        <a:spcAft>
                          <a:spcPts val="0"/>
                        </a:spcAft>
                      </a:pPr>
                      <a:r>
                        <a:rPr lang="en-IN" sz="1800" dirty="0">
                          <a:effectLst/>
                        </a:rPr>
                        <a:t>-</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434176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76897"/>
            <a:ext cx="10515600" cy="698532"/>
          </a:xfrm>
        </p:spPr>
        <p:txBody>
          <a:bodyPr>
            <a:noAutofit/>
          </a:bodyPr>
          <a:lstStyle/>
          <a:p>
            <a:pPr algn="ctr">
              <a:lnSpc>
                <a:spcPct val="100000"/>
              </a:lnSpc>
            </a:pPr>
            <a:r>
              <a:rPr lang="en-IN" sz="4000" b="1" dirty="0">
                <a:latin typeface="Aharoni" panose="02010803020104030203" pitchFamily="2" charset="-79"/>
                <a:cs typeface="Aharoni" panose="02010803020104030203" pitchFamily="2" charset="-79"/>
              </a:rPr>
              <a:t>Periodicity in Electronegativity</a:t>
            </a:r>
            <a:endParaRPr lang="en-US" dirty="0">
              <a:latin typeface="Aharoni" panose="02010803020104030203" pitchFamily="2" charset="-79"/>
              <a:cs typeface="Aharoni" panose="02010803020104030203" pitchFamily="2" charset="-79"/>
            </a:endParaRPr>
          </a:p>
        </p:txBody>
      </p:sp>
      <p:sp>
        <p:nvSpPr>
          <p:cNvPr id="5" name="Rectangle 4"/>
          <p:cNvSpPr/>
          <p:nvPr/>
        </p:nvSpPr>
        <p:spPr>
          <a:xfrm>
            <a:off x="171717" y="1145885"/>
            <a:ext cx="11848563" cy="1493358"/>
          </a:xfrm>
          <a:prstGeom prst="rect">
            <a:avLst/>
          </a:prstGeom>
        </p:spPr>
        <p:txBody>
          <a:bodyPr wrap="square">
            <a:spAutoFit/>
          </a:bodyPr>
          <a:lstStyle/>
          <a:p>
            <a:pPr marL="457200" lvl="0" indent="-457200" algn="just">
              <a:lnSpc>
                <a:spcPct val="150000"/>
              </a:lnSpc>
              <a:buFont typeface="Arial" panose="020B0604020202020204" pitchFamily="34" charset="0"/>
              <a:buChar char="•"/>
            </a:pPr>
            <a:r>
              <a:rPr lang="en-IN" sz="3200" dirty="0"/>
              <a:t>Within each period for example, Li (Z = 3) to F (Z = 9), Electronegativity increases. </a:t>
            </a:r>
            <a:endParaRPr lang="en-US" sz="3200" dirty="0"/>
          </a:p>
        </p:txBody>
      </p:sp>
      <p:sp>
        <p:nvSpPr>
          <p:cNvPr id="3" name="Footer Placeholder 2">
            <a:extLst>
              <a:ext uri="{FF2B5EF4-FFF2-40B4-BE49-F238E27FC236}">
                <a16:creationId xmlns:a16="http://schemas.microsoft.com/office/drawing/2014/main" id="{B583BFBA-4F2A-8490-1368-04EB7EF734DB}"/>
              </a:ext>
            </a:extLst>
          </p:cNvPr>
          <p:cNvSpPr>
            <a:spLocks noGrp="1"/>
          </p:cNvSpPr>
          <p:nvPr>
            <p:ph type="ftr" sz="quarter" idx="11"/>
          </p:nvPr>
        </p:nvSpPr>
        <p:spPr/>
        <p:txBody>
          <a:bodyPr/>
          <a:lstStyle/>
          <a:p>
            <a:r>
              <a:rPr lang="en-US"/>
              <a:t>Periodic Properties of Elements</a:t>
            </a:r>
          </a:p>
        </p:txBody>
      </p:sp>
      <p:sp>
        <p:nvSpPr>
          <p:cNvPr id="6" name="Slide Number Placeholder 5">
            <a:extLst>
              <a:ext uri="{FF2B5EF4-FFF2-40B4-BE49-F238E27FC236}">
                <a16:creationId xmlns:a16="http://schemas.microsoft.com/office/drawing/2014/main" id="{5ADF748B-8140-19CE-465C-CD53C31A6372}"/>
              </a:ext>
            </a:extLst>
          </p:cNvPr>
          <p:cNvSpPr>
            <a:spLocks noGrp="1"/>
          </p:cNvSpPr>
          <p:nvPr>
            <p:ph type="sldNum" sz="quarter" idx="12"/>
          </p:nvPr>
        </p:nvSpPr>
        <p:spPr/>
        <p:txBody>
          <a:bodyPr/>
          <a:lstStyle/>
          <a:p>
            <a:fld id="{18FFC5A6-CECA-42F5-ACA8-5C3F58FF9B21}" type="slidenum">
              <a:rPr lang="en-US" smtClean="0"/>
              <a:t>44</a:t>
            </a:fld>
            <a:endParaRPr lang="en-US"/>
          </a:p>
        </p:txBody>
      </p:sp>
      <p:sp>
        <p:nvSpPr>
          <p:cNvPr id="7" name="Date Placeholder 6">
            <a:extLst>
              <a:ext uri="{FF2B5EF4-FFF2-40B4-BE49-F238E27FC236}">
                <a16:creationId xmlns:a16="http://schemas.microsoft.com/office/drawing/2014/main" id="{C34252BE-F273-0A39-DE70-23CA9FD055C1}"/>
              </a:ext>
            </a:extLst>
          </p:cNvPr>
          <p:cNvSpPr>
            <a:spLocks noGrp="1"/>
          </p:cNvSpPr>
          <p:nvPr>
            <p:ph type="dt" sz="half" idx="10"/>
          </p:nvPr>
        </p:nvSpPr>
        <p:spPr/>
        <p:txBody>
          <a:bodyPr/>
          <a:lstStyle/>
          <a:p>
            <a:fld id="{3F5C75FD-6564-4BA8-BB3F-B9947BFA465A}" type="datetime1">
              <a:rPr lang="en-US" smtClean="0"/>
              <a:t>8/3/2023</a:t>
            </a:fld>
            <a:endParaRPr lang="en-US"/>
          </a:p>
        </p:txBody>
      </p:sp>
      <p:graphicFrame>
        <p:nvGraphicFramePr>
          <p:cNvPr id="8" name="Table 7"/>
          <p:cNvGraphicFramePr>
            <a:graphicFrameLocks noGrp="1"/>
          </p:cNvGraphicFramePr>
          <p:nvPr>
            <p:extLst>
              <p:ext uri="{D42A27DB-BD31-4B8C-83A1-F6EECF244321}">
                <p14:modId xmlns:p14="http://schemas.microsoft.com/office/powerpoint/2010/main" val="21216299"/>
              </p:ext>
            </p:extLst>
          </p:nvPr>
        </p:nvGraphicFramePr>
        <p:xfrm>
          <a:off x="724078" y="3059903"/>
          <a:ext cx="10743840" cy="3661572"/>
        </p:xfrm>
        <a:graphic>
          <a:graphicData uri="http://schemas.openxmlformats.org/drawingml/2006/table">
            <a:tbl>
              <a:tblPr firstRow="1" firstCol="1" bandRow="1">
                <a:tableStyleId>{5C22544A-7EE6-4342-B048-85BDC9FD1C3A}</a:tableStyleId>
              </a:tblPr>
              <a:tblGrid>
                <a:gridCol w="1342980">
                  <a:extLst>
                    <a:ext uri="{9D8B030D-6E8A-4147-A177-3AD203B41FA5}">
                      <a16:colId xmlns:a16="http://schemas.microsoft.com/office/drawing/2014/main" val="20000"/>
                    </a:ext>
                  </a:extLst>
                </a:gridCol>
                <a:gridCol w="1342980">
                  <a:extLst>
                    <a:ext uri="{9D8B030D-6E8A-4147-A177-3AD203B41FA5}">
                      <a16:colId xmlns:a16="http://schemas.microsoft.com/office/drawing/2014/main" val="20001"/>
                    </a:ext>
                  </a:extLst>
                </a:gridCol>
                <a:gridCol w="1342980">
                  <a:extLst>
                    <a:ext uri="{9D8B030D-6E8A-4147-A177-3AD203B41FA5}">
                      <a16:colId xmlns:a16="http://schemas.microsoft.com/office/drawing/2014/main" val="20002"/>
                    </a:ext>
                  </a:extLst>
                </a:gridCol>
                <a:gridCol w="1342980">
                  <a:extLst>
                    <a:ext uri="{9D8B030D-6E8A-4147-A177-3AD203B41FA5}">
                      <a16:colId xmlns:a16="http://schemas.microsoft.com/office/drawing/2014/main" val="20003"/>
                    </a:ext>
                  </a:extLst>
                </a:gridCol>
                <a:gridCol w="1342980">
                  <a:extLst>
                    <a:ext uri="{9D8B030D-6E8A-4147-A177-3AD203B41FA5}">
                      <a16:colId xmlns:a16="http://schemas.microsoft.com/office/drawing/2014/main" val="20004"/>
                    </a:ext>
                  </a:extLst>
                </a:gridCol>
                <a:gridCol w="1342980">
                  <a:extLst>
                    <a:ext uri="{9D8B030D-6E8A-4147-A177-3AD203B41FA5}">
                      <a16:colId xmlns:a16="http://schemas.microsoft.com/office/drawing/2014/main" val="20005"/>
                    </a:ext>
                  </a:extLst>
                </a:gridCol>
                <a:gridCol w="1342980">
                  <a:extLst>
                    <a:ext uri="{9D8B030D-6E8A-4147-A177-3AD203B41FA5}">
                      <a16:colId xmlns:a16="http://schemas.microsoft.com/office/drawing/2014/main" val="20006"/>
                    </a:ext>
                  </a:extLst>
                </a:gridCol>
                <a:gridCol w="1342980">
                  <a:extLst>
                    <a:ext uri="{9D8B030D-6E8A-4147-A177-3AD203B41FA5}">
                      <a16:colId xmlns:a16="http://schemas.microsoft.com/office/drawing/2014/main" val="20007"/>
                    </a:ext>
                  </a:extLst>
                </a:gridCol>
              </a:tblGrid>
              <a:tr h="610262">
                <a:tc>
                  <a:txBody>
                    <a:bodyPr/>
                    <a:lstStyle/>
                    <a:p>
                      <a:pPr marL="0" marR="0" algn="ctr">
                        <a:lnSpc>
                          <a:spcPct val="107000"/>
                        </a:lnSpc>
                        <a:spcBef>
                          <a:spcPts val="0"/>
                        </a:spcBef>
                        <a:spcAft>
                          <a:spcPts val="0"/>
                        </a:spcAft>
                      </a:pPr>
                      <a:r>
                        <a:rPr lang="en-IN" sz="1800" dirty="0">
                          <a:effectLst/>
                        </a:rPr>
                        <a:t>H</a:t>
                      </a:r>
                      <a:endParaRPr lang="en-US" sz="1800" dirty="0">
                        <a:effectLst/>
                      </a:endParaRPr>
                    </a:p>
                    <a:p>
                      <a:pPr marL="0" marR="0" algn="ctr">
                        <a:lnSpc>
                          <a:spcPct val="107000"/>
                        </a:lnSpc>
                        <a:spcBef>
                          <a:spcPts val="0"/>
                        </a:spcBef>
                        <a:spcAft>
                          <a:spcPts val="0"/>
                        </a:spcAft>
                      </a:pPr>
                      <a:r>
                        <a:rPr lang="en-IN" sz="1800" dirty="0">
                          <a:effectLst/>
                        </a:rPr>
                        <a:t>2.2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 </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He</a:t>
                      </a:r>
                      <a:endParaRPr lang="en-US" sz="1800">
                        <a:effectLst/>
                      </a:endParaRPr>
                    </a:p>
                    <a:p>
                      <a:pPr marL="0" marR="0" algn="ctr">
                        <a:lnSpc>
                          <a:spcPct val="107000"/>
                        </a:lnSpc>
                        <a:spcBef>
                          <a:spcPts val="0"/>
                        </a:spcBef>
                        <a:spcAft>
                          <a:spcPts val="0"/>
                        </a:spcAft>
                      </a:pPr>
                      <a:r>
                        <a:rPr lang="en-IN" sz="1800">
                          <a:effectLst/>
                        </a:rPr>
                        <a:t>-</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0"/>
                  </a:ext>
                </a:extLst>
              </a:tr>
              <a:tr h="610262">
                <a:tc>
                  <a:txBody>
                    <a:bodyPr/>
                    <a:lstStyle/>
                    <a:p>
                      <a:pPr marL="0" marR="0" algn="ctr">
                        <a:lnSpc>
                          <a:spcPct val="107000"/>
                        </a:lnSpc>
                        <a:spcBef>
                          <a:spcPts val="0"/>
                        </a:spcBef>
                        <a:spcAft>
                          <a:spcPts val="0"/>
                        </a:spcAft>
                      </a:pPr>
                      <a:r>
                        <a:rPr lang="en-IN" sz="1800" dirty="0">
                          <a:effectLst/>
                        </a:rPr>
                        <a:t>Li</a:t>
                      </a:r>
                      <a:endParaRPr lang="en-US" sz="1800" dirty="0">
                        <a:effectLst/>
                      </a:endParaRPr>
                    </a:p>
                    <a:p>
                      <a:pPr marL="0" marR="0" algn="ctr">
                        <a:lnSpc>
                          <a:spcPct val="107000"/>
                        </a:lnSpc>
                        <a:spcBef>
                          <a:spcPts val="0"/>
                        </a:spcBef>
                        <a:spcAft>
                          <a:spcPts val="0"/>
                        </a:spcAft>
                      </a:pPr>
                      <a:r>
                        <a:rPr lang="en-IN" sz="1800" dirty="0" smtClean="0">
                          <a:effectLst/>
                        </a:rPr>
                        <a:t>1.0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Be</a:t>
                      </a:r>
                      <a:endParaRPr lang="en-US" sz="1800" dirty="0">
                        <a:effectLst/>
                      </a:endParaRPr>
                    </a:p>
                    <a:p>
                      <a:pPr marL="0" marR="0" algn="ctr">
                        <a:lnSpc>
                          <a:spcPct val="107000"/>
                        </a:lnSpc>
                        <a:spcBef>
                          <a:spcPts val="0"/>
                        </a:spcBef>
                        <a:spcAft>
                          <a:spcPts val="0"/>
                        </a:spcAft>
                      </a:pPr>
                      <a:r>
                        <a:rPr lang="en-IN" sz="1800" dirty="0">
                          <a:effectLst/>
                        </a:rPr>
                        <a:t>1.5</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a:t>
                      </a:r>
                      <a:endParaRPr lang="en-US" sz="1800">
                        <a:effectLst/>
                      </a:endParaRPr>
                    </a:p>
                    <a:p>
                      <a:pPr marL="0" marR="0" algn="ctr">
                        <a:lnSpc>
                          <a:spcPct val="107000"/>
                        </a:lnSpc>
                        <a:spcBef>
                          <a:spcPts val="0"/>
                        </a:spcBef>
                        <a:spcAft>
                          <a:spcPts val="0"/>
                        </a:spcAft>
                      </a:pPr>
                      <a:r>
                        <a:rPr lang="en-IN" sz="1800">
                          <a:effectLst/>
                        </a:rPr>
                        <a:t>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C</a:t>
                      </a:r>
                      <a:endParaRPr lang="en-US" sz="1800">
                        <a:effectLst/>
                      </a:endParaRPr>
                    </a:p>
                    <a:p>
                      <a:pPr marL="0" marR="0" algn="ctr">
                        <a:lnSpc>
                          <a:spcPct val="107000"/>
                        </a:lnSpc>
                        <a:spcBef>
                          <a:spcPts val="0"/>
                        </a:spcBef>
                        <a:spcAft>
                          <a:spcPts val="0"/>
                        </a:spcAft>
                      </a:pPr>
                      <a:r>
                        <a:rPr lang="en-IN" sz="1800">
                          <a:effectLst/>
                        </a:rPr>
                        <a:t>2.5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N</a:t>
                      </a:r>
                      <a:endParaRPr lang="en-US" sz="1800">
                        <a:effectLst/>
                      </a:endParaRPr>
                    </a:p>
                    <a:p>
                      <a:pPr marL="0" marR="0" algn="ctr">
                        <a:lnSpc>
                          <a:spcPct val="107000"/>
                        </a:lnSpc>
                        <a:spcBef>
                          <a:spcPts val="0"/>
                        </a:spcBef>
                        <a:spcAft>
                          <a:spcPts val="0"/>
                        </a:spcAft>
                      </a:pPr>
                      <a:r>
                        <a:rPr lang="en-IN" sz="1800">
                          <a:effectLst/>
                        </a:rPr>
                        <a:t>3.1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O</a:t>
                      </a:r>
                      <a:endParaRPr lang="en-US" sz="1800">
                        <a:effectLst/>
                      </a:endParaRPr>
                    </a:p>
                    <a:p>
                      <a:pPr marL="0" marR="0" algn="ctr">
                        <a:lnSpc>
                          <a:spcPct val="107000"/>
                        </a:lnSpc>
                        <a:spcBef>
                          <a:spcPts val="0"/>
                        </a:spcBef>
                        <a:spcAft>
                          <a:spcPts val="0"/>
                        </a:spcAft>
                      </a:pPr>
                      <a:r>
                        <a:rPr lang="en-IN" sz="1800">
                          <a:effectLst/>
                        </a:rPr>
                        <a:t>3.5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F</a:t>
                      </a:r>
                      <a:endParaRPr lang="en-US" sz="1800">
                        <a:effectLst/>
                      </a:endParaRPr>
                    </a:p>
                    <a:p>
                      <a:pPr marL="0" marR="0" algn="ctr">
                        <a:lnSpc>
                          <a:spcPct val="107000"/>
                        </a:lnSpc>
                        <a:spcBef>
                          <a:spcPts val="0"/>
                        </a:spcBef>
                        <a:spcAft>
                          <a:spcPts val="0"/>
                        </a:spcAft>
                      </a:pPr>
                      <a:r>
                        <a:rPr lang="en-IN" sz="1800">
                          <a:effectLst/>
                        </a:rPr>
                        <a:t>4.1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Ne</a:t>
                      </a:r>
                      <a:endParaRPr lang="en-US" sz="1800">
                        <a:effectLst/>
                      </a:endParaRPr>
                    </a:p>
                    <a:p>
                      <a:pPr marL="0" marR="0" algn="ctr">
                        <a:lnSpc>
                          <a:spcPct val="107000"/>
                        </a:lnSpc>
                        <a:spcBef>
                          <a:spcPts val="0"/>
                        </a:spcBef>
                        <a:spcAft>
                          <a:spcPts val="0"/>
                        </a:spcAft>
                      </a:pPr>
                      <a:r>
                        <a:rPr lang="en-IN" sz="1800">
                          <a:effectLst/>
                        </a:rPr>
                        <a:t>-</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1"/>
                  </a:ext>
                </a:extLst>
              </a:tr>
              <a:tr h="610262">
                <a:tc>
                  <a:txBody>
                    <a:bodyPr/>
                    <a:lstStyle/>
                    <a:p>
                      <a:pPr marL="0" marR="0" algn="ctr">
                        <a:lnSpc>
                          <a:spcPct val="107000"/>
                        </a:lnSpc>
                        <a:spcBef>
                          <a:spcPts val="0"/>
                        </a:spcBef>
                        <a:spcAft>
                          <a:spcPts val="0"/>
                        </a:spcAft>
                      </a:pPr>
                      <a:r>
                        <a:rPr lang="en-IN" sz="1800" dirty="0">
                          <a:effectLst/>
                        </a:rPr>
                        <a:t>Na</a:t>
                      </a:r>
                      <a:endParaRPr lang="en-US" sz="1800" dirty="0">
                        <a:effectLst/>
                      </a:endParaRPr>
                    </a:p>
                    <a:p>
                      <a:pPr marL="0" marR="0" algn="ctr">
                        <a:lnSpc>
                          <a:spcPct val="107000"/>
                        </a:lnSpc>
                        <a:spcBef>
                          <a:spcPts val="0"/>
                        </a:spcBef>
                        <a:spcAft>
                          <a:spcPts val="0"/>
                        </a:spcAft>
                      </a:pPr>
                      <a:r>
                        <a:rPr lang="en-IN" sz="1800" dirty="0" smtClean="0">
                          <a:effectLst/>
                        </a:rPr>
                        <a:t>0.9</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Mg</a:t>
                      </a:r>
                      <a:endParaRPr lang="en-US" sz="1800" dirty="0">
                        <a:effectLst/>
                      </a:endParaRPr>
                    </a:p>
                    <a:p>
                      <a:pPr marL="0" marR="0" algn="ctr">
                        <a:lnSpc>
                          <a:spcPct val="107000"/>
                        </a:lnSpc>
                        <a:spcBef>
                          <a:spcPts val="0"/>
                        </a:spcBef>
                        <a:spcAft>
                          <a:spcPts val="0"/>
                        </a:spcAft>
                      </a:pPr>
                      <a:r>
                        <a:rPr lang="en-IN" sz="1800" dirty="0">
                          <a:effectLst/>
                        </a:rPr>
                        <a:t>1.2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Al</a:t>
                      </a:r>
                      <a:endParaRPr lang="en-US" sz="1800">
                        <a:effectLst/>
                      </a:endParaRPr>
                    </a:p>
                    <a:p>
                      <a:pPr marL="0" marR="0" algn="ctr">
                        <a:lnSpc>
                          <a:spcPct val="107000"/>
                        </a:lnSpc>
                        <a:spcBef>
                          <a:spcPts val="0"/>
                        </a:spcBef>
                        <a:spcAft>
                          <a:spcPts val="0"/>
                        </a:spcAft>
                      </a:pPr>
                      <a:r>
                        <a:rPr lang="en-IN" sz="1800">
                          <a:effectLst/>
                        </a:rPr>
                        <a:t>1.3</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Si</a:t>
                      </a:r>
                      <a:endParaRPr lang="en-US" sz="1800">
                        <a:effectLst/>
                      </a:endParaRPr>
                    </a:p>
                    <a:p>
                      <a:pPr marL="0" marR="0" algn="ctr">
                        <a:lnSpc>
                          <a:spcPct val="107000"/>
                        </a:lnSpc>
                        <a:spcBef>
                          <a:spcPts val="0"/>
                        </a:spcBef>
                        <a:spcAft>
                          <a:spcPts val="0"/>
                        </a:spcAft>
                      </a:pPr>
                      <a:r>
                        <a:rPr lang="en-IN" sz="1800">
                          <a:effectLst/>
                        </a:rPr>
                        <a:t>1.7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P</a:t>
                      </a:r>
                      <a:endParaRPr lang="en-US" sz="1800">
                        <a:effectLst/>
                      </a:endParaRPr>
                    </a:p>
                    <a:p>
                      <a:pPr marL="0" marR="0" algn="ctr">
                        <a:lnSpc>
                          <a:spcPct val="107000"/>
                        </a:lnSpc>
                        <a:spcBef>
                          <a:spcPts val="0"/>
                        </a:spcBef>
                        <a:spcAft>
                          <a:spcPts val="0"/>
                        </a:spcAft>
                      </a:pPr>
                      <a:r>
                        <a:rPr lang="en-IN" sz="1800">
                          <a:effectLst/>
                        </a:rPr>
                        <a:t>2.1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a:t>
                      </a:r>
                      <a:endParaRPr lang="en-US" sz="1800">
                        <a:effectLst/>
                      </a:endParaRPr>
                    </a:p>
                    <a:p>
                      <a:pPr marL="0" marR="0" algn="ctr">
                        <a:lnSpc>
                          <a:spcPct val="107000"/>
                        </a:lnSpc>
                        <a:spcBef>
                          <a:spcPts val="0"/>
                        </a:spcBef>
                        <a:spcAft>
                          <a:spcPts val="0"/>
                        </a:spcAft>
                      </a:pPr>
                      <a:r>
                        <a:rPr lang="en-IN" sz="1800">
                          <a:effectLst/>
                        </a:rPr>
                        <a:t>2.4</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Cl</a:t>
                      </a:r>
                      <a:endParaRPr lang="en-US" sz="1800">
                        <a:effectLst/>
                      </a:endParaRPr>
                    </a:p>
                    <a:p>
                      <a:pPr marL="0" marR="0" algn="ctr">
                        <a:lnSpc>
                          <a:spcPct val="107000"/>
                        </a:lnSpc>
                        <a:spcBef>
                          <a:spcPts val="0"/>
                        </a:spcBef>
                        <a:spcAft>
                          <a:spcPts val="0"/>
                        </a:spcAft>
                      </a:pPr>
                      <a:r>
                        <a:rPr lang="en-IN" sz="1800">
                          <a:effectLst/>
                        </a:rPr>
                        <a:t>2.8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Ar</a:t>
                      </a:r>
                      <a:endParaRPr lang="en-US" sz="1800">
                        <a:effectLst/>
                      </a:endParaRPr>
                    </a:p>
                    <a:p>
                      <a:pPr marL="0" marR="0" algn="ctr">
                        <a:lnSpc>
                          <a:spcPct val="107000"/>
                        </a:lnSpc>
                        <a:spcBef>
                          <a:spcPts val="0"/>
                        </a:spcBef>
                        <a:spcAft>
                          <a:spcPts val="0"/>
                        </a:spcAft>
                      </a:pPr>
                      <a:r>
                        <a:rPr lang="en-IN" sz="1800">
                          <a:effectLst/>
                        </a:rPr>
                        <a:t>-</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2"/>
                  </a:ext>
                </a:extLst>
              </a:tr>
              <a:tr h="610262">
                <a:tc>
                  <a:txBody>
                    <a:bodyPr/>
                    <a:lstStyle/>
                    <a:p>
                      <a:pPr marL="0" marR="0" algn="ctr">
                        <a:lnSpc>
                          <a:spcPct val="107000"/>
                        </a:lnSpc>
                        <a:spcBef>
                          <a:spcPts val="0"/>
                        </a:spcBef>
                        <a:spcAft>
                          <a:spcPts val="0"/>
                        </a:spcAft>
                      </a:pPr>
                      <a:r>
                        <a:rPr lang="en-IN" sz="1800" dirty="0">
                          <a:effectLst/>
                        </a:rPr>
                        <a:t>K</a:t>
                      </a:r>
                      <a:endParaRPr lang="en-US" sz="1800" dirty="0">
                        <a:effectLst/>
                      </a:endParaRPr>
                    </a:p>
                    <a:p>
                      <a:pPr marL="0" marR="0" algn="ctr">
                        <a:lnSpc>
                          <a:spcPct val="107000"/>
                        </a:lnSpc>
                        <a:spcBef>
                          <a:spcPts val="0"/>
                        </a:spcBef>
                        <a:spcAft>
                          <a:spcPts val="0"/>
                        </a:spcAft>
                      </a:pPr>
                      <a:r>
                        <a:rPr lang="en-IN" sz="1800" dirty="0" smtClean="0">
                          <a:effectLst/>
                        </a:rPr>
                        <a:t>0.8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Ca</a:t>
                      </a:r>
                      <a:endParaRPr lang="en-US" sz="1800" dirty="0">
                        <a:effectLst/>
                      </a:endParaRPr>
                    </a:p>
                    <a:p>
                      <a:pPr marL="0" marR="0" algn="ctr">
                        <a:lnSpc>
                          <a:spcPct val="107000"/>
                        </a:lnSpc>
                        <a:spcBef>
                          <a:spcPts val="0"/>
                        </a:spcBef>
                        <a:spcAft>
                          <a:spcPts val="0"/>
                        </a:spcAft>
                      </a:pPr>
                      <a:r>
                        <a:rPr lang="en-IN" sz="1800" dirty="0">
                          <a:effectLst/>
                        </a:rPr>
                        <a:t>1.0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Ga</a:t>
                      </a:r>
                      <a:endParaRPr lang="en-US" sz="1800" dirty="0">
                        <a:effectLst/>
                      </a:endParaRPr>
                    </a:p>
                    <a:p>
                      <a:pPr marL="0" marR="0" algn="ctr">
                        <a:lnSpc>
                          <a:spcPct val="107000"/>
                        </a:lnSpc>
                        <a:spcBef>
                          <a:spcPts val="0"/>
                        </a:spcBef>
                        <a:spcAft>
                          <a:spcPts val="0"/>
                        </a:spcAft>
                      </a:pPr>
                      <a:r>
                        <a:rPr lang="en-IN" sz="1800" dirty="0">
                          <a:effectLst/>
                        </a:rPr>
                        <a:t>1.8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Ge</a:t>
                      </a:r>
                      <a:endParaRPr lang="en-US" sz="1800">
                        <a:effectLst/>
                      </a:endParaRPr>
                    </a:p>
                    <a:p>
                      <a:pPr marL="0" marR="0" algn="ctr">
                        <a:lnSpc>
                          <a:spcPct val="107000"/>
                        </a:lnSpc>
                        <a:spcBef>
                          <a:spcPts val="0"/>
                        </a:spcBef>
                        <a:spcAft>
                          <a:spcPts val="0"/>
                        </a:spcAft>
                      </a:pPr>
                      <a:r>
                        <a:rPr lang="en-IN" sz="1800">
                          <a:effectLst/>
                        </a:rPr>
                        <a:t>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As</a:t>
                      </a:r>
                      <a:endParaRPr lang="en-US" sz="1800">
                        <a:effectLst/>
                      </a:endParaRPr>
                    </a:p>
                    <a:p>
                      <a:pPr marL="0" marR="0" algn="ctr">
                        <a:lnSpc>
                          <a:spcPct val="107000"/>
                        </a:lnSpc>
                        <a:spcBef>
                          <a:spcPts val="0"/>
                        </a:spcBef>
                        <a:spcAft>
                          <a:spcPts val="0"/>
                        </a:spcAft>
                      </a:pPr>
                      <a:r>
                        <a:rPr lang="en-IN" sz="1800">
                          <a:effectLst/>
                        </a:rPr>
                        <a:t>2.2</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Se</a:t>
                      </a:r>
                      <a:endParaRPr lang="en-US" sz="1800">
                        <a:effectLst/>
                      </a:endParaRPr>
                    </a:p>
                    <a:p>
                      <a:pPr marL="0" marR="0" algn="ctr">
                        <a:lnSpc>
                          <a:spcPct val="107000"/>
                        </a:lnSpc>
                        <a:spcBef>
                          <a:spcPts val="0"/>
                        </a:spcBef>
                        <a:spcAft>
                          <a:spcPts val="0"/>
                        </a:spcAft>
                      </a:pPr>
                      <a:r>
                        <a:rPr lang="en-IN" sz="1800">
                          <a:effectLst/>
                        </a:rPr>
                        <a:t>2.5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Br</a:t>
                      </a:r>
                      <a:endParaRPr lang="en-US" sz="1800">
                        <a:effectLst/>
                      </a:endParaRPr>
                    </a:p>
                    <a:p>
                      <a:pPr marL="0" marR="0" algn="ctr">
                        <a:lnSpc>
                          <a:spcPct val="107000"/>
                        </a:lnSpc>
                        <a:spcBef>
                          <a:spcPts val="0"/>
                        </a:spcBef>
                        <a:spcAft>
                          <a:spcPts val="0"/>
                        </a:spcAft>
                      </a:pPr>
                      <a:r>
                        <a:rPr lang="en-IN" sz="1800">
                          <a:effectLst/>
                        </a:rPr>
                        <a:t>2.7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Kr</a:t>
                      </a:r>
                      <a:endParaRPr lang="en-US" sz="1800">
                        <a:effectLst/>
                      </a:endParaRPr>
                    </a:p>
                    <a:p>
                      <a:pPr marL="0" marR="0" algn="ctr">
                        <a:lnSpc>
                          <a:spcPct val="107000"/>
                        </a:lnSpc>
                        <a:spcBef>
                          <a:spcPts val="0"/>
                        </a:spcBef>
                        <a:spcAft>
                          <a:spcPts val="0"/>
                        </a:spcAft>
                      </a:pPr>
                      <a:r>
                        <a:rPr lang="en-IN" sz="1800">
                          <a:effectLst/>
                        </a:rPr>
                        <a:t>3.1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3"/>
                  </a:ext>
                </a:extLst>
              </a:tr>
              <a:tr h="610262">
                <a:tc>
                  <a:txBody>
                    <a:bodyPr/>
                    <a:lstStyle/>
                    <a:p>
                      <a:pPr marL="0" marR="0" algn="ctr">
                        <a:lnSpc>
                          <a:spcPct val="107000"/>
                        </a:lnSpc>
                        <a:spcBef>
                          <a:spcPts val="0"/>
                        </a:spcBef>
                        <a:spcAft>
                          <a:spcPts val="0"/>
                        </a:spcAft>
                      </a:pPr>
                      <a:r>
                        <a:rPr lang="en-IN" sz="1800" dirty="0">
                          <a:effectLst/>
                        </a:rPr>
                        <a:t>Rb</a:t>
                      </a:r>
                      <a:endParaRPr lang="en-US" sz="1800" dirty="0">
                        <a:effectLst/>
                      </a:endParaRPr>
                    </a:p>
                    <a:p>
                      <a:pPr marL="0" marR="0" algn="ctr">
                        <a:lnSpc>
                          <a:spcPct val="107000"/>
                        </a:lnSpc>
                        <a:spcBef>
                          <a:spcPts val="0"/>
                        </a:spcBef>
                        <a:spcAft>
                          <a:spcPts val="0"/>
                        </a:spcAft>
                      </a:pPr>
                      <a:r>
                        <a:rPr lang="en-IN" sz="1800" dirty="0" smtClean="0">
                          <a:effectLst/>
                        </a:rPr>
                        <a:t>0.8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Sr</a:t>
                      </a:r>
                      <a:endParaRPr lang="en-US" sz="1800">
                        <a:effectLst/>
                      </a:endParaRPr>
                    </a:p>
                    <a:p>
                      <a:pPr marL="0" marR="0" algn="ctr">
                        <a:lnSpc>
                          <a:spcPct val="107000"/>
                        </a:lnSpc>
                        <a:spcBef>
                          <a:spcPts val="0"/>
                        </a:spcBef>
                        <a:spcAft>
                          <a:spcPts val="0"/>
                        </a:spcAft>
                      </a:pPr>
                      <a:r>
                        <a:rPr lang="en-IN" sz="1800">
                          <a:effectLst/>
                        </a:rPr>
                        <a:t>1.0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In</a:t>
                      </a:r>
                      <a:endParaRPr lang="en-US" sz="1800" dirty="0">
                        <a:effectLst/>
                      </a:endParaRPr>
                    </a:p>
                    <a:p>
                      <a:pPr marL="0" marR="0" algn="ctr">
                        <a:lnSpc>
                          <a:spcPct val="107000"/>
                        </a:lnSpc>
                        <a:spcBef>
                          <a:spcPts val="0"/>
                        </a:spcBef>
                        <a:spcAft>
                          <a:spcPts val="0"/>
                        </a:spcAft>
                      </a:pPr>
                      <a:r>
                        <a:rPr lang="en-IN" sz="1800" dirty="0">
                          <a:effectLst/>
                        </a:rPr>
                        <a:t>1.5</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Sn</a:t>
                      </a:r>
                      <a:endParaRPr lang="en-US" sz="1800" dirty="0">
                        <a:effectLst/>
                      </a:endParaRPr>
                    </a:p>
                    <a:p>
                      <a:pPr marL="0" marR="0" algn="ctr">
                        <a:lnSpc>
                          <a:spcPct val="107000"/>
                        </a:lnSpc>
                        <a:spcBef>
                          <a:spcPts val="0"/>
                        </a:spcBef>
                        <a:spcAft>
                          <a:spcPts val="0"/>
                        </a:spcAft>
                      </a:pPr>
                      <a:r>
                        <a:rPr lang="en-IN" sz="1800" dirty="0">
                          <a:effectLst/>
                        </a:rPr>
                        <a:t>1.7</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Sb</a:t>
                      </a:r>
                      <a:endParaRPr lang="en-US" sz="1800">
                        <a:effectLst/>
                      </a:endParaRPr>
                    </a:p>
                    <a:p>
                      <a:pPr marL="0" marR="0" algn="ctr">
                        <a:lnSpc>
                          <a:spcPct val="107000"/>
                        </a:lnSpc>
                        <a:spcBef>
                          <a:spcPts val="0"/>
                        </a:spcBef>
                        <a:spcAft>
                          <a:spcPts val="0"/>
                        </a:spcAft>
                      </a:pPr>
                      <a:r>
                        <a:rPr lang="en-IN" sz="1800">
                          <a:effectLst/>
                        </a:rPr>
                        <a:t>1.8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Te</a:t>
                      </a:r>
                      <a:endParaRPr lang="en-US" sz="1800">
                        <a:effectLst/>
                      </a:endParaRPr>
                    </a:p>
                    <a:p>
                      <a:pPr marL="0" marR="0" algn="ctr">
                        <a:lnSpc>
                          <a:spcPct val="107000"/>
                        </a:lnSpc>
                        <a:spcBef>
                          <a:spcPts val="0"/>
                        </a:spcBef>
                        <a:spcAft>
                          <a:spcPts val="0"/>
                        </a:spcAft>
                      </a:pPr>
                      <a:r>
                        <a:rPr lang="en-IN" sz="1800">
                          <a:effectLst/>
                        </a:rPr>
                        <a:t>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I</a:t>
                      </a:r>
                      <a:endParaRPr lang="en-US" sz="1800">
                        <a:effectLst/>
                      </a:endParaRPr>
                    </a:p>
                    <a:p>
                      <a:pPr marL="0" marR="0" algn="ctr">
                        <a:lnSpc>
                          <a:spcPct val="107000"/>
                        </a:lnSpc>
                        <a:spcBef>
                          <a:spcPts val="0"/>
                        </a:spcBef>
                        <a:spcAft>
                          <a:spcPts val="0"/>
                        </a:spcAft>
                      </a:pPr>
                      <a:r>
                        <a:rPr lang="en-IN" sz="1800">
                          <a:effectLst/>
                        </a:rPr>
                        <a:t>2.2</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Xe</a:t>
                      </a:r>
                      <a:endParaRPr lang="en-US" sz="1800">
                        <a:effectLst/>
                      </a:endParaRPr>
                    </a:p>
                    <a:p>
                      <a:pPr marL="0" marR="0" algn="ctr">
                        <a:lnSpc>
                          <a:spcPct val="107000"/>
                        </a:lnSpc>
                        <a:spcBef>
                          <a:spcPts val="0"/>
                        </a:spcBef>
                        <a:spcAft>
                          <a:spcPts val="0"/>
                        </a:spcAft>
                      </a:pPr>
                      <a:r>
                        <a:rPr lang="en-IN" sz="1800">
                          <a:effectLst/>
                        </a:rPr>
                        <a:t>2.4</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4"/>
                  </a:ext>
                </a:extLst>
              </a:tr>
              <a:tr h="610262">
                <a:tc>
                  <a:txBody>
                    <a:bodyPr/>
                    <a:lstStyle/>
                    <a:p>
                      <a:pPr marL="0" marR="0" algn="ctr">
                        <a:lnSpc>
                          <a:spcPct val="107000"/>
                        </a:lnSpc>
                        <a:spcBef>
                          <a:spcPts val="0"/>
                        </a:spcBef>
                        <a:spcAft>
                          <a:spcPts val="0"/>
                        </a:spcAft>
                      </a:pPr>
                      <a:r>
                        <a:rPr lang="en-IN" sz="1800">
                          <a:effectLst/>
                        </a:rPr>
                        <a:t>Cs</a:t>
                      </a:r>
                      <a:endParaRPr lang="en-US" sz="1800">
                        <a:effectLst/>
                      </a:endParaRPr>
                    </a:p>
                    <a:p>
                      <a:pPr marL="0" marR="0" algn="ctr">
                        <a:lnSpc>
                          <a:spcPct val="107000"/>
                        </a:lnSpc>
                        <a:spcBef>
                          <a:spcPts val="0"/>
                        </a:spcBef>
                        <a:spcAft>
                          <a:spcPts val="0"/>
                        </a:spcAft>
                      </a:pPr>
                      <a:r>
                        <a:rPr lang="en-IN" sz="1800">
                          <a:effectLst/>
                        </a:rPr>
                        <a:t>0.7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Ba</a:t>
                      </a:r>
                      <a:endParaRPr lang="en-US" sz="1800">
                        <a:effectLst/>
                      </a:endParaRPr>
                    </a:p>
                    <a:p>
                      <a:pPr marL="0" marR="0" algn="ctr">
                        <a:lnSpc>
                          <a:spcPct val="107000"/>
                        </a:lnSpc>
                        <a:spcBef>
                          <a:spcPts val="0"/>
                        </a:spcBef>
                        <a:spcAft>
                          <a:spcPts val="0"/>
                        </a:spcAft>
                      </a:pPr>
                      <a:r>
                        <a:rPr lang="en-IN" sz="1800">
                          <a:effectLst/>
                        </a:rPr>
                        <a:t>0.9</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Tl</a:t>
                      </a:r>
                      <a:endParaRPr lang="en-US" sz="1800">
                        <a:effectLst/>
                      </a:endParaRPr>
                    </a:p>
                    <a:p>
                      <a:pPr marL="0" marR="0" algn="ctr">
                        <a:lnSpc>
                          <a:spcPct val="107000"/>
                        </a:lnSpc>
                        <a:spcBef>
                          <a:spcPts val="0"/>
                        </a:spcBef>
                        <a:spcAft>
                          <a:spcPts val="0"/>
                        </a:spcAft>
                      </a:pPr>
                      <a:r>
                        <a:rPr lang="en-IN" sz="1800">
                          <a:effectLst/>
                        </a:rPr>
                        <a:t>1.8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Pb</a:t>
                      </a:r>
                      <a:endParaRPr lang="en-US" sz="1800" dirty="0">
                        <a:effectLst/>
                      </a:endParaRPr>
                    </a:p>
                    <a:p>
                      <a:pPr marL="0" marR="0" algn="ctr">
                        <a:lnSpc>
                          <a:spcPct val="107000"/>
                        </a:lnSpc>
                        <a:spcBef>
                          <a:spcPts val="0"/>
                        </a:spcBef>
                        <a:spcAft>
                          <a:spcPts val="0"/>
                        </a:spcAft>
                      </a:pPr>
                      <a:r>
                        <a:rPr lang="en-IN" sz="1800" dirty="0">
                          <a:effectLst/>
                        </a:rPr>
                        <a:t>1.8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Bi</a:t>
                      </a:r>
                      <a:endParaRPr lang="en-US" sz="1800" dirty="0">
                        <a:effectLst/>
                      </a:endParaRPr>
                    </a:p>
                    <a:p>
                      <a:pPr marL="0" marR="0" algn="ctr">
                        <a:lnSpc>
                          <a:spcPct val="107000"/>
                        </a:lnSpc>
                        <a:spcBef>
                          <a:spcPts val="0"/>
                        </a:spcBef>
                        <a:spcAft>
                          <a:spcPts val="0"/>
                        </a:spcAft>
                      </a:pPr>
                      <a:r>
                        <a:rPr lang="en-IN" sz="1800" dirty="0">
                          <a:effectLst/>
                        </a:rPr>
                        <a:t>1.7</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Po</a:t>
                      </a:r>
                      <a:endParaRPr lang="en-US" sz="1800" dirty="0">
                        <a:effectLst/>
                      </a:endParaRPr>
                    </a:p>
                    <a:p>
                      <a:pPr marL="0" marR="0" algn="ctr">
                        <a:lnSpc>
                          <a:spcPct val="107000"/>
                        </a:lnSpc>
                        <a:spcBef>
                          <a:spcPts val="0"/>
                        </a:spcBef>
                        <a:spcAft>
                          <a:spcPts val="0"/>
                        </a:spcAft>
                      </a:pPr>
                      <a:r>
                        <a:rPr lang="en-IN" sz="1800" dirty="0">
                          <a:effectLst/>
                        </a:rPr>
                        <a:t>1.8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At</a:t>
                      </a:r>
                      <a:endParaRPr lang="en-US" sz="1800" dirty="0">
                        <a:effectLst/>
                      </a:endParaRPr>
                    </a:p>
                    <a:p>
                      <a:pPr marL="0" marR="0" algn="ctr">
                        <a:lnSpc>
                          <a:spcPct val="107000"/>
                        </a:lnSpc>
                        <a:spcBef>
                          <a:spcPts val="0"/>
                        </a:spcBef>
                        <a:spcAft>
                          <a:spcPts val="0"/>
                        </a:spcAft>
                      </a:pPr>
                      <a:r>
                        <a:rPr lang="en-IN" sz="1800" dirty="0">
                          <a:effectLst/>
                        </a:rPr>
                        <a:t>2.0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Rn</a:t>
                      </a:r>
                      <a:endParaRPr lang="en-US" sz="1800" dirty="0">
                        <a:effectLst/>
                      </a:endParaRPr>
                    </a:p>
                    <a:p>
                      <a:pPr marL="0" marR="0" algn="ctr">
                        <a:lnSpc>
                          <a:spcPct val="107000"/>
                        </a:lnSpc>
                        <a:spcBef>
                          <a:spcPts val="0"/>
                        </a:spcBef>
                        <a:spcAft>
                          <a:spcPts val="0"/>
                        </a:spcAft>
                      </a:pPr>
                      <a:r>
                        <a:rPr lang="en-IN" sz="1800" dirty="0">
                          <a:effectLst/>
                        </a:rPr>
                        <a:t>-</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941328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76897"/>
            <a:ext cx="10515600" cy="698532"/>
          </a:xfrm>
        </p:spPr>
        <p:txBody>
          <a:bodyPr>
            <a:noAutofit/>
          </a:bodyPr>
          <a:lstStyle/>
          <a:p>
            <a:pPr algn="ctr">
              <a:lnSpc>
                <a:spcPct val="100000"/>
              </a:lnSpc>
            </a:pPr>
            <a:r>
              <a:rPr lang="en-IN" sz="4000" b="1" dirty="0">
                <a:latin typeface="Aharoni" panose="02010803020104030203" pitchFamily="2" charset="-79"/>
                <a:cs typeface="Aharoni" panose="02010803020104030203" pitchFamily="2" charset="-79"/>
              </a:rPr>
              <a:t>Periodicity in Electronegativity</a:t>
            </a:r>
            <a:endParaRPr lang="en-US" dirty="0">
              <a:latin typeface="Aharoni" panose="02010803020104030203" pitchFamily="2" charset="-79"/>
              <a:cs typeface="Aharoni" panose="02010803020104030203" pitchFamily="2" charset="-79"/>
            </a:endParaRPr>
          </a:p>
        </p:txBody>
      </p:sp>
      <p:sp>
        <p:nvSpPr>
          <p:cNvPr id="5" name="Rectangle 4"/>
          <p:cNvSpPr/>
          <p:nvPr/>
        </p:nvSpPr>
        <p:spPr>
          <a:xfrm>
            <a:off x="171717" y="849671"/>
            <a:ext cx="11848563" cy="2232021"/>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IN" sz="3200" dirty="0"/>
              <a:t>As we move from top to bottom in a group for example, Li (Z =3) to Cs (Z=55) Electronegativity decreases. This is due to addition of new electrons in newer shells.</a:t>
            </a:r>
          </a:p>
        </p:txBody>
      </p:sp>
      <p:sp>
        <p:nvSpPr>
          <p:cNvPr id="3" name="Footer Placeholder 2">
            <a:extLst>
              <a:ext uri="{FF2B5EF4-FFF2-40B4-BE49-F238E27FC236}">
                <a16:creationId xmlns:a16="http://schemas.microsoft.com/office/drawing/2014/main" id="{C390EA45-09C5-3037-54A4-5B62EDAEF451}"/>
              </a:ext>
            </a:extLst>
          </p:cNvPr>
          <p:cNvSpPr>
            <a:spLocks noGrp="1"/>
          </p:cNvSpPr>
          <p:nvPr>
            <p:ph type="ftr" sz="quarter" idx="11"/>
          </p:nvPr>
        </p:nvSpPr>
        <p:spPr/>
        <p:txBody>
          <a:bodyPr/>
          <a:lstStyle/>
          <a:p>
            <a:r>
              <a:rPr lang="en-US"/>
              <a:t>Periodic Properties of Elements</a:t>
            </a:r>
          </a:p>
        </p:txBody>
      </p:sp>
      <p:sp>
        <p:nvSpPr>
          <p:cNvPr id="6" name="Slide Number Placeholder 5">
            <a:extLst>
              <a:ext uri="{FF2B5EF4-FFF2-40B4-BE49-F238E27FC236}">
                <a16:creationId xmlns:a16="http://schemas.microsoft.com/office/drawing/2014/main" id="{682C3A60-E1B2-F780-24F7-8E560F66D2E9}"/>
              </a:ext>
            </a:extLst>
          </p:cNvPr>
          <p:cNvSpPr>
            <a:spLocks noGrp="1"/>
          </p:cNvSpPr>
          <p:nvPr>
            <p:ph type="sldNum" sz="quarter" idx="12"/>
          </p:nvPr>
        </p:nvSpPr>
        <p:spPr/>
        <p:txBody>
          <a:bodyPr/>
          <a:lstStyle/>
          <a:p>
            <a:fld id="{18FFC5A6-CECA-42F5-ACA8-5C3F58FF9B21}" type="slidenum">
              <a:rPr lang="en-US" smtClean="0"/>
              <a:t>45</a:t>
            </a:fld>
            <a:endParaRPr lang="en-US"/>
          </a:p>
        </p:txBody>
      </p:sp>
      <p:sp>
        <p:nvSpPr>
          <p:cNvPr id="7" name="Date Placeholder 6">
            <a:extLst>
              <a:ext uri="{FF2B5EF4-FFF2-40B4-BE49-F238E27FC236}">
                <a16:creationId xmlns:a16="http://schemas.microsoft.com/office/drawing/2014/main" id="{C95DE4F7-1BA2-ED6E-D384-CF22B0DF1975}"/>
              </a:ext>
            </a:extLst>
          </p:cNvPr>
          <p:cNvSpPr>
            <a:spLocks noGrp="1"/>
          </p:cNvSpPr>
          <p:nvPr>
            <p:ph type="dt" sz="half" idx="10"/>
          </p:nvPr>
        </p:nvSpPr>
        <p:spPr/>
        <p:txBody>
          <a:bodyPr/>
          <a:lstStyle/>
          <a:p>
            <a:fld id="{DA8AACDE-FBAF-4BD8-B895-386D19A4875F}" type="datetime1">
              <a:rPr lang="en-US" smtClean="0"/>
              <a:t>8/3/2023</a:t>
            </a:fld>
            <a:endParaRPr lang="en-US"/>
          </a:p>
        </p:txBody>
      </p:sp>
      <p:graphicFrame>
        <p:nvGraphicFramePr>
          <p:cNvPr id="8" name="Table 7"/>
          <p:cNvGraphicFramePr>
            <a:graphicFrameLocks noGrp="1"/>
          </p:cNvGraphicFramePr>
          <p:nvPr>
            <p:extLst>
              <p:ext uri="{D42A27DB-BD31-4B8C-83A1-F6EECF244321}">
                <p14:modId xmlns:p14="http://schemas.microsoft.com/office/powerpoint/2010/main" val="2375918647"/>
              </p:ext>
            </p:extLst>
          </p:nvPr>
        </p:nvGraphicFramePr>
        <p:xfrm>
          <a:off x="830790" y="3124995"/>
          <a:ext cx="10743840" cy="3661572"/>
        </p:xfrm>
        <a:graphic>
          <a:graphicData uri="http://schemas.openxmlformats.org/drawingml/2006/table">
            <a:tbl>
              <a:tblPr firstRow="1" firstCol="1" bandRow="1">
                <a:tableStyleId>{5C22544A-7EE6-4342-B048-85BDC9FD1C3A}</a:tableStyleId>
              </a:tblPr>
              <a:tblGrid>
                <a:gridCol w="1342980">
                  <a:extLst>
                    <a:ext uri="{9D8B030D-6E8A-4147-A177-3AD203B41FA5}">
                      <a16:colId xmlns:a16="http://schemas.microsoft.com/office/drawing/2014/main" val="20000"/>
                    </a:ext>
                  </a:extLst>
                </a:gridCol>
                <a:gridCol w="1342980">
                  <a:extLst>
                    <a:ext uri="{9D8B030D-6E8A-4147-A177-3AD203B41FA5}">
                      <a16:colId xmlns:a16="http://schemas.microsoft.com/office/drawing/2014/main" val="20001"/>
                    </a:ext>
                  </a:extLst>
                </a:gridCol>
                <a:gridCol w="1342980">
                  <a:extLst>
                    <a:ext uri="{9D8B030D-6E8A-4147-A177-3AD203B41FA5}">
                      <a16:colId xmlns:a16="http://schemas.microsoft.com/office/drawing/2014/main" val="20002"/>
                    </a:ext>
                  </a:extLst>
                </a:gridCol>
                <a:gridCol w="1342980">
                  <a:extLst>
                    <a:ext uri="{9D8B030D-6E8A-4147-A177-3AD203B41FA5}">
                      <a16:colId xmlns:a16="http://schemas.microsoft.com/office/drawing/2014/main" val="20003"/>
                    </a:ext>
                  </a:extLst>
                </a:gridCol>
                <a:gridCol w="1342980">
                  <a:extLst>
                    <a:ext uri="{9D8B030D-6E8A-4147-A177-3AD203B41FA5}">
                      <a16:colId xmlns:a16="http://schemas.microsoft.com/office/drawing/2014/main" val="20004"/>
                    </a:ext>
                  </a:extLst>
                </a:gridCol>
                <a:gridCol w="1342980">
                  <a:extLst>
                    <a:ext uri="{9D8B030D-6E8A-4147-A177-3AD203B41FA5}">
                      <a16:colId xmlns:a16="http://schemas.microsoft.com/office/drawing/2014/main" val="20005"/>
                    </a:ext>
                  </a:extLst>
                </a:gridCol>
                <a:gridCol w="1342980">
                  <a:extLst>
                    <a:ext uri="{9D8B030D-6E8A-4147-A177-3AD203B41FA5}">
                      <a16:colId xmlns:a16="http://schemas.microsoft.com/office/drawing/2014/main" val="20006"/>
                    </a:ext>
                  </a:extLst>
                </a:gridCol>
                <a:gridCol w="1342980">
                  <a:extLst>
                    <a:ext uri="{9D8B030D-6E8A-4147-A177-3AD203B41FA5}">
                      <a16:colId xmlns:a16="http://schemas.microsoft.com/office/drawing/2014/main" val="20007"/>
                    </a:ext>
                  </a:extLst>
                </a:gridCol>
              </a:tblGrid>
              <a:tr h="610262">
                <a:tc>
                  <a:txBody>
                    <a:bodyPr/>
                    <a:lstStyle/>
                    <a:p>
                      <a:pPr marL="0" marR="0" algn="ctr">
                        <a:lnSpc>
                          <a:spcPct val="107000"/>
                        </a:lnSpc>
                        <a:spcBef>
                          <a:spcPts val="0"/>
                        </a:spcBef>
                        <a:spcAft>
                          <a:spcPts val="0"/>
                        </a:spcAft>
                      </a:pPr>
                      <a:r>
                        <a:rPr lang="en-IN" sz="1800" dirty="0">
                          <a:effectLst/>
                        </a:rPr>
                        <a:t>H</a:t>
                      </a:r>
                      <a:endParaRPr lang="en-US" sz="1800" dirty="0">
                        <a:effectLst/>
                      </a:endParaRPr>
                    </a:p>
                    <a:p>
                      <a:pPr marL="0" marR="0" algn="ctr">
                        <a:lnSpc>
                          <a:spcPct val="107000"/>
                        </a:lnSpc>
                        <a:spcBef>
                          <a:spcPts val="0"/>
                        </a:spcBef>
                        <a:spcAft>
                          <a:spcPts val="0"/>
                        </a:spcAft>
                      </a:pPr>
                      <a:r>
                        <a:rPr lang="en-IN" sz="1800" dirty="0">
                          <a:effectLst/>
                        </a:rPr>
                        <a:t>2.2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 </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He</a:t>
                      </a:r>
                      <a:endParaRPr lang="en-US" sz="1800">
                        <a:effectLst/>
                      </a:endParaRPr>
                    </a:p>
                    <a:p>
                      <a:pPr marL="0" marR="0" algn="ctr">
                        <a:lnSpc>
                          <a:spcPct val="107000"/>
                        </a:lnSpc>
                        <a:spcBef>
                          <a:spcPts val="0"/>
                        </a:spcBef>
                        <a:spcAft>
                          <a:spcPts val="0"/>
                        </a:spcAft>
                      </a:pPr>
                      <a:r>
                        <a:rPr lang="en-IN" sz="1800">
                          <a:effectLst/>
                        </a:rPr>
                        <a:t>-</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0"/>
                  </a:ext>
                </a:extLst>
              </a:tr>
              <a:tr h="610262">
                <a:tc>
                  <a:txBody>
                    <a:bodyPr/>
                    <a:lstStyle/>
                    <a:p>
                      <a:pPr marL="0" marR="0" algn="ctr">
                        <a:lnSpc>
                          <a:spcPct val="107000"/>
                        </a:lnSpc>
                        <a:spcBef>
                          <a:spcPts val="0"/>
                        </a:spcBef>
                        <a:spcAft>
                          <a:spcPts val="0"/>
                        </a:spcAft>
                      </a:pPr>
                      <a:r>
                        <a:rPr lang="en-IN" sz="1800" dirty="0">
                          <a:effectLst/>
                        </a:rPr>
                        <a:t>Li</a:t>
                      </a:r>
                      <a:endParaRPr lang="en-US" sz="1800" dirty="0">
                        <a:effectLst/>
                      </a:endParaRPr>
                    </a:p>
                    <a:p>
                      <a:pPr marL="0" marR="0" algn="ctr">
                        <a:lnSpc>
                          <a:spcPct val="107000"/>
                        </a:lnSpc>
                        <a:spcBef>
                          <a:spcPts val="0"/>
                        </a:spcBef>
                        <a:spcAft>
                          <a:spcPts val="0"/>
                        </a:spcAft>
                      </a:pPr>
                      <a:r>
                        <a:rPr lang="en-IN" sz="1800" dirty="0" smtClean="0">
                          <a:effectLst/>
                        </a:rPr>
                        <a:t>1.0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Be</a:t>
                      </a:r>
                      <a:endParaRPr lang="en-US" sz="1800" dirty="0">
                        <a:effectLst/>
                      </a:endParaRPr>
                    </a:p>
                    <a:p>
                      <a:pPr marL="0" marR="0" algn="ctr">
                        <a:lnSpc>
                          <a:spcPct val="107000"/>
                        </a:lnSpc>
                        <a:spcBef>
                          <a:spcPts val="0"/>
                        </a:spcBef>
                        <a:spcAft>
                          <a:spcPts val="0"/>
                        </a:spcAft>
                      </a:pPr>
                      <a:r>
                        <a:rPr lang="en-IN" sz="1800" dirty="0">
                          <a:effectLst/>
                        </a:rPr>
                        <a:t>1.5</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a:t>
                      </a:r>
                      <a:endParaRPr lang="en-US" sz="1800">
                        <a:effectLst/>
                      </a:endParaRPr>
                    </a:p>
                    <a:p>
                      <a:pPr marL="0" marR="0" algn="ctr">
                        <a:lnSpc>
                          <a:spcPct val="107000"/>
                        </a:lnSpc>
                        <a:spcBef>
                          <a:spcPts val="0"/>
                        </a:spcBef>
                        <a:spcAft>
                          <a:spcPts val="0"/>
                        </a:spcAft>
                      </a:pPr>
                      <a:r>
                        <a:rPr lang="en-IN" sz="1800">
                          <a:effectLst/>
                        </a:rPr>
                        <a:t>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C</a:t>
                      </a:r>
                      <a:endParaRPr lang="en-US" sz="1800">
                        <a:effectLst/>
                      </a:endParaRPr>
                    </a:p>
                    <a:p>
                      <a:pPr marL="0" marR="0" algn="ctr">
                        <a:lnSpc>
                          <a:spcPct val="107000"/>
                        </a:lnSpc>
                        <a:spcBef>
                          <a:spcPts val="0"/>
                        </a:spcBef>
                        <a:spcAft>
                          <a:spcPts val="0"/>
                        </a:spcAft>
                      </a:pPr>
                      <a:r>
                        <a:rPr lang="en-IN" sz="1800">
                          <a:effectLst/>
                        </a:rPr>
                        <a:t>2.5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N</a:t>
                      </a:r>
                      <a:endParaRPr lang="en-US" sz="1800">
                        <a:effectLst/>
                      </a:endParaRPr>
                    </a:p>
                    <a:p>
                      <a:pPr marL="0" marR="0" algn="ctr">
                        <a:lnSpc>
                          <a:spcPct val="107000"/>
                        </a:lnSpc>
                        <a:spcBef>
                          <a:spcPts val="0"/>
                        </a:spcBef>
                        <a:spcAft>
                          <a:spcPts val="0"/>
                        </a:spcAft>
                      </a:pPr>
                      <a:r>
                        <a:rPr lang="en-IN" sz="1800">
                          <a:effectLst/>
                        </a:rPr>
                        <a:t>3.1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O</a:t>
                      </a:r>
                      <a:endParaRPr lang="en-US" sz="1800">
                        <a:effectLst/>
                      </a:endParaRPr>
                    </a:p>
                    <a:p>
                      <a:pPr marL="0" marR="0" algn="ctr">
                        <a:lnSpc>
                          <a:spcPct val="107000"/>
                        </a:lnSpc>
                        <a:spcBef>
                          <a:spcPts val="0"/>
                        </a:spcBef>
                        <a:spcAft>
                          <a:spcPts val="0"/>
                        </a:spcAft>
                      </a:pPr>
                      <a:r>
                        <a:rPr lang="en-IN" sz="1800">
                          <a:effectLst/>
                        </a:rPr>
                        <a:t>3.5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F</a:t>
                      </a:r>
                      <a:endParaRPr lang="en-US" sz="1800">
                        <a:effectLst/>
                      </a:endParaRPr>
                    </a:p>
                    <a:p>
                      <a:pPr marL="0" marR="0" algn="ctr">
                        <a:lnSpc>
                          <a:spcPct val="107000"/>
                        </a:lnSpc>
                        <a:spcBef>
                          <a:spcPts val="0"/>
                        </a:spcBef>
                        <a:spcAft>
                          <a:spcPts val="0"/>
                        </a:spcAft>
                      </a:pPr>
                      <a:r>
                        <a:rPr lang="en-IN" sz="1800">
                          <a:effectLst/>
                        </a:rPr>
                        <a:t>4.1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Ne</a:t>
                      </a:r>
                      <a:endParaRPr lang="en-US" sz="1800">
                        <a:effectLst/>
                      </a:endParaRPr>
                    </a:p>
                    <a:p>
                      <a:pPr marL="0" marR="0" algn="ctr">
                        <a:lnSpc>
                          <a:spcPct val="107000"/>
                        </a:lnSpc>
                        <a:spcBef>
                          <a:spcPts val="0"/>
                        </a:spcBef>
                        <a:spcAft>
                          <a:spcPts val="0"/>
                        </a:spcAft>
                      </a:pPr>
                      <a:r>
                        <a:rPr lang="en-IN" sz="1800">
                          <a:effectLst/>
                        </a:rPr>
                        <a:t>-</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1"/>
                  </a:ext>
                </a:extLst>
              </a:tr>
              <a:tr h="610262">
                <a:tc>
                  <a:txBody>
                    <a:bodyPr/>
                    <a:lstStyle/>
                    <a:p>
                      <a:pPr marL="0" marR="0" algn="ctr">
                        <a:lnSpc>
                          <a:spcPct val="107000"/>
                        </a:lnSpc>
                        <a:spcBef>
                          <a:spcPts val="0"/>
                        </a:spcBef>
                        <a:spcAft>
                          <a:spcPts val="0"/>
                        </a:spcAft>
                      </a:pPr>
                      <a:r>
                        <a:rPr lang="en-IN" sz="1800" dirty="0">
                          <a:effectLst/>
                        </a:rPr>
                        <a:t>Na</a:t>
                      </a:r>
                      <a:endParaRPr lang="en-US" sz="1800" dirty="0">
                        <a:effectLst/>
                      </a:endParaRPr>
                    </a:p>
                    <a:p>
                      <a:pPr marL="0" marR="0" algn="ctr">
                        <a:lnSpc>
                          <a:spcPct val="107000"/>
                        </a:lnSpc>
                        <a:spcBef>
                          <a:spcPts val="0"/>
                        </a:spcBef>
                        <a:spcAft>
                          <a:spcPts val="0"/>
                        </a:spcAft>
                      </a:pPr>
                      <a:r>
                        <a:rPr lang="en-IN" sz="1800" dirty="0" smtClean="0">
                          <a:effectLst/>
                        </a:rPr>
                        <a:t>0.9</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Mg</a:t>
                      </a:r>
                      <a:endParaRPr lang="en-US" sz="1800" dirty="0">
                        <a:effectLst/>
                      </a:endParaRPr>
                    </a:p>
                    <a:p>
                      <a:pPr marL="0" marR="0" algn="ctr">
                        <a:lnSpc>
                          <a:spcPct val="107000"/>
                        </a:lnSpc>
                        <a:spcBef>
                          <a:spcPts val="0"/>
                        </a:spcBef>
                        <a:spcAft>
                          <a:spcPts val="0"/>
                        </a:spcAft>
                      </a:pPr>
                      <a:r>
                        <a:rPr lang="en-IN" sz="1800" dirty="0">
                          <a:effectLst/>
                        </a:rPr>
                        <a:t>1.2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Al</a:t>
                      </a:r>
                      <a:endParaRPr lang="en-US" sz="1800">
                        <a:effectLst/>
                      </a:endParaRPr>
                    </a:p>
                    <a:p>
                      <a:pPr marL="0" marR="0" algn="ctr">
                        <a:lnSpc>
                          <a:spcPct val="107000"/>
                        </a:lnSpc>
                        <a:spcBef>
                          <a:spcPts val="0"/>
                        </a:spcBef>
                        <a:spcAft>
                          <a:spcPts val="0"/>
                        </a:spcAft>
                      </a:pPr>
                      <a:r>
                        <a:rPr lang="en-IN" sz="1800">
                          <a:effectLst/>
                        </a:rPr>
                        <a:t>1.3</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Si</a:t>
                      </a:r>
                      <a:endParaRPr lang="en-US" sz="1800">
                        <a:effectLst/>
                      </a:endParaRPr>
                    </a:p>
                    <a:p>
                      <a:pPr marL="0" marR="0" algn="ctr">
                        <a:lnSpc>
                          <a:spcPct val="107000"/>
                        </a:lnSpc>
                        <a:spcBef>
                          <a:spcPts val="0"/>
                        </a:spcBef>
                        <a:spcAft>
                          <a:spcPts val="0"/>
                        </a:spcAft>
                      </a:pPr>
                      <a:r>
                        <a:rPr lang="en-IN" sz="1800">
                          <a:effectLst/>
                        </a:rPr>
                        <a:t>1.7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P</a:t>
                      </a:r>
                      <a:endParaRPr lang="en-US" sz="1800">
                        <a:effectLst/>
                      </a:endParaRPr>
                    </a:p>
                    <a:p>
                      <a:pPr marL="0" marR="0" algn="ctr">
                        <a:lnSpc>
                          <a:spcPct val="107000"/>
                        </a:lnSpc>
                        <a:spcBef>
                          <a:spcPts val="0"/>
                        </a:spcBef>
                        <a:spcAft>
                          <a:spcPts val="0"/>
                        </a:spcAft>
                      </a:pPr>
                      <a:r>
                        <a:rPr lang="en-IN" sz="1800">
                          <a:effectLst/>
                        </a:rPr>
                        <a:t>2.1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a:t>
                      </a:r>
                      <a:endParaRPr lang="en-US" sz="1800">
                        <a:effectLst/>
                      </a:endParaRPr>
                    </a:p>
                    <a:p>
                      <a:pPr marL="0" marR="0" algn="ctr">
                        <a:lnSpc>
                          <a:spcPct val="107000"/>
                        </a:lnSpc>
                        <a:spcBef>
                          <a:spcPts val="0"/>
                        </a:spcBef>
                        <a:spcAft>
                          <a:spcPts val="0"/>
                        </a:spcAft>
                      </a:pPr>
                      <a:r>
                        <a:rPr lang="en-IN" sz="1800">
                          <a:effectLst/>
                        </a:rPr>
                        <a:t>2.4</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Cl</a:t>
                      </a:r>
                      <a:endParaRPr lang="en-US" sz="1800">
                        <a:effectLst/>
                      </a:endParaRPr>
                    </a:p>
                    <a:p>
                      <a:pPr marL="0" marR="0" algn="ctr">
                        <a:lnSpc>
                          <a:spcPct val="107000"/>
                        </a:lnSpc>
                        <a:spcBef>
                          <a:spcPts val="0"/>
                        </a:spcBef>
                        <a:spcAft>
                          <a:spcPts val="0"/>
                        </a:spcAft>
                      </a:pPr>
                      <a:r>
                        <a:rPr lang="en-IN" sz="1800">
                          <a:effectLst/>
                        </a:rPr>
                        <a:t>2.8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Ar</a:t>
                      </a:r>
                      <a:endParaRPr lang="en-US" sz="1800">
                        <a:effectLst/>
                      </a:endParaRPr>
                    </a:p>
                    <a:p>
                      <a:pPr marL="0" marR="0" algn="ctr">
                        <a:lnSpc>
                          <a:spcPct val="107000"/>
                        </a:lnSpc>
                        <a:spcBef>
                          <a:spcPts val="0"/>
                        </a:spcBef>
                        <a:spcAft>
                          <a:spcPts val="0"/>
                        </a:spcAft>
                      </a:pPr>
                      <a:r>
                        <a:rPr lang="en-IN" sz="1800">
                          <a:effectLst/>
                        </a:rPr>
                        <a:t>-</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2"/>
                  </a:ext>
                </a:extLst>
              </a:tr>
              <a:tr h="610262">
                <a:tc>
                  <a:txBody>
                    <a:bodyPr/>
                    <a:lstStyle/>
                    <a:p>
                      <a:pPr marL="0" marR="0" algn="ctr">
                        <a:lnSpc>
                          <a:spcPct val="107000"/>
                        </a:lnSpc>
                        <a:spcBef>
                          <a:spcPts val="0"/>
                        </a:spcBef>
                        <a:spcAft>
                          <a:spcPts val="0"/>
                        </a:spcAft>
                      </a:pPr>
                      <a:r>
                        <a:rPr lang="en-IN" sz="1800" dirty="0">
                          <a:effectLst/>
                        </a:rPr>
                        <a:t>K</a:t>
                      </a:r>
                      <a:endParaRPr lang="en-US" sz="1800" dirty="0">
                        <a:effectLst/>
                      </a:endParaRPr>
                    </a:p>
                    <a:p>
                      <a:pPr marL="0" marR="0" algn="ctr">
                        <a:lnSpc>
                          <a:spcPct val="107000"/>
                        </a:lnSpc>
                        <a:spcBef>
                          <a:spcPts val="0"/>
                        </a:spcBef>
                        <a:spcAft>
                          <a:spcPts val="0"/>
                        </a:spcAft>
                      </a:pPr>
                      <a:r>
                        <a:rPr lang="en-IN" sz="1800" dirty="0" smtClean="0">
                          <a:effectLst/>
                        </a:rPr>
                        <a:t>0.8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Ca</a:t>
                      </a:r>
                      <a:endParaRPr lang="en-US" sz="1800" dirty="0">
                        <a:effectLst/>
                      </a:endParaRPr>
                    </a:p>
                    <a:p>
                      <a:pPr marL="0" marR="0" algn="ctr">
                        <a:lnSpc>
                          <a:spcPct val="107000"/>
                        </a:lnSpc>
                        <a:spcBef>
                          <a:spcPts val="0"/>
                        </a:spcBef>
                        <a:spcAft>
                          <a:spcPts val="0"/>
                        </a:spcAft>
                      </a:pPr>
                      <a:r>
                        <a:rPr lang="en-IN" sz="1800" dirty="0">
                          <a:effectLst/>
                        </a:rPr>
                        <a:t>1.0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Ga</a:t>
                      </a:r>
                      <a:endParaRPr lang="en-US" sz="1800" dirty="0">
                        <a:effectLst/>
                      </a:endParaRPr>
                    </a:p>
                    <a:p>
                      <a:pPr marL="0" marR="0" algn="ctr">
                        <a:lnSpc>
                          <a:spcPct val="107000"/>
                        </a:lnSpc>
                        <a:spcBef>
                          <a:spcPts val="0"/>
                        </a:spcBef>
                        <a:spcAft>
                          <a:spcPts val="0"/>
                        </a:spcAft>
                      </a:pPr>
                      <a:r>
                        <a:rPr lang="en-IN" sz="1800" dirty="0">
                          <a:effectLst/>
                        </a:rPr>
                        <a:t>1.8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Ge</a:t>
                      </a:r>
                      <a:endParaRPr lang="en-US" sz="1800">
                        <a:effectLst/>
                      </a:endParaRPr>
                    </a:p>
                    <a:p>
                      <a:pPr marL="0" marR="0" algn="ctr">
                        <a:lnSpc>
                          <a:spcPct val="107000"/>
                        </a:lnSpc>
                        <a:spcBef>
                          <a:spcPts val="0"/>
                        </a:spcBef>
                        <a:spcAft>
                          <a:spcPts val="0"/>
                        </a:spcAft>
                      </a:pPr>
                      <a:r>
                        <a:rPr lang="en-IN" sz="1800">
                          <a:effectLst/>
                        </a:rPr>
                        <a:t>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As</a:t>
                      </a:r>
                      <a:endParaRPr lang="en-US" sz="1800">
                        <a:effectLst/>
                      </a:endParaRPr>
                    </a:p>
                    <a:p>
                      <a:pPr marL="0" marR="0" algn="ctr">
                        <a:lnSpc>
                          <a:spcPct val="107000"/>
                        </a:lnSpc>
                        <a:spcBef>
                          <a:spcPts val="0"/>
                        </a:spcBef>
                        <a:spcAft>
                          <a:spcPts val="0"/>
                        </a:spcAft>
                      </a:pPr>
                      <a:r>
                        <a:rPr lang="en-IN" sz="1800">
                          <a:effectLst/>
                        </a:rPr>
                        <a:t>2.2</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Se</a:t>
                      </a:r>
                      <a:endParaRPr lang="en-US" sz="1800">
                        <a:effectLst/>
                      </a:endParaRPr>
                    </a:p>
                    <a:p>
                      <a:pPr marL="0" marR="0" algn="ctr">
                        <a:lnSpc>
                          <a:spcPct val="107000"/>
                        </a:lnSpc>
                        <a:spcBef>
                          <a:spcPts val="0"/>
                        </a:spcBef>
                        <a:spcAft>
                          <a:spcPts val="0"/>
                        </a:spcAft>
                      </a:pPr>
                      <a:r>
                        <a:rPr lang="en-IN" sz="1800">
                          <a:effectLst/>
                        </a:rPr>
                        <a:t>2.5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Br</a:t>
                      </a:r>
                      <a:endParaRPr lang="en-US" sz="1800">
                        <a:effectLst/>
                      </a:endParaRPr>
                    </a:p>
                    <a:p>
                      <a:pPr marL="0" marR="0" algn="ctr">
                        <a:lnSpc>
                          <a:spcPct val="107000"/>
                        </a:lnSpc>
                        <a:spcBef>
                          <a:spcPts val="0"/>
                        </a:spcBef>
                        <a:spcAft>
                          <a:spcPts val="0"/>
                        </a:spcAft>
                      </a:pPr>
                      <a:r>
                        <a:rPr lang="en-IN" sz="1800">
                          <a:effectLst/>
                        </a:rPr>
                        <a:t>2.7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Kr</a:t>
                      </a:r>
                      <a:endParaRPr lang="en-US" sz="1800">
                        <a:effectLst/>
                      </a:endParaRPr>
                    </a:p>
                    <a:p>
                      <a:pPr marL="0" marR="0" algn="ctr">
                        <a:lnSpc>
                          <a:spcPct val="107000"/>
                        </a:lnSpc>
                        <a:spcBef>
                          <a:spcPts val="0"/>
                        </a:spcBef>
                        <a:spcAft>
                          <a:spcPts val="0"/>
                        </a:spcAft>
                      </a:pPr>
                      <a:r>
                        <a:rPr lang="en-IN" sz="1800">
                          <a:effectLst/>
                        </a:rPr>
                        <a:t>3.1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3"/>
                  </a:ext>
                </a:extLst>
              </a:tr>
              <a:tr h="610262">
                <a:tc>
                  <a:txBody>
                    <a:bodyPr/>
                    <a:lstStyle/>
                    <a:p>
                      <a:pPr marL="0" marR="0" algn="ctr">
                        <a:lnSpc>
                          <a:spcPct val="107000"/>
                        </a:lnSpc>
                        <a:spcBef>
                          <a:spcPts val="0"/>
                        </a:spcBef>
                        <a:spcAft>
                          <a:spcPts val="0"/>
                        </a:spcAft>
                      </a:pPr>
                      <a:r>
                        <a:rPr lang="en-IN" sz="1800" dirty="0">
                          <a:effectLst/>
                        </a:rPr>
                        <a:t>Rb</a:t>
                      </a:r>
                      <a:endParaRPr lang="en-US" sz="1800" dirty="0">
                        <a:effectLst/>
                      </a:endParaRPr>
                    </a:p>
                    <a:p>
                      <a:pPr marL="0" marR="0" algn="ctr">
                        <a:lnSpc>
                          <a:spcPct val="107000"/>
                        </a:lnSpc>
                        <a:spcBef>
                          <a:spcPts val="0"/>
                        </a:spcBef>
                        <a:spcAft>
                          <a:spcPts val="0"/>
                        </a:spcAft>
                      </a:pPr>
                      <a:r>
                        <a:rPr lang="en-IN" sz="1800" dirty="0" smtClean="0">
                          <a:effectLst/>
                        </a:rPr>
                        <a:t>0.8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Sr</a:t>
                      </a:r>
                      <a:endParaRPr lang="en-US" sz="1800">
                        <a:effectLst/>
                      </a:endParaRPr>
                    </a:p>
                    <a:p>
                      <a:pPr marL="0" marR="0" algn="ctr">
                        <a:lnSpc>
                          <a:spcPct val="107000"/>
                        </a:lnSpc>
                        <a:spcBef>
                          <a:spcPts val="0"/>
                        </a:spcBef>
                        <a:spcAft>
                          <a:spcPts val="0"/>
                        </a:spcAft>
                      </a:pPr>
                      <a:r>
                        <a:rPr lang="en-IN" sz="1800">
                          <a:effectLst/>
                        </a:rPr>
                        <a:t>1.0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In</a:t>
                      </a:r>
                      <a:endParaRPr lang="en-US" sz="1800" dirty="0">
                        <a:effectLst/>
                      </a:endParaRPr>
                    </a:p>
                    <a:p>
                      <a:pPr marL="0" marR="0" algn="ctr">
                        <a:lnSpc>
                          <a:spcPct val="107000"/>
                        </a:lnSpc>
                        <a:spcBef>
                          <a:spcPts val="0"/>
                        </a:spcBef>
                        <a:spcAft>
                          <a:spcPts val="0"/>
                        </a:spcAft>
                      </a:pPr>
                      <a:r>
                        <a:rPr lang="en-IN" sz="1800" dirty="0">
                          <a:effectLst/>
                        </a:rPr>
                        <a:t>1.5</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Sn</a:t>
                      </a:r>
                      <a:endParaRPr lang="en-US" sz="1800" dirty="0">
                        <a:effectLst/>
                      </a:endParaRPr>
                    </a:p>
                    <a:p>
                      <a:pPr marL="0" marR="0" algn="ctr">
                        <a:lnSpc>
                          <a:spcPct val="107000"/>
                        </a:lnSpc>
                        <a:spcBef>
                          <a:spcPts val="0"/>
                        </a:spcBef>
                        <a:spcAft>
                          <a:spcPts val="0"/>
                        </a:spcAft>
                      </a:pPr>
                      <a:r>
                        <a:rPr lang="en-IN" sz="1800" dirty="0">
                          <a:effectLst/>
                        </a:rPr>
                        <a:t>1.7</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Sb</a:t>
                      </a:r>
                      <a:endParaRPr lang="en-US" sz="1800">
                        <a:effectLst/>
                      </a:endParaRPr>
                    </a:p>
                    <a:p>
                      <a:pPr marL="0" marR="0" algn="ctr">
                        <a:lnSpc>
                          <a:spcPct val="107000"/>
                        </a:lnSpc>
                        <a:spcBef>
                          <a:spcPts val="0"/>
                        </a:spcBef>
                        <a:spcAft>
                          <a:spcPts val="0"/>
                        </a:spcAft>
                      </a:pPr>
                      <a:r>
                        <a:rPr lang="en-IN" sz="1800">
                          <a:effectLst/>
                        </a:rPr>
                        <a:t>1.8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Te</a:t>
                      </a:r>
                      <a:endParaRPr lang="en-US" sz="1800">
                        <a:effectLst/>
                      </a:endParaRPr>
                    </a:p>
                    <a:p>
                      <a:pPr marL="0" marR="0" algn="ctr">
                        <a:lnSpc>
                          <a:spcPct val="107000"/>
                        </a:lnSpc>
                        <a:spcBef>
                          <a:spcPts val="0"/>
                        </a:spcBef>
                        <a:spcAft>
                          <a:spcPts val="0"/>
                        </a:spcAft>
                      </a:pPr>
                      <a:r>
                        <a:rPr lang="en-IN" sz="1800">
                          <a:effectLst/>
                        </a:rPr>
                        <a:t>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I</a:t>
                      </a:r>
                      <a:endParaRPr lang="en-US" sz="1800">
                        <a:effectLst/>
                      </a:endParaRPr>
                    </a:p>
                    <a:p>
                      <a:pPr marL="0" marR="0" algn="ctr">
                        <a:lnSpc>
                          <a:spcPct val="107000"/>
                        </a:lnSpc>
                        <a:spcBef>
                          <a:spcPts val="0"/>
                        </a:spcBef>
                        <a:spcAft>
                          <a:spcPts val="0"/>
                        </a:spcAft>
                      </a:pPr>
                      <a:r>
                        <a:rPr lang="en-IN" sz="1800">
                          <a:effectLst/>
                        </a:rPr>
                        <a:t>2.2</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Xe</a:t>
                      </a:r>
                      <a:endParaRPr lang="en-US" sz="1800">
                        <a:effectLst/>
                      </a:endParaRPr>
                    </a:p>
                    <a:p>
                      <a:pPr marL="0" marR="0" algn="ctr">
                        <a:lnSpc>
                          <a:spcPct val="107000"/>
                        </a:lnSpc>
                        <a:spcBef>
                          <a:spcPts val="0"/>
                        </a:spcBef>
                        <a:spcAft>
                          <a:spcPts val="0"/>
                        </a:spcAft>
                      </a:pPr>
                      <a:r>
                        <a:rPr lang="en-IN" sz="1800">
                          <a:effectLst/>
                        </a:rPr>
                        <a:t>2.4</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4"/>
                  </a:ext>
                </a:extLst>
              </a:tr>
              <a:tr h="610262">
                <a:tc>
                  <a:txBody>
                    <a:bodyPr/>
                    <a:lstStyle/>
                    <a:p>
                      <a:pPr marL="0" marR="0" algn="ctr">
                        <a:lnSpc>
                          <a:spcPct val="107000"/>
                        </a:lnSpc>
                        <a:spcBef>
                          <a:spcPts val="0"/>
                        </a:spcBef>
                        <a:spcAft>
                          <a:spcPts val="0"/>
                        </a:spcAft>
                      </a:pPr>
                      <a:r>
                        <a:rPr lang="en-IN" sz="1800">
                          <a:effectLst/>
                        </a:rPr>
                        <a:t>Cs</a:t>
                      </a:r>
                      <a:endParaRPr lang="en-US" sz="1800">
                        <a:effectLst/>
                      </a:endParaRPr>
                    </a:p>
                    <a:p>
                      <a:pPr marL="0" marR="0" algn="ctr">
                        <a:lnSpc>
                          <a:spcPct val="107000"/>
                        </a:lnSpc>
                        <a:spcBef>
                          <a:spcPts val="0"/>
                        </a:spcBef>
                        <a:spcAft>
                          <a:spcPts val="0"/>
                        </a:spcAft>
                      </a:pPr>
                      <a:r>
                        <a:rPr lang="en-IN" sz="1800">
                          <a:effectLst/>
                        </a:rPr>
                        <a:t>0.7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Ba</a:t>
                      </a:r>
                      <a:endParaRPr lang="en-US" sz="1800">
                        <a:effectLst/>
                      </a:endParaRPr>
                    </a:p>
                    <a:p>
                      <a:pPr marL="0" marR="0" algn="ctr">
                        <a:lnSpc>
                          <a:spcPct val="107000"/>
                        </a:lnSpc>
                        <a:spcBef>
                          <a:spcPts val="0"/>
                        </a:spcBef>
                        <a:spcAft>
                          <a:spcPts val="0"/>
                        </a:spcAft>
                      </a:pPr>
                      <a:r>
                        <a:rPr lang="en-IN" sz="1800">
                          <a:effectLst/>
                        </a:rPr>
                        <a:t>0.9</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Tl</a:t>
                      </a:r>
                      <a:endParaRPr lang="en-US" sz="1800">
                        <a:effectLst/>
                      </a:endParaRPr>
                    </a:p>
                    <a:p>
                      <a:pPr marL="0" marR="0" algn="ctr">
                        <a:lnSpc>
                          <a:spcPct val="107000"/>
                        </a:lnSpc>
                        <a:spcBef>
                          <a:spcPts val="0"/>
                        </a:spcBef>
                        <a:spcAft>
                          <a:spcPts val="0"/>
                        </a:spcAft>
                      </a:pPr>
                      <a:r>
                        <a:rPr lang="en-IN" sz="1800">
                          <a:effectLst/>
                        </a:rPr>
                        <a:t>1.8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Pb</a:t>
                      </a:r>
                      <a:endParaRPr lang="en-US" sz="1800" dirty="0">
                        <a:effectLst/>
                      </a:endParaRPr>
                    </a:p>
                    <a:p>
                      <a:pPr marL="0" marR="0" algn="ctr">
                        <a:lnSpc>
                          <a:spcPct val="107000"/>
                        </a:lnSpc>
                        <a:spcBef>
                          <a:spcPts val="0"/>
                        </a:spcBef>
                        <a:spcAft>
                          <a:spcPts val="0"/>
                        </a:spcAft>
                      </a:pPr>
                      <a:r>
                        <a:rPr lang="en-IN" sz="1800" dirty="0">
                          <a:effectLst/>
                        </a:rPr>
                        <a:t>1.8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Bi</a:t>
                      </a:r>
                      <a:endParaRPr lang="en-US" sz="1800" dirty="0">
                        <a:effectLst/>
                      </a:endParaRPr>
                    </a:p>
                    <a:p>
                      <a:pPr marL="0" marR="0" algn="ctr">
                        <a:lnSpc>
                          <a:spcPct val="107000"/>
                        </a:lnSpc>
                        <a:spcBef>
                          <a:spcPts val="0"/>
                        </a:spcBef>
                        <a:spcAft>
                          <a:spcPts val="0"/>
                        </a:spcAft>
                      </a:pPr>
                      <a:r>
                        <a:rPr lang="en-IN" sz="1800" dirty="0">
                          <a:effectLst/>
                        </a:rPr>
                        <a:t>1.7</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Po</a:t>
                      </a:r>
                      <a:endParaRPr lang="en-US" sz="1800" dirty="0">
                        <a:effectLst/>
                      </a:endParaRPr>
                    </a:p>
                    <a:p>
                      <a:pPr marL="0" marR="0" algn="ctr">
                        <a:lnSpc>
                          <a:spcPct val="107000"/>
                        </a:lnSpc>
                        <a:spcBef>
                          <a:spcPts val="0"/>
                        </a:spcBef>
                        <a:spcAft>
                          <a:spcPts val="0"/>
                        </a:spcAft>
                      </a:pPr>
                      <a:r>
                        <a:rPr lang="en-IN" sz="1800" dirty="0">
                          <a:effectLst/>
                        </a:rPr>
                        <a:t>1.8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At</a:t>
                      </a:r>
                      <a:endParaRPr lang="en-US" sz="1800" dirty="0">
                        <a:effectLst/>
                      </a:endParaRPr>
                    </a:p>
                    <a:p>
                      <a:pPr marL="0" marR="0" algn="ctr">
                        <a:lnSpc>
                          <a:spcPct val="107000"/>
                        </a:lnSpc>
                        <a:spcBef>
                          <a:spcPts val="0"/>
                        </a:spcBef>
                        <a:spcAft>
                          <a:spcPts val="0"/>
                        </a:spcAft>
                      </a:pPr>
                      <a:r>
                        <a:rPr lang="en-IN" sz="1800" dirty="0">
                          <a:effectLst/>
                        </a:rPr>
                        <a:t>2.0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Rn</a:t>
                      </a:r>
                      <a:endParaRPr lang="en-US" sz="1800" dirty="0">
                        <a:effectLst/>
                      </a:endParaRPr>
                    </a:p>
                    <a:p>
                      <a:pPr marL="0" marR="0" algn="ctr">
                        <a:lnSpc>
                          <a:spcPct val="107000"/>
                        </a:lnSpc>
                        <a:spcBef>
                          <a:spcPts val="0"/>
                        </a:spcBef>
                        <a:spcAft>
                          <a:spcPts val="0"/>
                        </a:spcAft>
                      </a:pPr>
                      <a:r>
                        <a:rPr lang="en-IN" sz="1800" dirty="0">
                          <a:effectLst/>
                        </a:rPr>
                        <a:t>-</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3886052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76897"/>
            <a:ext cx="10515600" cy="698532"/>
          </a:xfrm>
        </p:spPr>
        <p:txBody>
          <a:bodyPr>
            <a:noAutofit/>
          </a:bodyPr>
          <a:lstStyle/>
          <a:p>
            <a:pPr algn="ctr">
              <a:lnSpc>
                <a:spcPct val="100000"/>
              </a:lnSpc>
            </a:pPr>
            <a:r>
              <a:rPr lang="en-IN" sz="4000" b="1" dirty="0">
                <a:latin typeface="Aharoni" panose="02010803020104030203" pitchFamily="2" charset="-79"/>
                <a:cs typeface="Aharoni" panose="02010803020104030203" pitchFamily="2" charset="-79"/>
              </a:rPr>
              <a:t>Periodicity in Electronegativity</a:t>
            </a:r>
            <a:endParaRPr lang="en-US" dirty="0">
              <a:latin typeface="Aharoni" panose="02010803020104030203" pitchFamily="2" charset="-79"/>
              <a:cs typeface="Aharoni" panose="02010803020104030203" pitchFamily="2" charset="-79"/>
            </a:endParaRPr>
          </a:p>
        </p:txBody>
      </p:sp>
      <p:sp>
        <p:nvSpPr>
          <p:cNvPr id="5" name="Rectangle 4"/>
          <p:cNvSpPr/>
          <p:nvPr/>
        </p:nvSpPr>
        <p:spPr>
          <a:xfrm>
            <a:off x="447898" y="926610"/>
            <a:ext cx="11296200" cy="939360"/>
          </a:xfrm>
          <a:prstGeom prst="rect">
            <a:avLst/>
          </a:prstGeom>
        </p:spPr>
        <p:txBody>
          <a:bodyPr wrap="square">
            <a:spAutoFit/>
          </a:bodyPr>
          <a:lstStyle/>
          <a:p>
            <a:pPr algn="just">
              <a:lnSpc>
                <a:spcPct val="200000"/>
              </a:lnSpc>
            </a:pPr>
            <a:r>
              <a:rPr lang="en-US" sz="3200" dirty="0"/>
              <a:t>Electronegativities of the main group elements on Pauling scale</a:t>
            </a:r>
          </a:p>
        </p:txBody>
      </p:sp>
      <p:sp>
        <p:nvSpPr>
          <p:cNvPr id="3" name="Footer Placeholder 2">
            <a:extLst>
              <a:ext uri="{FF2B5EF4-FFF2-40B4-BE49-F238E27FC236}">
                <a16:creationId xmlns:a16="http://schemas.microsoft.com/office/drawing/2014/main" id="{BBB2A7A7-BD95-ED28-FB3C-96ABA3D37090}"/>
              </a:ext>
            </a:extLst>
          </p:cNvPr>
          <p:cNvSpPr>
            <a:spLocks noGrp="1"/>
          </p:cNvSpPr>
          <p:nvPr>
            <p:ph type="ftr" sz="quarter" idx="11"/>
          </p:nvPr>
        </p:nvSpPr>
        <p:spPr/>
        <p:txBody>
          <a:bodyPr/>
          <a:lstStyle/>
          <a:p>
            <a:r>
              <a:rPr lang="en-US"/>
              <a:t>Periodic Properties of Elements</a:t>
            </a:r>
          </a:p>
        </p:txBody>
      </p:sp>
      <p:sp>
        <p:nvSpPr>
          <p:cNvPr id="6" name="Slide Number Placeholder 5">
            <a:extLst>
              <a:ext uri="{FF2B5EF4-FFF2-40B4-BE49-F238E27FC236}">
                <a16:creationId xmlns:a16="http://schemas.microsoft.com/office/drawing/2014/main" id="{D7A040B0-9EF7-ECFC-3FB2-E8C6B1C576D7}"/>
              </a:ext>
            </a:extLst>
          </p:cNvPr>
          <p:cNvSpPr>
            <a:spLocks noGrp="1"/>
          </p:cNvSpPr>
          <p:nvPr>
            <p:ph type="sldNum" sz="quarter" idx="12"/>
          </p:nvPr>
        </p:nvSpPr>
        <p:spPr/>
        <p:txBody>
          <a:bodyPr/>
          <a:lstStyle/>
          <a:p>
            <a:fld id="{18FFC5A6-CECA-42F5-ACA8-5C3F58FF9B21}" type="slidenum">
              <a:rPr lang="en-US" smtClean="0"/>
              <a:t>46</a:t>
            </a:fld>
            <a:endParaRPr lang="en-US"/>
          </a:p>
        </p:txBody>
      </p:sp>
      <p:sp>
        <p:nvSpPr>
          <p:cNvPr id="7" name="Date Placeholder 6">
            <a:extLst>
              <a:ext uri="{FF2B5EF4-FFF2-40B4-BE49-F238E27FC236}">
                <a16:creationId xmlns:a16="http://schemas.microsoft.com/office/drawing/2014/main" id="{FBFA068E-8A21-884B-C15E-C4BD16F00EE6}"/>
              </a:ext>
            </a:extLst>
          </p:cNvPr>
          <p:cNvSpPr>
            <a:spLocks noGrp="1"/>
          </p:cNvSpPr>
          <p:nvPr>
            <p:ph type="dt" sz="half" idx="10"/>
          </p:nvPr>
        </p:nvSpPr>
        <p:spPr/>
        <p:txBody>
          <a:bodyPr/>
          <a:lstStyle/>
          <a:p>
            <a:fld id="{37717BD9-B169-4181-9DDC-E44D55C3A673}" type="datetime1">
              <a:rPr lang="en-US" smtClean="0"/>
              <a:t>8/3/2023</a:t>
            </a:fld>
            <a:endParaRPr lang="en-US"/>
          </a:p>
        </p:txBody>
      </p:sp>
      <p:graphicFrame>
        <p:nvGraphicFramePr>
          <p:cNvPr id="8" name="Table 7"/>
          <p:cNvGraphicFramePr>
            <a:graphicFrameLocks noGrp="1"/>
          </p:cNvGraphicFramePr>
          <p:nvPr>
            <p:extLst>
              <p:ext uri="{D42A27DB-BD31-4B8C-83A1-F6EECF244321}">
                <p14:modId xmlns:p14="http://schemas.microsoft.com/office/powerpoint/2010/main" val="2461163562"/>
              </p:ext>
            </p:extLst>
          </p:nvPr>
        </p:nvGraphicFramePr>
        <p:xfrm>
          <a:off x="519894" y="2174015"/>
          <a:ext cx="11224208" cy="3833592"/>
        </p:xfrm>
        <a:graphic>
          <a:graphicData uri="http://schemas.openxmlformats.org/drawingml/2006/table">
            <a:tbl>
              <a:tblPr firstRow="1" firstCol="1" bandRow="1">
                <a:tableStyleId>{5C22544A-7EE6-4342-B048-85BDC9FD1C3A}</a:tableStyleId>
              </a:tblPr>
              <a:tblGrid>
                <a:gridCol w="1403026">
                  <a:extLst>
                    <a:ext uri="{9D8B030D-6E8A-4147-A177-3AD203B41FA5}">
                      <a16:colId xmlns:a16="http://schemas.microsoft.com/office/drawing/2014/main" val="20000"/>
                    </a:ext>
                  </a:extLst>
                </a:gridCol>
                <a:gridCol w="1403026">
                  <a:extLst>
                    <a:ext uri="{9D8B030D-6E8A-4147-A177-3AD203B41FA5}">
                      <a16:colId xmlns:a16="http://schemas.microsoft.com/office/drawing/2014/main" val="20001"/>
                    </a:ext>
                  </a:extLst>
                </a:gridCol>
                <a:gridCol w="1403026">
                  <a:extLst>
                    <a:ext uri="{9D8B030D-6E8A-4147-A177-3AD203B41FA5}">
                      <a16:colId xmlns:a16="http://schemas.microsoft.com/office/drawing/2014/main" val="20002"/>
                    </a:ext>
                  </a:extLst>
                </a:gridCol>
                <a:gridCol w="1403026">
                  <a:extLst>
                    <a:ext uri="{9D8B030D-6E8A-4147-A177-3AD203B41FA5}">
                      <a16:colId xmlns:a16="http://schemas.microsoft.com/office/drawing/2014/main" val="20003"/>
                    </a:ext>
                  </a:extLst>
                </a:gridCol>
                <a:gridCol w="1403026">
                  <a:extLst>
                    <a:ext uri="{9D8B030D-6E8A-4147-A177-3AD203B41FA5}">
                      <a16:colId xmlns:a16="http://schemas.microsoft.com/office/drawing/2014/main" val="20004"/>
                    </a:ext>
                  </a:extLst>
                </a:gridCol>
                <a:gridCol w="1403026">
                  <a:extLst>
                    <a:ext uri="{9D8B030D-6E8A-4147-A177-3AD203B41FA5}">
                      <a16:colId xmlns:a16="http://schemas.microsoft.com/office/drawing/2014/main" val="20005"/>
                    </a:ext>
                  </a:extLst>
                </a:gridCol>
                <a:gridCol w="1403026">
                  <a:extLst>
                    <a:ext uri="{9D8B030D-6E8A-4147-A177-3AD203B41FA5}">
                      <a16:colId xmlns:a16="http://schemas.microsoft.com/office/drawing/2014/main" val="20006"/>
                    </a:ext>
                  </a:extLst>
                </a:gridCol>
                <a:gridCol w="1403026">
                  <a:extLst>
                    <a:ext uri="{9D8B030D-6E8A-4147-A177-3AD203B41FA5}">
                      <a16:colId xmlns:a16="http://schemas.microsoft.com/office/drawing/2014/main" val="20007"/>
                    </a:ext>
                  </a:extLst>
                </a:gridCol>
              </a:tblGrid>
              <a:tr h="638932">
                <a:tc>
                  <a:txBody>
                    <a:bodyPr/>
                    <a:lstStyle/>
                    <a:p>
                      <a:pPr marL="0" marR="0" algn="ctr">
                        <a:lnSpc>
                          <a:spcPct val="107000"/>
                        </a:lnSpc>
                        <a:spcBef>
                          <a:spcPts val="0"/>
                        </a:spcBef>
                        <a:spcAft>
                          <a:spcPts val="0"/>
                        </a:spcAft>
                      </a:pPr>
                      <a:r>
                        <a:rPr lang="en-IN" sz="1800" dirty="0">
                          <a:effectLst/>
                        </a:rPr>
                        <a:t>H</a:t>
                      </a:r>
                      <a:endParaRPr lang="en-US" sz="1800" dirty="0">
                        <a:effectLst/>
                      </a:endParaRPr>
                    </a:p>
                    <a:p>
                      <a:pPr marL="0" marR="0" algn="ctr">
                        <a:lnSpc>
                          <a:spcPct val="107000"/>
                        </a:lnSpc>
                        <a:spcBef>
                          <a:spcPts val="0"/>
                        </a:spcBef>
                        <a:spcAft>
                          <a:spcPts val="0"/>
                        </a:spcAft>
                      </a:pPr>
                      <a:r>
                        <a:rPr lang="en-IN" sz="1800" dirty="0">
                          <a:effectLst/>
                        </a:rPr>
                        <a:t>2.2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 </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 </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He</a:t>
                      </a:r>
                      <a:endParaRPr lang="en-US" sz="1800">
                        <a:effectLst/>
                      </a:endParaRPr>
                    </a:p>
                    <a:p>
                      <a:pPr marL="0" marR="0" algn="ctr">
                        <a:lnSpc>
                          <a:spcPct val="107000"/>
                        </a:lnSpc>
                        <a:spcBef>
                          <a:spcPts val="0"/>
                        </a:spcBef>
                        <a:spcAft>
                          <a:spcPts val="0"/>
                        </a:spcAft>
                      </a:pPr>
                      <a:r>
                        <a:rPr lang="en-IN" sz="1800">
                          <a:effectLst/>
                        </a:rPr>
                        <a:t>-</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0"/>
                  </a:ext>
                </a:extLst>
              </a:tr>
              <a:tr h="638932">
                <a:tc>
                  <a:txBody>
                    <a:bodyPr/>
                    <a:lstStyle/>
                    <a:p>
                      <a:pPr marL="0" marR="0" algn="ctr">
                        <a:lnSpc>
                          <a:spcPct val="107000"/>
                        </a:lnSpc>
                        <a:spcBef>
                          <a:spcPts val="0"/>
                        </a:spcBef>
                        <a:spcAft>
                          <a:spcPts val="0"/>
                        </a:spcAft>
                      </a:pPr>
                      <a:r>
                        <a:rPr lang="en-IN" sz="1800" dirty="0">
                          <a:effectLst/>
                        </a:rPr>
                        <a:t>Li</a:t>
                      </a:r>
                      <a:endParaRPr lang="en-US" sz="1800" dirty="0">
                        <a:effectLst/>
                      </a:endParaRPr>
                    </a:p>
                    <a:p>
                      <a:pPr marL="0" marR="0" algn="ctr">
                        <a:lnSpc>
                          <a:spcPct val="107000"/>
                        </a:lnSpc>
                        <a:spcBef>
                          <a:spcPts val="0"/>
                        </a:spcBef>
                        <a:spcAft>
                          <a:spcPts val="0"/>
                        </a:spcAft>
                      </a:pPr>
                      <a:r>
                        <a:rPr lang="en-IN" sz="1800" dirty="0" smtClean="0">
                          <a:effectLst/>
                        </a:rPr>
                        <a:t>1.0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Be</a:t>
                      </a:r>
                      <a:endParaRPr lang="en-US" sz="1800" dirty="0">
                        <a:effectLst/>
                      </a:endParaRPr>
                    </a:p>
                    <a:p>
                      <a:pPr marL="0" marR="0" algn="ctr">
                        <a:lnSpc>
                          <a:spcPct val="107000"/>
                        </a:lnSpc>
                        <a:spcBef>
                          <a:spcPts val="0"/>
                        </a:spcBef>
                        <a:spcAft>
                          <a:spcPts val="0"/>
                        </a:spcAft>
                      </a:pPr>
                      <a:r>
                        <a:rPr lang="en-IN" sz="1800" dirty="0">
                          <a:effectLst/>
                        </a:rPr>
                        <a:t>1.5</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a:t>
                      </a:r>
                      <a:endParaRPr lang="en-US" sz="1800">
                        <a:effectLst/>
                      </a:endParaRPr>
                    </a:p>
                    <a:p>
                      <a:pPr marL="0" marR="0" algn="ctr">
                        <a:lnSpc>
                          <a:spcPct val="107000"/>
                        </a:lnSpc>
                        <a:spcBef>
                          <a:spcPts val="0"/>
                        </a:spcBef>
                        <a:spcAft>
                          <a:spcPts val="0"/>
                        </a:spcAft>
                      </a:pPr>
                      <a:r>
                        <a:rPr lang="en-IN" sz="1800">
                          <a:effectLst/>
                        </a:rPr>
                        <a:t>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C</a:t>
                      </a:r>
                      <a:endParaRPr lang="en-US" sz="1800">
                        <a:effectLst/>
                      </a:endParaRPr>
                    </a:p>
                    <a:p>
                      <a:pPr marL="0" marR="0" algn="ctr">
                        <a:lnSpc>
                          <a:spcPct val="107000"/>
                        </a:lnSpc>
                        <a:spcBef>
                          <a:spcPts val="0"/>
                        </a:spcBef>
                        <a:spcAft>
                          <a:spcPts val="0"/>
                        </a:spcAft>
                      </a:pPr>
                      <a:r>
                        <a:rPr lang="en-IN" sz="1800">
                          <a:effectLst/>
                        </a:rPr>
                        <a:t>2.5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N</a:t>
                      </a:r>
                      <a:endParaRPr lang="en-US" sz="1800">
                        <a:effectLst/>
                      </a:endParaRPr>
                    </a:p>
                    <a:p>
                      <a:pPr marL="0" marR="0" algn="ctr">
                        <a:lnSpc>
                          <a:spcPct val="107000"/>
                        </a:lnSpc>
                        <a:spcBef>
                          <a:spcPts val="0"/>
                        </a:spcBef>
                        <a:spcAft>
                          <a:spcPts val="0"/>
                        </a:spcAft>
                      </a:pPr>
                      <a:r>
                        <a:rPr lang="en-IN" sz="1800">
                          <a:effectLst/>
                        </a:rPr>
                        <a:t>3.1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O</a:t>
                      </a:r>
                      <a:endParaRPr lang="en-US" sz="1800">
                        <a:effectLst/>
                      </a:endParaRPr>
                    </a:p>
                    <a:p>
                      <a:pPr marL="0" marR="0" algn="ctr">
                        <a:lnSpc>
                          <a:spcPct val="107000"/>
                        </a:lnSpc>
                        <a:spcBef>
                          <a:spcPts val="0"/>
                        </a:spcBef>
                        <a:spcAft>
                          <a:spcPts val="0"/>
                        </a:spcAft>
                      </a:pPr>
                      <a:r>
                        <a:rPr lang="en-IN" sz="1800">
                          <a:effectLst/>
                        </a:rPr>
                        <a:t>3.5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F</a:t>
                      </a:r>
                      <a:endParaRPr lang="en-US" sz="1800">
                        <a:effectLst/>
                      </a:endParaRPr>
                    </a:p>
                    <a:p>
                      <a:pPr marL="0" marR="0" algn="ctr">
                        <a:lnSpc>
                          <a:spcPct val="107000"/>
                        </a:lnSpc>
                        <a:spcBef>
                          <a:spcPts val="0"/>
                        </a:spcBef>
                        <a:spcAft>
                          <a:spcPts val="0"/>
                        </a:spcAft>
                      </a:pPr>
                      <a:r>
                        <a:rPr lang="en-IN" sz="1800">
                          <a:effectLst/>
                        </a:rPr>
                        <a:t>4.1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Ne</a:t>
                      </a:r>
                      <a:endParaRPr lang="en-US" sz="1800">
                        <a:effectLst/>
                      </a:endParaRPr>
                    </a:p>
                    <a:p>
                      <a:pPr marL="0" marR="0" algn="ctr">
                        <a:lnSpc>
                          <a:spcPct val="107000"/>
                        </a:lnSpc>
                        <a:spcBef>
                          <a:spcPts val="0"/>
                        </a:spcBef>
                        <a:spcAft>
                          <a:spcPts val="0"/>
                        </a:spcAft>
                      </a:pPr>
                      <a:r>
                        <a:rPr lang="en-IN" sz="1800">
                          <a:effectLst/>
                        </a:rPr>
                        <a:t>-</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1"/>
                  </a:ext>
                </a:extLst>
              </a:tr>
              <a:tr h="638932">
                <a:tc>
                  <a:txBody>
                    <a:bodyPr/>
                    <a:lstStyle/>
                    <a:p>
                      <a:pPr marL="0" marR="0" algn="ctr">
                        <a:lnSpc>
                          <a:spcPct val="107000"/>
                        </a:lnSpc>
                        <a:spcBef>
                          <a:spcPts val="0"/>
                        </a:spcBef>
                        <a:spcAft>
                          <a:spcPts val="0"/>
                        </a:spcAft>
                      </a:pPr>
                      <a:r>
                        <a:rPr lang="en-IN" sz="1800" dirty="0">
                          <a:effectLst/>
                        </a:rPr>
                        <a:t>Na</a:t>
                      </a:r>
                      <a:endParaRPr lang="en-US" sz="1800" dirty="0">
                        <a:effectLst/>
                      </a:endParaRPr>
                    </a:p>
                    <a:p>
                      <a:pPr marL="0" marR="0" algn="ctr">
                        <a:lnSpc>
                          <a:spcPct val="107000"/>
                        </a:lnSpc>
                        <a:spcBef>
                          <a:spcPts val="0"/>
                        </a:spcBef>
                        <a:spcAft>
                          <a:spcPts val="0"/>
                        </a:spcAft>
                      </a:pPr>
                      <a:r>
                        <a:rPr lang="en-IN" sz="1800" dirty="0" smtClean="0">
                          <a:effectLst/>
                        </a:rPr>
                        <a:t>0.9</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Mg</a:t>
                      </a:r>
                      <a:endParaRPr lang="en-US" sz="1800" dirty="0">
                        <a:effectLst/>
                      </a:endParaRPr>
                    </a:p>
                    <a:p>
                      <a:pPr marL="0" marR="0" algn="ctr">
                        <a:lnSpc>
                          <a:spcPct val="107000"/>
                        </a:lnSpc>
                        <a:spcBef>
                          <a:spcPts val="0"/>
                        </a:spcBef>
                        <a:spcAft>
                          <a:spcPts val="0"/>
                        </a:spcAft>
                      </a:pPr>
                      <a:r>
                        <a:rPr lang="en-IN" sz="1800" dirty="0">
                          <a:effectLst/>
                        </a:rPr>
                        <a:t>1.2</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Al</a:t>
                      </a:r>
                      <a:endParaRPr lang="en-US" sz="1800">
                        <a:effectLst/>
                      </a:endParaRPr>
                    </a:p>
                    <a:p>
                      <a:pPr marL="0" marR="0" algn="ctr">
                        <a:lnSpc>
                          <a:spcPct val="107000"/>
                        </a:lnSpc>
                        <a:spcBef>
                          <a:spcPts val="0"/>
                        </a:spcBef>
                        <a:spcAft>
                          <a:spcPts val="0"/>
                        </a:spcAft>
                      </a:pPr>
                      <a:r>
                        <a:rPr lang="en-IN" sz="1800">
                          <a:effectLst/>
                        </a:rPr>
                        <a:t>1.3</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Si</a:t>
                      </a:r>
                      <a:endParaRPr lang="en-US" sz="1800">
                        <a:effectLst/>
                      </a:endParaRPr>
                    </a:p>
                    <a:p>
                      <a:pPr marL="0" marR="0" algn="ctr">
                        <a:lnSpc>
                          <a:spcPct val="107000"/>
                        </a:lnSpc>
                        <a:spcBef>
                          <a:spcPts val="0"/>
                        </a:spcBef>
                        <a:spcAft>
                          <a:spcPts val="0"/>
                        </a:spcAft>
                      </a:pPr>
                      <a:r>
                        <a:rPr lang="en-IN" sz="1800">
                          <a:effectLst/>
                        </a:rPr>
                        <a:t>1.7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P</a:t>
                      </a:r>
                      <a:endParaRPr lang="en-US" sz="1800">
                        <a:effectLst/>
                      </a:endParaRPr>
                    </a:p>
                    <a:p>
                      <a:pPr marL="0" marR="0" algn="ctr">
                        <a:lnSpc>
                          <a:spcPct val="107000"/>
                        </a:lnSpc>
                        <a:spcBef>
                          <a:spcPts val="0"/>
                        </a:spcBef>
                        <a:spcAft>
                          <a:spcPts val="0"/>
                        </a:spcAft>
                      </a:pPr>
                      <a:r>
                        <a:rPr lang="en-IN" sz="1800">
                          <a:effectLst/>
                        </a:rPr>
                        <a:t>2.1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a:t>
                      </a:r>
                      <a:endParaRPr lang="en-US" sz="1800">
                        <a:effectLst/>
                      </a:endParaRPr>
                    </a:p>
                    <a:p>
                      <a:pPr marL="0" marR="0" algn="ctr">
                        <a:lnSpc>
                          <a:spcPct val="107000"/>
                        </a:lnSpc>
                        <a:spcBef>
                          <a:spcPts val="0"/>
                        </a:spcBef>
                        <a:spcAft>
                          <a:spcPts val="0"/>
                        </a:spcAft>
                      </a:pPr>
                      <a:r>
                        <a:rPr lang="en-IN" sz="1800">
                          <a:effectLst/>
                        </a:rPr>
                        <a:t>2.4</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Cl</a:t>
                      </a:r>
                      <a:endParaRPr lang="en-US" sz="1800">
                        <a:effectLst/>
                      </a:endParaRPr>
                    </a:p>
                    <a:p>
                      <a:pPr marL="0" marR="0" algn="ctr">
                        <a:lnSpc>
                          <a:spcPct val="107000"/>
                        </a:lnSpc>
                        <a:spcBef>
                          <a:spcPts val="0"/>
                        </a:spcBef>
                        <a:spcAft>
                          <a:spcPts val="0"/>
                        </a:spcAft>
                      </a:pPr>
                      <a:r>
                        <a:rPr lang="en-IN" sz="1800">
                          <a:effectLst/>
                        </a:rPr>
                        <a:t>2.8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Ar</a:t>
                      </a:r>
                      <a:endParaRPr lang="en-US" sz="1800">
                        <a:effectLst/>
                      </a:endParaRPr>
                    </a:p>
                    <a:p>
                      <a:pPr marL="0" marR="0" algn="ctr">
                        <a:lnSpc>
                          <a:spcPct val="107000"/>
                        </a:lnSpc>
                        <a:spcBef>
                          <a:spcPts val="0"/>
                        </a:spcBef>
                        <a:spcAft>
                          <a:spcPts val="0"/>
                        </a:spcAft>
                      </a:pPr>
                      <a:r>
                        <a:rPr lang="en-IN" sz="1800">
                          <a:effectLst/>
                        </a:rPr>
                        <a:t>-</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2"/>
                  </a:ext>
                </a:extLst>
              </a:tr>
              <a:tr h="638932">
                <a:tc>
                  <a:txBody>
                    <a:bodyPr/>
                    <a:lstStyle/>
                    <a:p>
                      <a:pPr marL="0" marR="0" algn="ctr">
                        <a:lnSpc>
                          <a:spcPct val="107000"/>
                        </a:lnSpc>
                        <a:spcBef>
                          <a:spcPts val="0"/>
                        </a:spcBef>
                        <a:spcAft>
                          <a:spcPts val="0"/>
                        </a:spcAft>
                      </a:pPr>
                      <a:r>
                        <a:rPr lang="en-IN" sz="1800" dirty="0">
                          <a:effectLst/>
                        </a:rPr>
                        <a:t>K</a:t>
                      </a:r>
                      <a:endParaRPr lang="en-US" sz="1800" dirty="0">
                        <a:effectLst/>
                      </a:endParaRPr>
                    </a:p>
                    <a:p>
                      <a:pPr marL="0" marR="0" algn="ctr">
                        <a:lnSpc>
                          <a:spcPct val="107000"/>
                        </a:lnSpc>
                        <a:spcBef>
                          <a:spcPts val="0"/>
                        </a:spcBef>
                        <a:spcAft>
                          <a:spcPts val="0"/>
                        </a:spcAft>
                      </a:pPr>
                      <a:r>
                        <a:rPr lang="en-IN" sz="1800" dirty="0" smtClean="0">
                          <a:effectLst/>
                        </a:rPr>
                        <a:t>0.8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Ca</a:t>
                      </a:r>
                      <a:endParaRPr lang="en-US" sz="1800" dirty="0">
                        <a:effectLst/>
                      </a:endParaRPr>
                    </a:p>
                    <a:p>
                      <a:pPr marL="0" marR="0" algn="ctr">
                        <a:lnSpc>
                          <a:spcPct val="107000"/>
                        </a:lnSpc>
                        <a:spcBef>
                          <a:spcPts val="0"/>
                        </a:spcBef>
                        <a:spcAft>
                          <a:spcPts val="0"/>
                        </a:spcAft>
                      </a:pPr>
                      <a:r>
                        <a:rPr lang="en-IN" sz="1800" dirty="0">
                          <a:effectLst/>
                        </a:rPr>
                        <a:t>1.0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Ga</a:t>
                      </a:r>
                      <a:endParaRPr lang="en-US" sz="1800" dirty="0">
                        <a:effectLst/>
                      </a:endParaRPr>
                    </a:p>
                    <a:p>
                      <a:pPr marL="0" marR="0" algn="ctr">
                        <a:lnSpc>
                          <a:spcPct val="107000"/>
                        </a:lnSpc>
                        <a:spcBef>
                          <a:spcPts val="0"/>
                        </a:spcBef>
                        <a:spcAft>
                          <a:spcPts val="0"/>
                        </a:spcAft>
                      </a:pPr>
                      <a:r>
                        <a:rPr lang="en-IN" sz="1800" dirty="0">
                          <a:effectLst/>
                        </a:rPr>
                        <a:t>1.8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Ge</a:t>
                      </a:r>
                      <a:endParaRPr lang="en-US" sz="1800">
                        <a:effectLst/>
                      </a:endParaRPr>
                    </a:p>
                    <a:p>
                      <a:pPr marL="0" marR="0" algn="ctr">
                        <a:lnSpc>
                          <a:spcPct val="107000"/>
                        </a:lnSpc>
                        <a:spcBef>
                          <a:spcPts val="0"/>
                        </a:spcBef>
                        <a:spcAft>
                          <a:spcPts val="0"/>
                        </a:spcAft>
                      </a:pPr>
                      <a:r>
                        <a:rPr lang="en-IN" sz="1800">
                          <a:effectLst/>
                        </a:rPr>
                        <a:t>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As</a:t>
                      </a:r>
                      <a:endParaRPr lang="en-US" sz="1800">
                        <a:effectLst/>
                      </a:endParaRPr>
                    </a:p>
                    <a:p>
                      <a:pPr marL="0" marR="0" algn="ctr">
                        <a:lnSpc>
                          <a:spcPct val="107000"/>
                        </a:lnSpc>
                        <a:spcBef>
                          <a:spcPts val="0"/>
                        </a:spcBef>
                        <a:spcAft>
                          <a:spcPts val="0"/>
                        </a:spcAft>
                      </a:pPr>
                      <a:r>
                        <a:rPr lang="en-IN" sz="1800">
                          <a:effectLst/>
                        </a:rPr>
                        <a:t>2.2</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Se</a:t>
                      </a:r>
                      <a:endParaRPr lang="en-US" sz="1800">
                        <a:effectLst/>
                      </a:endParaRPr>
                    </a:p>
                    <a:p>
                      <a:pPr marL="0" marR="0" algn="ctr">
                        <a:lnSpc>
                          <a:spcPct val="107000"/>
                        </a:lnSpc>
                        <a:spcBef>
                          <a:spcPts val="0"/>
                        </a:spcBef>
                        <a:spcAft>
                          <a:spcPts val="0"/>
                        </a:spcAft>
                      </a:pPr>
                      <a:r>
                        <a:rPr lang="en-IN" sz="1800">
                          <a:effectLst/>
                        </a:rPr>
                        <a:t>2.5</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Br</a:t>
                      </a:r>
                      <a:endParaRPr lang="en-US" sz="1800">
                        <a:effectLst/>
                      </a:endParaRPr>
                    </a:p>
                    <a:p>
                      <a:pPr marL="0" marR="0" algn="ctr">
                        <a:lnSpc>
                          <a:spcPct val="107000"/>
                        </a:lnSpc>
                        <a:spcBef>
                          <a:spcPts val="0"/>
                        </a:spcBef>
                        <a:spcAft>
                          <a:spcPts val="0"/>
                        </a:spcAft>
                      </a:pPr>
                      <a:r>
                        <a:rPr lang="en-IN" sz="1800">
                          <a:effectLst/>
                        </a:rPr>
                        <a:t>2.7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Kr</a:t>
                      </a:r>
                      <a:endParaRPr lang="en-US" sz="1800">
                        <a:effectLst/>
                      </a:endParaRPr>
                    </a:p>
                    <a:p>
                      <a:pPr marL="0" marR="0" algn="ctr">
                        <a:lnSpc>
                          <a:spcPct val="107000"/>
                        </a:lnSpc>
                        <a:spcBef>
                          <a:spcPts val="0"/>
                        </a:spcBef>
                        <a:spcAft>
                          <a:spcPts val="0"/>
                        </a:spcAft>
                      </a:pPr>
                      <a:r>
                        <a:rPr lang="en-IN" sz="1800">
                          <a:effectLst/>
                        </a:rPr>
                        <a:t>3.1</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3"/>
                  </a:ext>
                </a:extLst>
              </a:tr>
              <a:tr h="638932">
                <a:tc>
                  <a:txBody>
                    <a:bodyPr/>
                    <a:lstStyle/>
                    <a:p>
                      <a:pPr marL="0" marR="0" algn="ctr">
                        <a:lnSpc>
                          <a:spcPct val="107000"/>
                        </a:lnSpc>
                        <a:spcBef>
                          <a:spcPts val="0"/>
                        </a:spcBef>
                        <a:spcAft>
                          <a:spcPts val="0"/>
                        </a:spcAft>
                      </a:pPr>
                      <a:r>
                        <a:rPr lang="en-IN" sz="1800" dirty="0">
                          <a:effectLst/>
                        </a:rPr>
                        <a:t>Rb</a:t>
                      </a:r>
                      <a:endParaRPr lang="en-US" sz="1800" dirty="0">
                        <a:effectLst/>
                      </a:endParaRPr>
                    </a:p>
                    <a:p>
                      <a:pPr marL="0" marR="0" algn="ctr">
                        <a:lnSpc>
                          <a:spcPct val="107000"/>
                        </a:lnSpc>
                        <a:spcBef>
                          <a:spcPts val="0"/>
                        </a:spcBef>
                        <a:spcAft>
                          <a:spcPts val="0"/>
                        </a:spcAft>
                      </a:pPr>
                      <a:r>
                        <a:rPr lang="en-IN" sz="1800" dirty="0" smtClean="0">
                          <a:effectLst/>
                        </a:rPr>
                        <a:t>0.8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Sr</a:t>
                      </a:r>
                      <a:endParaRPr lang="en-US" sz="1800">
                        <a:effectLst/>
                      </a:endParaRPr>
                    </a:p>
                    <a:p>
                      <a:pPr marL="0" marR="0" algn="ctr">
                        <a:lnSpc>
                          <a:spcPct val="107000"/>
                        </a:lnSpc>
                        <a:spcBef>
                          <a:spcPts val="0"/>
                        </a:spcBef>
                        <a:spcAft>
                          <a:spcPts val="0"/>
                        </a:spcAft>
                      </a:pPr>
                      <a:r>
                        <a:rPr lang="en-IN" sz="1800">
                          <a:effectLst/>
                        </a:rPr>
                        <a:t>1.0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In</a:t>
                      </a:r>
                      <a:endParaRPr lang="en-US" sz="1800" dirty="0">
                        <a:effectLst/>
                      </a:endParaRPr>
                    </a:p>
                    <a:p>
                      <a:pPr marL="0" marR="0" algn="ctr">
                        <a:lnSpc>
                          <a:spcPct val="107000"/>
                        </a:lnSpc>
                        <a:spcBef>
                          <a:spcPts val="0"/>
                        </a:spcBef>
                        <a:spcAft>
                          <a:spcPts val="0"/>
                        </a:spcAft>
                      </a:pPr>
                      <a:r>
                        <a:rPr lang="en-IN" sz="1800" dirty="0">
                          <a:effectLst/>
                        </a:rPr>
                        <a:t>1.5</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Sn</a:t>
                      </a:r>
                      <a:endParaRPr lang="en-US" sz="1800" dirty="0">
                        <a:effectLst/>
                      </a:endParaRPr>
                    </a:p>
                    <a:p>
                      <a:pPr marL="0" marR="0" algn="ctr">
                        <a:lnSpc>
                          <a:spcPct val="107000"/>
                        </a:lnSpc>
                        <a:spcBef>
                          <a:spcPts val="0"/>
                        </a:spcBef>
                        <a:spcAft>
                          <a:spcPts val="0"/>
                        </a:spcAft>
                      </a:pPr>
                      <a:r>
                        <a:rPr lang="en-IN" sz="1800" dirty="0">
                          <a:effectLst/>
                        </a:rPr>
                        <a:t>1.7</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Sb</a:t>
                      </a:r>
                      <a:endParaRPr lang="en-US" sz="1800">
                        <a:effectLst/>
                      </a:endParaRPr>
                    </a:p>
                    <a:p>
                      <a:pPr marL="0" marR="0" algn="ctr">
                        <a:lnSpc>
                          <a:spcPct val="107000"/>
                        </a:lnSpc>
                        <a:spcBef>
                          <a:spcPts val="0"/>
                        </a:spcBef>
                        <a:spcAft>
                          <a:spcPts val="0"/>
                        </a:spcAft>
                      </a:pPr>
                      <a:r>
                        <a:rPr lang="en-IN" sz="1800">
                          <a:effectLst/>
                        </a:rPr>
                        <a:t>1.8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Te</a:t>
                      </a:r>
                      <a:endParaRPr lang="en-US" sz="1800">
                        <a:effectLst/>
                      </a:endParaRPr>
                    </a:p>
                    <a:p>
                      <a:pPr marL="0" marR="0" algn="ctr">
                        <a:lnSpc>
                          <a:spcPct val="107000"/>
                        </a:lnSpc>
                        <a:spcBef>
                          <a:spcPts val="0"/>
                        </a:spcBef>
                        <a:spcAft>
                          <a:spcPts val="0"/>
                        </a:spcAft>
                      </a:pPr>
                      <a:r>
                        <a:rPr lang="en-IN" sz="1800">
                          <a:effectLst/>
                        </a:rPr>
                        <a:t>2.0</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I</a:t>
                      </a:r>
                      <a:endParaRPr lang="en-US" sz="1800">
                        <a:effectLst/>
                      </a:endParaRPr>
                    </a:p>
                    <a:p>
                      <a:pPr marL="0" marR="0" algn="ctr">
                        <a:lnSpc>
                          <a:spcPct val="107000"/>
                        </a:lnSpc>
                        <a:spcBef>
                          <a:spcPts val="0"/>
                        </a:spcBef>
                        <a:spcAft>
                          <a:spcPts val="0"/>
                        </a:spcAft>
                      </a:pPr>
                      <a:r>
                        <a:rPr lang="en-IN" sz="1800">
                          <a:effectLst/>
                        </a:rPr>
                        <a:t>2.2</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Xe</a:t>
                      </a:r>
                      <a:endParaRPr lang="en-US" sz="1800">
                        <a:effectLst/>
                      </a:endParaRPr>
                    </a:p>
                    <a:p>
                      <a:pPr marL="0" marR="0" algn="ctr">
                        <a:lnSpc>
                          <a:spcPct val="107000"/>
                        </a:lnSpc>
                        <a:spcBef>
                          <a:spcPts val="0"/>
                        </a:spcBef>
                        <a:spcAft>
                          <a:spcPts val="0"/>
                        </a:spcAft>
                      </a:pPr>
                      <a:r>
                        <a:rPr lang="en-IN" sz="1800">
                          <a:effectLst/>
                        </a:rPr>
                        <a:t>2.4</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4"/>
                  </a:ext>
                </a:extLst>
              </a:tr>
              <a:tr h="638932">
                <a:tc>
                  <a:txBody>
                    <a:bodyPr/>
                    <a:lstStyle/>
                    <a:p>
                      <a:pPr marL="0" marR="0" algn="ctr">
                        <a:lnSpc>
                          <a:spcPct val="107000"/>
                        </a:lnSpc>
                        <a:spcBef>
                          <a:spcPts val="0"/>
                        </a:spcBef>
                        <a:spcAft>
                          <a:spcPts val="0"/>
                        </a:spcAft>
                      </a:pPr>
                      <a:r>
                        <a:rPr lang="en-IN" sz="1800">
                          <a:effectLst/>
                        </a:rPr>
                        <a:t>Cs</a:t>
                      </a:r>
                      <a:endParaRPr lang="en-US" sz="1800">
                        <a:effectLst/>
                      </a:endParaRPr>
                    </a:p>
                    <a:p>
                      <a:pPr marL="0" marR="0" algn="ctr">
                        <a:lnSpc>
                          <a:spcPct val="107000"/>
                        </a:lnSpc>
                        <a:spcBef>
                          <a:spcPts val="0"/>
                        </a:spcBef>
                        <a:spcAft>
                          <a:spcPts val="0"/>
                        </a:spcAft>
                      </a:pPr>
                      <a:r>
                        <a:rPr lang="en-IN" sz="1800">
                          <a:effectLst/>
                        </a:rPr>
                        <a:t>0.7</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Ba</a:t>
                      </a:r>
                      <a:endParaRPr lang="en-US" sz="1800">
                        <a:effectLst/>
                      </a:endParaRPr>
                    </a:p>
                    <a:p>
                      <a:pPr marL="0" marR="0" algn="ctr">
                        <a:lnSpc>
                          <a:spcPct val="107000"/>
                        </a:lnSpc>
                        <a:spcBef>
                          <a:spcPts val="0"/>
                        </a:spcBef>
                        <a:spcAft>
                          <a:spcPts val="0"/>
                        </a:spcAft>
                      </a:pPr>
                      <a:r>
                        <a:rPr lang="en-IN" sz="1800">
                          <a:effectLst/>
                        </a:rPr>
                        <a:t>0.9</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a:effectLst/>
                        </a:rPr>
                        <a:t>Tl</a:t>
                      </a:r>
                      <a:endParaRPr lang="en-US" sz="1800">
                        <a:effectLst/>
                      </a:endParaRPr>
                    </a:p>
                    <a:p>
                      <a:pPr marL="0" marR="0" algn="ctr">
                        <a:lnSpc>
                          <a:spcPct val="107000"/>
                        </a:lnSpc>
                        <a:spcBef>
                          <a:spcPts val="0"/>
                        </a:spcBef>
                        <a:spcAft>
                          <a:spcPts val="0"/>
                        </a:spcAft>
                      </a:pPr>
                      <a:r>
                        <a:rPr lang="en-IN" sz="1800">
                          <a:effectLst/>
                        </a:rPr>
                        <a:t>1.8</a:t>
                      </a:r>
                      <a:endParaRPr lang="en-US"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Pb</a:t>
                      </a:r>
                      <a:endParaRPr lang="en-US" sz="1800" dirty="0">
                        <a:effectLst/>
                      </a:endParaRPr>
                    </a:p>
                    <a:p>
                      <a:pPr marL="0" marR="0" algn="ctr">
                        <a:lnSpc>
                          <a:spcPct val="107000"/>
                        </a:lnSpc>
                        <a:spcBef>
                          <a:spcPts val="0"/>
                        </a:spcBef>
                        <a:spcAft>
                          <a:spcPts val="0"/>
                        </a:spcAft>
                      </a:pPr>
                      <a:r>
                        <a:rPr lang="en-IN" sz="1800" dirty="0">
                          <a:effectLst/>
                        </a:rPr>
                        <a:t>1.8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Bi</a:t>
                      </a:r>
                      <a:endParaRPr lang="en-US" sz="1800" dirty="0">
                        <a:effectLst/>
                      </a:endParaRPr>
                    </a:p>
                    <a:p>
                      <a:pPr marL="0" marR="0" algn="ctr">
                        <a:lnSpc>
                          <a:spcPct val="107000"/>
                        </a:lnSpc>
                        <a:spcBef>
                          <a:spcPts val="0"/>
                        </a:spcBef>
                        <a:spcAft>
                          <a:spcPts val="0"/>
                        </a:spcAft>
                      </a:pPr>
                      <a:r>
                        <a:rPr lang="en-IN" sz="1800" dirty="0">
                          <a:effectLst/>
                        </a:rPr>
                        <a:t>1.7</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Po</a:t>
                      </a:r>
                      <a:endParaRPr lang="en-US" sz="1800" dirty="0">
                        <a:effectLst/>
                      </a:endParaRPr>
                    </a:p>
                    <a:p>
                      <a:pPr marL="0" marR="0" algn="ctr">
                        <a:lnSpc>
                          <a:spcPct val="107000"/>
                        </a:lnSpc>
                        <a:spcBef>
                          <a:spcPts val="0"/>
                        </a:spcBef>
                        <a:spcAft>
                          <a:spcPts val="0"/>
                        </a:spcAft>
                      </a:pPr>
                      <a:r>
                        <a:rPr lang="en-IN" sz="1800" dirty="0">
                          <a:effectLst/>
                        </a:rPr>
                        <a:t>1.8</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At</a:t>
                      </a:r>
                      <a:endParaRPr lang="en-US" sz="1800" dirty="0">
                        <a:effectLst/>
                      </a:endParaRPr>
                    </a:p>
                    <a:p>
                      <a:pPr marL="0" marR="0" algn="ctr">
                        <a:lnSpc>
                          <a:spcPct val="107000"/>
                        </a:lnSpc>
                        <a:spcBef>
                          <a:spcPts val="0"/>
                        </a:spcBef>
                        <a:spcAft>
                          <a:spcPts val="0"/>
                        </a:spcAft>
                      </a:pPr>
                      <a:r>
                        <a:rPr lang="en-IN" sz="1800" dirty="0">
                          <a:effectLst/>
                        </a:rPr>
                        <a:t>2.0</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marL="0" marR="0" algn="ctr">
                        <a:lnSpc>
                          <a:spcPct val="107000"/>
                        </a:lnSpc>
                        <a:spcBef>
                          <a:spcPts val="0"/>
                        </a:spcBef>
                        <a:spcAft>
                          <a:spcPts val="0"/>
                        </a:spcAft>
                      </a:pPr>
                      <a:r>
                        <a:rPr lang="en-IN" sz="1800" dirty="0">
                          <a:effectLst/>
                        </a:rPr>
                        <a:t>Rn</a:t>
                      </a:r>
                      <a:endParaRPr lang="en-US" sz="1800" dirty="0">
                        <a:effectLst/>
                      </a:endParaRPr>
                    </a:p>
                    <a:p>
                      <a:pPr marL="0" marR="0" algn="ctr">
                        <a:lnSpc>
                          <a:spcPct val="107000"/>
                        </a:lnSpc>
                        <a:spcBef>
                          <a:spcPts val="0"/>
                        </a:spcBef>
                        <a:spcAft>
                          <a:spcPts val="0"/>
                        </a:spcAft>
                      </a:pPr>
                      <a:r>
                        <a:rPr lang="en-IN" sz="1800" dirty="0">
                          <a:effectLst/>
                        </a:rPr>
                        <a:t>-</a:t>
                      </a:r>
                      <a:endParaRPr lang="en-US"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22217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1999" cy="1325563"/>
          </a:xfrm>
        </p:spPr>
        <p:txBody>
          <a:bodyPr/>
          <a:lstStyle/>
          <a:p>
            <a:pPr algn="ctr"/>
            <a:r>
              <a:rPr lang="en-US" b="1" dirty="0">
                <a:latin typeface="Aharoni" panose="02010803020104030203" pitchFamily="2" charset="-79"/>
                <a:cs typeface="Aharoni" panose="02010803020104030203" pitchFamily="2" charset="-79"/>
              </a:rPr>
              <a:t>Summary of Periodic properties of elements:</a:t>
            </a:r>
          </a:p>
        </p:txBody>
      </p:sp>
      <p:pic>
        <p:nvPicPr>
          <p:cNvPr id="4" name="Content Placeholder 3" descr="periodic table trends"/>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8692" y="965120"/>
            <a:ext cx="10813500" cy="5892880"/>
          </a:xfrm>
          <a:prstGeom prst="rect">
            <a:avLst/>
          </a:prstGeom>
          <a:noFill/>
          <a:ln>
            <a:noFill/>
          </a:ln>
        </p:spPr>
      </p:pic>
      <p:sp>
        <p:nvSpPr>
          <p:cNvPr id="3" name="Footer Placeholder 2">
            <a:extLst>
              <a:ext uri="{FF2B5EF4-FFF2-40B4-BE49-F238E27FC236}">
                <a16:creationId xmlns:a16="http://schemas.microsoft.com/office/drawing/2014/main" id="{BD8A35AD-59D7-6BF3-A7FC-F6F5D72AF4BF}"/>
              </a:ext>
            </a:extLst>
          </p:cNvPr>
          <p:cNvSpPr>
            <a:spLocks noGrp="1"/>
          </p:cNvSpPr>
          <p:nvPr>
            <p:ph type="ftr" sz="quarter" idx="11"/>
          </p:nvPr>
        </p:nvSpPr>
        <p:spPr/>
        <p:txBody>
          <a:bodyPr/>
          <a:lstStyle/>
          <a:p>
            <a:r>
              <a:rPr lang="en-US"/>
              <a:t>Periodic Properties of Elements</a:t>
            </a:r>
          </a:p>
        </p:txBody>
      </p:sp>
      <p:sp>
        <p:nvSpPr>
          <p:cNvPr id="5" name="Slide Number Placeholder 4">
            <a:extLst>
              <a:ext uri="{FF2B5EF4-FFF2-40B4-BE49-F238E27FC236}">
                <a16:creationId xmlns:a16="http://schemas.microsoft.com/office/drawing/2014/main" id="{FA360EBB-BA63-B7C5-62C3-0B82EFC0A282}"/>
              </a:ext>
            </a:extLst>
          </p:cNvPr>
          <p:cNvSpPr>
            <a:spLocks noGrp="1"/>
          </p:cNvSpPr>
          <p:nvPr>
            <p:ph type="sldNum" sz="quarter" idx="12"/>
          </p:nvPr>
        </p:nvSpPr>
        <p:spPr/>
        <p:txBody>
          <a:bodyPr/>
          <a:lstStyle/>
          <a:p>
            <a:fld id="{18FFC5A6-CECA-42F5-ACA8-5C3F58FF9B21}" type="slidenum">
              <a:rPr lang="en-US" smtClean="0"/>
              <a:t>47</a:t>
            </a:fld>
            <a:endParaRPr lang="en-US"/>
          </a:p>
        </p:txBody>
      </p:sp>
      <p:sp>
        <p:nvSpPr>
          <p:cNvPr id="6" name="Date Placeholder 5">
            <a:extLst>
              <a:ext uri="{FF2B5EF4-FFF2-40B4-BE49-F238E27FC236}">
                <a16:creationId xmlns:a16="http://schemas.microsoft.com/office/drawing/2014/main" id="{914B57B9-D003-2315-6754-89BC849328C6}"/>
              </a:ext>
            </a:extLst>
          </p:cNvPr>
          <p:cNvSpPr>
            <a:spLocks noGrp="1"/>
          </p:cNvSpPr>
          <p:nvPr>
            <p:ph type="dt" sz="half" idx="10"/>
          </p:nvPr>
        </p:nvSpPr>
        <p:spPr/>
        <p:txBody>
          <a:bodyPr/>
          <a:lstStyle/>
          <a:p>
            <a:fld id="{5279505A-75D1-4E86-9117-EDC5FCBDC04C}" type="datetime1">
              <a:rPr lang="en-US" smtClean="0"/>
              <a:t>8/3/2023</a:t>
            </a:fld>
            <a:endParaRPr lang="en-US"/>
          </a:p>
        </p:txBody>
      </p:sp>
    </p:spTree>
    <p:extLst>
      <p:ext uri="{BB962C8B-B14F-4D97-AF65-F5344CB8AC3E}">
        <p14:creationId xmlns:p14="http://schemas.microsoft.com/office/powerpoint/2010/main" val="38378086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80AD7-F982-4032-A1BE-7B24B18D488C}"/>
              </a:ext>
            </a:extLst>
          </p:cNvPr>
          <p:cNvSpPr>
            <a:spLocks noGrp="1"/>
          </p:cNvSpPr>
          <p:nvPr>
            <p:ph type="title"/>
          </p:nvPr>
        </p:nvSpPr>
        <p:spPr/>
        <p:txBody>
          <a:bodyPr/>
          <a:lstStyle/>
          <a:p>
            <a:pPr algn="ctr"/>
            <a:r>
              <a:rPr lang="en-US" b="1" dirty="0">
                <a:solidFill>
                  <a:srgbClr val="C00000"/>
                </a:solidFill>
                <a:latin typeface="+mn-lt"/>
              </a:rPr>
              <a:t>Video links</a:t>
            </a:r>
          </a:p>
        </p:txBody>
      </p:sp>
      <p:sp>
        <p:nvSpPr>
          <p:cNvPr id="3" name="Content Placeholder 2">
            <a:extLst>
              <a:ext uri="{FF2B5EF4-FFF2-40B4-BE49-F238E27FC236}">
                <a16:creationId xmlns:a16="http://schemas.microsoft.com/office/drawing/2014/main" id="{68BFA51A-BE7B-466E-98E8-4554A1720C33}"/>
              </a:ext>
            </a:extLst>
          </p:cNvPr>
          <p:cNvSpPr>
            <a:spLocks noGrp="1"/>
          </p:cNvSpPr>
          <p:nvPr>
            <p:ph idx="1"/>
          </p:nvPr>
        </p:nvSpPr>
        <p:spPr/>
        <p:txBody>
          <a:bodyPr>
            <a:normAutofit/>
          </a:bodyPr>
          <a:lstStyle/>
          <a:p>
            <a:r>
              <a:rPr lang="en-US" dirty="0">
                <a:hlinkClick r:id="rId2"/>
              </a:rPr>
              <a:t>https://www.youtube.com/watch?v=I5H1SeepnaU</a:t>
            </a:r>
            <a:endParaRPr lang="en-US" dirty="0"/>
          </a:p>
          <a:p>
            <a:r>
              <a:rPr lang="en-US" dirty="0">
                <a:hlinkClick r:id="rId3"/>
              </a:rPr>
              <a:t>https://www.youtube.com/watch?v=fPnwBITSmgU</a:t>
            </a:r>
            <a:endParaRPr lang="en-US" dirty="0"/>
          </a:p>
          <a:p>
            <a:r>
              <a:rPr lang="en-US" dirty="0">
                <a:hlinkClick r:id="rId4"/>
              </a:rPr>
              <a:t>https://www.youtube.com/watch?v=6WIBa32o63Q</a:t>
            </a:r>
            <a:r>
              <a:rPr lang="en-US" dirty="0"/>
              <a:t> periodic properties electronic affinity,</a:t>
            </a:r>
          </a:p>
          <a:p>
            <a:r>
              <a:rPr lang="en-US" dirty="0">
                <a:hlinkClick r:id="rId5"/>
              </a:rPr>
              <a:t>https://www.youtube.com/watch?v=hePb00CqvP0</a:t>
            </a:r>
            <a:r>
              <a:rPr lang="en-US" dirty="0"/>
              <a:t> periodic properties atomic radius</a:t>
            </a:r>
          </a:p>
          <a:p>
            <a:r>
              <a:rPr lang="en-US" dirty="0">
                <a:hlinkClick r:id="rId6"/>
              </a:rPr>
              <a:t>https://www.youtube.com/watch?v=hs5t-6iq6-c</a:t>
            </a:r>
            <a:r>
              <a:rPr lang="en-US" dirty="0"/>
              <a:t> </a:t>
            </a:r>
          </a:p>
          <a:p>
            <a:r>
              <a:rPr lang="en-IN" dirty="0">
                <a:hlinkClick r:id="rId7"/>
              </a:rPr>
              <a:t>https://www.youtube.com/watch?v=YGz4YgTTs8Q</a:t>
            </a:r>
            <a:endParaRPr lang="en-IN" dirty="0"/>
          </a:p>
          <a:p>
            <a:r>
              <a:rPr lang="en-US" dirty="0"/>
              <a:t>https://www.youtube.com/watch?v=hs5t-6iq6-c</a:t>
            </a:r>
          </a:p>
          <a:p>
            <a:endParaRPr lang="en-US" dirty="0"/>
          </a:p>
        </p:txBody>
      </p:sp>
      <p:sp>
        <p:nvSpPr>
          <p:cNvPr id="4" name="Footer Placeholder 3">
            <a:extLst>
              <a:ext uri="{FF2B5EF4-FFF2-40B4-BE49-F238E27FC236}">
                <a16:creationId xmlns:a16="http://schemas.microsoft.com/office/drawing/2014/main" id="{BC0DBBFB-9D9A-D564-B889-EA310F0D539B}"/>
              </a:ext>
            </a:extLst>
          </p:cNvPr>
          <p:cNvSpPr>
            <a:spLocks noGrp="1"/>
          </p:cNvSpPr>
          <p:nvPr>
            <p:ph type="ftr" sz="quarter" idx="11"/>
          </p:nvPr>
        </p:nvSpPr>
        <p:spPr/>
        <p:txBody>
          <a:bodyPr/>
          <a:lstStyle/>
          <a:p>
            <a:r>
              <a:rPr lang="en-US"/>
              <a:t>Periodic Properties of Elements</a:t>
            </a:r>
          </a:p>
        </p:txBody>
      </p:sp>
      <p:sp>
        <p:nvSpPr>
          <p:cNvPr id="5" name="Slide Number Placeholder 4">
            <a:extLst>
              <a:ext uri="{FF2B5EF4-FFF2-40B4-BE49-F238E27FC236}">
                <a16:creationId xmlns:a16="http://schemas.microsoft.com/office/drawing/2014/main" id="{01D7DF0A-335D-EF10-6F60-CF936E9B6BB6}"/>
              </a:ext>
            </a:extLst>
          </p:cNvPr>
          <p:cNvSpPr>
            <a:spLocks noGrp="1"/>
          </p:cNvSpPr>
          <p:nvPr>
            <p:ph type="sldNum" sz="quarter" idx="12"/>
          </p:nvPr>
        </p:nvSpPr>
        <p:spPr/>
        <p:txBody>
          <a:bodyPr/>
          <a:lstStyle/>
          <a:p>
            <a:fld id="{18FFC5A6-CECA-42F5-ACA8-5C3F58FF9B21}" type="slidenum">
              <a:rPr lang="en-US" smtClean="0"/>
              <a:t>48</a:t>
            </a:fld>
            <a:endParaRPr lang="en-US"/>
          </a:p>
        </p:txBody>
      </p:sp>
      <p:sp>
        <p:nvSpPr>
          <p:cNvPr id="6" name="Date Placeholder 5">
            <a:extLst>
              <a:ext uri="{FF2B5EF4-FFF2-40B4-BE49-F238E27FC236}">
                <a16:creationId xmlns:a16="http://schemas.microsoft.com/office/drawing/2014/main" id="{534B308C-CB30-E10C-C23E-5861D2E558C4}"/>
              </a:ext>
            </a:extLst>
          </p:cNvPr>
          <p:cNvSpPr>
            <a:spLocks noGrp="1"/>
          </p:cNvSpPr>
          <p:nvPr>
            <p:ph type="dt" sz="half" idx="10"/>
          </p:nvPr>
        </p:nvSpPr>
        <p:spPr/>
        <p:txBody>
          <a:bodyPr/>
          <a:lstStyle/>
          <a:p>
            <a:fld id="{4D526229-8464-4DFB-B0D4-AD1B94DA1227}" type="datetime1">
              <a:rPr lang="en-US" smtClean="0"/>
              <a:t>8/3/2023</a:t>
            </a:fld>
            <a:endParaRPr lang="en-US"/>
          </a:p>
        </p:txBody>
      </p:sp>
    </p:spTree>
    <p:extLst>
      <p:ext uri="{BB962C8B-B14F-4D97-AF65-F5344CB8AC3E}">
        <p14:creationId xmlns:p14="http://schemas.microsoft.com/office/powerpoint/2010/main" val="1442135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4563</TotalTime>
  <Words>3951</Words>
  <Application>Microsoft Office PowerPoint</Application>
  <PresentationFormat>Widescreen</PresentationFormat>
  <Paragraphs>1132</Paragraphs>
  <Slides>48</Slides>
  <Notes>4</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Aharoni</vt:lpstr>
      <vt:lpstr>Arial</vt:lpstr>
      <vt:lpstr>Calibri</vt:lpstr>
      <vt:lpstr>Calibri Light</vt:lpstr>
      <vt:lpstr>Mangal</vt:lpstr>
      <vt:lpstr>Times New Roman</vt:lpstr>
      <vt:lpstr>Office Theme</vt:lpstr>
      <vt:lpstr>Periodic properties of elements</vt:lpstr>
      <vt:lpstr>PowerPoint Presentation</vt:lpstr>
      <vt:lpstr>PowerPoint Presentation</vt:lpstr>
      <vt:lpstr>Till date we have 118 elements in periodic table</vt:lpstr>
      <vt:lpstr>Modern Periodic Table is also referred to as Bohr’s periodic table as  elements are arranged in terms of atomic number hence electronic configuration of elements to explain periodicity in their properties. </vt:lpstr>
      <vt:lpstr>PowerPoint Presentation</vt:lpstr>
      <vt:lpstr>PowerPoint Presentation</vt:lpstr>
      <vt:lpstr>PowerPoint Presentation</vt:lpstr>
      <vt:lpstr>PowerPoint Presentation</vt:lpstr>
      <vt:lpstr>PowerPoint Presentation</vt:lpstr>
      <vt:lpstr>Effective nuclear charge: </vt:lpstr>
      <vt:lpstr>Effective nuclear charge: </vt:lpstr>
      <vt:lpstr>Effective nuclear charge: </vt:lpstr>
      <vt:lpstr>Effective nuclear charge: </vt:lpstr>
      <vt:lpstr>Slater's Rules</vt:lpstr>
      <vt:lpstr>Explaining periodicity: Effective nuclear charge and shielding</vt:lpstr>
      <vt:lpstr>Effective nuclear charge: </vt:lpstr>
      <vt:lpstr>Effective nuclear charge (Example): </vt:lpstr>
      <vt:lpstr>Effective nuclear charge (Example): </vt:lpstr>
      <vt:lpstr>Effective nuclear charge (Example): </vt:lpstr>
      <vt:lpstr>Explaining periodicity: Effective nuclear charge and shielding</vt:lpstr>
      <vt:lpstr>Periodicity</vt:lpstr>
      <vt:lpstr>Atomic Radii - Concept and periodicity </vt:lpstr>
      <vt:lpstr>Atomic Radii - Concept and periodicity </vt:lpstr>
      <vt:lpstr>Atomic Radii - Concept and periodicity </vt:lpstr>
      <vt:lpstr>Atomic Radii - Concept and periodicity </vt:lpstr>
      <vt:lpstr>PowerPoint Presentation</vt:lpstr>
      <vt:lpstr>PowerPoint Presentation</vt:lpstr>
      <vt:lpstr>Correlating atomic radius and effective nuclear charge (Zeff) across a period</vt:lpstr>
      <vt:lpstr>PowerPoint Presentation</vt:lpstr>
      <vt:lpstr>PowerPoint Presentation</vt:lpstr>
      <vt:lpstr>Ionization energy</vt:lpstr>
      <vt:lpstr>Periodicity in ionization energy</vt:lpstr>
      <vt:lpstr>Periodicity in ionization energy (IE)</vt:lpstr>
      <vt:lpstr>Periodicity in ionization energy (IE)</vt:lpstr>
      <vt:lpstr>Electron Affinity (EA)</vt:lpstr>
      <vt:lpstr>Electron Affinity (EA)</vt:lpstr>
      <vt:lpstr>Electron Affinity (EA)</vt:lpstr>
      <vt:lpstr>Periodicity in Electron Affinity (EA)</vt:lpstr>
      <vt:lpstr>Electron Affinity (EA)</vt:lpstr>
      <vt:lpstr>Electronegativity  </vt:lpstr>
      <vt:lpstr>Electronegativity  </vt:lpstr>
      <vt:lpstr>Electronegativity  </vt:lpstr>
      <vt:lpstr>Periodicity in Electronegativity</vt:lpstr>
      <vt:lpstr>Periodicity in Electronegativity</vt:lpstr>
      <vt:lpstr>Periodicity in Electronegativity</vt:lpstr>
      <vt:lpstr>Summary of Periodic properties of elements:</vt:lpstr>
      <vt:lpstr>Video 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Periodicity of elements</dc:title>
  <dc:creator>Ketakee Durve</dc:creator>
  <cp:lastModifiedBy>Ketakee Durve (Dr.)</cp:lastModifiedBy>
  <cp:revision>170</cp:revision>
  <cp:lastPrinted>2021-02-17T07:52:38Z</cp:lastPrinted>
  <dcterms:created xsi:type="dcterms:W3CDTF">2018-07-23T03:12:17Z</dcterms:created>
  <dcterms:modified xsi:type="dcterms:W3CDTF">2023-08-03T04:23:43Z</dcterms:modified>
</cp:coreProperties>
</file>