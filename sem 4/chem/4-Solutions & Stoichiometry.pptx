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257" r:id="rId3"/>
    <p:sldId id="274" r:id="rId4"/>
    <p:sldId id="279" r:id="rId5"/>
    <p:sldId id="280" r:id="rId6"/>
    <p:sldId id="258" r:id="rId7"/>
    <p:sldId id="277" r:id="rId8"/>
    <p:sldId id="278" r:id="rId9"/>
    <p:sldId id="275" r:id="rId10"/>
    <p:sldId id="289" r:id="rId11"/>
    <p:sldId id="287" r:id="rId12"/>
    <p:sldId id="290" r:id="rId13"/>
    <p:sldId id="293" r:id="rId14"/>
    <p:sldId id="288" r:id="rId15"/>
    <p:sldId id="292" r:id="rId16"/>
    <p:sldId id="294" r:id="rId17"/>
    <p:sldId id="295" r:id="rId18"/>
    <p:sldId id="296" r:id="rId19"/>
    <p:sldId id="297" r:id="rId20"/>
    <p:sldId id="298" r:id="rId21"/>
    <p:sldId id="299" r:id="rId22"/>
    <p:sldId id="302" r:id="rId23"/>
    <p:sldId id="303" r:id="rId24"/>
    <p:sldId id="264" r:id="rId25"/>
    <p:sldId id="352" r:id="rId26"/>
    <p:sldId id="354" r:id="rId27"/>
    <p:sldId id="326" r:id="rId28"/>
    <p:sldId id="327" r:id="rId29"/>
    <p:sldId id="328" r:id="rId30"/>
    <p:sldId id="304" r:id="rId31"/>
    <p:sldId id="305" r:id="rId32"/>
    <p:sldId id="351" r:id="rId33"/>
    <p:sldId id="353" r:id="rId34"/>
    <p:sldId id="306" r:id="rId35"/>
    <p:sldId id="307" r:id="rId36"/>
    <p:sldId id="355" r:id="rId37"/>
    <p:sldId id="357" r:id="rId38"/>
    <p:sldId id="358" r:id="rId39"/>
    <p:sldId id="308" r:id="rId40"/>
    <p:sldId id="329" r:id="rId41"/>
    <p:sldId id="309" r:id="rId42"/>
    <p:sldId id="330" r:id="rId43"/>
    <p:sldId id="331" r:id="rId44"/>
    <p:sldId id="332" r:id="rId45"/>
  </p:sldIdLst>
  <p:sldSz cx="12192000" cy="6858000"/>
  <p:notesSz cx="10234613" cy="71040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3887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6437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7246" y="0"/>
            <a:ext cx="4434999" cy="356437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7B3C9E1-E839-4D7E-86FA-E4FEC0C0545C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47628"/>
            <a:ext cx="4434999" cy="356436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7246" y="6747628"/>
            <a:ext cx="4434999" cy="356436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647BC7F-E717-49EB-9E7C-17DAA79C0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722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6437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6" y="0"/>
            <a:ext cx="4434999" cy="356437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A88EA86-177A-49B3-9855-B911FCF05545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6088" y="887413"/>
            <a:ext cx="4264025" cy="2398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418830"/>
            <a:ext cx="8187690" cy="2797225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7628"/>
            <a:ext cx="4434999" cy="356436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6" y="6747628"/>
            <a:ext cx="4434999" cy="356436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11D6C76E-5A42-4BD3-87FE-0516123E0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258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4980B-6049-43B8-94B1-CB44CBB4BA18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61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4980B-6049-43B8-94B1-CB44CBB4BA1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42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4980B-6049-43B8-94B1-CB44CBB4BA18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34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A5D6-9822-486D-A24C-6F88746DB796}" type="datetime1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8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D6BF-FDDF-4928-B499-C799BFE3F3B0}" type="datetime1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0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C2E98-1214-4312-9759-A4640A293DB4}" type="datetime1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6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B42A-B276-4672-AEF9-CEAD949F8526}" type="datetime1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4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F3B3-359F-4704-B409-F57331235D01}" type="datetime1">
              <a:rPr lang="en-US" smtClean="0"/>
              <a:t>12/5/2022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9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4349-9F82-450A-9CC1-3F1BD7864AF5}" type="datetime1">
              <a:rPr lang="en-US" smtClean="0"/>
              <a:t>12/5/2022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8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5D96-6D5B-4EDA-913B-9D7E40FE6303}" type="datetime1">
              <a:rPr lang="en-US" smtClean="0"/>
              <a:t>12/5/2022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05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263D-2A33-4D84-B19E-16736FFCDD7C}" type="datetime1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78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997A7-63F6-4F7C-A4DF-800CB3CB16DF}" type="datetime1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62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0AAD4-2C94-4A96-938A-D7BF2DA028CF}" type="datetime1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1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C8FF4-019B-4454-B786-88B671A76A2F}" type="datetime1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4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01D6A-FF2D-4F9D-BE17-F844C7C1B6D7}" type="datetime1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F30A1-9A02-46E4-BD0E-4B7A607F1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582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Solutions &amp; Stoichiometry</a:t>
            </a:r>
            <a:br>
              <a:rPr lang="en-US" b="1" dirty="0" smtClean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n-US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1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289538"/>
            <a:ext cx="11758246" cy="507609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/>
              <a:t>In chemistry, a solution is a special type of homogeneous mixture composed of two or more substances.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In all solutions, whether gaseous, liquid, or solid, the substance present in the greatest amount is the solvent, and the substance or substances present in lesser amounts are the solute(s). 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The solute does not have to be in the same physical state as the solvent, but the physical state of the solvent usually determines the state of the solution. 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As long as the solute and solvent combine to give a homogeneous solution, the solute is said to be soluble in the solvent.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6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Types of 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 smtClean="0"/>
              <a:t>Solutions can be classified based either on: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 smtClean="0"/>
              <a:t>Single or biphasic solution, OR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 smtClean="0"/>
              <a:t>The solvent used for making the solution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5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Types of 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200000"/>
              </a:lnSpc>
            </a:pPr>
            <a:r>
              <a:rPr lang="en-US" dirty="0" smtClean="0"/>
              <a:t>Solutions can be classified based on: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 smtClean="0"/>
              <a:t>Single or biphasic solution: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lphaLcPeriod"/>
            </a:pPr>
            <a:r>
              <a:rPr lang="en-US" dirty="0" smtClean="0"/>
              <a:t>Homogeneous solution- solute is completely miscible with solvent to give a single phase solution.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lphaLcPeriod"/>
            </a:pPr>
            <a:r>
              <a:rPr lang="en-US" dirty="0" smtClean="0"/>
              <a:t>Heterogeneous solution- solute is immiscible with solvent to give a biphasic solution.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1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Types of 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200000"/>
              </a:lnSpc>
            </a:pPr>
            <a:r>
              <a:rPr lang="en-US" dirty="0" smtClean="0"/>
              <a:t>Solutions can be classified based on: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 startAt="2"/>
            </a:pPr>
            <a:r>
              <a:rPr lang="en-US" dirty="0" smtClean="0"/>
              <a:t>The solvent used for making the solution: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dirty="0" smtClean="0"/>
              <a:t>Solvent used could be: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lphaLcPeriod"/>
            </a:pPr>
            <a:r>
              <a:rPr lang="en-US" dirty="0" smtClean="0"/>
              <a:t>Gas, OR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lphaLcPeriod"/>
            </a:pPr>
            <a:r>
              <a:rPr lang="en-US" dirty="0" smtClean="0"/>
              <a:t>Liquid, OR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lphaLcPeriod"/>
            </a:pPr>
            <a:r>
              <a:rPr lang="en-US" dirty="0" smtClean="0"/>
              <a:t>Solid 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 startAt="2"/>
            </a:pP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5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Types of 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b="1" dirty="0" smtClean="0"/>
              <a:t>Gaseous solutions</a:t>
            </a:r>
            <a:r>
              <a:rPr lang="en-US" dirty="0" smtClean="0"/>
              <a:t>: In this case the solvent is gas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852983"/>
              </p:ext>
            </p:extLst>
          </p:nvPr>
        </p:nvGraphicFramePr>
        <p:xfrm>
          <a:off x="1000370" y="2759481"/>
          <a:ext cx="10652368" cy="376093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72492">
                  <a:extLst>
                    <a:ext uri="{9D8B030D-6E8A-4147-A177-3AD203B41FA5}">
                      <a16:colId xmlns:a16="http://schemas.microsoft.com/office/drawing/2014/main" val="590670662"/>
                    </a:ext>
                  </a:extLst>
                </a:gridCol>
                <a:gridCol w="1770184">
                  <a:extLst>
                    <a:ext uri="{9D8B030D-6E8A-4147-A177-3AD203B41FA5}">
                      <a16:colId xmlns:a16="http://schemas.microsoft.com/office/drawing/2014/main" val="920716509"/>
                    </a:ext>
                  </a:extLst>
                </a:gridCol>
                <a:gridCol w="7209692">
                  <a:extLst>
                    <a:ext uri="{9D8B030D-6E8A-4147-A177-3AD203B41FA5}">
                      <a16:colId xmlns:a16="http://schemas.microsoft.com/office/drawing/2014/main" val="1845071608"/>
                    </a:ext>
                  </a:extLst>
                </a:gridCol>
              </a:tblGrid>
              <a:tr h="9402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Solute 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Solvent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400" dirty="0" smtClean="0"/>
                        <a:t>Example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635321"/>
                  </a:ext>
                </a:extLst>
              </a:tr>
              <a:tr h="9402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Gas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Gas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Air (oxygen and other gases dissolved in nitrogen)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790130"/>
                  </a:ext>
                </a:extLst>
              </a:tr>
              <a:tr h="9402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Liquid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Gas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Fog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090637"/>
                  </a:ext>
                </a:extLst>
              </a:tr>
              <a:tr h="9402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Solid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Gas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Smoke 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962252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9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Types of 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b="1" dirty="0" smtClean="0"/>
              <a:t>Liquid solutions</a:t>
            </a:r>
            <a:r>
              <a:rPr lang="en-US" dirty="0" smtClean="0"/>
              <a:t>: In this case the solvent is liquid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755438"/>
              </p:ext>
            </p:extLst>
          </p:nvPr>
        </p:nvGraphicFramePr>
        <p:xfrm>
          <a:off x="1000370" y="2759481"/>
          <a:ext cx="10652368" cy="400942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72492">
                  <a:extLst>
                    <a:ext uri="{9D8B030D-6E8A-4147-A177-3AD203B41FA5}">
                      <a16:colId xmlns:a16="http://schemas.microsoft.com/office/drawing/2014/main" val="590670662"/>
                    </a:ext>
                  </a:extLst>
                </a:gridCol>
                <a:gridCol w="1770184">
                  <a:extLst>
                    <a:ext uri="{9D8B030D-6E8A-4147-A177-3AD203B41FA5}">
                      <a16:colId xmlns:a16="http://schemas.microsoft.com/office/drawing/2014/main" val="920716509"/>
                    </a:ext>
                  </a:extLst>
                </a:gridCol>
                <a:gridCol w="7209692">
                  <a:extLst>
                    <a:ext uri="{9D8B030D-6E8A-4147-A177-3AD203B41FA5}">
                      <a16:colId xmlns:a16="http://schemas.microsoft.com/office/drawing/2014/main" val="1845071608"/>
                    </a:ext>
                  </a:extLst>
                </a:gridCol>
              </a:tblGrid>
              <a:tr h="9402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Solute 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Solvent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400" dirty="0" smtClean="0"/>
                        <a:t>Example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635321"/>
                  </a:ext>
                </a:extLst>
              </a:tr>
              <a:tr h="9402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Gas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Liquid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Carbonate beverages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Dissolved oxygen in water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790130"/>
                  </a:ext>
                </a:extLst>
              </a:tr>
              <a:tr h="9402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Liquid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Liquid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Alcoholic beverages (ethanol in water)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090637"/>
                  </a:ext>
                </a:extLst>
              </a:tr>
              <a:tr h="9402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Solid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Liquid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Sucrose (table sugar) in water,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Sodium chloride (</a:t>
                      </a:r>
                      <a:r>
                        <a:rPr lang="en-US" sz="2400" dirty="0" err="1" smtClean="0"/>
                        <a:t>NaCl</a:t>
                      </a:r>
                      <a:r>
                        <a:rPr lang="en-US" sz="2400" dirty="0" smtClean="0"/>
                        <a:t>) (table salt) or any other salt in water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962252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59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Types of 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b="1" dirty="0" smtClean="0"/>
              <a:t>Solid solutions</a:t>
            </a:r>
            <a:r>
              <a:rPr lang="en-US" dirty="0" smtClean="0"/>
              <a:t>: In this case the solvent is solid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897453"/>
              </p:ext>
            </p:extLst>
          </p:nvPr>
        </p:nvGraphicFramePr>
        <p:xfrm>
          <a:off x="787401" y="2661009"/>
          <a:ext cx="10652368" cy="400942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72492">
                  <a:extLst>
                    <a:ext uri="{9D8B030D-6E8A-4147-A177-3AD203B41FA5}">
                      <a16:colId xmlns:a16="http://schemas.microsoft.com/office/drawing/2014/main" val="590670662"/>
                    </a:ext>
                  </a:extLst>
                </a:gridCol>
                <a:gridCol w="1770184">
                  <a:extLst>
                    <a:ext uri="{9D8B030D-6E8A-4147-A177-3AD203B41FA5}">
                      <a16:colId xmlns:a16="http://schemas.microsoft.com/office/drawing/2014/main" val="920716509"/>
                    </a:ext>
                  </a:extLst>
                </a:gridCol>
                <a:gridCol w="7209692">
                  <a:extLst>
                    <a:ext uri="{9D8B030D-6E8A-4147-A177-3AD203B41FA5}">
                      <a16:colId xmlns:a16="http://schemas.microsoft.com/office/drawing/2014/main" val="1845071608"/>
                    </a:ext>
                  </a:extLst>
                </a:gridCol>
              </a:tblGrid>
              <a:tr h="9402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Solute 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Solvent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Example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635321"/>
                  </a:ext>
                </a:extLst>
              </a:tr>
              <a:tr h="9402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Gas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Solid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Hydrogen dissolves rather well in metals, especially in palladium, </a:t>
                      </a:r>
                      <a:r>
                        <a:rPr lang="en-US" sz="2400" b="1" dirty="0" smtClean="0"/>
                        <a:t>H</a:t>
                      </a:r>
                      <a:r>
                        <a:rPr lang="en-US" sz="2400" b="1" baseline="-25000" dirty="0" smtClean="0"/>
                        <a:t>2</a:t>
                      </a:r>
                      <a:r>
                        <a:rPr lang="en-US" sz="2400" b="1" dirty="0" smtClean="0"/>
                        <a:t>/</a:t>
                      </a:r>
                      <a:r>
                        <a:rPr lang="en-US" sz="2400" b="1" dirty="0" err="1" smtClean="0"/>
                        <a:t>Pd</a:t>
                      </a:r>
                      <a:endParaRPr 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790130"/>
                  </a:ext>
                </a:extLst>
              </a:tr>
              <a:tr h="9402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Liquid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Solid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Mercury in gold, forming an amalgam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Water in solid salt or sugar, forming moist solids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Hexane in paraffin wax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090637"/>
                  </a:ext>
                </a:extLst>
              </a:tr>
              <a:tr h="9402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Solid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Solid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Alloys: brass, bronze, steels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962252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42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Properties of 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944" y="922989"/>
            <a:ext cx="11758246" cy="5076093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1" dirty="0" smtClean="0"/>
              <a:t>Colligative  properties of solution</a:t>
            </a:r>
            <a:r>
              <a:rPr lang="en-US" sz="2400" dirty="0" smtClean="0"/>
              <a:t>: Properties of solution that depends on the number of dissolved particles or solute and not the type of solute are colligative  properties of solution. Major colligative properties are: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lphaLcPeriod"/>
            </a:pPr>
            <a:r>
              <a:rPr lang="en-US" sz="2400" dirty="0" smtClean="0"/>
              <a:t>Lowering of Vapor Pressure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lphaLcPeriod"/>
            </a:pPr>
            <a:r>
              <a:rPr lang="en-US" sz="2400" dirty="0" smtClean="0"/>
              <a:t>Boiling point elevation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lphaLcPeriod"/>
            </a:pPr>
            <a:r>
              <a:rPr lang="en-US" sz="2400" dirty="0" smtClean="0"/>
              <a:t>Freezing point depression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lphaLcPeriod"/>
            </a:pPr>
            <a:r>
              <a:rPr lang="en-US" sz="2400" dirty="0" smtClean="0"/>
              <a:t>Osmotic pressure</a:t>
            </a:r>
          </a:p>
          <a:p>
            <a:pPr algn="just">
              <a:lnSpc>
                <a:spcPct val="200000"/>
              </a:lnSpc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71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Properties of 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031630"/>
            <a:ext cx="11758246" cy="5076093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1" dirty="0" smtClean="0"/>
              <a:t>Colligative  properties of solution</a:t>
            </a:r>
            <a:r>
              <a:rPr lang="en-US" sz="2400" dirty="0" smtClean="0"/>
              <a:t>: </a:t>
            </a:r>
            <a:r>
              <a:rPr lang="en-US" sz="2400" b="1" dirty="0" smtClean="0"/>
              <a:t>a. Lowering of Vapor Pressure:</a:t>
            </a:r>
          </a:p>
          <a:p>
            <a:pPr algn="just">
              <a:lnSpc>
                <a:spcPct val="200000"/>
              </a:lnSpc>
            </a:pPr>
            <a:r>
              <a:rPr lang="en-US" sz="2400" dirty="0" smtClean="0"/>
              <a:t>The vapor pressure of a solution will always be lower than that the vapor pressure of a  pure solvent. </a:t>
            </a:r>
          </a:p>
          <a:p>
            <a:pPr algn="just">
              <a:lnSpc>
                <a:spcPct val="200000"/>
              </a:lnSpc>
            </a:pP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424" y="2753390"/>
            <a:ext cx="7276176" cy="410461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9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Properties of 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031630"/>
            <a:ext cx="11758246" cy="5076093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1" dirty="0" smtClean="0"/>
              <a:t>Colligative  properties of solution</a:t>
            </a:r>
            <a:r>
              <a:rPr lang="en-US" sz="2400" dirty="0" smtClean="0"/>
              <a:t>: </a:t>
            </a:r>
            <a:r>
              <a:rPr lang="en-US" sz="2400" b="1" dirty="0" smtClean="0"/>
              <a:t>a. Lowering of Vapor Pressure:</a:t>
            </a:r>
          </a:p>
          <a:p>
            <a:pPr algn="just">
              <a:lnSpc>
                <a:spcPct val="200000"/>
              </a:lnSpc>
            </a:pPr>
            <a:r>
              <a:rPr lang="en-US" sz="2400" dirty="0" smtClean="0"/>
              <a:t>The pressure exerted by the vapors of a liquid is known as vapor pressure.</a:t>
            </a:r>
          </a:p>
          <a:p>
            <a:pPr algn="just">
              <a:lnSpc>
                <a:spcPct val="200000"/>
              </a:lnSpc>
            </a:pPr>
            <a:r>
              <a:rPr lang="en-US" sz="2400" dirty="0" smtClean="0"/>
              <a:t>Vapor pressure is a surface phenomenon and it depends on the surface area of the liquid.</a:t>
            </a:r>
          </a:p>
          <a:p>
            <a:pPr algn="just">
              <a:lnSpc>
                <a:spcPct val="200000"/>
              </a:lnSpc>
            </a:pPr>
            <a:r>
              <a:rPr lang="en-US" sz="2400" dirty="0" smtClean="0"/>
              <a:t>The vapor pressure of a solution will always be lower than that the vapor pressure of a  pure solvent. </a:t>
            </a:r>
          </a:p>
          <a:p>
            <a:pPr algn="just">
              <a:lnSpc>
                <a:spcPct val="200000"/>
              </a:lnSpc>
            </a:pPr>
            <a:r>
              <a:rPr lang="en-US" sz="2400" dirty="0" smtClean="0"/>
              <a:t>The extent to which the vapor pressure is lowered depends on the amount of  solute present in the solution.</a:t>
            </a:r>
          </a:p>
          <a:p>
            <a:pPr algn="just">
              <a:lnSpc>
                <a:spcPct val="200000"/>
              </a:lnSpc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7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/>
          <p:cNvSpPr/>
          <p:nvPr/>
        </p:nvSpPr>
        <p:spPr>
          <a:xfrm>
            <a:off x="2648477" y="2680677"/>
            <a:ext cx="5897646" cy="42789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Properties of 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031630"/>
            <a:ext cx="11758246" cy="5076093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en-US" b="1" dirty="0" smtClean="0"/>
              <a:t>Colligative  properties of solution</a:t>
            </a:r>
            <a:r>
              <a:rPr lang="en-US" dirty="0" smtClean="0"/>
              <a:t>: </a:t>
            </a:r>
            <a:r>
              <a:rPr lang="en-US" b="1" dirty="0" smtClean="0"/>
              <a:t>b. Boiling point elevation:</a:t>
            </a:r>
          </a:p>
          <a:p>
            <a:pPr algn="just">
              <a:lnSpc>
                <a:spcPct val="200000"/>
              </a:lnSpc>
            </a:pPr>
            <a:r>
              <a:rPr lang="en-US" dirty="0" smtClean="0"/>
              <a:t>Boiling point of solution is always higher than the boiling point of pure solvent.</a:t>
            </a: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algn="just">
              <a:lnSpc>
                <a:spcPct val="200000"/>
              </a:lnSpc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8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Properties of 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031630"/>
            <a:ext cx="11758246" cy="5076093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en-US" b="1" dirty="0" smtClean="0"/>
              <a:t>Colligative  properties of solution</a:t>
            </a:r>
            <a:r>
              <a:rPr lang="en-US" dirty="0" smtClean="0"/>
              <a:t>: </a:t>
            </a:r>
            <a:r>
              <a:rPr lang="en-US" b="1" dirty="0" smtClean="0"/>
              <a:t>b. Boiling point elevation:</a:t>
            </a:r>
          </a:p>
          <a:p>
            <a:pPr algn="just">
              <a:lnSpc>
                <a:spcPct val="200000"/>
              </a:lnSpc>
            </a:pPr>
            <a:r>
              <a:rPr lang="en-US" dirty="0" smtClean="0"/>
              <a:t>Boiling point is the temperature at which vapor pressure is equal to atmospheric pressure.</a:t>
            </a:r>
          </a:p>
          <a:p>
            <a:pPr algn="just">
              <a:lnSpc>
                <a:spcPct val="200000"/>
              </a:lnSpc>
            </a:pPr>
            <a:r>
              <a:rPr lang="en-US" dirty="0" smtClean="0"/>
              <a:t>Since, vapor pressure of solution is always lower than the vapor pressure  of pure solvent, boiling point of solution is always higher than the boiling point of pure solvent.</a:t>
            </a: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algn="just">
              <a:lnSpc>
                <a:spcPct val="200000"/>
              </a:lnSpc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7813" t="22778" r="6458" b="20741"/>
          <a:stretch/>
        </p:blipFill>
        <p:spPr>
          <a:xfrm>
            <a:off x="3086100" y="2527811"/>
            <a:ext cx="6388100" cy="43174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Properties of 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031630"/>
            <a:ext cx="11758246" cy="5076093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1" dirty="0" smtClean="0"/>
              <a:t>Colligative  properties of solution</a:t>
            </a:r>
            <a:r>
              <a:rPr lang="en-US" sz="2400" dirty="0" smtClean="0"/>
              <a:t>:</a:t>
            </a:r>
            <a:r>
              <a:rPr lang="en-US" sz="2400" b="1" dirty="0" smtClean="0"/>
              <a:t> c. Freezing point depression:</a:t>
            </a:r>
          </a:p>
          <a:p>
            <a:pPr algn="just">
              <a:lnSpc>
                <a:spcPct val="200000"/>
              </a:lnSpc>
            </a:pPr>
            <a:r>
              <a:rPr lang="en-US" sz="2400" dirty="0" smtClean="0"/>
              <a:t>The freezing point of solution is always lower than the freezing point of pure solvent.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7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Properties of 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031630"/>
            <a:ext cx="11758246" cy="5076093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1" dirty="0" smtClean="0"/>
              <a:t>Colligative  properties of solution</a:t>
            </a:r>
            <a:r>
              <a:rPr lang="en-US" sz="2400" dirty="0" smtClean="0"/>
              <a:t>: </a:t>
            </a:r>
            <a:r>
              <a:rPr lang="en-US" sz="2400" b="1" dirty="0" smtClean="0"/>
              <a:t>d. Osmotic pressure:</a:t>
            </a:r>
          </a:p>
          <a:p>
            <a:pPr algn="just">
              <a:lnSpc>
                <a:spcPct val="200000"/>
              </a:lnSpc>
            </a:pPr>
            <a:endParaRPr lang="en-US" sz="2400" dirty="0" smtClean="0"/>
          </a:p>
          <a:p>
            <a:pPr algn="just">
              <a:lnSpc>
                <a:spcPct val="200000"/>
              </a:lnSpc>
            </a:pP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898" y="2357193"/>
            <a:ext cx="8071804" cy="4078577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1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Properties of 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031630"/>
            <a:ext cx="11758246" cy="5076093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1" dirty="0" smtClean="0"/>
              <a:t>Colligative  properties of solution</a:t>
            </a:r>
            <a:r>
              <a:rPr lang="en-US" sz="2400" dirty="0" smtClean="0"/>
              <a:t>: </a:t>
            </a:r>
            <a:r>
              <a:rPr lang="en-US" sz="2400" b="1" dirty="0" smtClean="0"/>
              <a:t>d. Osmotic pressure:</a:t>
            </a:r>
          </a:p>
          <a:p>
            <a:pPr algn="just">
              <a:lnSpc>
                <a:spcPct val="200000"/>
              </a:lnSpc>
            </a:pPr>
            <a:r>
              <a:rPr lang="en-US" sz="2400" b="1" dirty="0" smtClean="0"/>
              <a:t>Osmosis</a:t>
            </a:r>
            <a:r>
              <a:rPr lang="en-US" sz="2400" dirty="0" smtClean="0"/>
              <a:t>: When two solutions of unequal concentration are separated by a semi-permeable membrane, the flow of solvent occurs from dilute solution to concentrated solution.</a:t>
            </a:r>
          </a:p>
          <a:p>
            <a:pPr algn="just">
              <a:lnSpc>
                <a:spcPct val="200000"/>
              </a:lnSpc>
            </a:pPr>
            <a:r>
              <a:rPr lang="en-US" sz="2400" b="1" dirty="0" smtClean="0"/>
              <a:t>Reverse Osmosis</a:t>
            </a:r>
            <a:r>
              <a:rPr lang="en-US" sz="2400" dirty="0" smtClean="0"/>
              <a:t>: If external pressure is applied on the concentrated solution side, the solvent flow reverses, i.e. solvent is  forced to flow from concentrated to dilute side.</a:t>
            </a:r>
          </a:p>
          <a:p>
            <a:pPr algn="just">
              <a:lnSpc>
                <a:spcPct val="200000"/>
              </a:lnSpc>
            </a:pPr>
            <a:endParaRPr lang="en-US" sz="2400" dirty="0" smtClean="0"/>
          </a:p>
          <a:p>
            <a:pPr algn="just">
              <a:lnSpc>
                <a:spcPct val="200000"/>
              </a:lnSpc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05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785" y="82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Properties of solutions</a:t>
            </a:r>
            <a:endParaRPr lang="en-U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031630"/>
            <a:ext cx="11758246" cy="5076093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1" dirty="0" smtClean="0"/>
              <a:t>Colligative  properties of solution</a:t>
            </a:r>
            <a:r>
              <a:rPr lang="en-US" sz="2400" dirty="0" smtClean="0"/>
              <a:t>: </a:t>
            </a:r>
            <a:r>
              <a:rPr lang="en-US" sz="2400" b="1" dirty="0" smtClean="0"/>
              <a:t>d. Osmotic pressure:</a:t>
            </a:r>
          </a:p>
          <a:p>
            <a:pPr algn="just">
              <a:lnSpc>
                <a:spcPct val="200000"/>
              </a:lnSpc>
            </a:pPr>
            <a:r>
              <a:rPr lang="en-US" sz="2400" dirty="0" smtClean="0"/>
              <a:t>Osmotic pressure is the minimum pressure which needs to be applied to a solution to prevent the inward flow of water  across a semipermeable membrane. </a:t>
            </a:r>
          </a:p>
          <a:p>
            <a:pPr algn="just">
              <a:lnSpc>
                <a:spcPct val="200000"/>
              </a:lnSpc>
            </a:pPr>
            <a:r>
              <a:rPr lang="en-US" sz="2400" dirty="0" smtClean="0"/>
              <a:t>It is also defined as the measure of the tendency of a solution to take in water by osmosis.</a:t>
            </a:r>
          </a:p>
          <a:p>
            <a:pPr algn="just">
              <a:lnSpc>
                <a:spcPct val="200000"/>
              </a:lnSpc>
            </a:pPr>
            <a:r>
              <a:rPr lang="en-US" sz="2400" dirty="0" smtClean="0"/>
              <a:t>The more the amount of solute in the solution, the greater will be the osmotic pressure required to prevent the inward flow of water  across the semipermeable membrane</a:t>
            </a:r>
          </a:p>
          <a:p>
            <a:pPr algn="just">
              <a:lnSpc>
                <a:spcPct val="200000"/>
              </a:lnSpc>
            </a:pPr>
            <a:endParaRPr lang="en-US" sz="2400" dirty="0" smtClean="0"/>
          </a:p>
          <a:p>
            <a:pPr algn="just">
              <a:lnSpc>
                <a:spcPct val="200000"/>
              </a:lnSpc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93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Concentration - the amount of substance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just" eaLnBrk="1" hangingPunct="1">
              <a:lnSpc>
                <a:spcPct val="126000"/>
              </a:lnSpc>
            </a:pPr>
            <a:endParaRPr lang="en-US" sz="2200">
              <a:latin typeface="Times New Roman" pitchFamily="-80" charset="0"/>
              <a:cs typeface="Times New Roman" pitchFamily="-80" charset="0"/>
            </a:endParaRPr>
          </a:p>
          <a:p>
            <a:pPr algn="ctr" eaLnBrk="1" hangingPunct="1">
              <a:lnSpc>
                <a:spcPct val="126000"/>
              </a:lnSpc>
              <a:buFont typeface="Arial" charset="0"/>
              <a:buNone/>
            </a:pPr>
            <a:r>
              <a:rPr lang="en-US" sz="2400" b="1">
                <a:latin typeface="Times New Roman" pitchFamily="-80" charset="0"/>
                <a:cs typeface="Times New Roman" pitchFamily="-80" charset="0"/>
              </a:rPr>
              <a:t>The concentration above decreases as A &gt; B &gt; C</a:t>
            </a:r>
          </a:p>
        </p:txBody>
      </p:sp>
      <p:pic>
        <p:nvPicPr>
          <p:cNvPr id="16388" name="Picture 2" descr="figure 7-02"/>
          <p:cNvPicPr>
            <a:picLocks noChangeAspect="1" noChangeArrowheads="1"/>
          </p:cNvPicPr>
          <p:nvPr/>
        </p:nvPicPr>
        <p:blipFill>
          <a:blip r:embed="rId2" cstate="print"/>
          <a:srcRect b="10268"/>
          <a:stretch>
            <a:fillRect/>
          </a:stretch>
        </p:blipFill>
        <p:spPr bwMode="auto">
          <a:xfrm>
            <a:off x="2514600" y="1524000"/>
            <a:ext cx="7132638" cy="3886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0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Concentration of homogenous solutions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838200" y="1399531"/>
            <a:ext cx="10210800" cy="4525963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200000"/>
              </a:lnSpc>
              <a:buFont typeface="Arial" charset="0"/>
              <a:buNone/>
            </a:pPr>
            <a:r>
              <a:rPr lang="en-US" sz="2000" dirty="0">
                <a:latin typeface="Times New Roman" pitchFamily="-80" charset="0"/>
                <a:cs typeface="Times New Roman" pitchFamily="-80" charset="0"/>
              </a:rPr>
              <a:t>     In homogenous solutions the concentration of the solution is </a:t>
            </a:r>
            <a:r>
              <a:rPr lang="en-US" sz="2000" u="sng" dirty="0">
                <a:latin typeface="Times New Roman" pitchFamily="-80" charset="0"/>
                <a:cs typeface="Times New Roman" pitchFamily="-80" charset="0"/>
              </a:rPr>
              <a:t>independent of its volume</a:t>
            </a:r>
            <a:r>
              <a:rPr lang="en-US" sz="2000" dirty="0">
                <a:latin typeface="Times New Roman" pitchFamily="-80" charset="0"/>
                <a:cs typeface="Times New Roman" pitchFamily="-80" charset="0"/>
              </a:rPr>
              <a:t>, </a:t>
            </a:r>
            <a:r>
              <a:rPr lang="en-US" sz="2000" b="1" dirty="0">
                <a:latin typeface="Times New Roman" pitchFamily="-80" charset="0"/>
                <a:cs typeface="Times New Roman" pitchFamily="-80" charset="0"/>
              </a:rPr>
              <a:t>concentration is uniform throughout the solution </a:t>
            </a:r>
          </a:p>
        </p:txBody>
      </p:sp>
      <p:pic>
        <p:nvPicPr>
          <p:cNvPr id="18436" name="Picture 2" descr="figure 7-03"/>
          <p:cNvPicPr>
            <a:picLocks noChangeAspect="1" noChangeArrowheads="1"/>
          </p:cNvPicPr>
          <p:nvPr/>
        </p:nvPicPr>
        <p:blipFill>
          <a:blip r:embed="rId2" cstate="print"/>
          <a:srcRect b="10283"/>
          <a:stretch>
            <a:fillRect/>
          </a:stretch>
        </p:blipFill>
        <p:spPr bwMode="auto">
          <a:xfrm>
            <a:off x="2743201" y="2895600"/>
            <a:ext cx="6640513" cy="3213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0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Biological importance of concentration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541699" y="1607760"/>
            <a:ext cx="11300234" cy="4525962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80000"/>
              </a:lnSpc>
              <a:defRPr/>
            </a:pP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The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fluid balance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 of the body depends on the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concentration of the blood components</a:t>
            </a:r>
          </a:p>
          <a:p>
            <a:pPr algn="just" eaLnBrk="1" hangingPunct="1">
              <a:lnSpc>
                <a:spcPct val="180000"/>
              </a:lnSpc>
              <a:defRPr/>
            </a:pP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Many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enzymes depend on certain metal ions 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for their proper functioning. If the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concentration of these metal ions 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is low the enzyme functioning is impaired</a:t>
            </a:r>
          </a:p>
          <a:p>
            <a:pPr algn="just" eaLnBrk="1" hangingPunct="1">
              <a:lnSpc>
                <a:spcPct val="180000"/>
              </a:lnSpc>
              <a:defRPr/>
            </a:pP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Effectiveness of drugs 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depends on their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concentration in the blood</a:t>
            </a:r>
          </a:p>
          <a:p>
            <a:pPr algn="just" eaLnBrk="1" hangingPunct="1">
              <a:lnSpc>
                <a:spcPct val="180000"/>
              </a:lnSpc>
              <a:defRPr/>
            </a:pP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If the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concentration of the drug is too high 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there will be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toxic side effects</a:t>
            </a:r>
          </a:p>
          <a:p>
            <a:pPr algn="just" eaLnBrk="1" hangingPunct="1">
              <a:lnSpc>
                <a:spcPct val="180000"/>
              </a:lnSpc>
              <a:defRPr/>
            </a:pP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If the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concentration of the drug is too low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, it will be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ineffective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89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Preparing a solution of known concentration</a:t>
            </a:r>
          </a:p>
        </p:txBody>
      </p:sp>
      <p:pic>
        <p:nvPicPr>
          <p:cNvPr id="5" name="Picture 3" descr="04_16"/>
          <p:cNvPicPr>
            <a:picLocks noChangeAspect="1" noChangeArrowheads="1"/>
          </p:cNvPicPr>
          <p:nvPr/>
        </p:nvPicPr>
        <p:blipFill>
          <a:blip r:embed="rId2" cstate="print"/>
          <a:srcRect b="14179"/>
          <a:stretch>
            <a:fillRect/>
          </a:stretch>
        </p:blipFill>
        <p:spPr bwMode="auto">
          <a:xfrm>
            <a:off x="1676401" y="1600201"/>
            <a:ext cx="8786813" cy="45863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2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2768" y="347627"/>
            <a:ext cx="680646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sz="4400" b="1" spc="-240" dirty="0" smtClean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4400" b="1" spc="-250" dirty="0" smtClean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sz="4400" b="1" spc="-320" dirty="0" smtClean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4400" b="1" spc="-290" dirty="0" smtClean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tion</a:t>
            </a:r>
            <a:r>
              <a:rPr lang="en-US"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 (various units)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2576" y="1037559"/>
            <a:ext cx="10472624" cy="5922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 algn="just">
              <a:lnSpc>
                <a:spcPct val="2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spc="-10" dirty="0">
                <a:latin typeface="Carlito"/>
                <a:cs typeface="Carlito"/>
              </a:rPr>
              <a:t>Concentration </a:t>
            </a:r>
            <a:r>
              <a:rPr sz="2400" spc="-5" dirty="0">
                <a:latin typeface="Carlito"/>
                <a:cs typeface="Carlito"/>
              </a:rPr>
              <a:t>is </a:t>
            </a:r>
            <a:r>
              <a:rPr sz="2400" dirty="0">
                <a:latin typeface="Carlito"/>
                <a:cs typeface="Carlito"/>
              </a:rPr>
              <a:t>the amount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solute </a:t>
            </a:r>
            <a:r>
              <a:rPr sz="2400" spc="-5" dirty="0">
                <a:latin typeface="Carlito"/>
                <a:cs typeface="Carlito"/>
              </a:rPr>
              <a:t>present in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specified amount of solvent or</a:t>
            </a:r>
            <a:r>
              <a:rPr sz="2400" spc="1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solution.</a:t>
            </a:r>
            <a:endParaRPr sz="2400" dirty="0">
              <a:latin typeface="Carlito"/>
              <a:cs typeface="Carlito"/>
            </a:endParaRPr>
          </a:p>
          <a:p>
            <a:pPr marL="3556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2400" dirty="0" smtClean="0">
                <a:latin typeface="Carlito"/>
                <a:cs typeface="Carlito"/>
              </a:rPr>
              <a:t>Major </a:t>
            </a:r>
            <a:r>
              <a:rPr sz="2400" spc="-5" dirty="0">
                <a:latin typeface="Carlito"/>
                <a:cs typeface="Carlito"/>
              </a:rPr>
              <a:t>units of </a:t>
            </a:r>
            <a:r>
              <a:rPr sz="2400" spc="-10" dirty="0">
                <a:latin typeface="Carlito"/>
                <a:cs typeface="Carlito"/>
              </a:rPr>
              <a:t>concentration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are:</a:t>
            </a:r>
            <a:endParaRPr sz="2400" dirty="0">
              <a:latin typeface="Carlito"/>
              <a:cs typeface="Carlito"/>
            </a:endParaRPr>
          </a:p>
          <a:p>
            <a:pPr marL="469900" indent="-457200" algn="just">
              <a:lnSpc>
                <a:spcPct val="200000"/>
              </a:lnSpc>
              <a:buFont typeface="+mj-lt"/>
              <a:buAutoNum type="alphaLcPeriod"/>
              <a:tabLst>
                <a:tab pos="354965" algn="l"/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ppm (parts per</a:t>
            </a:r>
            <a:r>
              <a:rPr sz="2400" spc="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million)</a:t>
            </a:r>
            <a:endParaRPr sz="2400" dirty="0">
              <a:latin typeface="Carlito"/>
              <a:cs typeface="Carlito"/>
            </a:endParaRPr>
          </a:p>
          <a:p>
            <a:pPr marL="469900" indent="-457200" algn="just">
              <a:lnSpc>
                <a:spcPct val="200000"/>
              </a:lnSpc>
              <a:buFont typeface="+mj-lt"/>
              <a:buAutoNum type="alphaLcPeriod"/>
              <a:tabLst>
                <a:tab pos="354965" algn="l"/>
                <a:tab pos="355600" algn="l"/>
              </a:tabLst>
            </a:pPr>
            <a:r>
              <a:rPr lang="en-US" sz="2400" spc="-5" dirty="0" smtClean="0">
                <a:latin typeface="Carlito"/>
                <a:cs typeface="Carlito"/>
              </a:rPr>
              <a:t>p</a:t>
            </a:r>
            <a:r>
              <a:rPr sz="2400" spc="-5" dirty="0" smtClean="0">
                <a:latin typeface="Carlito"/>
                <a:cs typeface="Carlito"/>
              </a:rPr>
              <a:t>pb </a:t>
            </a:r>
            <a:r>
              <a:rPr sz="2400" spc="-5" dirty="0">
                <a:latin typeface="Carlito"/>
                <a:cs typeface="Carlito"/>
              </a:rPr>
              <a:t>(parts per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billion)</a:t>
            </a:r>
            <a:endParaRPr sz="2400" dirty="0">
              <a:latin typeface="Carlito"/>
              <a:cs typeface="Carlito"/>
            </a:endParaRPr>
          </a:p>
          <a:p>
            <a:pPr marL="469900" indent="-457200" algn="just">
              <a:lnSpc>
                <a:spcPct val="200000"/>
              </a:lnSpc>
              <a:buFont typeface="+mj-lt"/>
              <a:buAutoNum type="alphaLcPeriod"/>
              <a:tabLst>
                <a:tab pos="354965" algn="l"/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Molarity</a:t>
            </a:r>
            <a:endParaRPr sz="2400" dirty="0">
              <a:latin typeface="Carlito"/>
              <a:cs typeface="Carlito"/>
            </a:endParaRPr>
          </a:p>
          <a:p>
            <a:pPr marL="469900" indent="-457200" algn="just">
              <a:lnSpc>
                <a:spcPct val="200000"/>
              </a:lnSpc>
              <a:buFont typeface="+mj-lt"/>
              <a:buAutoNum type="alphaLcPeriod"/>
              <a:tabLst>
                <a:tab pos="354965" algn="l"/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Normality</a:t>
            </a:r>
            <a:endParaRPr sz="2400" dirty="0">
              <a:latin typeface="Carlito"/>
              <a:cs typeface="Carlito"/>
            </a:endParaRPr>
          </a:p>
          <a:p>
            <a:pPr marL="469900" indent="-457200" algn="just">
              <a:lnSpc>
                <a:spcPct val="200000"/>
              </a:lnSpc>
              <a:buFont typeface="+mj-lt"/>
              <a:buAutoNum type="alphaLcPeriod"/>
              <a:tabLst>
                <a:tab pos="354965" algn="l"/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Molality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0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8066" y="997505"/>
            <a:ext cx="11533734" cy="61452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solution, parts </a:t>
            </a:r>
            <a:r>
              <a:rPr sz="2400" dirty="0">
                <a:latin typeface="Carlito"/>
                <a:cs typeface="Carlito"/>
              </a:rPr>
              <a:t>per </a:t>
            </a:r>
            <a:r>
              <a:rPr sz="2400" spc="-5" dirty="0">
                <a:latin typeface="Carlito"/>
                <a:cs typeface="Carlito"/>
              </a:rPr>
              <a:t>million (1 part in </a:t>
            </a:r>
            <a:r>
              <a:rPr sz="2400" spc="10" dirty="0">
                <a:latin typeface="Carlito"/>
                <a:cs typeface="Carlito"/>
              </a:rPr>
              <a:t>10</a:t>
            </a:r>
            <a:r>
              <a:rPr sz="2400" spc="15" baseline="25462" dirty="0">
                <a:latin typeface="Carlito"/>
                <a:cs typeface="Carlito"/>
              </a:rPr>
              <a:t>6 </a:t>
            </a:r>
            <a:r>
              <a:rPr sz="2400" spc="-5" dirty="0">
                <a:latin typeface="Carlito"/>
                <a:cs typeface="Carlito"/>
              </a:rPr>
              <a:t>parts) is defined </a:t>
            </a:r>
            <a:r>
              <a:rPr sz="2400" dirty="0">
                <a:latin typeface="Carlito"/>
                <a:cs typeface="Carlito"/>
              </a:rPr>
              <a:t>as the </a:t>
            </a:r>
            <a:r>
              <a:rPr sz="2400" spc="-10" dirty="0" smtClean="0">
                <a:latin typeface="Carlito"/>
                <a:cs typeface="Carlito"/>
              </a:rPr>
              <a:t>milligrams</a:t>
            </a:r>
            <a:r>
              <a:rPr lang="en-US" sz="2400" spc="-10" dirty="0">
                <a:latin typeface="Carlito"/>
                <a:cs typeface="Carlito"/>
              </a:rPr>
              <a:t> </a:t>
            </a:r>
            <a:r>
              <a:rPr lang="en-US" sz="2400" spc="-10" dirty="0" smtClean="0">
                <a:latin typeface="Carlito"/>
                <a:cs typeface="Carlito"/>
              </a:rPr>
              <a:t>(</a:t>
            </a:r>
            <a:r>
              <a:rPr lang="en-US" sz="2400" spc="-10" dirty="0">
                <a:latin typeface="Carlito"/>
                <a:cs typeface="Carlito"/>
              </a:rPr>
              <a:t>10</a:t>
            </a:r>
            <a:r>
              <a:rPr lang="en-US" sz="2400" spc="-1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─3</a:t>
            </a:r>
            <a:r>
              <a:rPr lang="en-US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g)</a:t>
            </a:r>
            <a:r>
              <a:rPr sz="2400" spc="-10" dirty="0" smtClean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solute </a:t>
            </a:r>
            <a:r>
              <a:rPr sz="2400" spc="-5" dirty="0">
                <a:latin typeface="Carlito"/>
                <a:cs typeface="Carlito"/>
              </a:rPr>
              <a:t>per </a:t>
            </a:r>
            <a:r>
              <a:rPr sz="2400" spc="-10" dirty="0" err="1">
                <a:latin typeface="Carlito"/>
                <a:cs typeface="Carlito"/>
              </a:rPr>
              <a:t>litre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solution</a:t>
            </a:r>
            <a:r>
              <a:rPr sz="2400" spc="-10" dirty="0" smtClean="0">
                <a:latin typeface="Carlito"/>
                <a:cs typeface="Carlito"/>
              </a:rPr>
              <a:t>.</a:t>
            </a:r>
            <a:endParaRPr lang="en-US" sz="2400" spc="-10" dirty="0" smtClean="0">
              <a:latin typeface="Carlito"/>
              <a:cs typeface="Carlito"/>
            </a:endParaRPr>
          </a:p>
          <a:p>
            <a:pPr marL="3746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2400" dirty="0">
              <a:latin typeface="Carlito"/>
              <a:cs typeface="Carlito"/>
            </a:endParaRPr>
          </a:p>
          <a:p>
            <a:pPr algn="just">
              <a:lnSpc>
                <a:spcPct val="150000"/>
              </a:lnSpc>
              <a:spcBef>
                <a:spcPts val="20"/>
              </a:spcBef>
            </a:pPr>
            <a:endParaRPr sz="2400" dirty="0">
              <a:latin typeface="Carlito"/>
              <a:cs typeface="Carlito"/>
            </a:endParaRPr>
          </a:p>
          <a:p>
            <a:pPr algn="just">
              <a:lnSpc>
                <a:spcPct val="150000"/>
              </a:lnSpc>
              <a:spcBef>
                <a:spcPts val="25"/>
              </a:spcBef>
            </a:pPr>
            <a:endParaRPr sz="2400" dirty="0">
              <a:latin typeface="Carlito"/>
              <a:cs typeface="Carlito"/>
            </a:endParaRPr>
          </a:p>
          <a:p>
            <a:pPr marL="3746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rlito"/>
                <a:cs typeface="Carlito"/>
              </a:rPr>
              <a:t>In </a:t>
            </a:r>
            <a:r>
              <a:rPr lang="en-US" sz="2400" spc="-5" dirty="0" smtClean="0">
                <a:latin typeface="Carlito"/>
                <a:cs typeface="Carlito"/>
              </a:rPr>
              <a:t>solution, parts </a:t>
            </a:r>
            <a:r>
              <a:rPr lang="en-US" sz="2400" dirty="0" smtClean="0">
                <a:latin typeface="Carlito"/>
                <a:cs typeface="Carlito"/>
              </a:rPr>
              <a:t>per </a:t>
            </a:r>
            <a:r>
              <a:rPr lang="en-US" sz="2400" spc="-5" dirty="0" smtClean="0">
                <a:latin typeface="Carlito"/>
                <a:cs typeface="Carlito"/>
              </a:rPr>
              <a:t>billion (1 part in </a:t>
            </a:r>
            <a:r>
              <a:rPr lang="en-US" sz="2400" spc="10" dirty="0" smtClean="0">
                <a:latin typeface="Carlito"/>
                <a:cs typeface="Carlito"/>
              </a:rPr>
              <a:t>10</a:t>
            </a:r>
            <a:r>
              <a:rPr lang="en-US" sz="2400" spc="15" baseline="25462" dirty="0" smtClean="0">
                <a:latin typeface="Carlito"/>
                <a:cs typeface="Carlito"/>
              </a:rPr>
              <a:t>9 </a:t>
            </a:r>
            <a:r>
              <a:rPr lang="en-US" sz="2400" spc="-5" dirty="0" smtClean="0">
                <a:latin typeface="Carlito"/>
                <a:cs typeface="Carlito"/>
              </a:rPr>
              <a:t>parts) is defined </a:t>
            </a:r>
            <a:r>
              <a:rPr lang="en-US" sz="2400" dirty="0" smtClean="0">
                <a:latin typeface="Carlito"/>
                <a:cs typeface="Carlito"/>
              </a:rPr>
              <a:t>as the </a:t>
            </a:r>
            <a:r>
              <a:rPr lang="en-US" sz="2400" spc="-10" dirty="0" smtClean="0">
                <a:latin typeface="Carlito"/>
                <a:cs typeface="Carlito"/>
              </a:rPr>
              <a:t>micrograms (10</a:t>
            </a:r>
            <a:r>
              <a:rPr lang="en-US" sz="2400" spc="-1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─6</a:t>
            </a:r>
            <a:r>
              <a:rPr lang="en-US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 g)</a:t>
            </a:r>
            <a:r>
              <a:rPr lang="en-US" sz="2400" spc="-10" dirty="0" smtClean="0">
                <a:latin typeface="Carlito"/>
                <a:cs typeface="Carlito"/>
              </a:rPr>
              <a:t> </a:t>
            </a:r>
            <a:r>
              <a:rPr lang="en-US" sz="2400" spc="-5" dirty="0" smtClean="0">
                <a:latin typeface="Carlito"/>
                <a:cs typeface="Carlito"/>
              </a:rPr>
              <a:t>of </a:t>
            </a:r>
            <a:r>
              <a:rPr lang="en-US" sz="2400" spc="-10" dirty="0" smtClean="0">
                <a:latin typeface="Carlito"/>
                <a:cs typeface="Carlito"/>
              </a:rPr>
              <a:t>solute </a:t>
            </a:r>
            <a:r>
              <a:rPr lang="en-US" sz="2400" spc="-5" dirty="0" smtClean="0">
                <a:latin typeface="Carlito"/>
                <a:cs typeface="Carlito"/>
              </a:rPr>
              <a:t>per </a:t>
            </a:r>
            <a:r>
              <a:rPr lang="en-US" sz="2400" spc="-10" dirty="0" err="1" smtClean="0">
                <a:latin typeface="Carlito"/>
                <a:cs typeface="Carlito"/>
              </a:rPr>
              <a:t>litre</a:t>
            </a:r>
            <a:r>
              <a:rPr lang="en-US" sz="2400" spc="-10" dirty="0" smtClean="0">
                <a:latin typeface="Carlito"/>
                <a:cs typeface="Carlito"/>
              </a:rPr>
              <a:t> </a:t>
            </a:r>
            <a:r>
              <a:rPr lang="en-US" sz="2400" spc="-5" dirty="0" smtClean="0">
                <a:latin typeface="Carlito"/>
                <a:cs typeface="Carlito"/>
              </a:rPr>
              <a:t>of</a:t>
            </a:r>
            <a:r>
              <a:rPr lang="en-US" sz="2400" spc="70" dirty="0" smtClean="0">
                <a:latin typeface="Carlito"/>
                <a:cs typeface="Carlito"/>
              </a:rPr>
              <a:t> </a:t>
            </a:r>
            <a:r>
              <a:rPr lang="en-US" sz="2400" spc="-10" dirty="0" smtClean="0">
                <a:latin typeface="Carlito"/>
                <a:cs typeface="Carlito"/>
              </a:rPr>
              <a:t>solution. </a:t>
            </a:r>
          </a:p>
          <a:p>
            <a:pPr marL="3746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spc="-10" dirty="0" smtClean="0">
              <a:latin typeface="Carlito"/>
              <a:cs typeface="Carlito"/>
            </a:endParaRPr>
          </a:p>
          <a:p>
            <a:pPr algn="just">
              <a:lnSpc>
                <a:spcPct val="150000"/>
              </a:lnSpc>
              <a:spcBef>
                <a:spcPts val="20"/>
              </a:spcBef>
            </a:pPr>
            <a:endParaRPr sz="2400" dirty="0">
              <a:latin typeface="Carlito"/>
              <a:cs typeface="Carlito"/>
            </a:endParaRPr>
          </a:p>
          <a:p>
            <a:pPr marL="88900" algn="just">
              <a:lnSpc>
                <a:spcPct val="150000"/>
              </a:lnSpc>
              <a:tabLst>
                <a:tab pos="3699510" algn="l"/>
              </a:tabLst>
            </a:pPr>
            <a:r>
              <a:rPr sz="2400" spc="-10" dirty="0">
                <a:latin typeface="Carlito"/>
                <a:cs typeface="Carlito"/>
              </a:rPr>
              <a:t>Conversion </a:t>
            </a:r>
            <a:r>
              <a:rPr sz="2400" spc="-5" dirty="0">
                <a:latin typeface="Carlito"/>
                <a:cs typeface="Carlito"/>
              </a:rPr>
              <a:t>between ppm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ppb</a:t>
            </a:r>
            <a:r>
              <a:rPr sz="2400" spc="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is:	</a:t>
            </a:r>
            <a:r>
              <a:rPr sz="2400" dirty="0">
                <a:latin typeface="Carlito"/>
                <a:cs typeface="Carlito"/>
              </a:rPr>
              <a:t>1 </a:t>
            </a:r>
            <a:r>
              <a:rPr sz="2400" spc="-5" dirty="0">
                <a:latin typeface="Carlito"/>
                <a:cs typeface="Carlito"/>
              </a:rPr>
              <a:t>ppm </a:t>
            </a:r>
            <a:r>
              <a:rPr sz="2400" dirty="0">
                <a:latin typeface="Carlito"/>
                <a:cs typeface="Carlito"/>
              </a:rPr>
              <a:t>= 1000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5" dirty="0" smtClean="0">
                <a:latin typeface="Carlito"/>
                <a:cs typeface="Carlito"/>
              </a:rPr>
              <a:t>ppb</a:t>
            </a:r>
            <a:r>
              <a:rPr lang="en-US" sz="2400" spc="-5" dirty="0" smtClean="0">
                <a:latin typeface="Carlito"/>
                <a:cs typeface="Carlito"/>
              </a:rPr>
              <a:t>;  1ppb = </a:t>
            </a:r>
            <a:r>
              <a:rPr lang="en-US" sz="2400" spc="-10" dirty="0">
                <a:latin typeface="Carlito"/>
                <a:cs typeface="Carlito"/>
              </a:rPr>
              <a:t>10</a:t>
            </a:r>
            <a:r>
              <a:rPr lang="en-US" sz="2400" spc="-10" baseline="30000" dirty="0">
                <a:latin typeface="Arial" panose="020B0604020202020204" pitchFamily="34" charset="0"/>
                <a:cs typeface="Arial" panose="020B0604020202020204" pitchFamily="34" charset="0"/>
              </a:rPr>
              <a:t>─3 </a:t>
            </a:r>
            <a:r>
              <a:rPr lang="en-US" sz="2400" spc="-1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5" dirty="0" smtClean="0">
                <a:latin typeface="Carlito"/>
                <a:cs typeface="Carlito"/>
              </a:rPr>
              <a:t>ppm</a:t>
            </a:r>
            <a:endParaRPr sz="2400" dirty="0">
              <a:latin typeface="Carlito"/>
              <a:cs typeface="Carlito"/>
            </a:endParaRPr>
          </a:p>
          <a:p>
            <a:pPr algn="just">
              <a:lnSpc>
                <a:spcPct val="150000"/>
              </a:lnSpc>
              <a:spcBef>
                <a:spcPts val="25"/>
              </a:spcBef>
            </a:pPr>
            <a:endParaRPr sz="2400" dirty="0">
              <a:latin typeface="Carlito"/>
              <a:cs typeface="Carli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67993" y="2554360"/>
                <a:ext cx="3811749" cy="639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𝒑𝒑𝒎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𝒎𝒊𝒍𝒍𝒊𝒈𝒓𝒂𝒎𝒔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𝒔𝒐𝒍𝒖𝒕𝒆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𝒗𝒐𝒍𝒖𝒎𝒆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𝒔𝒐𝒍𝒖𝒕𝒊𝒐𝒏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993" y="2554360"/>
                <a:ext cx="3811749" cy="6397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067992" y="5071821"/>
                <a:ext cx="3811749" cy="639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𝒑𝒑𝒃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𝒎𝒊𝒄𝒓𝒐𝒈𝒓𝒂𝒎𝒔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𝒔𝒐𝒍𝒖𝒕𝒆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𝒗𝒐𝒍𝒖𝒎𝒆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𝒔𝒐𝒍𝒖𝒕𝒊𝒐𝒏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992" y="5071821"/>
                <a:ext cx="3811749" cy="639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23</a:t>
            </a:fld>
            <a:endParaRPr lang="en-US"/>
          </a:p>
        </p:txBody>
      </p:sp>
      <p:sp>
        <p:nvSpPr>
          <p:cNvPr id="7" name="object 2"/>
          <p:cNvSpPr txBox="1">
            <a:spLocks/>
          </p:cNvSpPr>
          <p:nvPr/>
        </p:nvSpPr>
        <p:spPr>
          <a:xfrm>
            <a:off x="2692768" y="347627"/>
            <a:ext cx="680646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lang="en-IN" b="1" spc="-240" dirty="0" smtClean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lang="en-IN" b="1" spc="-250" dirty="0" smtClean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lang="en-IN" b="1" spc="-320" dirty="0" smtClean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lang="en-IN" b="1" spc="-290" dirty="0" smtClean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lang="en-IN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tion (ppm &amp; ppb)</a:t>
            </a:r>
            <a:endParaRPr lang="en-IN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86254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200000"/>
              </a:lnSpc>
            </a:pPr>
            <a:r>
              <a:rPr lang="en-US" b="1" dirty="0"/>
              <a:t>Problem 1</a:t>
            </a:r>
            <a:r>
              <a:rPr lang="en-US" dirty="0"/>
              <a:t>: 0.03 Kg </a:t>
            </a:r>
            <a:r>
              <a:rPr lang="en-US" dirty="0" err="1"/>
              <a:t>NaCl</a:t>
            </a:r>
            <a:r>
              <a:rPr lang="en-US" dirty="0"/>
              <a:t> is dissolved in H</a:t>
            </a:r>
            <a:r>
              <a:rPr lang="en-US" baseline="-25000" dirty="0"/>
              <a:t>2</a:t>
            </a:r>
            <a:r>
              <a:rPr lang="en-US" dirty="0"/>
              <a:t>O to make volume of solution as 300 ml. Calculate the concentration of </a:t>
            </a:r>
            <a:r>
              <a:rPr lang="en-US" dirty="0" err="1"/>
              <a:t>NaCl</a:t>
            </a:r>
            <a:r>
              <a:rPr lang="en-US" dirty="0"/>
              <a:t> </a:t>
            </a:r>
            <a:r>
              <a:rPr lang="en-US" dirty="0" smtClean="0"/>
              <a:t>in the solution </a:t>
            </a:r>
            <a:r>
              <a:rPr lang="en-US" dirty="0"/>
              <a:t>in terms of ppm and ppb.</a:t>
            </a:r>
          </a:p>
          <a:p>
            <a:pPr algn="just">
              <a:lnSpc>
                <a:spcPct val="200000"/>
              </a:lnSpc>
            </a:pPr>
            <a:r>
              <a:rPr lang="en-US" b="1" dirty="0" smtClean="0"/>
              <a:t>Solution</a:t>
            </a:r>
            <a:r>
              <a:rPr lang="en-US" dirty="0"/>
              <a:t>: Amount of </a:t>
            </a:r>
            <a:r>
              <a:rPr lang="en-US" dirty="0" err="1"/>
              <a:t>NaCl</a:t>
            </a:r>
            <a:r>
              <a:rPr lang="en-US" dirty="0"/>
              <a:t> = 0.03 kg = 30 g = 30000 mg  Volume of solution = 300 ml = 0.3 L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dirty="0"/>
              <a:t>concentration = 30000 mg/ 0.3 L = 10</a:t>
            </a:r>
            <a:r>
              <a:rPr lang="en-US" baseline="30000" dirty="0"/>
              <a:t>5</a:t>
            </a:r>
            <a:r>
              <a:rPr lang="en-US" dirty="0"/>
              <a:t> mg/L = 10</a:t>
            </a:r>
            <a:r>
              <a:rPr lang="en-US" baseline="30000" dirty="0"/>
              <a:t>5</a:t>
            </a:r>
            <a:r>
              <a:rPr lang="en-US" dirty="0"/>
              <a:t> ppm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dirty="0"/>
              <a:t>= 10</a:t>
            </a:r>
            <a:r>
              <a:rPr lang="en-US" baseline="30000" dirty="0"/>
              <a:t>5</a:t>
            </a:r>
            <a:r>
              <a:rPr lang="en-US" dirty="0"/>
              <a:t> x 1000 </a:t>
            </a:r>
            <a:r>
              <a:rPr lang="en-US" dirty="0" smtClean="0"/>
              <a:t>ppb  (Since </a:t>
            </a:r>
            <a:r>
              <a:rPr lang="en-US" dirty="0" smtClean="0">
                <a:latin typeface="Carlito"/>
                <a:cs typeface="Carlito"/>
              </a:rPr>
              <a:t>1 </a:t>
            </a:r>
            <a:r>
              <a:rPr lang="en-US" spc="-5" dirty="0">
                <a:latin typeface="Carlito"/>
                <a:cs typeface="Carlito"/>
              </a:rPr>
              <a:t>ppm </a:t>
            </a:r>
            <a:r>
              <a:rPr lang="en-US" dirty="0">
                <a:latin typeface="Carlito"/>
                <a:cs typeface="Carlito"/>
              </a:rPr>
              <a:t>= 1000</a:t>
            </a:r>
            <a:r>
              <a:rPr lang="en-US" spc="20" dirty="0">
                <a:latin typeface="Carlito"/>
                <a:cs typeface="Carlito"/>
              </a:rPr>
              <a:t> </a:t>
            </a:r>
            <a:r>
              <a:rPr lang="en-US" spc="-5" dirty="0">
                <a:latin typeface="Carlito"/>
                <a:cs typeface="Carlito"/>
              </a:rPr>
              <a:t>ppb</a:t>
            </a:r>
            <a:r>
              <a:rPr lang="en-US" dirty="0" smtClean="0"/>
              <a:t>)</a:t>
            </a:r>
            <a:endParaRPr lang="en-US" dirty="0"/>
          </a:p>
          <a:p>
            <a:pPr marL="0" indent="0" algn="just">
              <a:lnSpc>
                <a:spcPct val="200000"/>
              </a:lnSpc>
              <a:buNone/>
            </a:pPr>
            <a:r>
              <a:rPr lang="en-US" dirty="0"/>
              <a:t>= 10</a:t>
            </a:r>
            <a:r>
              <a:rPr lang="en-US" baseline="30000" dirty="0"/>
              <a:t>8</a:t>
            </a:r>
            <a:r>
              <a:rPr lang="en-US" dirty="0"/>
              <a:t> ppb</a:t>
            </a:r>
          </a:p>
          <a:p>
            <a:pPr algn="just">
              <a:lnSpc>
                <a:spcPct val="200000"/>
              </a:lnSpc>
            </a:pPr>
            <a:endParaRPr lang="en-US" dirty="0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sz="4400" b="1" spc="-240" dirty="0" smtClean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4400" b="1" spc="-250" dirty="0" smtClean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sz="4400" b="1" spc="-320" dirty="0" smtClean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4400" b="1" spc="-290" dirty="0" smtClean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tion</a:t>
            </a:r>
            <a:r>
              <a:rPr lang="en-US"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 numerical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6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b="1" dirty="0" smtClean="0"/>
              <a:t>Problem 2</a:t>
            </a:r>
            <a:r>
              <a:rPr lang="en-US" dirty="0"/>
              <a:t>: How much </a:t>
            </a:r>
            <a:r>
              <a:rPr lang="en-US" dirty="0" err="1"/>
              <a:t>NaCl</a:t>
            </a:r>
            <a:r>
              <a:rPr lang="en-US" dirty="0"/>
              <a:t> will you take to prepare a 250 ppm solution having volume of 200 ml.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sz="4400" b="1" spc="-240" dirty="0" smtClean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4400" b="1" spc="-250" dirty="0" smtClean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sz="4400" b="1" spc="-320" dirty="0" smtClean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4400" b="1" spc="-290" dirty="0" smtClean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tion</a:t>
            </a:r>
            <a:r>
              <a:rPr lang="en-US"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 numerical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25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88063" y="5930020"/>
            <a:ext cx="19062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Ans. 50 mg </a:t>
            </a:r>
            <a:r>
              <a:rPr lang="en-US" sz="2000" b="1" dirty="0" err="1" smtClean="0"/>
              <a:t>NaCl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00121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b="1" dirty="0" smtClean="0"/>
              <a:t>Problem 3</a:t>
            </a:r>
            <a:r>
              <a:rPr lang="en-US" dirty="0"/>
              <a:t>: A solution was prepared by dissolving 0.4 moles </a:t>
            </a:r>
            <a:r>
              <a:rPr lang="en-US" dirty="0" smtClean="0"/>
              <a:t>MgSO</a:t>
            </a:r>
            <a:r>
              <a:rPr lang="en-US" baseline="-25000" dirty="0" smtClean="0"/>
              <a:t>4</a:t>
            </a:r>
            <a:r>
              <a:rPr lang="en-US" dirty="0" smtClean="0"/>
              <a:t> </a:t>
            </a:r>
            <a:r>
              <a:rPr lang="en-US" dirty="0"/>
              <a:t>in water such that total volume of solution is 300 ml. Calculate concentration in ppm. [Atomic weight: Mg=24, S=32, O=16]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sz="4400" b="1" spc="-240" dirty="0" smtClean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4400" b="1" spc="-250" dirty="0" smtClean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sz="4400" b="1" spc="-320" dirty="0" smtClean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4400" b="1" spc="-290" dirty="0" smtClean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tion</a:t>
            </a:r>
            <a:r>
              <a:rPr lang="en-US"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 numerical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26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8063" y="5930020"/>
            <a:ext cx="202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Ans. 160000 ppm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53258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Expressing concentration in terms of molarity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838200" y="1177689"/>
            <a:ext cx="8229600" cy="4525963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200000"/>
              </a:lnSpc>
            </a:pP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Molarity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 is a measure of the concentration and is based on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chemical mass units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Molarity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 is defined as the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number of moles 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of the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solute 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dissolved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per liter of solution 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(</a:t>
            </a:r>
            <a:r>
              <a:rPr lang="en-US" sz="2400" u="sng" dirty="0">
                <a:latin typeface="Times New Roman" pitchFamily="-80" charset="0"/>
                <a:cs typeface="Times New Roman" pitchFamily="-80" charset="0"/>
              </a:rPr>
              <a:t>not solvent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)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The symbol for this type of concentration unit is “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M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”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Example, a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2.0 M 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solution of glucose means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2.0 moles </a:t>
            </a:r>
            <a:r>
              <a:rPr lang="en-US" sz="2400" dirty="0">
                <a:latin typeface="Times New Roman" pitchFamily="-80" charset="0"/>
                <a:cs typeface="Times New Roman" pitchFamily="-80" charset="0"/>
              </a:rPr>
              <a:t>of glucose are dissolved in </a:t>
            </a:r>
            <a:r>
              <a:rPr lang="en-US" sz="2400" b="1" dirty="0">
                <a:latin typeface="Times New Roman" pitchFamily="-80" charset="0"/>
                <a:cs typeface="Times New Roman" pitchFamily="-80" charset="0"/>
              </a:rPr>
              <a:t>1.0 L of solution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794500" y="3631170"/>
                <a:ext cx="5152180" cy="646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spc="-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m:t>Molarity</m:t>
                      </m:r>
                      <m:r>
                        <m:rPr>
                          <m:nor/>
                        </m:rPr>
                        <a:rPr lang="en-US" sz="2000" b="1" spc="-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000" b="1" spc="-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m:t>M</m:t>
                      </m:r>
                      <m:r>
                        <m:rPr>
                          <m:nor/>
                        </m:rPr>
                        <a:rPr lang="en-US" sz="2000" b="1" spc="-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m:t>)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000" b="1" spc="-5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no</m:t>
                          </m:r>
                          <m:r>
                            <m:rPr>
                              <m:nor/>
                            </m:rPr>
                            <a:rPr lang="en-US" sz="2000" b="1" spc="-5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. </m:t>
                          </m:r>
                          <m:r>
                            <m:rPr>
                              <m:nor/>
                            </m:rPr>
                            <a:rPr lang="en-US" sz="2000" b="1" spc="-5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2000" b="1" spc="-5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moles</m:t>
                          </m:r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1" spc="-5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2000" b="1" spc="-5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1" spc="-10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solute</m:t>
                          </m:r>
                          <m:r>
                            <m:rPr>
                              <m:nor/>
                            </m:rPr>
                            <a:rPr lang="en-US" sz="2000" b="1" spc="35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mol</m:t>
                          </m:r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000" b="1" spc="-10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volume</m:t>
                          </m:r>
                          <m:r>
                            <m:rPr>
                              <m:nor/>
                            </m:rPr>
                            <a:rPr lang="en-US" sz="2000" b="1" spc="-10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1" spc="-5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2000" b="1" spc="-5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1" spc="-5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solution</m:t>
                          </m:r>
                          <m:r>
                            <m:rPr>
                              <m:nor/>
                            </m:rPr>
                            <a:rPr lang="en-US" sz="2000" b="1" spc="20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L</m:t>
                          </m:r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) 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500" y="3631170"/>
                <a:ext cx="5152180" cy="6465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921500" y="4930455"/>
                <a:ext cx="5083892" cy="6439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spc="-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m:t>Mol</m:t>
                      </m:r>
                      <m:r>
                        <m:rPr>
                          <m:nor/>
                        </m:rPr>
                        <a:rPr lang="en-US" sz="2000" b="1" i="0" spc="-5" dirty="0" smtClean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m:t>es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000" b="1" i="0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mass</m:t>
                          </m:r>
                          <m:r>
                            <m:rPr>
                              <m:nor/>
                            </m:rPr>
                            <a:rPr lang="en-US" sz="2000" b="1" i="0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1" i="0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2000" b="1" i="0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1" i="0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sz="2000" b="1" i="0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1" i="0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solute</m:t>
                          </m:r>
                          <m:r>
                            <m:rPr>
                              <m:nor/>
                            </m:rPr>
                            <a:rPr lang="en-US" sz="2000" b="1" i="0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 sz="2000" b="1" i="0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0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molar</m:t>
                          </m:r>
                          <m:r>
                            <m:rPr>
                              <m:nor/>
                            </m:rPr>
                            <a:rPr lang="en-US" sz="20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mass</m:t>
                          </m:r>
                          <m:r>
                            <m:rPr>
                              <m:nor/>
                            </m:rPr>
                            <a:rPr lang="en-US" sz="20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20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sz="20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solute</m:t>
                          </m:r>
                          <m:r>
                            <m:rPr>
                              <m:nor/>
                            </m:rPr>
                            <a:rPr lang="en-US" sz="20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 sz="2000" b="1" i="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sz="2000" b="1" i="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lang="en-US" sz="2000" b="1" i="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mol</m:t>
                          </m:r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) 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500" y="4930455"/>
                <a:ext cx="5083892" cy="6439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27</a:t>
            </a:fld>
            <a:endParaRPr lang="en-US"/>
          </a:p>
        </p:txBody>
      </p:sp>
      <p:sp>
        <p:nvSpPr>
          <p:cNvPr id="10" name="object 2"/>
          <p:cNvSpPr txBox="1">
            <a:spLocks/>
          </p:cNvSpPr>
          <p:nvPr/>
        </p:nvSpPr>
        <p:spPr>
          <a:xfrm>
            <a:off x="2692768" y="161408"/>
            <a:ext cx="6806463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lang="en-IN" b="1" spc="-240" dirty="0" smtClean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lang="en-IN" b="1" spc="-250" dirty="0" smtClean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lang="en-IN" b="1" spc="-320" dirty="0" smtClean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lang="en-IN" b="1" spc="-290" dirty="0" smtClean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lang="en-IN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tion (molarity)</a:t>
            </a:r>
            <a:endParaRPr lang="en-IN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0427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idx="1"/>
          </p:nvPr>
        </p:nvSpPr>
        <p:spPr>
          <a:xfrm>
            <a:off x="502633" y="745331"/>
            <a:ext cx="11221659" cy="4525963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  <a:buFont typeface="Arial" charset="0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 </a:t>
            </a:r>
            <a:r>
              <a:rPr lang="en-US" sz="3600" b="1" u="sng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What mass of </a:t>
            </a:r>
            <a:r>
              <a:rPr lang="en-US" sz="3600" b="1" u="sng" dirty="0" err="1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KCl</a:t>
            </a:r>
            <a:r>
              <a:rPr lang="en-US" sz="3600" b="1" u="sng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(g) will be required </a:t>
            </a: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to prepare 600 mL of 2.2M aqueous solution of </a:t>
            </a:r>
            <a:r>
              <a:rPr lang="en-US" sz="3600" b="1" dirty="0" err="1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KCl</a:t>
            </a: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?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362201" y="5818188"/>
            <a:ext cx="2027414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 dirty="0"/>
              <a:t>Ans. </a:t>
            </a:r>
            <a:r>
              <a:rPr lang="en-US" sz="2200" b="1" dirty="0" smtClean="0"/>
              <a:t>196.6 </a:t>
            </a:r>
            <a:r>
              <a:rPr lang="en-US" sz="2200" b="1" dirty="0"/>
              <a:t>g </a:t>
            </a:r>
            <a:r>
              <a:rPr lang="en-US" sz="2200" b="1" dirty="0" err="1"/>
              <a:t>KCl</a:t>
            </a:r>
            <a:endParaRPr lang="en-US" sz="2200" b="1" dirty="0"/>
          </a:p>
        </p:txBody>
      </p:sp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1" y="5181600"/>
            <a:ext cx="7577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(Hint: 2.2M </a:t>
            </a:r>
            <a:r>
              <a:rPr lang="en-US" sz="2000" b="1" dirty="0" err="1"/>
              <a:t>KCl</a:t>
            </a:r>
            <a:r>
              <a:rPr lang="en-US" sz="2000" b="1" dirty="0"/>
              <a:t> solution = 2.2 moles of </a:t>
            </a:r>
            <a:r>
              <a:rPr lang="en-US" sz="2000" b="1" dirty="0" err="1"/>
              <a:t>KCl</a:t>
            </a:r>
            <a:r>
              <a:rPr lang="en-US" sz="2000" b="1" dirty="0"/>
              <a:t> in 1000 mL  i.e. 1L solution)</a:t>
            </a: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28</a:t>
            </a:fld>
            <a:endParaRPr lang="en-US"/>
          </a:p>
        </p:txBody>
      </p:sp>
      <p:sp>
        <p:nvSpPr>
          <p:cNvPr id="20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sz="4400" b="1" spc="-240" dirty="0" smtClean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4400" b="1" spc="-250" dirty="0" smtClean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sz="4400" b="1" spc="-320" dirty="0" smtClean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4400" b="1" spc="-290" dirty="0" smtClean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tion</a:t>
            </a:r>
            <a:r>
              <a:rPr lang="en-US"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 numerical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2073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436830" y="745331"/>
            <a:ext cx="11470740" cy="4525963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  <a:buFont typeface="Arial" charset="0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 </a:t>
            </a:r>
            <a:r>
              <a:rPr lang="en-US" sz="3600" b="1" u="sng" dirty="0" smtClean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What </a:t>
            </a:r>
            <a:r>
              <a:rPr lang="en-US" sz="3600" b="1" u="sng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is the molarity (M)</a:t>
            </a: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of a MgBr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2</a:t>
            </a: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solution in which </a:t>
            </a:r>
            <a:r>
              <a:rPr lang="en-US" sz="3600" b="1" dirty="0" smtClean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144 g </a:t>
            </a: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of MgBr</a:t>
            </a:r>
            <a:r>
              <a:rPr lang="en-US" sz="3600" b="1" baseline="-25000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2</a:t>
            </a:r>
            <a:r>
              <a:rPr lang="en-US" sz="3600" b="1" dirty="0">
                <a:solidFill>
                  <a:srgbClr val="C00000"/>
                </a:solidFill>
                <a:latin typeface="Times New Roman" pitchFamily="-80" charset="0"/>
                <a:cs typeface="Times New Roman" pitchFamily="-80" charset="0"/>
              </a:rPr>
              <a:t> is dissolved in 500 mL of the solution?</a:t>
            </a:r>
            <a:endParaRPr lang="en-US" sz="3600" dirty="0">
              <a:latin typeface="Times New Roman" pitchFamily="-80" charset="0"/>
              <a:cs typeface="Times New Roman" pitchFamily="-80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362200" y="5818188"/>
            <a:ext cx="157286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 dirty="0"/>
              <a:t>Ans. </a:t>
            </a:r>
            <a:r>
              <a:rPr lang="en-US" sz="2200" b="1" dirty="0" smtClean="0"/>
              <a:t>1.56 </a:t>
            </a:r>
            <a:r>
              <a:rPr lang="en-US" sz="2200" b="1" dirty="0"/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00" y="3333690"/>
            <a:ext cx="53464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</a:t>
            </a:r>
            <a:r>
              <a:rPr lang="en-US" sz="2000" b="1" dirty="0" err="1"/>
              <a:t>Molarity</a:t>
            </a:r>
            <a:r>
              <a:rPr lang="en-US" sz="2000" b="1" dirty="0"/>
              <a:t> = no. of moles per liter of the solution)</a:t>
            </a:r>
          </a:p>
        </p:txBody>
      </p:sp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29</a:t>
            </a:fld>
            <a:endParaRPr lang="en-US"/>
          </a:p>
        </p:txBody>
      </p:sp>
      <p:sp>
        <p:nvSpPr>
          <p:cNvPr id="21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sz="4400" b="1" spc="-240" dirty="0" smtClean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4400" b="1" spc="-250" dirty="0" smtClean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sz="4400" b="1" spc="-320" dirty="0" smtClean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4400" b="1" spc="-290" dirty="0" smtClean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tion</a:t>
            </a:r>
            <a:r>
              <a:rPr lang="en-US"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 numerical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62931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sz="4400" b="1" spc="-240" dirty="0" smtClean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4400" b="1" spc="-250" dirty="0" smtClean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sz="4400" b="1" spc="-320" dirty="0" smtClean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4400" b="1" spc="-290" dirty="0" smtClean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tion</a:t>
            </a:r>
            <a:r>
              <a:rPr lang="en-US"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 (normality)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24874" y="4629498"/>
                <a:ext cx="8294643" cy="7727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i="0" spc="-5" dirty="0" smtClean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m:t>Normal</m:t>
                      </m:r>
                      <m:r>
                        <m:rPr>
                          <m:nor/>
                        </m:rPr>
                        <a:rPr lang="en-US" sz="2400" b="1" spc="-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m:t>ity</m:t>
                      </m:r>
                      <m:r>
                        <m:rPr>
                          <m:nor/>
                        </m:rPr>
                        <a:rPr lang="en-US" sz="2400" b="1" spc="-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400" b="1" i="0" spc="-5" dirty="0" smtClean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m:t>N</m:t>
                      </m:r>
                      <m:r>
                        <m:rPr>
                          <m:nor/>
                        </m:rPr>
                        <a:rPr lang="en-US" sz="2400" b="1" spc="-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m:t>)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b="1" spc="-5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no</m:t>
                          </m:r>
                          <m:r>
                            <m:rPr>
                              <m:nor/>
                            </m:rPr>
                            <a:rPr lang="en-US" sz="2400" b="1" spc="-5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. </m:t>
                          </m:r>
                          <m:r>
                            <m:rPr>
                              <m:nor/>
                            </m:rPr>
                            <a:rPr lang="en-US" sz="2400" b="1" spc="-5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2400" b="1" spc="-5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0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gram</m:t>
                          </m:r>
                          <m:r>
                            <m:rPr>
                              <m:nor/>
                            </m:rPr>
                            <a:rPr lang="en-US" sz="2400" b="1" i="0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0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equivalents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spc="-5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2400" b="1" spc="-5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spc="-10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solute</m:t>
                          </m:r>
                          <m:r>
                            <m:rPr>
                              <m:nor/>
                            </m:rPr>
                            <a:rPr lang="en-US" sz="2400" b="1" spc="35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400" b="1" i="0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equiv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400" b="1" spc="-10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volume</m:t>
                          </m:r>
                          <m:r>
                            <m:rPr>
                              <m:nor/>
                            </m:rPr>
                            <a:rPr lang="en-US" sz="2400" b="1" spc="-10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spc="-5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2400" b="1" spc="-5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spc="-5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solution</m:t>
                          </m:r>
                          <m:r>
                            <m:rPr>
                              <m:nor/>
                            </m:rPr>
                            <a:rPr lang="en-US" sz="2400" b="1" spc="20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L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) 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874" y="4629498"/>
                <a:ext cx="8294643" cy="7727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43361" y="1642285"/>
                <a:ext cx="8505277" cy="7727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i="1" spc="-5" dirty="0" smtClean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m:t>Equivalent</m:t>
                      </m:r>
                      <m:r>
                        <m:rPr>
                          <m:nor/>
                        </m:rPr>
                        <a:rPr lang="en-US" sz="2400" b="1" i="1" spc="-5" dirty="0" smtClean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i="1" spc="-5" dirty="0" smtClean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m:t>weight</m:t>
                      </m:r>
                      <m:r>
                        <m:rPr>
                          <m:nor/>
                        </m:rPr>
                        <a:rPr lang="en-US" sz="2400" b="1" i="1" spc="-5" dirty="0" smtClean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molar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mass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solute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net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charge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on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cation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or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anion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361" y="1642285"/>
                <a:ext cx="8505277" cy="7727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11307" y="3090624"/>
                <a:ext cx="12004312" cy="7727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spc="-5" dirty="0">
                          <a:solidFill>
                            <a:srgbClr val="FF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rlito"/>
                          <a:cs typeface="Carlito"/>
                        </a:rPr>
                        <m:t>no</m:t>
                      </m:r>
                      <m:r>
                        <m:rPr>
                          <m:nor/>
                        </m:rPr>
                        <a:rPr lang="en-US" sz="2400" b="1" spc="-5" dirty="0">
                          <a:solidFill>
                            <a:srgbClr val="FF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rlito"/>
                          <a:cs typeface="Carlito"/>
                        </a:rPr>
                        <m:t>. </m:t>
                      </m:r>
                      <m:r>
                        <m:rPr>
                          <m:nor/>
                        </m:rPr>
                        <a:rPr lang="en-US" sz="2400" b="1" spc="-5" dirty="0">
                          <a:solidFill>
                            <a:srgbClr val="FF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rlito"/>
                          <a:cs typeface="Carlito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2400" b="1" spc="-5" dirty="0">
                          <a:solidFill>
                            <a:srgbClr val="FF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rlito"/>
                          <a:cs typeface="Carlito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FF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rlito"/>
                          <a:cs typeface="Carlito"/>
                        </a:rPr>
                        <m:t>gram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FF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rlito"/>
                          <a:cs typeface="Carlito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FF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rlito"/>
                          <a:cs typeface="Carlito"/>
                        </a:rPr>
                        <m:t>equivalents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FF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rlito"/>
                          <a:cs typeface="Carlito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spc="-5" dirty="0">
                          <a:solidFill>
                            <a:srgbClr val="FF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rlito"/>
                          <a:cs typeface="Carlito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2400" b="1" spc="-5" dirty="0">
                          <a:solidFill>
                            <a:srgbClr val="FF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rlito"/>
                          <a:cs typeface="Carlito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rlito"/>
                          <a:cs typeface="Carlito"/>
                        </a:rPr>
                        <m:t>solute</m:t>
                      </m:r>
                      <m:r>
                        <m:rPr>
                          <m:nor/>
                        </m:rPr>
                        <a:rPr lang="en-US" sz="2400" b="1" spc="35" dirty="0">
                          <a:solidFill>
                            <a:srgbClr val="FF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rlito"/>
                          <a:cs typeface="Carlito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FF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rlito"/>
                          <a:cs typeface="Carlito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FF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rlito"/>
                          <a:cs typeface="Carlito"/>
                        </a:rPr>
                        <m:t>equiv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FF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rlito"/>
                          <a:cs typeface="Carlito"/>
                        </a:rPr>
                        <m:t>)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mass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solute</m:t>
                          </m:r>
                          <m:r>
                            <m:rPr>
                              <m:nor/>
                            </m:rPr>
                            <a:rPr lang="en-US" sz="2400" b="1" i="1" spc="-5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400" b="1" i="0" dirty="0" smtClean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rgbClr val="FF0000"/>
                              </a:solidFill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rlito"/>
                              <a:cs typeface="Carlito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equivlent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weight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solute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equiv</m:t>
                          </m:r>
                          <m:r>
                            <m:rPr>
                              <m:nor/>
                            </m:rPr>
                            <a:rPr lang="en-US" sz="2400" b="1" i="0" spc="-10" dirty="0" smtClean="0">
                              <a:solidFill>
                                <a:srgbClr val="FF0000"/>
                              </a:solidFill>
                              <a:latin typeface="Carlito"/>
                              <a:cs typeface="Carlito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07" y="3090624"/>
                <a:ext cx="12004312" cy="7727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3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Calculate the normality of </a:t>
            </a:r>
            <a:r>
              <a:rPr lang="en-US" dirty="0" smtClean="0"/>
              <a:t>a </a:t>
            </a:r>
            <a:r>
              <a:rPr lang="en-US" dirty="0" err="1" smtClean="0"/>
              <a:t>NaOH</a:t>
            </a:r>
            <a:r>
              <a:rPr lang="en-US" dirty="0" smtClean="0"/>
              <a:t> solution prepared </a:t>
            </a:r>
            <a:r>
              <a:rPr lang="en-US" dirty="0"/>
              <a:t>by dissolving 0.2 </a:t>
            </a:r>
            <a:r>
              <a:rPr lang="en-US" dirty="0" smtClean="0"/>
              <a:t>g </a:t>
            </a:r>
            <a:r>
              <a:rPr lang="en-US" dirty="0" err="1" smtClean="0"/>
              <a:t>NaOH</a:t>
            </a:r>
            <a:r>
              <a:rPr lang="en-US" dirty="0" smtClean="0"/>
              <a:t> to </a:t>
            </a:r>
            <a:r>
              <a:rPr lang="en-US" dirty="0"/>
              <a:t>make </a:t>
            </a:r>
            <a:r>
              <a:rPr lang="en-US" dirty="0" smtClean="0"/>
              <a:t>a 250 </a:t>
            </a:r>
            <a:r>
              <a:rPr lang="en-US" dirty="0"/>
              <a:t>ml </a:t>
            </a:r>
            <a:r>
              <a:rPr lang="en-US" dirty="0" smtClean="0"/>
              <a:t>solution.</a:t>
            </a:r>
            <a:endParaRPr lang="en-US" dirty="0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sz="4400" b="1" spc="-240" dirty="0" smtClean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4400" b="1" spc="-250" dirty="0" smtClean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sz="4400" b="1" spc="-320" dirty="0" smtClean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4400" b="1" spc="-290" dirty="0" smtClean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tion</a:t>
            </a:r>
            <a:r>
              <a:rPr lang="en-US"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b="1" spc="-195" dirty="0">
                <a:latin typeface="Aharoni" panose="02010803020104030203" pitchFamily="2" charset="-79"/>
                <a:cs typeface="Aharoni" panose="02010803020104030203" pitchFamily="2" charset="-79"/>
              </a:rPr>
              <a:t>numerical (</a:t>
            </a:r>
            <a:r>
              <a:rPr lang="en-US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normality)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84200" y="5767388"/>
            <a:ext cx="157607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 dirty="0"/>
              <a:t>Ans. </a:t>
            </a:r>
            <a:r>
              <a:rPr lang="en-US" sz="2200" b="1" dirty="0" smtClean="0"/>
              <a:t>0.02  N</a:t>
            </a:r>
            <a:endParaRPr lang="en-US" sz="2200" b="1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1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Calculate the normality of </a:t>
            </a:r>
            <a:r>
              <a:rPr lang="en-US" dirty="0" smtClean="0"/>
              <a:t>a Ca(OH)</a:t>
            </a:r>
            <a:r>
              <a:rPr lang="en-US" baseline="-25000" dirty="0" smtClean="0"/>
              <a:t>2</a:t>
            </a:r>
            <a:r>
              <a:rPr lang="en-US" dirty="0" smtClean="0"/>
              <a:t> solution prepared </a:t>
            </a:r>
            <a:r>
              <a:rPr lang="en-US" dirty="0"/>
              <a:t>by dissolving 0.2 </a:t>
            </a:r>
            <a:r>
              <a:rPr lang="en-US" dirty="0" smtClean="0"/>
              <a:t>g </a:t>
            </a:r>
            <a:r>
              <a:rPr lang="en-US" dirty="0"/>
              <a:t>Ca(OH)</a:t>
            </a:r>
            <a:r>
              <a:rPr lang="en-US" baseline="-25000" dirty="0"/>
              <a:t>2</a:t>
            </a:r>
            <a:r>
              <a:rPr lang="en-US" dirty="0" smtClean="0"/>
              <a:t> to </a:t>
            </a:r>
            <a:r>
              <a:rPr lang="en-US" dirty="0"/>
              <a:t>make </a:t>
            </a:r>
            <a:r>
              <a:rPr lang="en-US" dirty="0" smtClean="0"/>
              <a:t>a 250 </a:t>
            </a:r>
            <a:r>
              <a:rPr lang="en-US" dirty="0"/>
              <a:t>ml </a:t>
            </a:r>
            <a:r>
              <a:rPr lang="en-US" dirty="0" smtClean="0"/>
              <a:t>solution.</a:t>
            </a:r>
            <a:endParaRPr lang="en-US" dirty="0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sz="4400" b="1" spc="-240" dirty="0" smtClean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4400" b="1" spc="-250" dirty="0" smtClean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sz="4400" b="1" spc="-320" dirty="0" smtClean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4400" b="1" spc="-290" dirty="0" smtClean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tion</a:t>
            </a:r>
            <a:r>
              <a:rPr lang="en-US"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b="1" spc="-195" dirty="0">
                <a:latin typeface="Aharoni" panose="02010803020104030203" pitchFamily="2" charset="-79"/>
                <a:cs typeface="Aharoni" panose="02010803020104030203" pitchFamily="2" charset="-79"/>
              </a:rPr>
              <a:t>normality numerical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84200" y="5767388"/>
            <a:ext cx="171874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 dirty="0"/>
              <a:t>Ans. </a:t>
            </a:r>
            <a:r>
              <a:rPr lang="en-US" sz="2200" b="1" dirty="0" smtClean="0"/>
              <a:t>0.022  N</a:t>
            </a:r>
            <a:endParaRPr lang="en-US" sz="2200" b="1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2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A Solution of Na</a:t>
            </a:r>
            <a:r>
              <a:rPr lang="en-US" baseline="-25000" dirty="0"/>
              <a:t>2</a:t>
            </a:r>
            <a:r>
              <a:rPr lang="en-US" dirty="0"/>
              <a:t>CO</a:t>
            </a:r>
            <a:r>
              <a:rPr lang="en-US" baseline="-25000" dirty="0"/>
              <a:t>3</a:t>
            </a:r>
            <a:r>
              <a:rPr lang="en-US" dirty="0"/>
              <a:t> in water having concentration of </a:t>
            </a:r>
            <a:r>
              <a:rPr lang="en-US" b="1" dirty="0"/>
              <a:t>2000</a:t>
            </a:r>
            <a:r>
              <a:rPr lang="en-US" dirty="0"/>
              <a:t> ppm of total volume of </a:t>
            </a:r>
            <a:r>
              <a:rPr lang="en-US" b="1" dirty="0"/>
              <a:t>200</a:t>
            </a:r>
            <a:r>
              <a:rPr lang="en-US" dirty="0"/>
              <a:t> ml. Calculate the </a:t>
            </a:r>
            <a:r>
              <a:rPr lang="en-US" dirty="0" smtClean="0"/>
              <a:t>concentration in </a:t>
            </a:r>
            <a:r>
              <a:rPr lang="en-US" dirty="0"/>
              <a:t>molarity and normality.</a:t>
            </a:r>
          </a:p>
          <a:p>
            <a:pPr algn="just">
              <a:lnSpc>
                <a:spcPct val="200000"/>
              </a:lnSpc>
            </a:pPr>
            <a:endParaRPr lang="en-US" dirty="0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sz="4400" b="1" spc="-240" dirty="0" smtClean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4400" b="1" spc="-250" dirty="0" smtClean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sz="4400" b="1" spc="-320" dirty="0" smtClean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4400" b="1" spc="-290" dirty="0" smtClean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tion</a:t>
            </a:r>
            <a:r>
              <a:rPr lang="en-US"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 molarity &amp; </a:t>
            </a:r>
            <a:r>
              <a:rPr lang="en-US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normality </a:t>
            </a:r>
            <a:r>
              <a:rPr lang="en-US" b="1" spc="-195" dirty="0">
                <a:latin typeface="Aharoni" panose="02010803020104030203" pitchFamily="2" charset="-79"/>
                <a:cs typeface="Aharoni" panose="02010803020104030203" pitchFamily="2" charset="-79"/>
              </a:rPr>
              <a:t>numerical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84200" y="5767388"/>
            <a:ext cx="281198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 dirty="0"/>
              <a:t>Ans. </a:t>
            </a:r>
            <a:r>
              <a:rPr lang="en-US" sz="2200" b="1" dirty="0" smtClean="0"/>
              <a:t>0.019 M, 0.038 N</a:t>
            </a:r>
            <a:endParaRPr lang="en-US" sz="2200" b="1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7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b="1" dirty="0"/>
              <a:t>Molality </a:t>
            </a:r>
            <a:r>
              <a:rPr lang="en-US" b="1" dirty="0" smtClean="0"/>
              <a:t>(m) </a:t>
            </a:r>
            <a:r>
              <a:rPr lang="en-US" dirty="0" smtClean="0"/>
              <a:t>is </a:t>
            </a:r>
            <a:r>
              <a:rPr lang="en-US" dirty="0"/>
              <a:t>a property of a solution and is defined as the number of moles of solute per kilogram of solvent.</a:t>
            </a:r>
          </a:p>
          <a:p>
            <a:pPr algn="just">
              <a:lnSpc>
                <a:spcPct val="200000"/>
              </a:lnSpc>
            </a:pPr>
            <a:r>
              <a:rPr lang="en-US" dirty="0"/>
              <a:t>The SI unit for molality is </a:t>
            </a:r>
            <a:r>
              <a:rPr lang="en-US" dirty="0" err="1" smtClean="0"/>
              <a:t>mol</a:t>
            </a:r>
            <a:r>
              <a:rPr lang="en-US" dirty="0" smtClean="0"/>
              <a:t>/kg</a:t>
            </a:r>
          </a:p>
          <a:p>
            <a:pPr algn="just">
              <a:lnSpc>
                <a:spcPct val="200000"/>
              </a:lnSpc>
            </a:pPr>
            <a:r>
              <a:rPr lang="en-US" dirty="0" smtClean="0"/>
              <a:t>A </a:t>
            </a:r>
            <a:r>
              <a:rPr lang="en-US" dirty="0"/>
              <a:t>solution with a molality of 3 </a:t>
            </a:r>
            <a:r>
              <a:rPr lang="en-US" dirty="0" err="1"/>
              <a:t>mol</a:t>
            </a:r>
            <a:r>
              <a:rPr lang="en-US" dirty="0"/>
              <a:t>/kg is </a:t>
            </a:r>
            <a:r>
              <a:rPr lang="en-US" dirty="0" smtClean="0"/>
              <a:t>described as a </a:t>
            </a:r>
            <a:r>
              <a:rPr lang="en-US" dirty="0"/>
              <a:t>“3 </a:t>
            </a:r>
            <a:r>
              <a:rPr lang="en-US" dirty="0" err="1"/>
              <a:t>molal</a:t>
            </a:r>
            <a:r>
              <a:rPr lang="en-US" dirty="0"/>
              <a:t>” or “3 </a:t>
            </a:r>
            <a:r>
              <a:rPr lang="en-US" dirty="0" smtClean="0"/>
              <a:t>m” solution.</a:t>
            </a:r>
            <a:endParaRPr lang="en-US" dirty="0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sz="4400" b="1" spc="-240" dirty="0" smtClean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4400" b="1" spc="-250" dirty="0" smtClean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sz="4400" b="1" spc="-320" dirty="0" smtClean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4400" b="1" spc="-290" dirty="0" smtClean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tion</a:t>
            </a:r>
            <a:r>
              <a:rPr lang="en-US" sz="4400" b="1" spc="-195" dirty="0" smtClean="0">
                <a:latin typeface="Aharoni" panose="02010803020104030203" pitchFamily="2" charset="-79"/>
                <a:cs typeface="Aharoni" panose="02010803020104030203" pitchFamily="2" charset="-79"/>
              </a:rPr>
              <a:t> (molality)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8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If we </a:t>
            </a:r>
            <a:r>
              <a:rPr lang="en-US" dirty="0" smtClean="0"/>
              <a:t>weigh </a:t>
            </a:r>
            <a:r>
              <a:rPr lang="en-US" dirty="0"/>
              <a:t>5.36 g of </a:t>
            </a:r>
            <a:r>
              <a:rPr lang="en-US" dirty="0" err="1"/>
              <a:t>KCl</a:t>
            </a:r>
            <a:r>
              <a:rPr lang="en-US" dirty="0"/>
              <a:t> and dissolve this solid in 56 mL of water, what is the molality of the solution?</a:t>
            </a: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82550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spc="-190" dirty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sz="4400" b="1" spc="-240" dirty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4400" b="1" spc="-250" dirty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sz="4400" b="1" spc="-320" dirty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4400" b="1" spc="-290" dirty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sz="4400" b="1" spc="-195" dirty="0">
                <a:latin typeface="Aharoni" panose="02010803020104030203" pitchFamily="2" charset="-79"/>
                <a:cs typeface="Aharoni" panose="02010803020104030203" pitchFamily="2" charset="-79"/>
              </a:rPr>
              <a:t>tion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84200" y="5767388"/>
            <a:ext cx="1555234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 dirty="0"/>
              <a:t>Ans. </a:t>
            </a:r>
            <a:r>
              <a:rPr lang="en-US" sz="2200" b="1" dirty="0" smtClean="0"/>
              <a:t>1.28 m</a:t>
            </a:r>
            <a:endParaRPr lang="en-US" sz="2200" b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6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A </a:t>
            </a:r>
            <a:r>
              <a:rPr lang="en-US" dirty="0" err="1"/>
              <a:t>sulphuric</a:t>
            </a:r>
            <a:r>
              <a:rPr lang="en-US" dirty="0"/>
              <a:t> acid solution containing 571.4 g H</a:t>
            </a:r>
            <a:r>
              <a:rPr lang="en-US" baseline="-25000" dirty="0"/>
              <a:t>2</a:t>
            </a:r>
            <a:r>
              <a:rPr lang="en-US" dirty="0"/>
              <a:t>SO</a:t>
            </a:r>
            <a:r>
              <a:rPr lang="en-US" baseline="-25000" dirty="0"/>
              <a:t>4</a:t>
            </a:r>
            <a:r>
              <a:rPr lang="en-US" dirty="0"/>
              <a:t> per </a:t>
            </a:r>
            <a:r>
              <a:rPr lang="en-US" dirty="0" err="1"/>
              <a:t>litre</a:t>
            </a:r>
            <a:r>
              <a:rPr lang="en-US" dirty="0"/>
              <a:t> of solution has a density of 1.329 g/ml. </a:t>
            </a:r>
            <a:r>
              <a:rPr lang="en-US" dirty="0" smtClean="0"/>
              <a:t>Calculate </a:t>
            </a:r>
            <a:r>
              <a:rPr lang="en-US" dirty="0"/>
              <a:t>molality of H</a:t>
            </a:r>
            <a:r>
              <a:rPr lang="en-US" baseline="-25000" dirty="0"/>
              <a:t>2</a:t>
            </a:r>
            <a:r>
              <a:rPr lang="en-US" dirty="0"/>
              <a:t>SO</a:t>
            </a:r>
            <a:r>
              <a:rPr lang="en-US" baseline="-25000" dirty="0"/>
              <a:t>4</a:t>
            </a:r>
            <a:r>
              <a:rPr lang="en-US" dirty="0" smtClean="0"/>
              <a:t> </a:t>
            </a:r>
            <a:r>
              <a:rPr lang="en-US" dirty="0"/>
              <a:t>in this solution.</a:t>
            </a: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82550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spc="-190" dirty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sz="4400" b="1" spc="-240" dirty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4400" b="1" spc="-250" dirty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sz="4400" b="1" spc="-320" dirty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4400" b="1" spc="-290" dirty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sz="4400" b="1" spc="-195" dirty="0">
                <a:latin typeface="Aharoni" panose="02010803020104030203" pitchFamily="2" charset="-79"/>
                <a:cs typeface="Aharoni" panose="02010803020104030203" pitchFamily="2" charset="-79"/>
              </a:rPr>
              <a:t>tion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84200" y="5767388"/>
            <a:ext cx="1555234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 dirty="0"/>
              <a:t>Ans. </a:t>
            </a:r>
            <a:r>
              <a:rPr lang="en-US" sz="2200" b="1" dirty="0" smtClean="0"/>
              <a:t>7.69 m</a:t>
            </a:r>
            <a:endParaRPr lang="en-US" sz="2200" b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6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A solution was prepared by dissolving 20 g CaCl</a:t>
            </a:r>
            <a:r>
              <a:rPr lang="en-US" baseline="-25000" dirty="0"/>
              <a:t>2</a:t>
            </a:r>
            <a:r>
              <a:rPr lang="en-US" dirty="0"/>
              <a:t> in water such that total volume of solution is 200 ml. Density of solution=1.1 g/ml. Calculate concentration in molality. [Atomic weights: Ca=40, Cl=35.5]</a:t>
            </a:r>
          </a:p>
          <a:p>
            <a:pPr algn="just">
              <a:lnSpc>
                <a:spcPct val="200000"/>
              </a:lnSpc>
            </a:pPr>
            <a:endParaRPr lang="en-US" dirty="0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82550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spc="-190" dirty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sz="4400" b="1" spc="-240" dirty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4400" b="1" spc="-250" dirty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sz="4400" b="1" spc="-320" dirty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4400" b="1" spc="-290" dirty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sz="4400" b="1" spc="-195" dirty="0">
                <a:latin typeface="Aharoni" panose="02010803020104030203" pitchFamily="2" charset="-79"/>
                <a:cs typeface="Aharoni" panose="02010803020104030203" pitchFamily="2" charset="-79"/>
              </a:rPr>
              <a:t>tion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84200" y="5767388"/>
            <a:ext cx="147668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 dirty="0"/>
              <a:t>Ans. </a:t>
            </a:r>
            <a:r>
              <a:rPr lang="en-US" sz="2200" b="1" dirty="0" smtClean="0"/>
              <a:t> 0.9 m</a:t>
            </a:r>
            <a:endParaRPr lang="en-US" sz="2200" b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1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Calculate concentration in molality of 0.8 M solution of CaSO</a:t>
            </a:r>
            <a:r>
              <a:rPr lang="en-US" baseline="-25000" dirty="0"/>
              <a:t>4</a:t>
            </a:r>
            <a:r>
              <a:rPr lang="en-US" dirty="0"/>
              <a:t>. Density of solution= 1.2 g/ml. Atomic weights: Ca=40, S=32, O=16]</a:t>
            </a: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82550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b="1" spc="-190" dirty="0">
                <a:latin typeface="Aharoni" panose="02010803020104030203" pitchFamily="2" charset="-79"/>
                <a:cs typeface="Aharoni" panose="02010803020104030203" pitchFamily="2" charset="-79"/>
              </a:rPr>
              <a:t>Conce</a:t>
            </a:r>
            <a:r>
              <a:rPr sz="4400" b="1" spc="-240" dirty="0"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4400" b="1" spc="-250" dirty="0">
                <a:latin typeface="Aharoni" panose="02010803020104030203" pitchFamily="2" charset="-79"/>
                <a:cs typeface="Aharoni" panose="02010803020104030203" pitchFamily="2" charset="-79"/>
              </a:rPr>
              <a:t>t</a:t>
            </a:r>
            <a:r>
              <a:rPr sz="4400" b="1" spc="-320" dirty="0"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4400" b="1" spc="-290" dirty="0"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r>
              <a:rPr sz="4400" b="1" spc="-195" dirty="0">
                <a:latin typeface="Aharoni" panose="02010803020104030203" pitchFamily="2" charset="-79"/>
                <a:cs typeface="Aharoni" panose="02010803020104030203" pitchFamily="2" charset="-79"/>
              </a:rPr>
              <a:t>tion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84200" y="5767388"/>
            <a:ext cx="1762021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 dirty="0"/>
              <a:t>Ans. </a:t>
            </a:r>
            <a:r>
              <a:rPr lang="en-US" sz="2200" b="1" dirty="0" smtClean="0"/>
              <a:t> 0.733 m</a:t>
            </a:r>
            <a:endParaRPr lang="en-US" sz="2200" b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dirty="0"/>
              <a:t>The mole fraction, X, of a component in a solution is the ratio of the number of moles of that component to the total number of moles of all components in the solution.</a:t>
            </a:r>
          </a:p>
          <a:p>
            <a:pPr algn="just">
              <a:lnSpc>
                <a:spcPct val="200000"/>
              </a:lnSpc>
            </a:pPr>
            <a:r>
              <a:rPr lang="en-US" dirty="0" smtClean="0"/>
              <a:t>To </a:t>
            </a:r>
            <a:r>
              <a:rPr lang="en-US" dirty="0"/>
              <a:t>calculate mole fraction, we need to </a:t>
            </a:r>
            <a:r>
              <a:rPr lang="en-US" dirty="0" smtClean="0"/>
              <a:t>know the </a:t>
            </a:r>
            <a:r>
              <a:rPr lang="en-US" dirty="0"/>
              <a:t>number of moles of each component present in the solution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400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Mole fraction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85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dirty="0" smtClean="0"/>
              <a:t>The </a:t>
            </a:r>
            <a:r>
              <a:rPr lang="en-US" dirty="0"/>
              <a:t>mole fraction of A, X</a:t>
            </a:r>
            <a:r>
              <a:rPr lang="en-US" baseline="-25000" dirty="0"/>
              <a:t>A</a:t>
            </a:r>
            <a:r>
              <a:rPr lang="en-US" dirty="0"/>
              <a:t>, in a solution consisting of A, B, C, ... is calculated using the equation:</a:t>
            </a: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algn="just">
              <a:lnSpc>
                <a:spcPct val="200000"/>
              </a:lnSpc>
            </a:pPr>
            <a:r>
              <a:rPr lang="en-US" dirty="0" smtClean="0"/>
              <a:t>Similarly, mole </a:t>
            </a:r>
            <a:r>
              <a:rPr lang="en-US" dirty="0"/>
              <a:t>fraction of B, X</a:t>
            </a:r>
            <a:r>
              <a:rPr lang="en-US" baseline="-25000" dirty="0"/>
              <a:t>B</a:t>
            </a:r>
            <a:r>
              <a:rPr lang="en-US" dirty="0"/>
              <a:t>, </a:t>
            </a:r>
            <a:r>
              <a:rPr lang="en-US" dirty="0" smtClean="0"/>
              <a:t>can be </a:t>
            </a:r>
            <a:r>
              <a:rPr lang="en-US" dirty="0"/>
              <a:t>calculated using the equation: </a:t>
            </a: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400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Mole fraction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026" name="Picture 2" descr="Equation for calculating the mole fraction of 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237" y="3213100"/>
            <a:ext cx="6518495" cy="126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quation for calculating the mole fraction of 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339" y="5334000"/>
            <a:ext cx="6570393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9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340" y="944562"/>
            <a:ext cx="11758246" cy="5076093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A solution is prepared by mixing 25 g water (H</a:t>
            </a:r>
            <a:r>
              <a:rPr lang="en-US" baseline="-25000" dirty="0"/>
              <a:t>2</a:t>
            </a:r>
            <a:r>
              <a:rPr lang="en-US" dirty="0"/>
              <a:t>O), 25 g ethanol (C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5</a:t>
            </a:r>
            <a:r>
              <a:rPr lang="en-US" dirty="0"/>
              <a:t>OH). Calculate the mole fraction of each </a:t>
            </a:r>
            <a:r>
              <a:rPr lang="en-US" dirty="0" smtClean="0"/>
              <a:t>substance </a:t>
            </a:r>
            <a:r>
              <a:rPr lang="en-US" dirty="0"/>
              <a:t>in the </a:t>
            </a:r>
            <a:r>
              <a:rPr lang="en-US" dirty="0" smtClean="0"/>
              <a:t>solution.</a:t>
            </a:r>
            <a:endParaRPr lang="en-US" dirty="0"/>
          </a:p>
          <a:p>
            <a:pPr algn="just">
              <a:lnSpc>
                <a:spcPct val="200000"/>
              </a:lnSpc>
            </a:pPr>
            <a:r>
              <a:rPr lang="en-US" b="1" dirty="0" smtClean="0"/>
              <a:t>Solution</a:t>
            </a:r>
            <a:r>
              <a:rPr lang="en-US" dirty="0" smtClean="0"/>
              <a:t>: Total number of moles = </a:t>
            </a:r>
          </a:p>
          <a:p>
            <a:pPr algn="just">
              <a:lnSpc>
                <a:spcPct val="200000"/>
              </a:lnSpc>
            </a:pPr>
            <a:r>
              <a:rPr lang="en-US" dirty="0" smtClean="0"/>
              <a:t>Mole fraction of water =</a:t>
            </a:r>
          </a:p>
          <a:p>
            <a:pPr algn="just">
              <a:lnSpc>
                <a:spcPct val="200000"/>
              </a:lnSpc>
            </a:pPr>
            <a:r>
              <a:rPr lang="en-US" dirty="0" smtClean="0"/>
              <a:t> </a:t>
            </a:r>
            <a:r>
              <a:rPr lang="en-US" dirty="0"/>
              <a:t>Mole fraction of </a:t>
            </a:r>
            <a:r>
              <a:rPr lang="en-US" dirty="0" smtClean="0"/>
              <a:t>ethanol = </a:t>
            </a:r>
            <a:endParaRPr lang="en-US" dirty="0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b="1" spc="-190" dirty="0">
                <a:latin typeface="Aharoni" panose="02010803020104030203" pitchFamily="2" charset="-79"/>
                <a:cs typeface="Aharoni" panose="02010803020104030203" pitchFamily="2" charset="-79"/>
              </a:rPr>
              <a:t>Mole </a:t>
            </a:r>
            <a:r>
              <a:rPr lang="en-US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fraction numerical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654976" y="3034442"/>
                <a:ext cx="5386988" cy="58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25 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𝑤𝑎𝑡𝑒𝑟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18 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𝑀𝑊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𝑤𝑎𝑡𝑒𝑟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25 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𝑒𝑡h𝑎𝑛𝑜𝑙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46 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𝑀𝑊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𝑒𝑡h𝑎𝑛𝑜𝑙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400" dirty="0" smtClean="0"/>
                  <a:t> = 1.93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976" y="3034442"/>
                <a:ext cx="5386988" cy="588366"/>
              </a:xfrm>
              <a:prstGeom prst="rect">
                <a:avLst/>
              </a:prstGeom>
              <a:blipFill>
                <a:blip r:embed="rId2"/>
                <a:stretch>
                  <a:fillRect l="-113" t="-1042" r="-2378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476473" y="4044537"/>
                <a:ext cx="2617961" cy="550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𝑤𝑎𝑡𝑒𝑟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/18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1.93</m:t>
                        </m:r>
                      </m:den>
                    </m:f>
                  </m:oMath>
                </a14:m>
                <a:r>
                  <a:rPr lang="en-US" sz="2400" dirty="0" smtClean="0"/>
                  <a:t> = 0.72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473" y="4044537"/>
                <a:ext cx="2617961" cy="550343"/>
              </a:xfrm>
              <a:prstGeom prst="rect">
                <a:avLst/>
              </a:prstGeom>
              <a:blipFill>
                <a:blip r:embed="rId3"/>
                <a:stretch>
                  <a:fillRect r="-4651" b="-18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476473" y="5040949"/>
                <a:ext cx="2861682" cy="5406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25 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𝑒𝑡h𝑎𝑛𝑜𝑙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)/46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1.93</m:t>
                        </m:r>
                      </m:den>
                    </m:f>
                  </m:oMath>
                </a14:m>
                <a:r>
                  <a:rPr lang="en-US" sz="2400" dirty="0" smtClean="0"/>
                  <a:t> = 0.28</a:t>
                </a:r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473" y="5040949"/>
                <a:ext cx="2861682" cy="540661"/>
              </a:xfrm>
              <a:prstGeom prst="rect">
                <a:avLst/>
              </a:prstGeom>
              <a:blipFill>
                <a:blip r:embed="rId4"/>
                <a:stretch>
                  <a:fillRect t="-1124" r="-4255" b="-17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41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68300" y="5581610"/>
            <a:ext cx="118237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rgbClr val="FF0000"/>
                </a:solidFill>
              </a:rPr>
              <a:t>Note: When </a:t>
            </a:r>
            <a:r>
              <a:rPr lang="en-US" sz="2000" b="1" dirty="0">
                <a:solidFill>
                  <a:srgbClr val="FF0000"/>
                </a:solidFill>
              </a:rPr>
              <a:t>added </a:t>
            </a:r>
            <a:r>
              <a:rPr lang="en-US" sz="2000" b="1" dirty="0" smtClean="0">
                <a:solidFill>
                  <a:srgbClr val="FF0000"/>
                </a:solidFill>
              </a:rPr>
              <a:t>together the mole fractions </a:t>
            </a:r>
            <a:r>
              <a:rPr lang="en-US" sz="2000" b="1" dirty="0">
                <a:solidFill>
                  <a:srgbClr val="FF0000"/>
                </a:solidFill>
              </a:rPr>
              <a:t>(weight fraction) of each component in the </a:t>
            </a:r>
            <a:r>
              <a:rPr lang="en-US" sz="2000" b="1" dirty="0" smtClean="0">
                <a:solidFill>
                  <a:srgbClr val="FF0000"/>
                </a:solidFill>
              </a:rPr>
              <a:t>solution, the addition </a:t>
            </a:r>
            <a:r>
              <a:rPr lang="en-US" sz="2000" b="1" dirty="0">
                <a:solidFill>
                  <a:srgbClr val="FF0000"/>
                </a:solidFill>
              </a:rPr>
              <a:t>must equal </a:t>
            </a:r>
            <a:r>
              <a:rPr lang="en-US" sz="2000" b="1" dirty="0" smtClean="0">
                <a:solidFill>
                  <a:srgbClr val="FF0000"/>
                </a:solidFill>
              </a:rPr>
              <a:t>one. Thus, X</a:t>
            </a:r>
            <a:r>
              <a:rPr lang="en-US" sz="2000" b="1" baseline="-25000" dirty="0" smtClean="0">
                <a:solidFill>
                  <a:srgbClr val="FF0000"/>
                </a:solidFill>
              </a:rPr>
              <a:t>A </a:t>
            </a:r>
            <a:r>
              <a:rPr lang="en-US" sz="2000" b="1" dirty="0" smtClean="0">
                <a:solidFill>
                  <a:srgbClr val="FF0000"/>
                </a:solidFill>
              </a:rPr>
              <a:t>+ X</a:t>
            </a:r>
            <a:r>
              <a:rPr lang="en-US" sz="2000" b="1" baseline="-25000" dirty="0" smtClean="0">
                <a:solidFill>
                  <a:srgbClr val="FF0000"/>
                </a:solidFill>
              </a:rPr>
              <a:t>B</a:t>
            </a:r>
            <a:r>
              <a:rPr lang="en-US" sz="2000" b="1" dirty="0" smtClean="0">
                <a:solidFill>
                  <a:srgbClr val="FF0000"/>
                </a:solidFill>
              </a:rPr>
              <a:t> + X</a:t>
            </a:r>
            <a:r>
              <a:rPr lang="en-US" sz="2000" b="1" baseline="-25000" dirty="0" smtClean="0">
                <a:solidFill>
                  <a:srgbClr val="FF0000"/>
                </a:solidFill>
              </a:rPr>
              <a:t>C</a:t>
            </a:r>
            <a:r>
              <a:rPr lang="en-US" sz="2000" b="1" dirty="0" smtClean="0">
                <a:solidFill>
                  <a:srgbClr val="FF0000"/>
                </a:solidFill>
              </a:rPr>
              <a:t> ……. = 1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21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dirty="0"/>
              <a:t>The </a:t>
            </a:r>
            <a:r>
              <a:rPr lang="en-US" dirty="0" smtClean="0"/>
              <a:t>mass </a:t>
            </a:r>
            <a:r>
              <a:rPr lang="en-US" dirty="0"/>
              <a:t>fraction, </a:t>
            </a:r>
            <a:r>
              <a:rPr lang="en-US" dirty="0" smtClean="0"/>
              <a:t>Y, (or weight fraction) of </a:t>
            </a:r>
            <a:r>
              <a:rPr lang="en-US" dirty="0"/>
              <a:t>a component in a solution is the ratio of the </a:t>
            </a:r>
            <a:r>
              <a:rPr lang="en-US" dirty="0" smtClean="0"/>
              <a:t>mass </a:t>
            </a:r>
            <a:r>
              <a:rPr lang="en-US" dirty="0"/>
              <a:t>of </a:t>
            </a:r>
            <a:r>
              <a:rPr lang="en-US" dirty="0" smtClean="0"/>
              <a:t>that </a:t>
            </a:r>
            <a:r>
              <a:rPr lang="en-US" dirty="0"/>
              <a:t>component to the total </a:t>
            </a:r>
            <a:r>
              <a:rPr lang="en-US" dirty="0" smtClean="0"/>
              <a:t>mass of </a:t>
            </a:r>
            <a:r>
              <a:rPr lang="en-US" dirty="0"/>
              <a:t>all components in the solution.</a:t>
            </a:r>
          </a:p>
          <a:p>
            <a:pPr algn="just">
              <a:lnSpc>
                <a:spcPct val="200000"/>
              </a:lnSpc>
            </a:pPr>
            <a:r>
              <a:rPr lang="en-US" dirty="0" smtClean="0"/>
              <a:t>To </a:t>
            </a:r>
            <a:r>
              <a:rPr lang="en-US" dirty="0"/>
              <a:t>calculate </a:t>
            </a:r>
            <a:r>
              <a:rPr lang="en-US" dirty="0" smtClean="0"/>
              <a:t>mass </a:t>
            </a:r>
            <a:r>
              <a:rPr lang="en-US" dirty="0"/>
              <a:t>fraction, we need to </a:t>
            </a:r>
            <a:r>
              <a:rPr lang="en-US" dirty="0" smtClean="0"/>
              <a:t>know the masses of </a:t>
            </a:r>
            <a:r>
              <a:rPr lang="en-US" dirty="0"/>
              <a:t>each component present in the solution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400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Mass fraction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99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2" y="1594338"/>
            <a:ext cx="11758246" cy="5076093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dirty="0" smtClean="0"/>
              <a:t>The mass </a:t>
            </a:r>
            <a:r>
              <a:rPr lang="en-US" dirty="0"/>
              <a:t>fraction of </a:t>
            </a:r>
            <a:r>
              <a:rPr lang="en-US" dirty="0" smtClean="0"/>
              <a:t>component A</a:t>
            </a:r>
            <a:r>
              <a:rPr lang="en-US" dirty="0"/>
              <a:t>, </a:t>
            </a:r>
            <a:r>
              <a:rPr lang="en-US" dirty="0" smtClean="0"/>
              <a:t>Y</a:t>
            </a:r>
            <a:r>
              <a:rPr lang="en-US" baseline="-25000" dirty="0" smtClean="0"/>
              <a:t>A</a:t>
            </a:r>
            <a:r>
              <a:rPr lang="en-US" dirty="0"/>
              <a:t>, in a solution consisting of A, B, C, ... is calculated using the equation:</a:t>
            </a: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algn="just">
              <a:lnSpc>
                <a:spcPct val="200000"/>
              </a:lnSpc>
            </a:pPr>
            <a:r>
              <a:rPr lang="en-US" dirty="0" smtClean="0"/>
              <a:t>Similarly, mass </a:t>
            </a:r>
            <a:r>
              <a:rPr lang="en-US" dirty="0"/>
              <a:t>fraction of B, </a:t>
            </a:r>
            <a:r>
              <a:rPr lang="en-US" dirty="0" smtClean="0"/>
              <a:t>Y</a:t>
            </a:r>
            <a:r>
              <a:rPr lang="en-US" baseline="-25000" dirty="0" smtClean="0"/>
              <a:t>B</a:t>
            </a:r>
            <a:r>
              <a:rPr lang="en-US" dirty="0"/>
              <a:t>, </a:t>
            </a:r>
            <a:r>
              <a:rPr lang="en-US" dirty="0" smtClean="0"/>
              <a:t>can be </a:t>
            </a:r>
            <a:r>
              <a:rPr lang="en-US" dirty="0"/>
              <a:t>calculated using the equation: </a:t>
            </a: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400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Mass fraction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911776" y="3507998"/>
                <a:ext cx="6569171" cy="5772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 smtClean="0"/>
                  <a:t>Mass fraction Y</a:t>
                </a:r>
                <a:r>
                  <a:rPr lang="en-US" sz="2400" baseline="-25000" dirty="0" smtClean="0"/>
                  <a:t>A</a:t>
                </a:r>
                <a:r>
                  <a:rPr lang="en-US" sz="24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𝑚𝑎𝑠𝑠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𝑚𝑎𝑠𝑠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 ……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776" y="3507998"/>
                <a:ext cx="6569171" cy="577274"/>
              </a:xfrm>
              <a:prstGeom prst="rect">
                <a:avLst/>
              </a:prstGeom>
              <a:blipFill>
                <a:blip r:embed="rId2"/>
                <a:stretch>
                  <a:fillRect l="-2878" b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911775" y="5710295"/>
                <a:ext cx="6569171" cy="5772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 smtClean="0"/>
                  <a:t>Mass fraction Y</a:t>
                </a:r>
                <a:r>
                  <a:rPr lang="en-US" sz="2400" baseline="-25000" dirty="0" smtClean="0"/>
                  <a:t>B</a:t>
                </a:r>
                <a:r>
                  <a:rPr lang="en-US" sz="24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𝑚𝑎𝑠𝑠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𝑚𝑎𝑠𝑠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 ……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775" y="5710295"/>
                <a:ext cx="6569171" cy="577274"/>
              </a:xfrm>
              <a:prstGeom prst="rect">
                <a:avLst/>
              </a:prstGeom>
              <a:blipFill>
                <a:blip r:embed="rId3"/>
                <a:stretch>
                  <a:fillRect l="-2878" t="-1064" b="-11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4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067" y="745331"/>
            <a:ext cx="11758246" cy="5076093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What is the mass fraction (weight fraction) of sodium chloride in an aqueous solution containing 560 mg of sodium chloride and 10.4 g of water?</a:t>
            </a:r>
          </a:p>
          <a:p>
            <a:pPr algn="just">
              <a:lnSpc>
                <a:spcPct val="200000"/>
              </a:lnSpc>
            </a:pPr>
            <a:r>
              <a:rPr lang="en-US" b="1" dirty="0" smtClean="0"/>
              <a:t>Solution</a:t>
            </a:r>
            <a:r>
              <a:rPr lang="en-US" dirty="0" smtClean="0"/>
              <a:t>: Total mass = </a:t>
            </a:r>
          </a:p>
          <a:p>
            <a:pPr algn="just">
              <a:lnSpc>
                <a:spcPct val="200000"/>
              </a:lnSpc>
            </a:pPr>
            <a:r>
              <a:rPr lang="en-US" dirty="0" smtClean="0"/>
              <a:t>Mass fraction of water =</a:t>
            </a:r>
          </a:p>
          <a:p>
            <a:pPr algn="just">
              <a:lnSpc>
                <a:spcPct val="200000"/>
              </a:lnSpc>
            </a:pPr>
            <a:r>
              <a:rPr lang="en-US" dirty="0" smtClean="0"/>
              <a:t>Mole </a:t>
            </a:r>
            <a:r>
              <a:rPr lang="en-US" dirty="0"/>
              <a:t>fraction of </a:t>
            </a:r>
            <a:r>
              <a:rPr lang="en-US" dirty="0" err="1" smtClean="0"/>
              <a:t>NaCl</a:t>
            </a:r>
            <a:r>
              <a:rPr lang="en-US" dirty="0" smtClean="0"/>
              <a:t>  = </a:t>
            </a:r>
            <a:endParaRPr lang="en-US" dirty="0"/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55663" y="4003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b="1" spc="-190" dirty="0" smtClean="0">
                <a:latin typeface="Aharoni" panose="02010803020104030203" pitchFamily="2" charset="-79"/>
                <a:cs typeface="Aharoni" panose="02010803020104030203" pitchFamily="2" charset="-79"/>
              </a:rPr>
              <a:t>Mass fraction numerical</a:t>
            </a:r>
            <a:endParaRPr sz="4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46642" y="2914045"/>
                <a:ext cx="58918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0.4 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𝑤𝑎𝑡𝑒𝑟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+560×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𝑁𝑎𝐶𝑙</m:t>
                    </m:r>
                  </m:oMath>
                </a14:m>
                <a:r>
                  <a:rPr lang="en-US" sz="2400" dirty="0" smtClean="0"/>
                  <a:t> = 10.96 g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642" y="2914045"/>
                <a:ext cx="5891869" cy="369332"/>
              </a:xfrm>
              <a:prstGeom prst="rect">
                <a:avLst/>
              </a:prstGeom>
              <a:blipFill>
                <a:blip r:embed="rId2"/>
                <a:stretch>
                  <a:fillRect l="-1758" t="-24590" r="-2275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332155" y="3838405"/>
                <a:ext cx="2423997" cy="5507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10.4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𝑤𝑎𝑡𝑒𝑟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10.96</m:t>
                        </m:r>
                      </m:den>
                    </m:f>
                  </m:oMath>
                </a14:m>
                <a:r>
                  <a:rPr lang="en-US" sz="2400" dirty="0" smtClean="0"/>
                  <a:t> = 0.95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155" y="3838405"/>
                <a:ext cx="2423997" cy="550728"/>
              </a:xfrm>
              <a:prstGeom prst="rect">
                <a:avLst/>
              </a:prstGeom>
              <a:blipFill>
                <a:blip r:embed="rId3"/>
                <a:stretch>
                  <a:fillRect r="-5038" b="-1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32155" y="4944161"/>
                <a:ext cx="2242922" cy="5410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0.56 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𝑁𝑎𝐶𝑙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10.96</m:t>
                        </m:r>
                      </m:den>
                    </m:f>
                  </m:oMath>
                </a14:m>
                <a:r>
                  <a:rPr lang="en-US" sz="2400" dirty="0" smtClean="0"/>
                  <a:t> = 0.05</a:t>
                </a:r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155" y="4944161"/>
                <a:ext cx="2242922" cy="541046"/>
              </a:xfrm>
              <a:prstGeom prst="rect">
                <a:avLst/>
              </a:prstGeom>
              <a:blipFill>
                <a:blip r:embed="rId4"/>
                <a:stretch>
                  <a:fillRect r="-7609" b="-19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368300" y="5566953"/>
            <a:ext cx="118237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rgbClr val="FF0000"/>
                </a:solidFill>
              </a:rPr>
              <a:t>Note: When </a:t>
            </a:r>
            <a:r>
              <a:rPr lang="en-US" sz="2000" b="1" dirty="0">
                <a:solidFill>
                  <a:srgbClr val="FF0000"/>
                </a:solidFill>
              </a:rPr>
              <a:t>added </a:t>
            </a:r>
            <a:r>
              <a:rPr lang="en-US" sz="2000" b="1" dirty="0" smtClean="0">
                <a:solidFill>
                  <a:srgbClr val="FF0000"/>
                </a:solidFill>
              </a:rPr>
              <a:t>together the </a:t>
            </a:r>
            <a:r>
              <a:rPr lang="en-US" sz="2000" b="1" dirty="0">
                <a:solidFill>
                  <a:srgbClr val="FF0000"/>
                </a:solidFill>
              </a:rPr>
              <a:t>mass </a:t>
            </a:r>
            <a:r>
              <a:rPr lang="en-US" sz="2000" b="1" dirty="0" smtClean="0">
                <a:solidFill>
                  <a:srgbClr val="FF0000"/>
                </a:solidFill>
              </a:rPr>
              <a:t>fractions </a:t>
            </a:r>
            <a:r>
              <a:rPr lang="en-US" sz="2000" b="1" dirty="0">
                <a:solidFill>
                  <a:srgbClr val="FF0000"/>
                </a:solidFill>
              </a:rPr>
              <a:t>(weight fraction) of each component in the </a:t>
            </a:r>
            <a:r>
              <a:rPr lang="en-US" sz="2000" b="1" dirty="0" smtClean="0">
                <a:solidFill>
                  <a:srgbClr val="FF0000"/>
                </a:solidFill>
              </a:rPr>
              <a:t>solution, the addition </a:t>
            </a:r>
            <a:r>
              <a:rPr lang="en-US" sz="2000" b="1" dirty="0">
                <a:solidFill>
                  <a:srgbClr val="FF0000"/>
                </a:solidFill>
              </a:rPr>
              <a:t>must equal </a:t>
            </a:r>
            <a:r>
              <a:rPr lang="en-US" sz="2000" b="1" dirty="0" smtClean="0">
                <a:solidFill>
                  <a:srgbClr val="FF0000"/>
                </a:solidFill>
              </a:rPr>
              <a:t>one. Thus, </a:t>
            </a:r>
            <a:r>
              <a:rPr lang="en-US" sz="2000" b="1" dirty="0">
                <a:solidFill>
                  <a:srgbClr val="FF0000"/>
                </a:solidFill>
              </a:rPr>
              <a:t>Y</a:t>
            </a:r>
            <a:r>
              <a:rPr lang="en-US" sz="2000" b="1" baseline="-25000" dirty="0">
                <a:solidFill>
                  <a:srgbClr val="FF0000"/>
                </a:solidFill>
              </a:rPr>
              <a:t>A </a:t>
            </a:r>
            <a:r>
              <a:rPr lang="en-US" sz="2000" b="1" dirty="0" smtClean="0">
                <a:solidFill>
                  <a:srgbClr val="FF0000"/>
                </a:solidFill>
              </a:rPr>
              <a:t>+ Y</a:t>
            </a:r>
            <a:r>
              <a:rPr lang="en-US" sz="2000" b="1" baseline="-25000" dirty="0" smtClean="0">
                <a:solidFill>
                  <a:srgbClr val="FF0000"/>
                </a:solidFill>
              </a:rPr>
              <a:t>B</a:t>
            </a:r>
            <a:r>
              <a:rPr lang="en-US" sz="2000" b="1" dirty="0" smtClean="0">
                <a:solidFill>
                  <a:srgbClr val="FF0000"/>
                </a:solidFill>
              </a:rPr>
              <a:t> + Y</a:t>
            </a:r>
            <a:r>
              <a:rPr lang="en-US" sz="2000" b="1" baseline="-25000" dirty="0" smtClean="0">
                <a:solidFill>
                  <a:srgbClr val="FF0000"/>
                </a:solidFill>
              </a:rPr>
              <a:t>C</a:t>
            </a:r>
            <a:r>
              <a:rPr lang="en-US" sz="2000" b="1" dirty="0" smtClean="0">
                <a:solidFill>
                  <a:srgbClr val="FF0000"/>
                </a:solidFill>
              </a:rPr>
              <a:t> ……. = 1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Solutions &amp; Stoichiometry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30A1-9A02-46E4-BD0E-4B7A607F198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2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2381</Words>
  <Application>Microsoft Office PowerPoint</Application>
  <PresentationFormat>Widescreen</PresentationFormat>
  <Paragraphs>326</Paragraphs>
  <Slides>44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Aharoni</vt:lpstr>
      <vt:lpstr>Arial</vt:lpstr>
      <vt:lpstr>Calibri</vt:lpstr>
      <vt:lpstr>Calibri Light</vt:lpstr>
      <vt:lpstr>Cambria Math</vt:lpstr>
      <vt:lpstr>Carlito</vt:lpstr>
      <vt:lpstr>Times New Roman</vt:lpstr>
      <vt:lpstr>Office Theme</vt:lpstr>
      <vt:lpstr>Solutions &amp; Stoichiometry </vt:lpstr>
      <vt:lpstr>Solutions</vt:lpstr>
      <vt:lpstr>Types of solutions</vt:lpstr>
      <vt:lpstr>Types of solutions</vt:lpstr>
      <vt:lpstr>Types of solutions</vt:lpstr>
      <vt:lpstr>Types of solutions</vt:lpstr>
      <vt:lpstr>Types of solutions</vt:lpstr>
      <vt:lpstr>Types of solutions</vt:lpstr>
      <vt:lpstr>Properties of solutions</vt:lpstr>
      <vt:lpstr>Properties of solutions</vt:lpstr>
      <vt:lpstr>Properties of solutions</vt:lpstr>
      <vt:lpstr>Properties of solutions</vt:lpstr>
      <vt:lpstr>Properties of solutions</vt:lpstr>
      <vt:lpstr>Properties of solutions</vt:lpstr>
      <vt:lpstr>Properties of solutions</vt:lpstr>
      <vt:lpstr>Properties of solutions</vt:lpstr>
      <vt:lpstr>Properties of solutions</vt:lpstr>
      <vt:lpstr>Concentration - the amount of substance</vt:lpstr>
      <vt:lpstr>Concentration of homogenous solutions</vt:lpstr>
      <vt:lpstr>Biological importance of concentration</vt:lpstr>
      <vt:lpstr>Preparing a solution of known concentration</vt:lpstr>
      <vt:lpstr>Concentration (various units)</vt:lpstr>
      <vt:lpstr>PowerPoint Presentation</vt:lpstr>
      <vt:lpstr>Concentration numerical</vt:lpstr>
      <vt:lpstr>Concentration numerical</vt:lpstr>
      <vt:lpstr>Concentration numerical</vt:lpstr>
      <vt:lpstr>Expressing concentration in terms of molarity</vt:lpstr>
      <vt:lpstr>Concentration numerical</vt:lpstr>
      <vt:lpstr>Concentration numerical</vt:lpstr>
      <vt:lpstr>Concentration (normality)</vt:lpstr>
      <vt:lpstr>Concentration numerical (normality)</vt:lpstr>
      <vt:lpstr>Concentration normality numerical</vt:lpstr>
      <vt:lpstr>Concentration molarity &amp; normality numerical</vt:lpstr>
      <vt:lpstr>Concentration (molality)</vt:lpstr>
      <vt:lpstr>Concentration</vt:lpstr>
      <vt:lpstr>Concentration</vt:lpstr>
      <vt:lpstr>Concentration</vt:lpstr>
      <vt:lpstr>Concentration</vt:lpstr>
      <vt:lpstr>Mole fraction</vt:lpstr>
      <vt:lpstr>Mole fraction</vt:lpstr>
      <vt:lpstr>Mole fraction numerical</vt:lpstr>
      <vt:lpstr>Mass fraction</vt:lpstr>
      <vt:lpstr>Mass fraction</vt:lpstr>
      <vt:lpstr>Mass fraction numerical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Solutions &amp; Stoichiometry </dc:title>
  <dc:creator>Chandan Maitrani</dc:creator>
  <cp:lastModifiedBy>Chandan Maitrani</cp:lastModifiedBy>
  <cp:revision>91</cp:revision>
  <dcterms:created xsi:type="dcterms:W3CDTF">2022-01-06T08:36:59Z</dcterms:created>
  <dcterms:modified xsi:type="dcterms:W3CDTF">2022-12-05T11:12:08Z</dcterms:modified>
</cp:coreProperties>
</file>