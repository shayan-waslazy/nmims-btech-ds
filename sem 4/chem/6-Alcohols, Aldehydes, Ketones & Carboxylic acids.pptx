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8"/>
  </p:notesMasterIdLst>
  <p:sldIdLst>
    <p:sldId id="256" r:id="rId5"/>
    <p:sldId id="283" r:id="rId6"/>
    <p:sldId id="284" r:id="rId7"/>
    <p:sldId id="338" r:id="rId8"/>
    <p:sldId id="319" r:id="rId9"/>
    <p:sldId id="327" r:id="rId10"/>
    <p:sldId id="322" r:id="rId11"/>
    <p:sldId id="320" r:id="rId12"/>
    <p:sldId id="328" r:id="rId13"/>
    <p:sldId id="287" r:id="rId14"/>
    <p:sldId id="340" r:id="rId15"/>
    <p:sldId id="315" r:id="rId16"/>
    <p:sldId id="316" r:id="rId17"/>
    <p:sldId id="339" r:id="rId18"/>
    <p:sldId id="314" r:id="rId19"/>
    <p:sldId id="317" r:id="rId20"/>
    <p:sldId id="288" r:id="rId21"/>
    <p:sldId id="341" r:id="rId22"/>
    <p:sldId id="342" r:id="rId23"/>
    <p:sldId id="343" r:id="rId24"/>
    <p:sldId id="344" r:id="rId25"/>
    <p:sldId id="345" r:id="rId26"/>
    <p:sldId id="346" r:id="rId27"/>
    <p:sldId id="347" r:id="rId28"/>
    <p:sldId id="348" r:id="rId29"/>
    <p:sldId id="349" r:id="rId30"/>
    <p:sldId id="350" r:id="rId31"/>
    <p:sldId id="351" r:id="rId32"/>
    <p:sldId id="352" r:id="rId33"/>
    <p:sldId id="353" r:id="rId34"/>
    <p:sldId id="354" r:id="rId35"/>
    <p:sldId id="355" r:id="rId36"/>
    <p:sldId id="356" r:id="rId37"/>
    <p:sldId id="357" r:id="rId38"/>
    <p:sldId id="358" r:id="rId39"/>
    <p:sldId id="359" r:id="rId40"/>
    <p:sldId id="360" r:id="rId41"/>
    <p:sldId id="361" r:id="rId42"/>
    <p:sldId id="362" r:id="rId43"/>
    <p:sldId id="363" r:id="rId44"/>
    <p:sldId id="364" r:id="rId45"/>
    <p:sldId id="365" r:id="rId46"/>
    <p:sldId id="366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910FA5-2647-4A73-871A-31D7A19E3ED4}" v="8" dt="2021-11-12T17:28:20.4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ef7a4d1d7a24677c49c047adadd575e891a9321c04033f1515b3687e1c5b5ea4::" providerId="AD" clId="Web-{E3C68CD3-2ACC-25DF-3ED7-68FE94763BB8}"/>
    <pc:docChg chg="modSld">
      <pc:chgData name="Guest User" userId="S::urn:spo:anon#ef7a4d1d7a24677c49c047adadd575e891a9321c04033f1515b3687e1c5b5ea4::" providerId="AD" clId="Web-{E3C68CD3-2ACC-25DF-3ED7-68FE94763BB8}" dt="2023-03-17T05:08:34.250" v="0" actId="1076"/>
      <pc:docMkLst>
        <pc:docMk/>
      </pc:docMkLst>
      <pc:sldChg chg="modSp">
        <pc:chgData name="Guest User" userId="S::urn:spo:anon#ef7a4d1d7a24677c49c047adadd575e891a9321c04033f1515b3687e1c5b5ea4::" providerId="AD" clId="Web-{E3C68CD3-2ACC-25DF-3ED7-68FE94763BB8}" dt="2023-03-17T05:08:34.250" v="0" actId="1076"/>
        <pc:sldMkLst>
          <pc:docMk/>
          <pc:sldMk cId="1726125480" sldId="320"/>
        </pc:sldMkLst>
        <pc:graphicFrameChg chg="mod">
          <ac:chgData name="Guest User" userId="S::urn:spo:anon#ef7a4d1d7a24677c49c047adadd575e891a9321c04033f1515b3687e1c5b5ea4::" providerId="AD" clId="Web-{E3C68CD3-2ACC-25DF-3ED7-68FE94763BB8}" dt="2023-03-17T05:08:34.250" v="0" actId="1076"/>
          <ac:graphicFrameMkLst>
            <pc:docMk/>
            <pc:sldMk cId="1726125480" sldId="320"/>
            <ac:graphicFrameMk id="8" creationId="{00000000-0000-0000-0000-000000000000}"/>
          </ac:graphicFrameMkLst>
        </pc:graphicFrameChg>
      </pc:sldChg>
    </pc:docChg>
  </pc:docChgLst>
  <pc:docChgLst>
    <pc:chgData name="VIDHAAN BOHRA - 70312000063" userId="S::vidhaan.bohra63@svkmmumbai.onmicrosoft.com::c573e656-4f94-44d0-a23e-2ac7cef366af" providerId="AD" clId="Web-{6B910FA5-2647-4A73-871A-31D7A19E3ED4}"/>
    <pc:docChg chg="modSld">
      <pc:chgData name="VIDHAAN BOHRA - 70312000063" userId="S::vidhaan.bohra63@svkmmumbai.onmicrosoft.com::c573e656-4f94-44d0-a23e-2ac7cef366af" providerId="AD" clId="Web-{6B910FA5-2647-4A73-871A-31D7A19E3ED4}" dt="2021-11-12T17:28:18.610" v="5" actId="20577"/>
      <pc:docMkLst>
        <pc:docMk/>
      </pc:docMkLst>
      <pc:sldChg chg="modSp">
        <pc:chgData name="VIDHAAN BOHRA - 70312000063" userId="S::vidhaan.bohra63@svkmmumbai.onmicrosoft.com::c573e656-4f94-44d0-a23e-2ac7cef366af" providerId="AD" clId="Web-{6B910FA5-2647-4A73-871A-31D7A19E3ED4}" dt="2021-11-12T17:13:27.844" v="4" actId="14100"/>
        <pc:sldMkLst>
          <pc:docMk/>
          <pc:sldMk cId="3188845067" sldId="284"/>
        </pc:sldMkLst>
        <pc:spChg chg="mod">
          <ac:chgData name="VIDHAAN BOHRA - 70312000063" userId="S::vidhaan.bohra63@svkmmumbai.onmicrosoft.com::c573e656-4f94-44d0-a23e-2ac7cef366af" providerId="AD" clId="Web-{6B910FA5-2647-4A73-871A-31D7A19E3ED4}" dt="2021-11-12T17:13:27.844" v="4" actId="14100"/>
          <ac:spMkLst>
            <pc:docMk/>
            <pc:sldMk cId="3188845067" sldId="284"/>
            <ac:spMk id="3" creationId="{00000000-0000-0000-0000-000000000000}"/>
          </ac:spMkLst>
        </pc:spChg>
      </pc:sldChg>
      <pc:sldChg chg="modSp">
        <pc:chgData name="VIDHAAN BOHRA - 70312000063" userId="S::vidhaan.bohra63@svkmmumbai.onmicrosoft.com::c573e656-4f94-44d0-a23e-2ac7cef366af" providerId="AD" clId="Web-{6B910FA5-2647-4A73-871A-31D7A19E3ED4}" dt="2021-11-12T17:28:18.610" v="5" actId="20577"/>
        <pc:sldMkLst>
          <pc:docMk/>
          <pc:sldMk cId="751571613" sldId="317"/>
        </pc:sldMkLst>
        <pc:spChg chg="mod">
          <ac:chgData name="VIDHAAN BOHRA - 70312000063" userId="S::vidhaan.bohra63@svkmmumbai.onmicrosoft.com::c573e656-4f94-44d0-a23e-2ac7cef366af" providerId="AD" clId="Web-{6B910FA5-2647-4A73-871A-31D7A19E3ED4}" dt="2021-11-12T17:28:18.610" v="5" actId="20577"/>
          <ac:spMkLst>
            <pc:docMk/>
            <pc:sldMk cId="751571613" sldId="317"/>
            <ac:spMk id="2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2.98804" units="1/cm"/>
          <inkml:channelProperty channel="Y" name="resolution" value="650.78448" units="1/cm"/>
          <inkml:channelProperty channel="T" name="resolution" value="1" units="1/dev"/>
        </inkml:channelProperties>
      </inkml:inkSource>
      <inkml:timestamp xml:id="ts0" timeString="2022-11-09T06:30:41.8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32987 7167 0,'0'0'0,"0"0"0,0 0 16,0 0-16,0 0 0,0 0 15,0 0-15,0 0 16,0 0-16,0 0 16,0 0-16,0 0 15,1 1-15,-1-1 16,3 1-16,3 2 0,-6-3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8FD816-FA8E-4A62-824E-BE647459352D}" type="datetimeFigureOut">
              <a:rPr lang="en-US" smtClean="0"/>
              <a:pPr/>
              <a:t>3/16/2023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6107EC-F445-49D1-8E12-10F7232335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35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6107EC-F445-49D1-8E12-10F7232335D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93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B6206-AF6F-43E0-81A6-C00EA4CF580B}" type="datetimeFigureOut">
              <a:rPr lang="en-US" smtClean="0"/>
              <a:pPr/>
              <a:t>3/16/2023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3CEF-C45C-46CB-8651-E80F85835B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95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B6206-AF6F-43E0-81A6-C00EA4CF580B}" type="datetimeFigureOut">
              <a:rPr lang="en-US" smtClean="0"/>
              <a:pPr/>
              <a:t>3/16/2023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3CEF-C45C-46CB-8651-E80F85835B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507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B6206-AF6F-43E0-81A6-C00EA4CF580B}" type="datetimeFigureOut">
              <a:rPr lang="en-US" smtClean="0"/>
              <a:pPr/>
              <a:t>3/16/2023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3CEF-C45C-46CB-8651-E80F85835B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723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B6206-AF6F-43E0-81A6-C00EA4CF580B}" type="datetimeFigureOut">
              <a:rPr lang="en-US" smtClean="0"/>
              <a:pPr/>
              <a:t>3/16/2023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3CEF-C45C-46CB-8651-E80F85835B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337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B6206-AF6F-43E0-81A6-C00EA4CF580B}" type="datetimeFigureOut">
              <a:rPr lang="en-US" smtClean="0"/>
              <a:pPr/>
              <a:t>3/16/2023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3CEF-C45C-46CB-8651-E80F85835B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820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B6206-AF6F-43E0-81A6-C00EA4CF580B}" type="datetimeFigureOut">
              <a:rPr lang="en-US" smtClean="0"/>
              <a:pPr/>
              <a:t>3/16/2023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3CEF-C45C-46CB-8651-E80F85835B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216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B6206-AF6F-43E0-81A6-C00EA4CF580B}" type="datetimeFigureOut">
              <a:rPr lang="en-US" smtClean="0"/>
              <a:pPr/>
              <a:t>3/16/2023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3CEF-C45C-46CB-8651-E80F85835B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683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B6206-AF6F-43E0-81A6-C00EA4CF580B}" type="datetimeFigureOut">
              <a:rPr lang="en-US" smtClean="0"/>
              <a:pPr/>
              <a:t>3/16/2023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3CEF-C45C-46CB-8651-E80F85835B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98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B6206-AF6F-43E0-81A6-C00EA4CF580B}" type="datetimeFigureOut">
              <a:rPr lang="en-US" smtClean="0"/>
              <a:pPr/>
              <a:t>3/16/2023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3CEF-C45C-46CB-8651-E80F85835B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951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B6206-AF6F-43E0-81A6-C00EA4CF580B}" type="datetimeFigureOut">
              <a:rPr lang="en-US" smtClean="0"/>
              <a:pPr/>
              <a:t>3/16/2023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3CEF-C45C-46CB-8651-E80F85835B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511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B6206-AF6F-43E0-81A6-C00EA4CF580B}" type="datetimeFigureOut">
              <a:rPr lang="en-US" smtClean="0"/>
              <a:pPr/>
              <a:t>3/16/2023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3CEF-C45C-46CB-8651-E80F85835B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410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B6206-AF6F-43E0-81A6-C00EA4CF580B}" type="datetimeFigureOut">
              <a:rPr lang="en-US" smtClean="0"/>
              <a:pPr/>
              <a:t>3/16/2023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9F3CEF-C45C-46CB-8651-E80F85835B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29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7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9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13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6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8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21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emf"/><Relationship Id="rId4" Type="http://schemas.openxmlformats.org/officeDocument/2006/relationships/oleObject" Target="../embeddings/oleObject24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emf"/><Relationship Id="rId4" Type="http://schemas.openxmlformats.org/officeDocument/2006/relationships/oleObject" Target="../embeddings/oleObject26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image" Target="../media/image32.emf"/><Relationship Id="rId7" Type="http://schemas.openxmlformats.org/officeDocument/2006/relationships/image" Target="../media/image34.e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33.emf"/><Relationship Id="rId4" Type="http://schemas.openxmlformats.org/officeDocument/2006/relationships/oleObject" Target="../embeddings/oleObject28.bin"/><Relationship Id="rId14" Type="http://schemas.openxmlformats.org/officeDocument/2006/relationships/image" Target="../media/image51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emf"/><Relationship Id="rId4" Type="http://schemas.openxmlformats.org/officeDocument/2006/relationships/oleObject" Target="../embeddings/oleObject30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09075" y="2398426"/>
            <a:ext cx="9413823" cy="156966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effectLst>
            <a:glow>
              <a:schemeClr val="accent1">
                <a:alpha val="35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Alcohols, Aldehydes, Ketones &amp; Carboxylic Acids</a:t>
            </a:r>
          </a:p>
        </p:txBody>
      </p:sp>
    </p:spTree>
    <p:extLst>
      <p:ext uri="{BB962C8B-B14F-4D97-AF65-F5344CB8AC3E}">
        <p14:creationId xmlns:p14="http://schemas.microsoft.com/office/powerpoint/2010/main" val="1971067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735736" y="433058"/>
            <a:ext cx="8839200" cy="533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b="1" dirty="0">
                <a:solidFill>
                  <a:srgbClr val="C00000"/>
                </a:solidFill>
                <a:latin typeface="+mn-lt"/>
              </a:rPr>
              <a:t>Functional Groups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507105" y="1169739"/>
            <a:ext cx="11296461" cy="5562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200000"/>
              </a:lnSpc>
              <a:defRPr/>
            </a:pPr>
            <a:r>
              <a:rPr lang="en-US" dirty="0">
                <a:solidFill>
                  <a:srgbClr val="1184AD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Functional group:</a:t>
            </a:r>
            <a:r>
              <a:rPr lang="en-US" dirty="0"/>
              <a:t> An atom or group of atoms within a molecule that shows a characteristic set of physical and chemical properties.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dirty="0"/>
              <a:t>Functional groups are important for three reason; they are</a:t>
            </a:r>
          </a:p>
          <a:p>
            <a:pPr lvl="1" algn="just">
              <a:lnSpc>
                <a:spcPct val="200000"/>
              </a:lnSpc>
              <a:buFont typeface="Helvetica" panose="020B0604020202020204" pitchFamily="34" charset="0"/>
              <a:buNone/>
              <a:defRPr/>
            </a:pPr>
            <a:r>
              <a:rPr lang="en-US" dirty="0"/>
              <a:t>1. The units by which we divide organic compounds into classes</a:t>
            </a:r>
          </a:p>
          <a:p>
            <a:pPr lvl="1" algn="just">
              <a:lnSpc>
                <a:spcPct val="200000"/>
              </a:lnSpc>
              <a:buFont typeface="Helvetica" panose="020B0604020202020204" pitchFamily="34" charset="0"/>
              <a:buNone/>
              <a:defRPr/>
            </a:pPr>
            <a:r>
              <a:rPr lang="en-US" dirty="0"/>
              <a:t>2. The sites of characteristic chemical reactions</a:t>
            </a:r>
          </a:p>
          <a:p>
            <a:pPr lvl="1" algn="just">
              <a:lnSpc>
                <a:spcPct val="200000"/>
              </a:lnSpc>
              <a:buFont typeface="Helvetica" panose="020B0604020202020204" pitchFamily="34" charset="0"/>
              <a:buNone/>
              <a:defRPr/>
            </a:pPr>
            <a:r>
              <a:rPr lang="en-US" dirty="0"/>
              <a:t>3. The basis for naming organic compounds</a:t>
            </a:r>
          </a:p>
        </p:txBody>
      </p:sp>
    </p:spTree>
    <p:extLst>
      <p:ext uri="{BB962C8B-B14F-4D97-AF65-F5344CB8AC3E}">
        <p14:creationId xmlns:p14="http://schemas.microsoft.com/office/powerpoint/2010/main" val="558284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408368" y="127105"/>
            <a:ext cx="8839200" cy="533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b="1" dirty="0">
                <a:solidFill>
                  <a:srgbClr val="C00000"/>
                </a:solidFill>
                <a:latin typeface="+mn-lt"/>
              </a:rPr>
              <a:t>Alcohols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362262" y="645826"/>
            <a:ext cx="11539928" cy="49718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/>
            </a:pPr>
            <a:r>
              <a:rPr lang="en-US" dirty="0"/>
              <a:t>Alcohols are compound which contain an -OH (</a:t>
            </a:r>
            <a:r>
              <a:rPr lang="en-US" dirty="0">
                <a:solidFill>
                  <a:srgbClr val="1A73A4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hydroxyl</a:t>
            </a:r>
            <a:r>
              <a:rPr lang="en-US" dirty="0"/>
              <a:t>) group attached to saturated carbon atom.</a:t>
            </a:r>
          </a:p>
          <a:p>
            <a:pPr>
              <a:defRPr/>
            </a:pPr>
            <a:endParaRPr lang="en-US" dirty="0"/>
          </a:p>
          <a:p>
            <a:pPr marL="0" indent="0">
              <a:buNone/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buNone/>
              <a:defRPr/>
            </a:pPr>
            <a:endParaRPr lang="en-US" dirty="0"/>
          </a:p>
          <a:p>
            <a:pPr algn="just">
              <a:defRPr/>
            </a:pPr>
            <a:r>
              <a:rPr lang="en-US" dirty="0"/>
              <a:t>Ethanol may also be written as a </a:t>
            </a:r>
            <a:r>
              <a:rPr lang="en-US" dirty="0">
                <a:solidFill>
                  <a:srgbClr val="1A73A4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condensed structural formula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076890" y="1640654"/>
            <a:ext cx="9030843" cy="1684338"/>
            <a:chOff x="452201" y="1460500"/>
            <a:chExt cx="9030843" cy="1684338"/>
          </a:xfrm>
        </p:grpSpPr>
        <p:pic>
          <p:nvPicPr>
            <p:cNvPr id="4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201" y="1460500"/>
              <a:ext cx="5678775" cy="1684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20844" y="1460500"/>
              <a:ext cx="2362200" cy="165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2278" y="3982568"/>
            <a:ext cx="4191000" cy="37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-81481" y="4295836"/>
            <a:ext cx="1103668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Alcohols are classified as primary (1°), secondary (2°), or tertiary (3°) depending on the number of carbon atoms bonded to the carbon bearing the -OH group</a:t>
            </a:r>
          </a:p>
        </p:txBody>
      </p:sp>
      <p:graphicFrame>
        <p:nvGraphicFramePr>
          <p:cNvPr id="8194" name="Object 2"/>
          <p:cNvGraphicFramePr>
            <a:graphicFrameLocks noChangeAspect="1"/>
          </p:cNvGraphicFramePr>
          <p:nvPr/>
        </p:nvGraphicFramePr>
        <p:xfrm>
          <a:off x="2083633" y="5062276"/>
          <a:ext cx="6835515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5" imgW="3954094" imgH="1257890" progId="ChemDraw.Document.6.0">
                  <p:embed/>
                </p:oleObj>
              </mc:Choice>
              <mc:Fallback>
                <p:oleObj name="CS ChemDraw Drawing" r:id="rId5" imgW="3954094" imgH="1257890" progId="ChemDraw.Document.6.0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3633" y="5062276"/>
                        <a:ext cx="6835515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/>
          <p:nvPr/>
        </p:nvSpPr>
        <p:spPr>
          <a:xfrm>
            <a:off x="2203362" y="6362286"/>
            <a:ext cx="20626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primary (1° Alcohol)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27704" y="6392267"/>
            <a:ext cx="24005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secondary (2° Alcohol),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20844" y="6392267"/>
            <a:ext cx="21290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Tertiary (3°) Alcohol </a:t>
            </a:r>
          </a:p>
        </p:txBody>
      </p:sp>
    </p:spTree>
    <p:extLst>
      <p:ext uri="{BB962C8B-B14F-4D97-AF65-F5344CB8AC3E}">
        <p14:creationId xmlns:p14="http://schemas.microsoft.com/office/powerpoint/2010/main" val="3188845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4585" y="183603"/>
            <a:ext cx="5190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Identification Test for Alcohol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801" y="645268"/>
            <a:ext cx="106347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Dichromate Test—</a:t>
            </a:r>
          </a:p>
          <a:p>
            <a:r>
              <a:rPr lang="en-US" sz="2400" dirty="0"/>
              <a:t>Primary alcohols can be oxidized to aldehydes and gives Orange Colored Solution</a:t>
            </a:r>
            <a:r>
              <a:rPr lang="en-US" sz="2400" dirty="0">
                <a:latin typeface="Arial" panose="020B0604020202020204" pitchFamily="34" charset="0"/>
              </a:rPr>
              <a:t>.</a:t>
            </a:r>
            <a:endParaRPr lang="en-US" sz="2400" dirty="0"/>
          </a:p>
        </p:txBody>
      </p:sp>
      <p:graphicFrame>
        <p:nvGraphicFramePr>
          <p:cNvPr id="4" name="Object 1"/>
          <p:cNvGraphicFramePr>
            <a:graphicFrameLocks noChangeAspect="1"/>
          </p:cNvGraphicFramePr>
          <p:nvPr/>
        </p:nvGraphicFramePr>
        <p:xfrm>
          <a:off x="1213659" y="1468408"/>
          <a:ext cx="7049193" cy="2189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3927640" imgH="1115366" progId="ChemDraw.Document.6.0">
                  <p:embed/>
                </p:oleObj>
              </mc:Choice>
              <mc:Fallback>
                <p:oleObj name="CS ChemDraw Drawing" r:id="rId2" imgW="3927640" imgH="1115366" progId="ChemDraw.Document.6.0">
                  <p:embed/>
                  <p:pic>
                    <p:nvPicPr>
                      <p:cNvPr id="0" name="Picture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3659" y="1468408"/>
                        <a:ext cx="7049193" cy="21891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>
          <a:xfrm>
            <a:off x="415637" y="3707477"/>
            <a:ext cx="112960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Secondary alcohols can be oxidized to ketones gives green color solution,</a:t>
            </a:r>
          </a:p>
          <a:p>
            <a:r>
              <a:rPr lang="en-US" sz="2400" dirty="0"/>
              <a:t>Tertiary alcohol gives no color change.</a:t>
            </a: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1213658" y="4705004"/>
          <a:ext cx="7431577" cy="1928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4186243" imgH="1223879" progId="ChemDraw.Document.6.0">
                  <p:embed/>
                </p:oleObj>
              </mc:Choice>
              <mc:Fallback>
                <p:oleObj name="CS ChemDraw Drawing" r:id="rId4" imgW="4186243" imgH="1223879" progId="ChemDraw.Document.6.0">
                  <p:embed/>
                  <p:pic>
                    <p:nvPicPr>
                      <p:cNvPr id="0" name="Picture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3658" y="4705004"/>
                        <a:ext cx="7431577" cy="19285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09380" y="47443"/>
            <a:ext cx="54840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 b="1" dirty="0">
                <a:solidFill>
                  <a:srgbClr val="C00000"/>
                </a:solidFill>
              </a:rPr>
              <a:t>Methods of Preparation of Alcohols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00550" y="570663"/>
            <a:ext cx="107872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1. </a:t>
            </a:r>
            <a:r>
              <a:rPr lang="en-US" sz="2400" b="1" dirty="0"/>
              <a:t>By Hydration  of alkenes: </a:t>
            </a:r>
            <a:r>
              <a:rPr lang="en-US" sz="2400" dirty="0"/>
              <a:t>Alkenes react with </a:t>
            </a:r>
            <a:r>
              <a:rPr lang="en-US" sz="2400" dirty="0" err="1"/>
              <a:t>sulphuric</a:t>
            </a:r>
            <a:r>
              <a:rPr lang="en-US" sz="2400" dirty="0"/>
              <a:t> acid and followed by hydrolysis  gives alcohols.  </a:t>
            </a:r>
            <a:endParaRPr lang="en-US" sz="2400" dirty="0">
              <a:effectLst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94873" y="3779606"/>
            <a:ext cx="124118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ea typeface="Times New Roman" panose="02020603050405020304" pitchFamily="18" charset="0"/>
              </a:rPr>
              <a:t>2. </a:t>
            </a:r>
            <a:r>
              <a:rPr lang="en-US" sz="2400" b="1" dirty="0">
                <a:ea typeface="Times New Roman" panose="02020603050405020304" pitchFamily="18" charset="0"/>
              </a:rPr>
              <a:t>Hydroboration-Oxidation of Alkenes: </a:t>
            </a:r>
            <a:r>
              <a:rPr lang="en-US" sz="2400" dirty="0">
                <a:ea typeface="Times New Roman" panose="02020603050405020304" pitchFamily="18" charset="0"/>
              </a:rPr>
              <a:t>Alkenes reacts with </a:t>
            </a:r>
            <a:r>
              <a:rPr lang="en-US" sz="2400" dirty="0" err="1">
                <a:ea typeface="Times New Roman" panose="02020603050405020304" pitchFamily="18" charset="0"/>
              </a:rPr>
              <a:t>diborane</a:t>
            </a:r>
            <a:r>
              <a:rPr lang="en-US" sz="2400" dirty="0">
                <a:ea typeface="Times New Roman" panose="02020603050405020304" pitchFamily="18" charset="0"/>
              </a:rPr>
              <a:t> and followed by  reaction with  </a:t>
            </a:r>
            <a:r>
              <a:rPr lang="en-US" sz="2400" dirty="0"/>
              <a:t>Alkaline hydrogen peroxide gives an alcohol.</a:t>
            </a:r>
          </a:p>
        </p:txBody>
      </p:sp>
      <p:graphicFrame>
        <p:nvGraphicFramePr>
          <p:cNvPr id="6145" name="Object 1"/>
          <p:cNvGraphicFramePr>
            <a:graphicFrameLocks noChangeAspect="1"/>
          </p:cNvGraphicFramePr>
          <p:nvPr/>
        </p:nvGraphicFramePr>
        <p:xfrm>
          <a:off x="1304325" y="1379381"/>
          <a:ext cx="8694113" cy="2353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816015" imgH="2057164" progId="ChemDraw.Document.6.0">
                  <p:embed/>
                </p:oleObj>
              </mc:Choice>
              <mc:Fallback>
                <p:oleObj name="CS ChemDraw Drawing" r:id="rId2" imgW="4816015" imgH="2057164" progId="ChemDraw.Document.6.0">
                  <p:embed/>
                  <p:pic>
                    <p:nvPicPr>
                      <p:cNvPr id="0" name="Picture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4325" y="1379381"/>
                        <a:ext cx="8694113" cy="23531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1959390" y="4916774"/>
          <a:ext cx="6974747" cy="1738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3955714" imgH="1117525" progId="ChemDraw.Document.6.0">
                  <p:embed/>
                </p:oleObj>
              </mc:Choice>
              <mc:Fallback>
                <p:oleObj name="CS ChemDraw Drawing" r:id="rId4" imgW="3955714" imgH="1117525" progId="ChemDraw.Document.6.0">
                  <p:embed/>
                  <p:pic>
                    <p:nvPicPr>
                      <p:cNvPr id="0" name="Picture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9390" y="4916774"/>
                        <a:ext cx="6974747" cy="17388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595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50323" y="570663"/>
            <a:ext cx="102429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</a:rPr>
              <a:t>3.</a:t>
            </a:r>
            <a:r>
              <a:rPr lang="en-US" b="1" dirty="0">
                <a:latin typeface="Arial" panose="020B0604020202020204" pitchFamily="34" charset="0"/>
              </a:rPr>
              <a:t>Hydrolysis of Alkyl Halides: </a:t>
            </a:r>
            <a:r>
              <a:rPr lang="en-US" dirty="0">
                <a:latin typeface="Arial" panose="020B0604020202020204" pitchFamily="34" charset="0"/>
              </a:rPr>
              <a:t>Alkyl Halides react with aqueous sodium hydroxide to form alcohol</a:t>
            </a:r>
            <a:endParaRPr lang="en-US" dirty="0"/>
          </a:p>
        </p:txBody>
      </p:sp>
      <p:graphicFrame>
        <p:nvGraphicFramePr>
          <p:cNvPr id="460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6438534"/>
              </p:ext>
            </p:extLst>
          </p:nvPr>
        </p:nvGraphicFramePr>
        <p:xfrm>
          <a:off x="1866900" y="961553"/>
          <a:ext cx="6388100" cy="184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439178" imgH="1279755" progId="ChemDraw.Document.6.0">
                  <p:embed/>
                </p:oleObj>
              </mc:Choice>
              <mc:Fallback>
                <p:oleObj name="CS ChemDraw Drawing" r:id="rId2" imgW="4439178" imgH="1279755" progId="ChemDraw.Document.6.0">
                  <p:embed/>
                  <p:pic>
                    <p:nvPicPr>
                      <p:cNvPr id="0" name="Picture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900" y="961553"/>
                        <a:ext cx="6388100" cy="184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/>
        </p:nvSpPr>
        <p:spPr>
          <a:xfrm>
            <a:off x="396500" y="2997728"/>
            <a:ext cx="1171769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</a:rPr>
              <a:t>4 . </a:t>
            </a:r>
            <a:r>
              <a:rPr lang="en-US" b="1" dirty="0">
                <a:latin typeface="Arial" panose="020B0604020202020204" pitchFamily="34" charset="0"/>
              </a:rPr>
              <a:t>Reduction of  Aldehydes or Ketones: </a:t>
            </a:r>
            <a:r>
              <a:rPr lang="en-US" dirty="0">
                <a:latin typeface="Arial" panose="020B0604020202020204" pitchFamily="34" charset="0"/>
              </a:rPr>
              <a:t>Aldehyde on reduction gives primary alcohol and Ketone on reduction</a:t>
            </a:r>
          </a:p>
          <a:p>
            <a:r>
              <a:rPr lang="en-US" dirty="0">
                <a:latin typeface="Arial" panose="020B0604020202020204" pitchFamily="34" charset="0"/>
              </a:rPr>
              <a:t>     gives secondary alcohol</a:t>
            </a:r>
            <a:endParaRPr lang="en-US" dirty="0"/>
          </a:p>
        </p:txBody>
      </p:sp>
      <p:graphicFrame>
        <p:nvGraphicFramePr>
          <p:cNvPr id="4608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76032"/>
              </p:ext>
            </p:extLst>
          </p:nvPr>
        </p:nvGraphicFramePr>
        <p:xfrm>
          <a:off x="1677897" y="3767888"/>
          <a:ext cx="7946967" cy="28762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4123887" imgH="2481499" progId="ChemDraw.Document.6.0">
                  <p:embed/>
                </p:oleObj>
              </mc:Choice>
              <mc:Fallback>
                <p:oleObj name="CS ChemDraw Drawing" r:id="rId4" imgW="4123887" imgH="2481499" progId="ChemDraw.Document.6.0">
                  <p:embed/>
                  <p:pic>
                    <p:nvPicPr>
                      <p:cNvPr id="0" name="Picture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7897" y="3767888"/>
                        <a:ext cx="7946967" cy="28762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2909380" y="47443"/>
            <a:ext cx="54840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 b="1" dirty="0">
                <a:solidFill>
                  <a:srgbClr val="C00000"/>
                </a:solidFill>
              </a:rPr>
              <a:t>Methods of Preparation of Alcohols</a:t>
            </a:r>
            <a:endParaRPr lang="en-US" sz="28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1604" y="529208"/>
            <a:ext cx="123618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1. </a:t>
            </a:r>
            <a:r>
              <a:rPr lang="en-US" sz="2400" b="1" dirty="0"/>
              <a:t>Oxidation of Alcohols —</a:t>
            </a:r>
          </a:p>
          <a:p>
            <a:r>
              <a:rPr lang="en-US" sz="2400" dirty="0"/>
              <a:t>Primary alcohols can be oxidized to aldehydes</a:t>
            </a:r>
            <a:r>
              <a:rPr lang="en-US" dirty="0">
                <a:latin typeface="Arial" panose="020B0604020202020204" pitchFamily="34" charset="0"/>
              </a:rPr>
              <a:t>.</a:t>
            </a:r>
            <a:endParaRPr lang="en-US" dirty="0"/>
          </a:p>
        </p:txBody>
      </p:sp>
      <p:graphicFrame>
        <p:nvGraphicFramePr>
          <p:cNvPr id="48129" name="Object 1"/>
          <p:cNvGraphicFramePr>
            <a:graphicFrameLocks noChangeAspect="1"/>
          </p:cNvGraphicFramePr>
          <p:nvPr/>
        </p:nvGraphicFramePr>
        <p:xfrm>
          <a:off x="1213659" y="1468408"/>
          <a:ext cx="7049193" cy="2189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3927640" imgH="1115366" progId="ChemDraw.Document.6.0">
                  <p:embed/>
                </p:oleObj>
              </mc:Choice>
              <mc:Fallback>
                <p:oleObj name="CS ChemDraw Drawing" r:id="rId2" imgW="3927640" imgH="1115366" progId="ChemDraw.Document.6.0">
                  <p:embed/>
                  <p:pic>
                    <p:nvPicPr>
                      <p:cNvPr id="0" name="Picture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3659" y="1468408"/>
                        <a:ext cx="7049193" cy="21891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>
          <a:xfrm>
            <a:off x="382386" y="4006735"/>
            <a:ext cx="59395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Secondary alcohols can be oxidized to ketones</a:t>
            </a:r>
          </a:p>
        </p:txBody>
      </p:sp>
      <p:graphicFrame>
        <p:nvGraphicFramePr>
          <p:cNvPr id="48130" name="Object 2"/>
          <p:cNvGraphicFramePr>
            <a:graphicFrameLocks noChangeAspect="1"/>
          </p:cNvGraphicFramePr>
          <p:nvPr/>
        </p:nvGraphicFramePr>
        <p:xfrm>
          <a:off x="1213658" y="4705004"/>
          <a:ext cx="7431577" cy="1928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4186243" imgH="1223879" progId="ChemDraw.Document.6.0">
                  <p:embed/>
                </p:oleObj>
              </mc:Choice>
              <mc:Fallback>
                <p:oleObj name="CS ChemDraw Drawing" r:id="rId4" imgW="4186243" imgH="1223879" progId="ChemDraw.Document.6.0">
                  <p:embed/>
                  <p:pic>
                    <p:nvPicPr>
                      <p:cNvPr id="0" name="Picture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3658" y="4705004"/>
                        <a:ext cx="7431577" cy="19285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/>
        </p:nvSpPr>
        <p:spPr>
          <a:xfrm>
            <a:off x="4542409" y="180073"/>
            <a:ext cx="382027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Reactions of Alcohols</a:t>
            </a:r>
          </a:p>
        </p:txBody>
      </p:sp>
    </p:spTree>
    <p:extLst>
      <p:ext uri="{BB962C8B-B14F-4D97-AF65-F5344CB8AC3E}">
        <p14:creationId xmlns:p14="http://schemas.microsoft.com/office/powerpoint/2010/main" val="3853578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1019" y="618879"/>
            <a:ext cx="11646219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2. </a:t>
            </a:r>
            <a:r>
              <a:rPr lang="en-US" sz="2400" b="1" dirty="0"/>
              <a:t>Reduction of Alcohols: </a:t>
            </a:r>
            <a:r>
              <a:rPr lang="en-US" sz="2400" dirty="0"/>
              <a:t>Alcohols when treated with concentrated HI (Hydro Iodic    Acid ) in presence of red Phosphorus it gives alkane. </a:t>
            </a:r>
          </a:p>
        </p:txBody>
      </p:sp>
      <p:graphicFrame>
        <p:nvGraphicFramePr>
          <p:cNvPr id="3073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2873103"/>
              </p:ext>
            </p:extLst>
          </p:nvPr>
        </p:nvGraphicFramePr>
        <p:xfrm>
          <a:off x="1040061" y="1759602"/>
          <a:ext cx="9503763" cy="1861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5172067" imgH="1240615" progId="ChemDraw.Document.6.0">
                  <p:embed/>
                </p:oleObj>
              </mc:Choice>
              <mc:Fallback>
                <p:oleObj name="CS ChemDraw Drawing" r:id="rId2" imgW="5172067" imgH="1240615" progId="ChemDraw.Document.6.0">
                  <p:embed/>
                  <p:pic>
                    <p:nvPicPr>
                      <p:cNvPr id="0" name="Picture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0061" y="1759602"/>
                        <a:ext cx="9503763" cy="18611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1019" y="3562775"/>
            <a:ext cx="10551888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3. </a:t>
            </a:r>
            <a:r>
              <a:rPr lang="en-US" sz="2400" b="1" dirty="0"/>
              <a:t>Reaction of alcohol with </a:t>
            </a:r>
            <a:r>
              <a:rPr lang="en-US" sz="2400" b="1" dirty="0" err="1"/>
              <a:t>Thionyl</a:t>
            </a:r>
            <a:r>
              <a:rPr lang="en-US" sz="2400" b="1" dirty="0"/>
              <a:t> Chloride: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   Alcohol when react with Thionyl Chloride it gives alkyl chlorides</a:t>
            </a:r>
          </a:p>
        </p:txBody>
      </p:sp>
      <p:graphicFrame>
        <p:nvGraphicFramePr>
          <p:cNvPr id="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3225530"/>
              </p:ext>
            </p:extLst>
          </p:nvPr>
        </p:nvGraphicFramePr>
        <p:xfrm>
          <a:off x="1086602" y="4495256"/>
          <a:ext cx="7978723" cy="2187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5663359" imgH="1276246" progId="ChemDraw.Document.6.0">
                  <p:embed/>
                </p:oleObj>
              </mc:Choice>
              <mc:Fallback>
                <p:oleObj name="CS ChemDraw Drawing" r:id="rId4" imgW="5663359" imgH="1276246" progId="ChemDraw.Document.6.0">
                  <p:embed/>
                  <p:pic>
                    <p:nvPicPr>
                      <p:cNvPr id="0" name="Picture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6602" y="4495256"/>
                        <a:ext cx="7978723" cy="21874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4542409" y="180073"/>
            <a:ext cx="382027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Reactions of Alcohols</a:t>
            </a:r>
          </a:p>
        </p:txBody>
      </p:sp>
    </p:spTree>
    <p:extLst>
      <p:ext uri="{BB962C8B-B14F-4D97-AF65-F5344CB8AC3E}">
        <p14:creationId xmlns:p14="http://schemas.microsoft.com/office/powerpoint/2010/main" val="1726125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1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772237"/>
              </p:ext>
            </p:extLst>
          </p:nvPr>
        </p:nvGraphicFramePr>
        <p:xfrm>
          <a:off x="1683287" y="1400028"/>
          <a:ext cx="7822853" cy="206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5070839" imgH="1115366" progId="ChemDraw.Document.6.0">
                  <p:embed/>
                </p:oleObj>
              </mc:Choice>
              <mc:Fallback>
                <p:oleObj name="CS ChemDraw Drawing" r:id="rId2" imgW="5070839" imgH="1115366" progId="ChemDraw.Document.6.0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3287" y="1400028"/>
                        <a:ext cx="7822853" cy="206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60162" y="801711"/>
            <a:ext cx="119825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4 . </a:t>
            </a:r>
            <a:r>
              <a:rPr lang="en-US" sz="2400" b="1" dirty="0"/>
              <a:t>Dehydration:</a:t>
            </a:r>
            <a:r>
              <a:rPr lang="en-US" sz="2400" dirty="0"/>
              <a:t> Dehydration of alcohol in presence of Sulphuric Acid at 170°C gives an Alkene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0836" y="3464540"/>
            <a:ext cx="12081164" cy="1572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5) </a:t>
            </a:r>
            <a:r>
              <a:rPr lang="en-US" sz="2400" b="1" dirty="0"/>
              <a:t>Esterification: </a:t>
            </a:r>
            <a:r>
              <a:rPr lang="en-US" sz="2400" dirty="0"/>
              <a:t>Carboxylic acid when treated with  an alcohol in acidic medium Ester formation takes place</a:t>
            </a: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4313921"/>
              </p:ext>
            </p:extLst>
          </p:nvPr>
        </p:nvGraphicFramePr>
        <p:xfrm>
          <a:off x="1044081" y="4763094"/>
          <a:ext cx="9449378" cy="1805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6649453" imgH="1111047" progId="ChemDraw.Document.6.0">
                  <p:embed/>
                </p:oleObj>
              </mc:Choice>
              <mc:Fallback>
                <p:oleObj name="CS ChemDraw Drawing" r:id="rId4" imgW="6649453" imgH="1111047" progId="ChemDraw.Document.6.0">
                  <p:embed/>
                  <p:pic>
                    <p:nvPicPr>
                      <p:cNvPr id="1034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4081" y="4763094"/>
                        <a:ext cx="9449378" cy="18052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4542409" y="180073"/>
            <a:ext cx="382027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Reactions of Alcohols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477978" y="152400"/>
            <a:ext cx="8839200" cy="533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b="1" dirty="0">
                <a:solidFill>
                  <a:srgbClr val="C00000"/>
                </a:solidFill>
                <a:latin typeface="+mn-lt"/>
              </a:rPr>
              <a:t>Aldehydes and Ketones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52400" y="990600"/>
            <a:ext cx="8915400" cy="5562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endParaRPr lang="en-US" dirty="0">
              <a:solidFill>
                <a:srgbClr val="1A73A4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4646" y="4446350"/>
            <a:ext cx="1752600" cy="163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100" y="4446350"/>
            <a:ext cx="2438400" cy="172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52399" y="990600"/>
            <a:ext cx="11617106" cy="5562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/>
            </a:pPr>
            <a:r>
              <a:rPr lang="en-US" sz="2400" dirty="0"/>
              <a:t>Contain a </a:t>
            </a: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carbonyl (C=O) group </a:t>
            </a:r>
          </a:p>
          <a:p>
            <a:pPr algn="just">
              <a:defRPr/>
            </a:pP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When Carbonyl carbon is bonded to one hydrogen &amp; one alkyl group then it is called an Aldehyde</a:t>
            </a:r>
          </a:p>
          <a:p>
            <a:pPr algn="just">
              <a:defRPr/>
            </a:pP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When Carbonyl carbon is bonded to both alkyl group then it is called Ketone</a:t>
            </a:r>
          </a:p>
          <a:p>
            <a:pPr algn="just">
              <a:defRPr/>
            </a:pPr>
            <a:endParaRPr lang="en-US" sz="2400" dirty="0">
              <a:solidFill>
                <a:srgbClr val="1A73A4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049350"/>
            <a:ext cx="6858000" cy="139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8398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79082" y="208300"/>
            <a:ext cx="76393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Identification Test for  Aldehyde and Ketone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282633" y="866489"/>
            <a:ext cx="11200015" cy="1697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The reaction of 2,4-dinitrophenylhydrazine with an aldehyde or ketone in an acidic solution is a dependable and sensitive test.  Carbonyl compounds react with 2,4-dinitrophenylhydrazine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21156" y="5309649"/>
            <a:ext cx="113551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Aldehydes and Ketones produce red or  yellow  precipitate of dinitrophenylhydrazones.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662924" y="2666228"/>
            <a:ext cx="10674821" cy="2540750"/>
            <a:chOff x="545229" y="2407255"/>
            <a:chExt cx="10674821" cy="2540750"/>
          </a:xfrm>
        </p:grpSpPr>
        <p:graphicFrame>
          <p:nvGraphicFramePr>
            <p:cNvPr id="75778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1168357"/>
                </p:ext>
              </p:extLst>
            </p:nvPr>
          </p:nvGraphicFramePr>
          <p:xfrm>
            <a:off x="545229" y="2407255"/>
            <a:ext cx="10674821" cy="21714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S ChemDraw Drawing" r:id="rId2" imgW="6741503" imgH="1372072" progId="ChemDraw.Document.6.0">
                    <p:embed/>
                  </p:oleObj>
                </mc:Choice>
                <mc:Fallback>
                  <p:oleObj name="CS ChemDraw Drawing" r:id="rId2" imgW="6741503" imgH="1372072" progId="ChemDraw.Document.6.0">
                    <p:embed/>
                    <p:pic>
                      <p:nvPicPr>
                        <p:cNvPr id="0" name="Picture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5229" y="2407255"/>
                          <a:ext cx="10674821" cy="21714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TextBox 5"/>
            <p:cNvSpPr txBox="1"/>
            <p:nvPr/>
          </p:nvSpPr>
          <p:spPr>
            <a:xfrm>
              <a:off x="7663841" y="4578673"/>
              <a:ext cx="21677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Red or Yellow Colour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1682" y="126620"/>
            <a:ext cx="10024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Preparation of Aldehyde &amp; Ketone</a:t>
            </a:r>
          </a:p>
        </p:txBody>
      </p:sp>
      <p:graphicFrame>
        <p:nvGraphicFramePr>
          <p:cNvPr id="6" name="Object 1"/>
          <p:cNvGraphicFramePr>
            <a:graphicFrameLocks noChangeAspect="1"/>
          </p:cNvGraphicFramePr>
          <p:nvPr/>
        </p:nvGraphicFramePr>
        <p:xfrm>
          <a:off x="1213659" y="1468408"/>
          <a:ext cx="7049193" cy="2189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3927640" imgH="1115366" progId="ChemDraw.Document.6.0">
                  <p:embed/>
                </p:oleObj>
              </mc:Choice>
              <mc:Fallback>
                <p:oleObj name="CS ChemDraw Drawing" r:id="rId2" imgW="3927640" imgH="1115366" progId="ChemDraw.Document.6.0">
                  <p:embed/>
                  <p:pic>
                    <p:nvPicPr>
                      <p:cNvPr id="0" name="Picture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3659" y="1468408"/>
                        <a:ext cx="7049193" cy="21891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382386" y="4006735"/>
            <a:ext cx="59395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Secondary alcohols can be oxidized to ketones</a:t>
            </a:r>
          </a:p>
        </p:txBody>
      </p:sp>
      <p:graphicFrame>
        <p:nvGraphicFramePr>
          <p:cNvPr id="8" name="Object 2"/>
          <p:cNvGraphicFramePr>
            <a:graphicFrameLocks noChangeAspect="1"/>
          </p:cNvGraphicFramePr>
          <p:nvPr/>
        </p:nvGraphicFramePr>
        <p:xfrm>
          <a:off x="1213658" y="4705004"/>
          <a:ext cx="7431577" cy="1928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4186243" imgH="1223879" progId="ChemDraw.Document.6.0">
                  <p:embed/>
                </p:oleObj>
              </mc:Choice>
              <mc:Fallback>
                <p:oleObj name="CS ChemDraw Drawing" r:id="rId4" imgW="4186243" imgH="1223879" progId="ChemDraw.Document.6.0">
                  <p:embed/>
                  <p:pic>
                    <p:nvPicPr>
                      <p:cNvPr id="0" name="Picture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3658" y="4705004"/>
                        <a:ext cx="7431577" cy="19285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/>
          <p:nvPr/>
        </p:nvSpPr>
        <p:spPr>
          <a:xfrm>
            <a:off x="471054" y="595391"/>
            <a:ext cx="1018586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1. </a:t>
            </a:r>
            <a:r>
              <a:rPr lang="en-US" sz="2400" b="1" dirty="0"/>
              <a:t>Oxidation of Alcohols —</a:t>
            </a:r>
          </a:p>
          <a:p>
            <a:r>
              <a:rPr lang="en-US" sz="2400" dirty="0"/>
              <a:t>Primary alcohols can be oxidized to aldehydes</a:t>
            </a:r>
            <a:r>
              <a:rPr lang="en-US" sz="2400" dirty="0">
                <a:latin typeface="Arial" panose="020B0604020202020204" pitchFamily="34" charset="0"/>
              </a:rPr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53944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48145" y="598516"/>
            <a:ext cx="73864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2 . </a:t>
            </a:r>
            <a:r>
              <a:rPr lang="en-US" sz="2400" b="1" dirty="0"/>
              <a:t>Reduction of Acid  Chloride:</a:t>
            </a:r>
          </a:p>
          <a:p>
            <a:r>
              <a:rPr lang="en-US" sz="2400" dirty="0"/>
              <a:t>Acid Chloride on reduction gives  corresponding Aldehyde</a:t>
            </a:r>
          </a:p>
        </p:txBody>
      </p:sp>
      <p:graphicFrame>
        <p:nvGraphicFramePr>
          <p:cNvPr id="2094" name="Object 46"/>
          <p:cNvGraphicFramePr>
            <a:graphicFrameLocks noChangeAspect="1"/>
          </p:cNvGraphicFramePr>
          <p:nvPr/>
        </p:nvGraphicFramePr>
        <p:xfrm>
          <a:off x="1163782" y="1512916"/>
          <a:ext cx="6749933" cy="1546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3737871" imgH="928302" progId="ChemDraw.Document.6.0">
                  <p:embed/>
                </p:oleObj>
              </mc:Choice>
              <mc:Fallback>
                <p:oleObj name="CS ChemDraw Drawing" r:id="rId2" imgW="3737871" imgH="928302" progId="ChemDraw.Document.6.0">
                  <p:embed/>
                  <p:pic>
                    <p:nvPicPr>
                      <p:cNvPr id="0" name="Picture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3782" y="1512916"/>
                        <a:ext cx="6749933" cy="15461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65" y="3657611"/>
            <a:ext cx="102917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3.</a:t>
            </a:r>
            <a:r>
              <a:rPr lang="en-US" dirty="0"/>
              <a:t> </a:t>
            </a:r>
            <a:r>
              <a:rPr lang="en-US" sz="2400" b="1" dirty="0"/>
              <a:t>Oxidation of Alkene (ozonolysis):  </a:t>
            </a:r>
            <a:r>
              <a:rPr lang="en-US" sz="2400" dirty="0"/>
              <a:t>Alkene undergo  ozonolysis to give aldehyde</a:t>
            </a:r>
          </a:p>
        </p:txBody>
      </p:sp>
      <p:graphicFrame>
        <p:nvGraphicFramePr>
          <p:cNvPr id="2095" name="Object 47"/>
          <p:cNvGraphicFramePr>
            <a:graphicFrameLocks noChangeAspect="1"/>
          </p:cNvGraphicFramePr>
          <p:nvPr/>
        </p:nvGraphicFramePr>
        <p:xfrm>
          <a:off x="1296785" y="4438996"/>
          <a:ext cx="8911244" cy="1845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6422163" imgH="1309448" progId="ChemDraw.Document.6.0">
                  <p:embed/>
                </p:oleObj>
              </mc:Choice>
              <mc:Fallback>
                <p:oleObj name="CS ChemDraw Drawing" r:id="rId4" imgW="6422163" imgH="1309448" progId="ChemDraw.Document.6.0">
                  <p:embed/>
                  <p:pic>
                    <p:nvPicPr>
                      <p:cNvPr id="0" name="Picture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6785" y="4438996"/>
                        <a:ext cx="8911244" cy="18454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51682" y="126620"/>
            <a:ext cx="10024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Preparation of Aldehyde &amp; Ketone</a:t>
            </a:r>
          </a:p>
        </p:txBody>
      </p:sp>
    </p:spTree>
    <p:extLst>
      <p:ext uri="{BB962C8B-B14F-4D97-AF65-F5344CB8AC3E}">
        <p14:creationId xmlns:p14="http://schemas.microsoft.com/office/powerpoint/2010/main" val="1435692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7941" y="991766"/>
            <a:ext cx="11461687" cy="131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/>
              <a:t>4. </a:t>
            </a:r>
            <a:r>
              <a:rPr lang="en-US" sz="2800" b="1" dirty="0"/>
              <a:t>Wacker Process:   </a:t>
            </a:r>
            <a:r>
              <a:rPr lang="en-US" sz="2800" dirty="0"/>
              <a:t>Alkene when treated with  acidified PdCl</a:t>
            </a:r>
            <a:r>
              <a:rPr lang="en-US" sz="2800" baseline="-25000" dirty="0"/>
              <a:t>2</a:t>
            </a:r>
            <a:r>
              <a:rPr lang="en-US" sz="2800" dirty="0"/>
              <a:t> and  CuCl</a:t>
            </a:r>
            <a:r>
              <a:rPr lang="en-US" sz="2800" baseline="-25000" dirty="0"/>
              <a:t>2</a:t>
            </a:r>
            <a:r>
              <a:rPr lang="en-US" sz="2800" dirty="0"/>
              <a:t>  Aldehyde or ketone   is obtained  </a:t>
            </a:r>
          </a:p>
        </p:txBody>
      </p:sp>
      <p:graphicFrame>
        <p:nvGraphicFramePr>
          <p:cNvPr id="747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7353943"/>
              </p:ext>
            </p:extLst>
          </p:nvPr>
        </p:nvGraphicFramePr>
        <p:xfrm>
          <a:off x="1263320" y="2395004"/>
          <a:ext cx="9090025" cy="2579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5728955" imgH="1623381" progId="ChemDraw.Document.6.0">
                  <p:embed/>
                </p:oleObj>
              </mc:Choice>
              <mc:Fallback>
                <p:oleObj name="CS ChemDraw Drawing" r:id="rId2" imgW="5728955" imgH="1623381" progId="ChemDraw.Document.6.0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3320" y="2395004"/>
                        <a:ext cx="9090025" cy="2579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51682" y="126620"/>
            <a:ext cx="10024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Preparation of Aldehyde &amp; Ketone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ChangeArrowheads="1"/>
          </p:cNvSpPr>
          <p:nvPr/>
        </p:nvSpPr>
        <p:spPr bwMode="auto">
          <a:xfrm>
            <a:off x="2695367" y="322213"/>
            <a:ext cx="5486400" cy="439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800" b="1" dirty="0">
                <a:solidFill>
                  <a:srgbClr val="C00000"/>
                </a:solidFill>
                <a:latin typeface="+mn-lt"/>
              </a:rPr>
              <a:t>Reactions of  Aldehydes &amp; Ketones</a:t>
            </a:r>
          </a:p>
        </p:txBody>
      </p:sp>
      <p:sp>
        <p:nvSpPr>
          <p:cNvPr id="5" name="Rectangle 4"/>
          <p:cNvSpPr>
            <a:spLocks noGrp="1" noChangeArrowheads="1"/>
          </p:cNvSpPr>
          <p:nvPr/>
        </p:nvSpPr>
        <p:spPr bwMode="auto">
          <a:xfrm>
            <a:off x="399011" y="929880"/>
            <a:ext cx="10588779" cy="439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sz="2400" b="1" dirty="0">
                <a:solidFill>
                  <a:schemeClr val="tx1"/>
                </a:solidFill>
              </a:rPr>
              <a:t>1) </a:t>
            </a:r>
            <a:r>
              <a:rPr lang="en-US" sz="2400" b="1" dirty="0">
                <a:solidFill>
                  <a:schemeClr val="tx1"/>
                </a:solidFill>
                <a:latin typeface="+mn-lt"/>
              </a:rPr>
              <a:t>Oxidation of Aldehydes: </a:t>
            </a:r>
            <a:r>
              <a:rPr lang="en-US" sz="2400" dirty="0">
                <a:solidFill>
                  <a:schemeClr val="tx1"/>
                </a:solidFill>
              </a:rPr>
              <a:t>Aldehyde on oxidation gives carboxylic acid</a:t>
            </a:r>
          </a:p>
        </p:txBody>
      </p:sp>
      <p:graphicFrame>
        <p:nvGraphicFramePr>
          <p:cNvPr id="72705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8977078"/>
              </p:ext>
            </p:extLst>
          </p:nvPr>
        </p:nvGraphicFramePr>
        <p:xfrm>
          <a:off x="2102906" y="1537547"/>
          <a:ext cx="5690944" cy="1443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3611809" imgH="931271" progId="ChemDraw.Document.6.0">
                  <p:embed/>
                </p:oleObj>
              </mc:Choice>
              <mc:Fallback>
                <p:oleObj name="CS ChemDraw Drawing" r:id="rId2" imgW="3611809" imgH="931271" progId="ChemDraw.Document.6.0">
                  <p:embed/>
                  <p:pic>
                    <p:nvPicPr>
                      <p:cNvPr id="0" name="Picture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2906" y="1537547"/>
                        <a:ext cx="5690944" cy="14431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2099758"/>
              </p:ext>
            </p:extLst>
          </p:nvPr>
        </p:nvGraphicFramePr>
        <p:xfrm>
          <a:off x="1697652" y="3955965"/>
          <a:ext cx="7835648" cy="291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4123887" imgH="2481499" progId="ChemDraw.Document.6.0">
                  <p:embed/>
                </p:oleObj>
              </mc:Choice>
              <mc:Fallback>
                <p:oleObj name="CS ChemDraw Drawing" r:id="rId4" imgW="4123887" imgH="2481499" progId="ChemDraw.Document.6.0">
                  <p:embed/>
                  <p:pic>
                    <p:nvPicPr>
                      <p:cNvPr id="0" name="Picture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7652" y="3955965"/>
                        <a:ext cx="7835648" cy="291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399011" y="3116964"/>
            <a:ext cx="113342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2) </a:t>
            </a:r>
            <a:r>
              <a:rPr lang="en-US" sz="2400" b="1" dirty="0"/>
              <a:t>Reduction of  Aldehydes or Ketones: </a:t>
            </a:r>
            <a:r>
              <a:rPr lang="en-US" sz="2400" dirty="0"/>
              <a:t>Aldehyde on reduction gives primary alcohol and Ketone on reduction gives secondary alcohol</a:t>
            </a:r>
          </a:p>
        </p:txBody>
      </p:sp>
    </p:spTree>
    <p:extLst>
      <p:ext uri="{BB962C8B-B14F-4D97-AF65-F5344CB8AC3E}">
        <p14:creationId xmlns:p14="http://schemas.microsoft.com/office/powerpoint/2010/main" val="2779814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5634" y="430236"/>
            <a:ext cx="11299549" cy="175432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3</a:t>
            </a:r>
            <a:r>
              <a:rPr lang="en-US" sz="2400" b="1" dirty="0"/>
              <a:t>) Aldol Condensation: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An extremely important class of carbon-carbon bond forming reaction which involve  condensation aldehyde or ketone to give  </a:t>
            </a:r>
            <a:r>
              <a:rPr lang="el-GR" sz="2400" dirty="0"/>
              <a:t>β</a:t>
            </a:r>
            <a:r>
              <a:rPr lang="en-US" sz="2400" dirty="0"/>
              <a:t>-hydroxy aldehyde(Aldol product) . </a:t>
            </a:r>
            <a:endParaRPr lang="en-US" sz="2400" dirty="0">
              <a:cs typeface="Calibri"/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29047" y="2183551"/>
            <a:ext cx="8595360" cy="13614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15635" y="3773978"/>
            <a:ext cx="106569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4) </a:t>
            </a:r>
            <a:r>
              <a:rPr lang="en-US" sz="2400" b="1" dirty="0"/>
              <a:t>Wittig  Reaction:</a:t>
            </a:r>
          </a:p>
          <a:p>
            <a:pPr algn="just"/>
            <a:r>
              <a:rPr lang="en-US" sz="2400" dirty="0"/>
              <a:t>When  aldehyde or ketone react  with  phosphorus ylide it gives  an alkene </a:t>
            </a:r>
            <a:r>
              <a:rPr lang="en-US" dirty="0"/>
              <a:t>.</a:t>
            </a:r>
          </a:p>
        </p:txBody>
      </p:sp>
      <p:graphicFrame>
        <p:nvGraphicFramePr>
          <p:cNvPr id="98306" name="Object 2"/>
          <p:cNvGraphicFramePr>
            <a:graphicFrameLocks noChangeAspect="1"/>
          </p:cNvGraphicFramePr>
          <p:nvPr/>
        </p:nvGraphicFramePr>
        <p:xfrm>
          <a:off x="1280160" y="4578119"/>
          <a:ext cx="9493135" cy="1789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7190145" imgH="1155856" progId="ChemDraw.Document.6.0">
                  <p:embed/>
                </p:oleObj>
              </mc:Choice>
              <mc:Fallback>
                <p:oleObj name="CS ChemDraw Drawing" r:id="rId3" imgW="7190145" imgH="1155856" progId="ChemDraw.Document.6.0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0160" y="4578119"/>
                        <a:ext cx="9493135" cy="17894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>
            <a:spLocks noGrp="1" noChangeArrowheads="1"/>
          </p:cNvSpPr>
          <p:nvPr/>
        </p:nvSpPr>
        <p:spPr bwMode="auto">
          <a:xfrm>
            <a:off x="3000893" y="234921"/>
            <a:ext cx="5486400" cy="439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800" b="1" dirty="0">
                <a:solidFill>
                  <a:srgbClr val="C00000"/>
                </a:solidFill>
                <a:latin typeface="+mn-lt"/>
              </a:rPr>
              <a:t>Reactions of  Aldehydes &amp; Ketones</a:t>
            </a:r>
          </a:p>
        </p:txBody>
      </p:sp>
    </p:spTree>
    <p:extLst>
      <p:ext uri="{BB962C8B-B14F-4D97-AF65-F5344CB8AC3E}">
        <p14:creationId xmlns:p14="http://schemas.microsoft.com/office/powerpoint/2010/main" val="7515716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238077" y="196096"/>
            <a:ext cx="8839200" cy="533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4000" b="1" dirty="0">
                <a:solidFill>
                  <a:srgbClr val="C00000"/>
                </a:solidFill>
                <a:latin typeface="+mn-lt"/>
              </a:rPr>
              <a:t>Carboxylic Acids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209550" y="990600"/>
            <a:ext cx="10896254" cy="5562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defRPr/>
            </a:pPr>
            <a:r>
              <a:rPr lang="en-US" dirty="0"/>
              <a:t>Organic compound which contain a </a:t>
            </a: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carboxyl (-COOH) group is called as Carboxylic Acid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496" y="2531802"/>
            <a:ext cx="8077200" cy="159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0969" y="3943815"/>
            <a:ext cx="3259673" cy="2609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50674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5989" y="307611"/>
            <a:ext cx="7177422" cy="754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Identification  Test of Carboxylic Acid</a:t>
            </a:r>
          </a:p>
        </p:txBody>
      </p:sp>
      <p:sp>
        <p:nvSpPr>
          <p:cNvPr id="3" name="Rectangle 2"/>
          <p:cNvSpPr/>
          <p:nvPr/>
        </p:nvSpPr>
        <p:spPr>
          <a:xfrm>
            <a:off x="572634" y="1334686"/>
            <a:ext cx="10884131" cy="1697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When an acidic compound dissolves in a sodium bicarbonate solution, carbon dioxide gas is released.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Observation of effervescence confirms that an acid-base reaction did indeed occur.</a:t>
            </a:r>
          </a:p>
        </p:txBody>
      </p:sp>
      <p:pic>
        <p:nvPicPr>
          <p:cNvPr id="9933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54795" y="3835003"/>
            <a:ext cx="7083396" cy="1705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79377" y="349785"/>
            <a:ext cx="65092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Method of Preparation of  Carboxylic Acid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62015"/>
            <a:ext cx="121159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R"/>
            </a:pPr>
            <a:r>
              <a:rPr lang="en-US" sz="2400" b="1" dirty="0"/>
              <a:t>Oxidation of Alcohol: </a:t>
            </a:r>
            <a:r>
              <a:rPr lang="en-US" sz="2400" dirty="0"/>
              <a:t>Alcohol on oxidation in presence of strong oxidizing agent oxidized	 to aldehyde and then further oxidized to Carboxylic  acid </a:t>
            </a:r>
          </a:p>
        </p:txBody>
      </p:sp>
      <p:graphicFrame>
        <p:nvGraphicFramePr>
          <p:cNvPr id="100354" name="Object 2"/>
          <p:cNvGraphicFramePr>
            <a:graphicFrameLocks noChangeAspect="1"/>
          </p:cNvGraphicFramePr>
          <p:nvPr/>
        </p:nvGraphicFramePr>
        <p:xfrm>
          <a:off x="966159" y="1930490"/>
          <a:ext cx="9178506" cy="1761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6412175" imgH="1110777" progId="ChemDraw.Document.6.0">
                  <p:embed/>
                </p:oleObj>
              </mc:Choice>
              <mc:Fallback>
                <p:oleObj name="CS ChemDraw Drawing" r:id="rId2" imgW="6412175" imgH="1110777" progId="ChemDraw.Document.6.0">
                  <p:embed/>
                  <p:pic>
                    <p:nvPicPr>
                      <p:cNvPr id="0" name="Picture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6159" y="1930490"/>
                        <a:ext cx="9178506" cy="17616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036" y="3895638"/>
            <a:ext cx="121159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en-US" sz="2400" dirty="0"/>
              <a:t>2)  </a:t>
            </a:r>
            <a:r>
              <a:rPr lang="en-US" sz="2400" b="1" dirty="0"/>
              <a:t>Hydrolysis of Nitriles: </a:t>
            </a:r>
            <a:r>
              <a:rPr lang="en-US" sz="2400" dirty="0"/>
              <a:t>Nitriles on hydrolysis in presence of acid  produces carboxylic acid.</a:t>
            </a:r>
          </a:p>
        </p:txBody>
      </p:sp>
      <p:graphicFrame>
        <p:nvGraphicFramePr>
          <p:cNvPr id="100355" name="Object 3"/>
          <p:cNvGraphicFramePr>
            <a:graphicFrameLocks noChangeAspect="1"/>
          </p:cNvGraphicFramePr>
          <p:nvPr/>
        </p:nvGraphicFramePr>
        <p:xfrm>
          <a:off x="1639019" y="4847896"/>
          <a:ext cx="7694762" cy="11560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3611809" imgH="764452" progId="ChemDraw.Document.6.0">
                  <p:embed/>
                </p:oleObj>
              </mc:Choice>
              <mc:Fallback>
                <p:oleObj name="CS ChemDraw Drawing" r:id="rId4" imgW="3611809" imgH="764452" progId="ChemDraw.Document.6.0">
                  <p:embed/>
                  <p:pic>
                    <p:nvPicPr>
                      <p:cNvPr id="0" name="Picture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9019" y="4847896"/>
                        <a:ext cx="7694762" cy="11560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836" y="896226"/>
            <a:ext cx="121159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en-US" sz="2400" dirty="0"/>
              <a:t>3)  </a:t>
            </a:r>
            <a:r>
              <a:rPr lang="en-US" sz="2400" b="1" dirty="0"/>
              <a:t>Hydrolysis of Ester: </a:t>
            </a:r>
            <a:r>
              <a:rPr lang="en-US" sz="2400" dirty="0"/>
              <a:t>Ester on hydrolysis in presence of base  produces Carboxylic acid.</a:t>
            </a:r>
          </a:p>
        </p:txBody>
      </p:sp>
      <p:graphicFrame>
        <p:nvGraphicFramePr>
          <p:cNvPr id="10137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2932008"/>
              </p:ext>
            </p:extLst>
          </p:nvPr>
        </p:nvGraphicFramePr>
        <p:xfrm>
          <a:off x="488855" y="1477805"/>
          <a:ext cx="11290325" cy="18185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5855827" imgH="1111047" progId="ChemDraw.Document.6.0">
                  <p:embed/>
                </p:oleObj>
              </mc:Choice>
              <mc:Fallback>
                <p:oleObj name="CS ChemDraw Drawing" r:id="rId2" imgW="5855827" imgH="1111047" progId="ChemDraw.Document.6.0">
                  <p:embed/>
                  <p:pic>
                    <p:nvPicPr>
                      <p:cNvPr id="0" name="Picture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855" y="1477805"/>
                        <a:ext cx="11290325" cy="18185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3416272"/>
            <a:ext cx="12115964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</a:pPr>
            <a:r>
              <a:rPr lang="en-US" sz="2400" dirty="0"/>
              <a:t>4)  </a:t>
            </a:r>
            <a:r>
              <a:rPr lang="en-US" sz="2400" b="1" dirty="0"/>
              <a:t>Caboxylation of alkene( Koch Reaction):  </a:t>
            </a:r>
            <a:r>
              <a:rPr lang="en-US" sz="2400" dirty="0"/>
              <a:t>Alkene on treatment with Carbon monoxide and  Phosphoric Acid in water at 400°C under go carboxylation to give Carboxylic acid . This is also known as Koch reaction.</a:t>
            </a:r>
          </a:p>
        </p:txBody>
      </p:sp>
      <p:graphicFrame>
        <p:nvGraphicFramePr>
          <p:cNvPr id="1013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4706074"/>
              </p:ext>
            </p:extLst>
          </p:nvPr>
        </p:nvGraphicFramePr>
        <p:xfrm>
          <a:off x="488855" y="5113340"/>
          <a:ext cx="11495988" cy="1670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6162750" imgH="1016840" progId="ChemDraw.Document.6.0">
                  <p:embed/>
                </p:oleObj>
              </mc:Choice>
              <mc:Fallback>
                <p:oleObj name="CS ChemDraw Drawing" r:id="rId4" imgW="6162750" imgH="1016840" progId="ChemDraw.Document.6.0">
                  <p:embed/>
                  <p:pic>
                    <p:nvPicPr>
                      <p:cNvPr id="0" name="Picture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855" y="5113340"/>
                        <a:ext cx="11495988" cy="16704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879377" y="349785"/>
            <a:ext cx="65092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Method of Preparation of  Carboxylic Acid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61838" y="391162"/>
            <a:ext cx="4621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C00000"/>
                </a:solidFill>
              </a:rPr>
              <a:t>Reactions of Carboxylic Acids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554" y="973495"/>
            <a:ext cx="118875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AutoNum type="arabicParenR"/>
            </a:pPr>
            <a:r>
              <a:rPr lang="en-US" sz="2400" b="1" dirty="0"/>
              <a:t>Reduction of  Acid: </a:t>
            </a:r>
            <a:r>
              <a:rPr lang="en-US" sz="2400" dirty="0"/>
              <a:t>Carboxylic acid in presence of Lithium Aluminum Hydride get reduced to an  alcohol </a:t>
            </a:r>
          </a:p>
        </p:txBody>
      </p:sp>
      <p:graphicFrame>
        <p:nvGraphicFramePr>
          <p:cNvPr id="10240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5805395"/>
              </p:ext>
            </p:extLst>
          </p:nvPr>
        </p:nvGraphicFramePr>
        <p:xfrm>
          <a:off x="2506153" y="1705571"/>
          <a:ext cx="6998998" cy="1605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265066" imgH="1111047" progId="ChemDraw.Document.6.0">
                  <p:embed/>
                </p:oleObj>
              </mc:Choice>
              <mc:Fallback>
                <p:oleObj name="CS ChemDraw Drawing" r:id="rId2" imgW="4265066" imgH="1111047" progId="ChemDraw.Document.6.0">
                  <p:embed/>
                  <p:pic>
                    <p:nvPicPr>
                      <p:cNvPr id="0" name="Picture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6153" y="1705571"/>
                        <a:ext cx="6998998" cy="1605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53554" y="3447531"/>
            <a:ext cx="120384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R" startAt="2"/>
            </a:pPr>
            <a:r>
              <a:rPr lang="en-US" sz="2400" b="1" dirty="0"/>
              <a:t>Reaction of  Acid  with PCl</a:t>
            </a:r>
            <a:r>
              <a:rPr lang="en-US" sz="1600" b="1" dirty="0"/>
              <a:t>5 </a:t>
            </a:r>
            <a:r>
              <a:rPr lang="en-US" sz="2400" b="1" dirty="0"/>
              <a:t>&amp; SOCl</a:t>
            </a:r>
            <a:r>
              <a:rPr lang="en-US" sz="1400" b="1" dirty="0"/>
              <a:t>2</a:t>
            </a:r>
            <a:r>
              <a:rPr lang="en-US" sz="2400" b="1" dirty="0"/>
              <a:t>: </a:t>
            </a:r>
            <a:r>
              <a:rPr lang="en-US" sz="2400" dirty="0"/>
              <a:t>Carboxylic Acid when reacted with Phosphorus Pentachloride and Thionyl  Chloride Acid Chloride is obtained .  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3149651" y="4264329"/>
            <a:ext cx="5895361" cy="2566512"/>
            <a:chOff x="3047382" y="4568269"/>
            <a:chExt cx="5565794" cy="2265754"/>
          </a:xfrm>
        </p:grpSpPr>
        <p:graphicFrame>
          <p:nvGraphicFramePr>
            <p:cNvPr id="102403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7482943"/>
                </p:ext>
              </p:extLst>
            </p:nvPr>
          </p:nvGraphicFramePr>
          <p:xfrm>
            <a:off x="3197587" y="4568269"/>
            <a:ext cx="5407837" cy="1138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S ChemDraw Drawing" r:id="rId4" imgW="4080966" imgH="858389" progId="ChemDraw.Document.6.0">
                    <p:embed/>
                  </p:oleObj>
                </mc:Choice>
                <mc:Fallback>
                  <p:oleObj name="CS ChemDraw Drawing" r:id="rId4" imgW="4080966" imgH="858389" progId="ChemDraw.Document.6.0">
                    <p:embed/>
                    <p:pic>
                      <p:nvPicPr>
                        <p:cNvPr id="0" name="Picture 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7587" y="4568269"/>
                          <a:ext cx="5407837" cy="1138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04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0973471"/>
                </p:ext>
              </p:extLst>
            </p:nvPr>
          </p:nvGraphicFramePr>
          <p:xfrm>
            <a:off x="3047382" y="5662420"/>
            <a:ext cx="5565794" cy="11716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S ChemDraw Drawing" r:id="rId6" imgW="4080966" imgH="858389" progId="ChemDraw.Document.6.0">
                    <p:embed/>
                  </p:oleObj>
                </mc:Choice>
                <mc:Fallback>
                  <p:oleObj name="CS ChemDraw Drawing" r:id="rId6" imgW="4080966" imgH="858389" progId="ChemDraw.Document.6.0">
                    <p:embed/>
                    <p:pic>
                      <p:nvPicPr>
                        <p:cNvPr id="0" name="Picture 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7382" y="5662420"/>
                          <a:ext cx="5565794" cy="11716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/>
              <p14:cNvContentPartPr/>
              <p14:nvPr/>
            </p14:nvContentPartPr>
            <p14:xfrm>
              <a:off x="11875320" y="2580120"/>
              <a:ext cx="3960" cy="216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865960" y="2570760"/>
                <a:ext cx="22680" cy="20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4230" y="914382"/>
            <a:ext cx="11657092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3) </a:t>
            </a:r>
            <a:r>
              <a:rPr lang="en-US" sz="2400" b="1" dirty="0"/>
              <a:t>Formation of Ester: </a:t>
            </a:r>
            <a:r>
              <a:rPr lang="en-US" sz="2400" dirty="0"/>
              <a:t>Carboxylic acid when treated with  an alcohol in acidic medium Ester formation takes place.</a:t>
            </a:r>
          </a:p>
        </p:txBody>
      </p:sp>
      <p:graphicFrame>
        <p:nvGraphicFramePr>
          <p:cNvPr id="1034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6699999"/>
              </p:ext>
            </p:extLst>
          </p:nvPr>
        </p:nvGraphicFramePr>
        <p:xfrm>
          <a:off x="874204" y="2008802"/>
          <a:ext cx="9890365" cy="1805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6649453" imgH="1111047" progId="ChemDraw.Document.6.0">
                  <p:embed/>
                </p:oleObj>
              </mc:Choice>
              <mc:Fallback>
                <p:oleObj name="CS ChemDraw Drawing" r:id="rId2" imgW="6649453" imgH="1111047" progId="ChemDraw.Document.6.0">
                  <p:embed/>
                  <p:pic>
                    <p:nvPicPr>
                      <p:cNvPr id="0" name="Picture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204" y="2008802"/>
                        <a:ext cx="9890365" cy="18052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2863" y="4039986"/>
            <a:ext cx="10540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4) </a:t>
            </a:r>
            <a:r>
              <a:rPr lang="en-US" sz="2400" b="1" dirty="0"/>
              <a:t>Reaction with Amine: </a:t>
            </a:r>
            <a:r>
              <a:rPr lang="en-US" sz="2400" dirty="0"/>
              <a:t>Carboxylic acid when reacted with amine it gives an amide</a:t>
            </a:r>
          </a:p>
        </p:txBody>
      </p:sp>
      <p:graphicFrame>
        <p:nvGraphicFramePr>
          <p:cNvPr id="1034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2394579"/>
              </p:ext>
            </p:extLst>
          </p:nvPr>
        </p:nvGraphicFramePr>
        <p:xfrm>
          <a:off x="1927730" y="4931613"/>
          <a:ext cx="7330807" cy="1401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4294489" imgH="769041" progId="ChemDraw.Document.6.0">
                  <p:embed/>
                </p:oleObj>
              </mc:Choice>
              <mc:Fallback>
                <p:oleObj name="CS ChemDraw Drawing" r:id="rId4" imgW="4294489" imgH="769041" progId="ChemDraw.Document.6.0">
                  <p:embed/>
                  <p:pic>
                    <p:nvPicPr>
                      <p:cNvPr id="0" name="Picture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7730" y="4931613"/>
                        <a:ext cx="7330807" cy="14011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61838" y="391162"/>
            <a:ext cx="4621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C00000"/>
                </a:solidFill>
              </a:rPr>
              <a:t>Reactions of Carboxylic Acids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haroni" panose="02010803020104030203" pitchFamily="2" charset="-79"/>
                <a:cs typeface="Aharoni" panose="02010803020104030203" pitchFamily="2" charset="-79"/>
              </a:rPr>
              <a:t>Basic organic reactions (substitution)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415" y="1441938"/>
            <a:ext cx="3868616" cy="5251939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en-US" dirty="0"/>
              <a:t>A substitution is a reaction in which a ligand in an organic molecule is replaced with another ligand.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940" y="1207477"/>
            <a:ext cx="7502360" cy="54864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Organic Reactions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F23BA-8307-4AC4-BBEF-3E63D6F5FD8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407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985" y="236171"/>
            <a:ext cx="10515600" cy="854075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Substitution reactions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3915" y="1324708"/>
            <a:ext cx="11084169" cy="5357445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200000"/>
              </a:lnSpc>
            </a:pPr>
            <a:r>
              <a:rPr lang="en-IN" dirty="0"/>
              <a:t>A substitution reaction is defined as a reaction, in which an atom or a group of atoms attached to a carbon atom is replaced or substituted by another atom or a group of atoms. </a:t>
            </a:r>
          </a:p>
          <a:p>
            <a:pPr algn="just">
              <a:lnSpc>
                <a:spcPct val="200000"/>
              </a:lnSpc>
            </a:pPr>
            <a:r>
              <a:rPr lang="en-IN" dirty="0"/>
              <a:t>The substitution reaction types:</a:t>
            </a:r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Nucleophilic substitution reaction</a:t>
            </a:r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Electrophilic substitution reaction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0478F-DC8D-4B9F-8619-C48E133890CD}" type="slidenum">
              <a:rPr lang="en-US" smtClean="0"/>
              <a:t>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Organic Reactions</a:t>
            </a:r>
          </a:p>
        </p:txBody>
      </p:sp>
    </p:spTree>
    <p:extLst>
      <p:ext uri="{BB962C8B-B14F-4D97-AF65-F5344CB8AC3E}">
        <p14:creationId xmlns:p14="http://schemas.microsoft.com/office/powerpoint/2010/main" val="5817557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985" y="236171"/>
            <a:ext cx="10515600" cy="854075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Nucleophilic Substitution reactions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3915" y="1324708"/>
            <a:ext cx="11084169" cy="5357445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en-IN" dirty="0"/>
              <a:t>The substitution reactions which are brought about by nucleophilic reagents or nucleophiles (electron rich species) are called nucleophilic substitution reactions.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0478F-DC8D-4B9F-8619-C48E133890CD}" type="slidenum">
              <a:rPr lang="en-US" smtClean="0"/>
              <a:t>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Organic Reactions</a:t>
            </a:r>
          </a:p>
        </p:txBody>
      </p:sp>
    </p:spTree>
    <p:extLst>
      <p:ext uri="{BB962C8B-B14F-4D97-AF65-F5344CB8AC3E}">
        <p14:creationId xmlns:p14="http://schemas.microsoft.com/office/powerpoint/2010/main" val="31386515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985" y="236171"/>
            <a:ext cx="10515600" cy="854075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Nucleophilic Substitution reactions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745" y="1090246"/>
            <a:ext cx="11084169" cy="5221777"/>
          </a:xfrm>
        </p:spPr>
        <p:txBody>
          <a:bodyPr>
            <a:noAutofit/>
          </a:bodyPr>
          <a:lstStyle/>
          <a:p>
            <a:pPr algn="just">
              <a:lnSpc>
                <a:spcPct val="200000"/>
              </a:lnSpc>
            </a:pPr>
            <a:r>
              <a:rPr lang="en-US" dirty="0"/>
              <a:t>These reactions are useful class of organic reactions for carbon-carbon and carbon- heteroatom bond formation reactions. </a:t>
            </a:r>
          </a:p>
          <a:p>
            <a:pPr algn="just">
              <a:lnSpc>
                <a:spcPct val="200000"/>
              </a:lnSpc>
            </a:pPr>
            <a:r>
              <a:rPr lang="en-US" dirty="0"/>
              <a:t>The approach is also widely used for synthetic transformations. </a:t>
            </a:r>
          </a:p>
          <a:p>
            <a:pPr algn="just">
              <a:lnSpc>
                <a:spcPct val="200000"/>
              </a:lnSpc>
            </a:pPr>
            <a:r>
              <a:rPr lang="en-US" dirty="0"/>
              <a:t>These  reactions typically occur  on a carbon atom, attached to a leaving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0478F-DC8D-4B9F-8619-C48E133890CD}" type="slidenum">
              <a:rPr lang="en-US" smtClean="0"/>
              <a:t>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Organic Reactions</a:t>
            </a:r>
          </a:p>
        </p:txBody>
      </p:sp>
    </p:spTree>
    <p:extLst>
      <p:ext uri="{BB962C8B-B14F-4D97-AF65-F5344CB8AC3E}">
        <p14:creationId xmlns:p14="http://schemas.microsoft.com/office/powerpoint/2010/main" val="10639098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985" y="236171"/>
            <a:ext cx="10515600" cy="854075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Nucleophilic Substitution reactions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407" y="550984"/>
            <a:ext cx="11084169" cy="6002215"/>
          </a:xfrm>
        </p:spPr>
        <p:txBody>
          <a:bodyPr>
            <a:noAutofit/>
          </a:bodyPr>
          <a:lstStyle/>
          <a:p>
            <a:pPr algn="just">
              <a:lnSpc>
                <a:spcPct val="200000"/>
              </a:lnSpc>
            </a:pPr>
            <a:r>
              <a:rPr lang="en-IN" dirty="0"/>
              <a:t>Thus, in nucleophilic substitution reactions, the nucleophile is the attacking species which substitutes the leaving group.</a:t>
            </a:r>
          </a:p>
          <a:p>
            <a:pPr algn="just">
              <a:lnSpc>
                <a:spcPct val="200000"/>
              </a:lnSpc>
            </a:pPr>
            <a:r>
              <a:rPr lang="en-IN" dirty="0"/>
              <a:t>The nucleophiles must possess an unshared electron pair. </a:t>
            </a:r>
          </a:p>
          <a:p>
            <a:pPr algn="just">
              <a:lnSpc>
                <a:spcPct val="200000"/>
              </a:lnSpc>
            </a:pPr>
            <a:r>
              <a:rPr lang="en-IN" dirty="0"/>
              <a:t>Nucleophiles could be neutral or negatively charged while a substrate may be neutral or positively charged.</a:t>
            </a:r>
          </a:p>
          <a:p>
            <a:pPr algn="just">
              <a:lnSpc>
                <a:spcPct val="200000"/>
              </a:lnSpc>
            </a:pPr>
            <a:r>
              <a:rPr lang="en-IN" dirty="0"/>
              <a:t>The nucleophiles always attack the substrate at a centre of low electron density or the positive centres in the substrate.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0478F-DC8D-4B9F-8619-C48E133890CD}" type="slidenum">
              <a:rPr lang="en-US" smtClean="0"/>
              <a:t>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Organic Reactions</a:t>
            </a:r>
          </a:p>
        </p:txBody>
      </p:sp>
    </p:spTree>
    <p:extLst>
      <p:ext uri="{BB962C8B-B14F-4D97-AF65-F5344CB8AC3E}">
        <p14:creationId xmlns:p14="http://schemas.microsoft.com/office/powerpoint/2010/main" val="4503989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985" y="236171"/>
            <a:ext cx="10515600" cy="854075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Nucleophilic Substitution reactions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3915" y="1324708"/>
            <a:ext cx="11084169" cy="5357445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en-IN" dirty="0"/>
              <a:t>The nucleophilic substitution reaction can be represented as follows:</a:t>
            </a:r>
            <a:endParaRPr lang="en-US" dirty="0"/>
          </a:p>
          <a:p>
            <a:pPr algn="just">
              <a:lnSpc>
                <a:spcPct val="200000"/>
              </a:lnSpc>
            </a:pP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915" y="2532185"/>
            <a:ext cx="10966938" cy="360394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0478F-DC8D-4B9F-8619-C48E133890CD}" type="slidenum">
              <a:rPr lang="en-US" smtClean="0"/>
              <a:t>28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Organic Reactions</a:t>
            </a:r>
          </a:p>
        </p:txBody>
      </p:sp>
    </p:spTree>
    <p:extLst>
      <p:ext uri="{BB962C8B-B14F-4D97-AF65-F5344CB8AC3E}">
        <p14:creationId xmlns:p14="http://schemas.microsoft.com/office/powerpoint/2010/main" val="40515353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854" y="116375"/>
            <a:ext cx="12010292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haroni" panose="02010803020104030203" pitchFamily="2" charset="-79"/>
                <a:cs typeface="Aharoni" panose="02010803020104030203" pitchFamily="2" charset="-79"/>
              </a:rPr>
              <a:t>Basic organic reactions (nucleophilic substitution)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415" y="1441938"/>
            <a:ext cx="11465170" cy="5251939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15" y="1599227"/>
            <a:ext cx="11465170" cy="509465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Organic Reactions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F23BA-8307-4AC4-BBEF-3E63D6F5FD8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539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854" y="116375"/>
            <a:ext cx="12010292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haroni" panose="02010803020104030203" pitchFamily="2" charset="-79"/>
                <a:cs typeface="Aharoni" panose="02010803020104030203" pitchFamily="2" charset="-79"/>
              </a:rPr>
              <a:t>Basic organic reactions (nucleophilic substitution)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415" y="1441938"/>
            <a:ext cx="11465170" cy="5251939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54" y="1140743"/>
            <a:ext cx="10937631" cy="546228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Organic Reactions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F23BA-8307-4AC4-BBEF-3E63D6F5FD8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4737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985" y="236171"/>
            <a:ext cx="10515600" cy="854075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Nucleophilic Substitution reactions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3915" y="1324708"/>
            <a:ext cx="11084169" cy="5357445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en-IN" dirty="0"/>
              <a:t>Some more examples of nucleophilic reactions:</a:t>
            </a:r>
            <a:endParaRPr lang="en-US" dirty="0"/>
          </a:p>
          <a:p>
            <a:pPr algn="just">
              <a:lnSpc>
                <a:spcPct val="200000"/>
              </a:lnSpc>
            </a:pP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915" y="2450123"/>
            <a:ext cx="11092596" cy="394076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0478F-DC8D-4B9F-8619-C48E133890CD}" type="slidenum">
              <a:rPr lang="en-US" smtClean="0"/>
              <a:t>31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Organic Reactions</a:t>
            </a:r>
          </a:p>
        </p:txBody>
      </p:sp>
    </p:spTree>
    <p:extLst>
      <p:ext uri="{BB962C8B-B14F-4D97-AF65-F5344CB8AC3E}">
        <p14:creationId xmlns:p14="http://schemas.microsoft.com/office/powerpoint/2010/main" val="20869508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854" y="116375"/>
            <a:ext cx="12010292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haroni" panose="02010803020104030203" pitchFamily="2" charset="-79"/>
                <a:cs typeface="Aharoni" panose="02010803020104030203" pitchFamily="2" charset="-79"/>
              </a:rPr>
              <a:t>Basic organic reactions (nucleophilic substitution)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415" y="1441938"/>
            <a:ext cx="11465170" cy="5251939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77" y="1173664"/>
            <a:ext cx="10887808" cy="5520214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Organic Reactions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F23BA-8307-4AC4-BBEF-3E63D6F5FD8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0697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985" y="236171"/>
            <a:ext cx="10515600" cy="854075"/>
          </a:xfrm>
        </p:spPr>
        <p:txBody>
          <a:bodyPr/>
          <a:lstStyle/>
          <a:p>
            <a:pPr algn="ctr"/>
            <a:r>
              <a:rPr lang="en-US" b="1" dirty="0">
                <a:latin typeface="Aharoni" panose="02010803020104030203" pitchFamily="2" charset="-79"/>
                <a:cs typeface="Aharoni" panose="02010803020104030203" pitchFamily="2" charset="-79"/>
              </a:rPr>
              <a:t>Elimination reactions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090246"/>
            <a:ext cx="11084169" cy="5357445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200000"/>
              </a:lnSpc>
            </a:pPr>
            <a:r>
              <a:rPr lang="en-IN" dirty="0"/>
              <a:t>An elimination reaction is defined as a reaction, in which a molecule loses two atoms or groups, without being replaced by other atoms or groups.</a:t>
            </a:r>
          </a:p>
          <a:p>
            <a:pPr algn="just">
              <a:lnSpc>
                <a:spcPct val="200000"/>
              </a:lnSpc>
            </a:pPr>
            <a:r>
              <a:rPr lang="en-IN" dirty="0"/>
              <a:t>Generally, an elimination reaction involves loss of atoms or groups from adjacent carbon atoms, resulting in the formation of a π-bond between these carbon atoms. </a:t>
            </a:r>
          </a:p>
          <a:p>
            <a:pPr algn="just">
              <a:lnSpc>
                <a:spcPct val="200000"/>
              </a:lnSpc>
            </a:pPr>
            <a:r>
              <a:rPr lang="en-IN" dirty="0"/>
              <a:t>Thus, an elimination reaction is the reverse of an addition reaction.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0478F-DC8D-4B9F-8619-C48E133890CD}" type="slidenum">
              <a:rPr lang="en-US" smtClean="0"/>
              <a:t>33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Organic Reactions</a:t>
            </a:r>
          </a:p>
        </p:txBody>
      </p:sp>
    </p:spTree>
    <p:extLst>
      <p:ext uri="{BB962C8B-B14F-4D97-AF65-F5344CB8AC3E}">
        <p14:creationId xmlns:p14="http://schemas.microsoft.com/office/powerpoint/2010/main" val="12511196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haroni" panose="02010803020104030203" pitchFamily="2" charset="-79"/>
                <a:cs typeface="Aharoni" panose="02010803020104030203" pitchFamily="2" charset="-79"/>
              </a:rPr>
              <a:t>Basic organic reactions (elimination)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415" y="1441938"/>
            <a:ext cx="11465170" cy="5251939"/>
          </a:xfrm>
        </p:spPr>
        <p:txBody>
          <a:bodyPr>
            <a:normAutofit fontScale="92500"/>
          </a:bodyPr>
          <a:lstStyle/>
          <a:p>
            <a:pPr algn="just">
              <a:lnSpc>
                <a:spcPct val="200000"/>
              </a:lnSpc>
            </a:pPr>
            <a:r>
              <a:rPr lang="en-US" dirty="0"/>
              <a:t>Elimination reactions are possible at positions that are isolated from carbonyls or any other electron-withdrawing groups. </a:t>
            </a:r>
          </a:p>
          <a:p>
            <a:pPr algn="just">
              <a:lnSpc>
                <a:spcPct val="200000"/>
              </a:lnSpc>
            </a:pPr>
            <a:r>
              <a:rPr lang="en-US" dirty="0"/>
              <a:t>There are two types of elimination reactions based on the mechanism of the reaction:</a:t>
            </a:r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cs typeface="Aharoni" panose="02010803020104030203" pitchFamily="2" charset="-79"/>
              </a:rPr>
              <a:t>E1 i.e. Elimination </a:t>
            </a:r>
            <a:r>
              <a:rPr lang="en-US" dirty="0" err="1">
                <a:cs typeface="Aharoni" panose="02010803020104030203" pitchFamily="2" charset="-79"/>
              </a:rPr>
              <a:t>unimolecular</a:t>
            </a:r>
            <a:endParaRPr lang="en-US" dirty="0">
              <a:cs typeface="Aharoni" panose="02010803020104030203" pitchFamily="2" charset="-79"/>
            </a:endParaRPr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cs typeface="Aharoni" panose="02010803020104030203" pitchFamily="2" charset="-79"/>
              </a:rPr>
              <a:t>E2 i.e. Elimination bimolecular</a:t>
            </a:r>
          </a:p>
          <a:p>
            <a:pPr algn="just">
              <a:lnSpc>
                <a:spcPct val="200000"/>
              </a:lnSpc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Organic Reactions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F23BA-8307-4AC4-BBEF-3E63D6F5FD8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880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haroni" panose="02010803020104030203" pitchFamily="2" charset="-79"/>
                <a:cs typeface="Aharoni" panose="02010803020104030203" pitchFamily="2" charset="-79"/>
              </a:rPr>
              <a:t>Basic organic reactions (elimination)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415" y="1441938"/>
            <a:ext cx="11465170" cy="5251939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200000"/>
              </a:lnSpc>
            </a:pPr>
            <a:r>
              <a:rPr lang="en-US" dirty="0"/>
              <a:t>The elimination reaction can occur in EITHER a single concerted step (E2 mechanism: proton abstraction at C</a:t>
            </a:r>
            <a:r>
              <a:rPr lang="en-US" baseline="-25000" dirty="0"/>
              <a:t>α </a:t>
            </a:r>
            <a:r>
              <a:rPr lang="en-US" dirty="0"/>
              <a:t>occurring at the same time as C</a:t>
            </a:r>
            <a:r>
              <a:rPr lang="en-US" baseline="-25000" dirty="0"/>
              <a:t>β</a:t>
            </a:r>
            <a:r>
              <a:rPr lang="en-US" dirty="0"/>
              <a:t>-X bond cleavage), OR </a:t>
            </a:r>
          </a:p>
          <a:p>
            <a:pPr algn="just">
              <a:lnSpc>
                <a:spcPct val="200000"/>
              </a:lnSpc>
            </a:pPr>
            <a:r>
              <a:rPr lang="en-US" dirty="0"/>
              <a:t>In two steps (E1 mechanism: C</a:t>
            </a:r>
            <a:r>
              <a:rPr lang="en-US" baseline="-25000" dirty="0"/>
              <a:t>β</a:t>
            </a:r>
            <a:r>
              <a:rPr lang="en-US" dirty="0"/>
              <a:t>-X bond cleavage occurring first to form a carbocation intermediate, which is then 'quenched' by proton abstraction at the alpha-carbon).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Organic Reactions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F23BA-8307-4AC4-BBEF-3E63D6F5FD8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7474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haroni" panose="02010803020104030203" pitchFamily="2" charset="-79"/>
                <a:cs typeface="Aharoni" panose="02010803020104030203" pitchFamily="2" charset="-79"/>
              </a:rPr>
              <a:t>Basic organic reactions (elimination)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415" y="1441938"/>
            <a:ext cx="11465170" cy="5251939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15" y="1614425"/>
            <a:ext cx="11465170" cy="5079451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Organic Reactions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F23BA-8307-4AC4-BBEF-3E63D6F5FD8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1718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haroni" panose="02010803020104030203" pitchFamily="2" charset="-79"/>
                <a:cs typeface="Aharoni" panose="02010803020104030203" pitchFamily="2" charset="-79"/>
              </a:rPr>
              <a:t>Basic organic reactions (elimination)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415" y="1441938"/>
            <a:ext cx="11465170" cy="5251939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en-US" dirty="0"/>
              <a:t>E2 elimination reactions in the laboratory are carried out with relatively strong bases, such as </a:t>
            </a:r>
            <a:r>
              <a:rPr lang="en-US" dirty="0" err="1"/>
              <a:t>alkoxides</a:t>
            </a:r>
            <a:r>
              <a:rPr lang="en-US" dirty="0"/>
              <a:t> (deprotonated alcohols). </a:t>
            </a:r>
          </a:p>
          <a:p>
            <a:pPr algn="just">
              <a:lnSpc>
                <a:spcPct val="200000"/>
              </a:lnSpc>
            </a:pPr>
            <a:r>
              <a:rPr lang="en-US" dirty="0"/>
              <a:t>Ex. 2-bromopropane will react with </a:t>
            </a:r>
            <a:r>
              <a:rPr lang="en-US" dirty="0" err="1"/>
              <a:t>ethoxide</a:t>
            </a:r>
            <a:r>
              <a:rPr lang="en-US" dirty="0"/>
              <a:t>, to give propene.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691" y="4067907"/>
            <a:ext cx="8776555" cy="2741368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Organic Reactions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F23BA-8307-4AC4-BBEF-3E63D6F5FD8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1431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haroni" panose="02010803020104030203" pitchFamily="2" charset="-79"/>
                <a:cs typeface="Aharoni" panose="02010803020104030203" pitchFamily="2" charset="-79"/>
              </a:rPr>
              <a:t>Basic organic reactions (elimination)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415" y="1441938"/>
            <a:ext cx="11465170" cy="5251939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en-US" dirty="0"/>
              <a:t>Propene is not the only product of this reaction, however - the </a:t>
            </a:r>
            <a:r>
              <a:rPr lang="en-US" dirty="0" err="1"/>
              <a:t>ethoxide</a:t>
            </a:r>
            <a:r>
              <a:rPr lang="en-US" dirty="0"/>
              <a:t> will also to some extent act as a nucleophile in an SN2 reaction.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516" y="3288323"/>
            <a:ext cx="9790968" cy="3405554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Organic Reactions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F23BA-8307-4AC4-BBEF-3E63D6F5FD8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8247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haroni" panose="02010803020104030203" pitchFamily="2" charset="-79"/>
                <a:cs typeface="Aharoni" panose="02010803020104030203" pitchFamily="2" charset="-79"/>
              </a:rPr>
              <a:t>Basic organic reactions (elimination)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415" y="1441938"/>
            <a:ext cx="11465170" cy="5251939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Primary carbon electrophiles like 1-bromopropane, for example, are much more likely to undergo substitution (by the SN2 mechanism) than elimination (by the E2 mechanism) – this is because the electrophilic carbon is unhindered and a good target for a nucleophile.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325" y="3989106"/>
            <a:ext cx="10744567" cy="2868894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Organic Reactions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F23BA-8307-4AC4-BBEF-3E63D6F5FD8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8492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haroni" panose="02010803020104030203" pitchFamily="2" charset="-79"/>
                <a:cs typeface="Aharoni" panose="02010803020104030203" pitchFamily="2" charset="-79"/>
              </a:rPr>
              <a:t>Basic organic reactions (elimination)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415" y="1242646"/>
            <a:ext cx="11465170" cy="525193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SN1 and E1 mechanisms are unlikely with such compounds because of the relative instability of primary </a:t>
            </a:r>
            <a:r>
              <a:rPr lang="en-US" dirty="0" err="1"/>
              <a:t>carbocations</a:t>
            </a:r>
            <a:r>
              <a:rPr lang="en-US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The nature of the electron-rich species is also critical. Acetate, for example, is a weak base but a reasonably good nucleophile, and will react with 2-bromopropane mainly as a nucleophile.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335" y="4591050"/>
            <a:ext cx="7701329" cy="226695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Organic Reactions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F23BA-8307-4AC4-BBEF-3E63D6F5FD8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8107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haroni" panose="02010803020104030203" pitchFamily="2" charset="-79"/>
                <a:cs typeface="Aharoni" panose="02010803020104030203" pitchFamily="2" charset="-79"/>
              </a:rPr>
              <a:t>Basic organic reactions (elimination)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415" y="1137138"/>
            <a:ext cx="11465170" cy="5251939"/>
          </a:xfrm>
        </p:spPr>
        <p:txBody>
          <a:bodyPr>
            <a:normAutofit/>
          </a:bodyPr>
          <a:lstStyle/>
          <a:p>
            <a:pPr algn="just">
              <a:lnSpc>
                <a:spcPct val="160000"/>
              </a:lnSpc>
            </a:pPr>
            <a:r>
              <a:rPr lang="en-US" dirty="0"/>
              <a:t>In order to direct the reaction towards elimination, a strong hindered base such as </a:t>
            </a:r>
            <a:r>
              <a:rPr lang="en-US" dirty="0" err="1"/>
              <a:t>tert-butoxide</a:t>
            </a:r>
            <a:r>
              <a:rPr lang="en-US" dirty="0"/>
              <a:t> can be used. The bulkiness of </a:t>
            </a:r>
            <a:r>
              <a:rPr lang="en-US" dirty="0" err="1"/>
              <a:t>tert-butoxide</a:t>
            </a:r>
            <a:r>
              <a:rPr lang="en-US" dirty="0"/>
              <a:t> makes it difficult for its oxygen to reach the carbon (meaning </a:t>
            </a:r>
            <a:r>
              <a:rPr lang="en-US" dirty="0" err="1"/>
              <a:t>tert-butoxide</a:t>
            </a:r>
            <a:r>
              <a:rPr lang="en-US" dirty="0"/>
              <a:t> is a bad nucleophile). It is more likely to pluck off a proton, which is much more accessible than the electrophilic carbon)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452" y="4466492"/>
            <a:ext cx="9713302" cy="2391508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Organic Reactions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F23BA-8307-4AC4-BBEF-3E63D6F5FD8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7155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haroni" panose="02010803020104030203" pitchFamily="2" charset="-79"/>
                <a:cs typeface="Aharoni" panose="02010803020104030203" pitchFamily="2" charset="-79"/>
              </a:rPr>
              <a:t>Basic organic reactions (elimination)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415" y="1441938"/>
            <a:ext cx="11465170" cy="5251939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200000"/>
              </a:lnSpc>
            </a:pPr>
            <a:r>
              <a:rPr lang="en-US" dirty="0"/>
              <a:t>E1 reactions occur by the same kinds of </a:t>
            </a:r>
            <a:r>
              <a:rPr lang="en-US" b="1" dirty="0"/>
              <a:t>carbocation-favoring conditions that exist for SN1 reactions</a:t>
            </a:r>
            <a:r>
              <a:rPr lang="en-US" dirty="0"/>
              <a:t>: a secondary or tertiary substrate, a </a:t>
            </a:r>
            <a:r>
              <a:rPr lang="en-US" dirty="0" err="1"/>
              <a:t>protic</a:t>
            </a:r>
            <a:r>
              <a:rPr lang="en-US" dirty="0"/>
              <a:t> solvent, and a relatively weak base/nucleophile.</a:t>
            </a:r>
          </a:p>
          <a:p>
            <a:pPr algn="just">
              <a:lnSpc>
                <a:spcPct val="200000"/>
              </a:lnSpc>
            </a:pPr>
            <a:r>
              <a:rPr lang="en-US" dirty="0"/>
              <a:t>In fact, E1 and SN1 reactions generally occur simultaneously, giving a mixture of substitution and elimination products after formation of a common carbocation intermediate.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Organic Reactions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F23BA-8307-4AC4-BBEF-3E63D6F5FD8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5139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haroni" panose="02010803020104030203" pitchFamily="2" charset="-79"/>
                <a:cs typeface="Aharoni" panose="02010803020104030203" pitchFamily="2" charset="-79"/>
              </a:rPr>
              <a:t>Basic organic reactions (elimination)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415" y="1027906"/>
            <a:ext cx="11465170" cy="5251939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en-US" dirty="0"/>
              <a:t>For example, when </a:t>
            </a:r>
            <a:r>
              <a:rPr lang="en-US" dirty="0" err="1"/>
              <a:t>tert</a:t>
            </a:r>
            <a:r>
              <a:rPr lang="en-US" dirty="0"/>
              <a:t>-butyl chloride is stirred in a mixture of ethanol and water, a mixture of SN1 products (</a:t>
            </a:r>
            <a:r>
              <a:rPr lang="en-US" dirty="0" err="1"/>
              <a:t>tert</a:t>
            </a:r>
            <a:r>
              <a:rPr lang="en-US" dirty="0"/>
              <a:t>-butyl alcohol and </a:t>
            </a:r>
            <a:r>
              <a:rPr lang="en-US" dirty="0" err="1"/>
              <a:t>tert</a:t>
            </a:r>
            <a:r>
              <a:rPr lang="en-US" dirty="0"/>
              <a:t>-butyl ethyl ether) and E1 product (2-methylpropene) results.</a:t>
            </a:r>
          </a:p>
          <a:p>
            <a:pPr algn="just">
              <a:lnSpc>
                <a:spcPct val="200000"/>
              </a:lnSpc>
            </a:pPr>
            <a:endParaRPr lang="en-US" dirty="0"/>
          </a:p>
          <a:p>
            <a:pPr algn="just">
              <a:lnSpc>
                <a:spcPct val="200000"/>
              </a:lnSpc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779" y="3540369"/>
            <a:ext cx="6203085" cy="3294185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Organic Reactions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F23BA-8307-4AC4-BBEF-3E63D6F5FD81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778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8C3E0F09C52F4A807E6242C5287BED" ma:contentTypeVersion="13" ma:contentTypeDescription="Create a new document." ma:contentTypeScope="" ma:versionID="943cc576be7981fb30a92cbcaf50631f">
  <xsd:schema xmlns:xsd="http://www.w3.org/2001/XMLSchema" xmlns:xs="http://www.w3.org/2001/XMLSchema" xmlns:p="http://schemas.microsoft.com/office/2006/metadata/properties" xmlns:ns2="5e04be05-b2bd-4ae1-aab0-f627a135ee61" xmlns:ns3="c50efb78-072c-4c83-b3db-774376b70e70" targetNamespace="http://schemas.microsoft.com/office/2006/metadata/properties" ma:root="true" ma:fieldsID="46780d4e346c880a606013f5f9fc326a" ns2:_="" ns3:_="">
    <xsd:import namespace="5e04be05-b2bd-4ae1-aab0-f627a135ee61"/>
    <xsd:import namespace="c50efb78-072c-4c83-b3db-774376b70e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04be05-b2bd-4ae1-aab0-f627a135ee6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0efb78-072c-4c83-b3db-774376b70e70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9E79B1B-523F-4FD5-995A-86F118A831C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6EFB773-1B9B-4054-8E69-5C79C81788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04be05-b2bd-4ae1-aab0-f627a135ee61"/>
    <ds:schemaRef ds:uri="c50efb78-072c-4c83-b3db-774376b70e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BE39A01-B992-483E-9ABC-18F8C7C67C7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1854</TotalTime>
  <Words>1704</Words>
  <Application>Microsoft Office PowerPoint</Application>
  <PresentationFormat>Widescreen</PresentationFormat>
  <Paragraphs>182</Paragraphs>
  <Slides>43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Basic organic reactions (substitution)</vt:lpstr>
      <vt:lpstr>Substitution reactions</vt:lpstr>
      <vt:lpstr>Nucleophilic Substitution reactions</vt:lpstr>
      <vt:lpstr>Nucleophilic Substitution reactions</vt:lpstr>
      <vt:lpstr>Nucleophilic Substitution reactions</vt:lpstr>
      <vt:lpstr>Nucleophilic Substitution reactions</vt:lpstr>
      <vt:lpstr>Basic organic reactions (nucleophilic substitution)</vt:lpstr>
      <vt:lpstr>Basic organic reactions (nucleophilic substitution)</vt:lpstr>
      <vt:lpstr>Nucleophilic Substitution reactions</vt:lpstr>
      <vt:lpstr>Basic organic reactions (nucleophilic substitution)</vt:lpstr>
      <vt:lpstr>Elimination reactions</vt:lpstr>
      <vt:lpstr>Basic organic reactions (elimination)</vt:lpstr>
      <vt:lpstr>Basic organic reactions (elimination)</vt:lpstr>
      <vt:lpstr>Basic organic reactions (elimination)</vt:lpstr>
      <vt:lpstr>Basic organic reactions (elimination)</vt:lpstr>
      <vt:lpstr>Basic organic reactions (elimination)</vt:lpstr>
      <vt:lpstr>Basic organic reactions (elimination)</vt:lpstr>
      <vt:lpstr>Basic organic reactions (elimination)</vt:lpstr>
      <vt:lpstr>Basic organic reactions (elimination)</vt:lpstr>
      <vt:lpstr>Basic organic reactions (elimination)</vt:lpstr>
      <vt:lpstr>Basic organic reactions (elimination)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Sanket Gudekar</dc:creator>
  <cp:lastModifiedBy>Chandan Maitrani</cp:lastModifiedBy>
  <cp:revision>236</cp:revision>
  <dcterms:created xsi:type="dcterms:W3CDTF">2015-09-23T09:16:28Z</dcterms:created>
  <dcterms:modified xsi:type="dcterms:W3CDTF">2023-03-17T05:08:34Z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0x0101009D8C3E0F09C52F4A807E6242C5287BED</vt:lpwstr>
  </property>
</Properties>
</file>