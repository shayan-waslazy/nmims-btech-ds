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71" r:id="rId2"/>
    <p:sldId id="272" r:id="rId3"/>
    <p:sldId id="276" r:id="rId4"/>
    <p:sldId id="273" r:id="rId5"/>
    <p:sldId id="274" r:id="rId6"/>
    <p:sldId id="275" r:id="rId7"/>
    <p:sldId id="282" r:id="rId8"/>
    <p:sldId id="277" r:id="rId9"/>
    <p:sldId id="278" r:id="rId10"/>
    <p:sldId id="279" r:id="rId11"/>
    <p:sldId id="281" r:id="rId12"/>
  </p:sldIdLst>
  <p:sldSz cx="9144000" cy="6858000" type="screen4x3"/>
  <p:notesSz cx="6858000" cy="9144000"/>
  <p:embeddedFontLst>
    <p:embeddedFont>
      <p:font typeface="Book Antiqua" panose="02040602050305030304" pitchFamily="18"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gLcInLSkLHuHqSc+ZqvHXDxAk9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30EC17-70F7-44B0-BCCC-A1A52A2F6CD4}" v="13" dt="2025-08-24T16:55:23.2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386"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8" Type="http://customschemas.google.com/relationships/presentationmetadata" Target="metadata"/><Relationship Id="rId10" Type="http://schemas.openxmlformats.org/officeDocument/2006/relationships/slide" Target="slides/slide9.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77" name="Google Shape;7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4319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85" name="Google Shape;85;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4140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93" name="Google Shape;93;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4970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01" name="Google Shape;10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4583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09" name="Google Shape;10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6801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19"/>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480"/>
              </a:spcBef>
              <a:spcAft>
                <a:spcPts val="0"/>
              </a:spcAft>
              <a:buClr>
                <a:srgbClr val="888888"/>
              </a:buClr>
              <a:buSzPts val="2400"/>
              <a:buFont typeface="Noto Sans Symbols"/>
              <a:buNone/>
              <a:defRPr sz="2400" b="0" i="0" u="none" strike="noStrike" cap="none">
                <a:solidFill>
                  <a:srgbClr val="888888"/>
                </a:solidFill>
                <a:latin typeface="Calibri"/>
                <a:ea typeface="Calibri"/>
                <a:cs typeface="Calibri"/>
                <a:sym typeface="Calibri"/>
              </a:defRPr>
            </a:lvl1pPr>
            <a:lvl2pPr marR="0" lvl="1" algn="ctr">
              <a:lnSpc>
                <a:spcPct val="100000"/>
              </a:lnSpc>
              <a:spcBef>
                <a:spcPts val="400"/>
              </a:spcBef>
              <a:spcAft>
                <a:spcPts val="0"/>
              </a:spcAft>
              <a:buClr>
                <a:srgbClr val="888888"/>
              </a:buClr>
              <a:buSzPts val="2000"/>
              <a:buFont typeface="Noto Sans Symbols"/>
              <a:buNone/>
              <a:defRPr sz="2000" b="0" i="0" u="none" strike="noStrike" cap="none">
                <a:solidFill>
                  <a:srgbClr val="888888"/>
                </a:solidFill>
                <a:latin typeface="Calibri"/>
                <a:ea typeface="Calibri"/>
                <a:cs typeface="Calibri"/>
                <a:sym typeface="Calibri"/>
              </a:defRPr>
            </a:lvl2pPr>
            <a:lvl3pPr marR="0" lvl="2" algn="ctr">
              <a:lnSpc>
                <a:spcPct val="100000"/>
              </a:lnSpc>
              <a:spcBef>
                <a:spcPts val="360"/>
              </a:spcBef>
              <a:spcAft>
                <a:spcPts val="0"/>
              </a:spcAft>
              <a:buClr>
                <a:srgbClr val="888888"/>
              </a:buClr>
              <a:buSzPts val="1800"/>
              <a:buFont typeface="Noto Sans Symbols"/>
              <a:buNone/>
              <a:defRPr sz="1800" b="0" i="0" u="none" strike="noStrike" cap="none">
                <a:solidFill>
                  <a:srgbClr val="888888"/>
                </a:solidFill>
                <a:latin typeface="Calibri"/>
                <a:ea typeface="Calibri"/>
                <a:cs typeface="Calibri"/>
                <a:sym typeface="Calibri"/>
              </a:defRPr>
            </a:lvl3pPr>
            <a:lvl4pPr marR="0" lvl="3" algn="ctr">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4pPr>
            <a:lvl5pPr marR="0" lvl="4" algn="ctr">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8" name="Google Shape;18;p19"/>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9"/>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9"/>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3" name="Google Shape;23;p20"/>
          <p:cNvSpPr txBox="1">
            <a:spLocks noGrp="1"/>
          </p:cNvSpPr>
          <p:nvPr>
            <p:ph type="body" idx="1"/>
          </p:nvPr>
        </p:nvSpPr>
        <p:spPr>
          <a:xfrm>
            <a:off x="457200" y="2286000"/>
            <a:ext cx="8229600" cy="4070351"/>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20"/>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20"/>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 name="Google Shape;29;p21"/>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00"/>
              </a:spcBef>
              <a:spcAft>
                <a:spcPts val="0"/>
              </a:spcAft>
              <a:buClr>
                <a:srgbClr val="888888"/>
              </a:buClr>
              <a:buSzPts val="2000"/>
              <a:buFont typeface="Noto Sans Symbols"/>
              <a:buNone/>
              <a:defRPr sz="2000" b="0" i="0" u="none" strike="noStrike" cap="none">
                <a:solidFill>
                  <a:srgbClr val="888888"/>
                </a:solidFill>
                <a:latin typeface="Calibri"/>
                <a:ea typeface="Calibri"/>
                <a:cs typeface="Calibri"/>
                <a:sym typeface="Calibri"/>
              </a:defRPr>
            </a:lvl1pPr>
            <a:lvl2pPr marL="914400" marR="0" lvl="1" indent="-228600" algn="l">
              <a:lnSpc>
                <a:spcPct val="100000"/>
              </a:lnSpc>
              <a:spcBef>
                <a:spcPts val="360"/>
              </a:spcBef>
              <a:spcAft>
                <a:spcPts val="0"/>
              </a:spcAft>
              <a:buClr>
                <a:srgbClr val="888888"/>
              </a:buClr>
              <a:buSzPts val="1800"/>
              <a:buFont typeface="Noto Sans Symbols"/>
              <a:buNone/>
              <a:defRPr sz="1800" b="0" i="0" u="none" strike="noStrike" cap="none">
                <a:solidFill>
                  <a:srgbClr val="888888"/>
                </a:solidFill>
                <a:latin typeface="Calibri"/>
                <a:ea typeface="Calibri"/>
                <a:cs typeface="Calibri"/>
                <a:sym typeface="Calibri"/>
              </a:defRPr>
            </a:lvl2pPr>
            <a:lvl3pPr marL="1371600" marR="0" lvl="2" indent="-228600" algn="l">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3pPr>
            <a:lvl4pPr marL="1828800" marR="0" lvl="3" indent="-228600" algn="l">
              <a:lnSpc>
                <a:spcPct val="100000"/>
              </a:lnSpc>
              <a:spcBef>
                <a:spcPts val="280"/>
              </a:spcBef>
              <a:spcAft>
                <a:spcPts val="0"/>
              </a:spcAft>
              <a:buClr>
                <a:srgbClr val="888888"/>
              </a:buClr>
              <a:buSzPts val="1400"/>
              <a:buFont typeface="Noto Sans Symbols"/>
              <a:buNone/>
              <a:defRPr sz="1400" b="0" i="0" u="none" strike="noStrike" cap="none">
                <a:solidFill>
                  <a:srgbClr val="888888"/>
                </a:solidFill>
                <a:latin typeface="Calibri"/>
                <a:ea typeface="Calibri"/>
                <a:cs typeface="Calibri"/>
                <a:sym typeface="Calibri"/>
              </a:defRPr>
            </a:lvl4pPr>
            <a:lvl5pPr marL="2286000" marR="0" lvl="4" indent="-228600" algn="l">
              <a:lnSpc>
                <a:spcPct val="100000"/>
              </a:lnSpc>
              <a:spcBef>
                <a:spcPts val="280"/>
              </a:spcBef>
              <a:spcAft>
                <a:spcPts val="0"/>
              </a:spcAft>
              <a:buClr>
                <a:srgbClr val="888888"/>
              </a:buClr>
              <a:buSzPts val="1400"/>
              <a:buFont typeface="Noto Sans Symbols"/>
              <a:buNone/>
              <a:defRPr sz="1400" b="0" i="0" u="none" strike="noStrike" cap="none">
                <a:solidFill>
                  <a:srgbClr val="888888"/>
                </a:solidFill>
                <a:latin typeface="Calibri"/>
                <a:ea typeface="Calibri"/>
                <a:cs typeface="Calibri"/>
                <a:sym typeface="Calibri"/>
              </a:defRPr>
            </a:lvl5pPr>
            <a:lvl6pPr marL="2743200" marR="0" lvl="5"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0" name="Google Shape;30;p21"/>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21"/>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22"/>
          <p:cNvSpPr txBox="1">
            <a:spLocks noGrp="1"/>
          </p:cNvSpPr>
          <p:nvPr>
            <p:ph type="body" idx="1"/>
          </p:nvPr>
        </p:nvSpPr>
        <p:spPr>
          <a:xfrm>
            <a:off x="457200" y="1600200"/>
            <a:ext cx="4038600" cy="4525963"/>
          </a:xfrm>
          <a:prstGeom prst="rect">
            <a:avLst/>
          </a:prstGeom>
          <a:noFill/>
          <a:ln>
            <a:noFill/>
          </a:ln>
        </p:spPr>
        <p:txBody>
          <a:bodyPr spcFirstLastPara="1" wrap="square" lIns="91425" tIns="91425" rIns="91425" bIns="91425" anchor="t" anchorCtr="0">
            <a:noAutofit/>
          </a:bodyPr>
          <a:lstStyle>
            <a:lvl1pPr marL="457200" marR="0" lvl="0"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22"/>
          <p:cNvSpPr txBox="1">
            <a:spLocks noGrp="1"/>
          </p:cNvSpPr>
          <p:nvPr>
            <p:ph type="body" idx="2"/>
          </p:nvPr>
        </p:nvSpPr>
        <p:spPr>
          <a:xfrm>
            <a:off x="4648200" y="1600200"/>
            <a:ext cx="4038600" cy="4525963"/>
          </a:xfrm>
          <a:prstGeom prst="rect">
            <a:avLst/>
          </a:prstGeom>
          <a:noFill/>
          <a:ln>
            <a:noFill/>
          </a:ln>
        </p:spPr>
        <p:txBody>
          <a:bodyPr spcFirstLastPara="1" wrap="square" lIns="91425" tIns="91425" rIns="91425" bIns="91425" anchor="t" anchorCtr="0">
            <a:noAutofit/>
          </a:bodyPr>
          <a:lstStyle>
            <a:lvl1pPr marL="457200" marR="0" lvl="0"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22"/>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22"/>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2" name="Google Shape;42;p23"/>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2400"/>
              <a:buFont typeface="Noto Sans Symbols"/>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000"/>
              <a:buFont typeface="Noto Sans Symbols"/>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1800"/>
              <a:buFont typeface="Noto Sans Symbols"/>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23"/>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4" name="Google Shape;44;p23"/>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2400"/>
              <a:buFont typeface="Noto Sans Symbols"/>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000"/>
              <a:buFont typeface="Noto Sans Symbols"/>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1800"/>
              <a:buFont typeface="Noto Sans Symbols"/>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23"/>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6" name="Google Shape;46;p23"/>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23"/>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1" name="Google Shape;51;p24"/>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Noto Sans Symbols"/>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2" name="Google Shape;52;p24"/>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1400"/>
              <a:buFont typeface="Noto Sans Symbols"/>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1200"/>
              <a:buFont typeface="Noto Sans Symbols"/>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1000"/>
              <a:buFont typeface="Noto Sans Symbols"/>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3" name="Google Shape;53;p24"/>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24"/>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6"/>
        <p:cNvGrpSpPr/>
        <p:nvPr/>
      </p:nvGrpSpPr>
      <p:grpSpPr>
        <a:xfrm>
          <a:off x="0" y="0"/>
          <a:ext cx="0" cy="0"/>
          <a:chOff x="0" y="0"/>
          <a:chExt cx="0" cy="0"/>
        </a:xfrm>
      </p:grpSpPr>
      <p:sp>
        <p:nvSpPr>
          <p:cNvPr id="57" name="Google Shape;57;p25"/>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8" name="Google Shape;58;p25"/>
          <p:cNvSpPr>
            <a:spLocks noGrp="1"/>
          </p:cNvSpPr>
          <p:nvPr>
            <p:ph type="pic" idx="2"/>
          </p:nvPr>
        </p:nvSpPr>
        <p:spPr>
          <a:xfrm>
            <a:off x="1792288" y="612775"/>
            <a:ext cx="5486400" cy="4114800"/>
          </a:xfrm>
          <a:prstGeom prst="rect">
            <a:avLst/>
          </a:prstGeom>
          <a:noFill/>
          <a:ln>
            <a:noFill/>
          </a:ln>
        </p:spPr>
      </p:sp>
      <p:sp>
        <p:nvSpPr>
          <p:cNvPr id="59" name="Google Shape;59;p25"/>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1400"/>
              <a:buFont typeface="Noto Sans Symbols"/>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1200"/>
              <a:buFont typeface="Noto Sans Symbols"/>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1000"/>
              <a:buFont typeface="Noto Sans Symbols"/>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0" name="Google Shape;60;p25"/>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25"/>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2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3"/>
        <p:cNvGrpSpPr/>
        <p:nvPr/>
      </p:nvGrpSpPr>
      <p:grpSpPr>
        <a:xfrm>
          <a:off x="0" y="0"/>
          <a:ext cx="0" cy="0"/>
          <a:chOff x="0" y="0"/>
          <a:chExt cx="0" cy="0"/>
        </a:xfrm>
      </p:grpSpPr>
      <p:sp>
        <p:nvSpPr>
          <p:cNvPr id="64" name="Google Shape;64;p26"/>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p26"/>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6" name="Google Shape;66;p26"/>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26"/>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9"/>
        <p:cNvGrpSpPr/>
        <p:nvPr/>
      </p:nvGrpSpPr>
      <p:grpSpPr>
        <a:xfrm>
          <a:off x="0" y="0"/>
          <a:ext cx="0" cy="0"/>
          <a:chOff x="0" y="0"/>
          <a:chExt cx="0" cy="0"/>
        </a:xfrm>
      </p:grpSpPr>
      <p:sp>
        <p:nvSpPr>
          <p:cNvPr id="70" name="Google Shape;70;p27"/>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1" name="Google Shape;71;p27"/>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2" name="Google Shape;72;p27"/>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27"/>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2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457200" y="2286000"/>
            <a:ext cx="8229600" cy="4070351"/>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
          <p:cNvSpPr txBox="1">
            <a:spLocks noGrp="1"/>
          </p:cNvSpPr>
          <p:nvPr>
            <p:ph type="ctrTitle"/>
          </p:nvPr>
        </p:nvSpPr>
        <p:spPr>
          <a:xfrm>
            <a:off x="685800" y="731520"/>
            <a:ext cx="7772400" cy="2868931"/>
          </a:xfrm>
          <a:prstGeom prst="rect">
            <a:avLst/>
          </a:prstGeom>
          <a:noFill/>
          <a:ln>
            <a:noFill/>
          </a:ln>
        </p:spPr>
        <p:txBody>
          <a:bodyPr spcFirstLastPara="1" wrap="square" lIns="91425" tIns="45700" rIns="91425" bIns="45700" anchor="ctr" anchorCtr="0">
            <a:noAutofit/>
          </a:bodyPr>
          <a:lstStyle/>
          <a:p>
            <a:r>
              <a:rPr lang="en-IN" dirty="0"/>
              <a:t>       </a:t>
            </a:r>
            <a:br>
              <a:rPr lang="en-IN" dirty="0"/>
            </a:br>
            <a:r>
              <a:rPr lang="en-IN" dirty="0"/>
              <a:t>Community Service Presentation </a:t>
            </a:r>
            <a:br>
              <a:rPr lang="en-IN" sz="3600" b="1" i="0" u="none" strike="noStrike" cap="none" dirty="0">
                <a:solidFill>
                  <a:schemeClr val="dk1"/>
                </a:solidFill>
                <a:latin typeface="Calibri"/>
                <a:ea typeface="Calibri"/>
                <a:cs typeface="Calibri"/>
                <a:sym typeface="Calibri"/>
              </a:rPr>
            </a:br>
            <a:r>
              <a:rPr lang="en-IN" dirty="0"/>
              <a:t>A.Y. 2025-26</a:t>
            </a:r>
            <a:br>
              <a:rPr lang="en-IN" dirty="0"/>
            </a:br>
            <a:endParaRPr sz="3600" b="1" i="0" u="none" strike="noStrike" cap="none" dirty="0" err="1">
              <a:latin typeface="Calibri"/>
              <a:ea typeface="Calibri"/>
              <a:cs typeface="Calibri"/>
              <a:sym typeface="Calibri"/>
            </a:endParaRPr>
          </a:p>
        </p:txBody>
      </p:sp>
      <p:sp>
        <p:nvSpPr>
          <p:cNvPr id="80" name="Google Shape;80;p1"/>
          <p:cNvSpPr txBox="1">
            <a:spLocks noGrp="1"/>
          </p:cNvSpPr>
          <p:nvPr>
            <p:ph type="subTitle" idx="1"/>
          </p:nvPr>
        </p:nvSpPr>
        <p:spPr>
          <a:xfrm>
            <a:off x="1371600" y="3594847"/>
            <a:ext cx="6400800" cy="17526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888888"/>
              </a:buClr>
              <a:buSzPts val="2400"/>
              <a:buNone/>
            </a:pPr>
            <a:endParaRPr sz="2400" b="0" i="0" u="none" strike="noStrike" cap="none" dirty="0">
              <a:solidFill>
                <a:srgbClr val="888888"/>
              </a:solidFill>
              <a:latin typeface="Calibri"/>
              <a:ea typeface="Calibri"/>
              <a:cs typeface="Calibri"/>
              <a:sym typeface="Calibri"/>
            </a:endParaRPr>
          </a:p>
          <a:p>
            <a:pPr marL="342900" indent="-342900" algn="just">
              <a:spcBef>
                <a:spcPts val="0"/>
              </a:spcBef>
            </a:pPr>
            <a:r>
              <a:rPr lang="en-IN" sz="2000" b="0" i="0" u="none" strike="noStrike" cap="none" dirty="0">
                <a:solidFill>
                  <a:srgbClr val="888888"/>
                </a:solidFill>
                <a:latin typeface="Calibri"/>
                <a:ea typeface="Calibri"/>
                <a:cs typeface="Calibri"/>
                <a:sym typeface="Calibri"/>
              </a:rPr>
              <a:t>Presented by :</a:t>
            </a:r>
            <a:endParaRPr lang="en-IN" sz="2000" dirty="0"/>
          </a:p>
          <a:p>
            <a:pPr marL="342900" indent="-342900" algn="just">
              <a:spcBef>
                <a:spcPts val="0"/>
              </a:spcBef>
            </a:pPr>
            <a:r>
              <a:rPr lang="en-IN" sz="2000" dirty="0"/>
              <a:t>Shayan Mandrekar</a:t>
            </a:r>
          </a:p>
          <a:p>
            <a:pPr marL="342900" indent="-342900" algn="just">
              <a:spcBef>
                <a:spcPts val="0"/>
              </a:spcBef>
            </a:pPr>
            <a:r>
              <a:rPr lang="en-IN" sz="2000" dirty="0"/>
              <a:t>SAP:- 70382200006</a:t>
            </a:r>
          </a:p>
          <a:p>
            <a:pPr marL="342900" indent="-342900" algn="just">
              <a:spcBef>
                <a:spcPts val="0"/>
              </a:spcBef>
            </a:pPr>
            <a:r>
              <a:rPr lang="en-IN" sz="2000" dirty="0"/>
              <a:t>BTI DS Sem-VII</a:t>
            </a:r>
          </a:p>
          <a:p>
            <a:pPr marL="342900" indent="-342900" algn="just">
              <a:spcBef>
                <a:spcPts val="0"/>
              </a:spcBef>
            </a:pPr>
            <a:r>
              <a:rPr lang="en-IN" sz="2000" dirty="0"/>
              <a:t>Roll no- E041</a:t>
            </a:r>
            <a:endParaRPr sz="2000" dirty="0"/>
          </a:p>
          <a:p>
            <a:pPr marL="342900" marR="0" lvl="0" indent="-342900" algn="just" rtl="0">
              <a:lnSpc>
                <a:spcPct val="100000"/>
              </a:lnSpc>
              <a:spcBef>
                <a:spcPts val="0"/>
              </a:spcBef>
              <a:spcAft>
                <a:spcPts val="0"/>
              </a:spcAft>
              <a:buClr>
                <a:srgbClr val="888888"/>
              </a:buClr>
              <a:buSzPts val="2400"/>
              <a:buNone/>
            </a:pPr>
            <a:endParaRPr sz="2000" dirty="0"/>
          </a:p>
          <a:p>
            <a:pPr marL="342900" indent="-342900" algn="just">
              <a:spcBef>
                <a:spcPts val="0"/>
              </a:spcBef>
            </a:pPr>
            <a:r>
              <a:rPr lang="en-IN" sz="2000" b="0" i="0" u="none" strike="noStrike" cap="none" dirty="0">
                <a:solidFill>
                  <a:srgbClr val="888888"/>
                </a:solidFill>
                <a:latin typeface="Calibri"/>
                <a:ea typeface="Calibri"/>
                <a:cs typeface="Calibri"/>
                <a:sym typeface="Calibri"/>
              </a:rPr>
              <a:t>Under the guidance of : Mr. Cynthia Dias</a:t>
            </a:r>
            <a:endParaRPr sz="2000" b="0" i="0" u="none" strike="noStrike" cap="none" dirty="0">
              <a:solidFill>
                <a:srgbClr val="888888"/>
              </a:solidFill>
              <a:latin typeface="Calibri"/>
              <a:ea typeface="Calibri"/>
              <a:cs typeface="Calibri"/>
            </a:endParaRPr>
          </a:p>
        </p:txBody>
      </p:sp>
      <p:sp>
        <p:nvSpPr>
          <p:cNvPr id="82" name="Google Shape;82;p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n-IN" sz="1050" b="0" i="0" u="none" strike="noStrike" cap="none">
                <a:solidFill>
                  <a:srgbClr val="888888"/>
                </a:solidFill>
                <a:latin typeface="Calibri"/>
                <a:ea typeface="Calibri"/>
                <a:cs typeface="Calibri"/>
                <a:sym typeface="Calibri"/>
              </a:rPr>
              <a:t>1</a:t>
            </a:fld>
            <a:endParaRPr sz="105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827476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libri"/>
              <a:buNone/>
            </a:pPr>
            <a:endParaRPr sz="3600" b="1" i="0" u="none" strike="noStrike" cap="none" dirty="0">
              <a:solidFill>
                <a:schemeClr val="dk1"/>
              </a:solidFill>
              <a:latin typeface="Calibri"/>
              <a:ea typeface="Calibri"/>
              <a:cs typeface="Calibri"/>
              <a:sym typeface="Calibri"/>
            </a:endParaRPr>
          </a:p>
        </p:txBody>
      </p:sp>
      <p:sp>
        <p:nvSpPr>
          <p:cNvPr id="88" name="Google Shape;88;p2"/>
          <p:cNvSpPr txBox="1">
            <a:spLocks noGrp="1"/>
          </p:cNvSpPr>
          <p:nvPr>
            <p:ph type="body" idx="1"/>
          </p:nvPr>
        </p:nvSpPr>
        <p:spPr>
          <a:xfrm>
            <a:off x="359500" y="2256500"/>
            <a:ext cx="8229600" cy="4070400"/>
          </a:xfrm>
          <a:prstGeom prst="rect">
            <a:avLst/>
          </a:prstGeom>
          <a:noFill/>
          <a:ln>
            <a:noFill/>
          </a:ln>
        </p:spPr>
        <p:txBody>
          <a:bodyPr spcFirstLastPara="1" wrap="square" lIns="91425" tIns="45700" rIns="91425" bIns="45700" anchor="t" anchorCtr="0">
            <a:noAutofit/>
          </a:bodyPr>
          <a:lstStyle/>
          <a:p>
            <a:r>
              <a:rPr lang="en-US" b="1" dirty="0"/>
              <a:t>Content:</a:t>
            </a:r>
            <a:endParaRPr lang="en-US" dirty="0"/>
          </a:p>
          <a:p>
            <a:r>
              <a:rPr lang="en-US" dirty="0"/>
              <a:t>Overview of the NGO: </a:t>
            </a:r>
            <a:r>
              <a:rPr lang="en-US" i="1" dirty="0"/>
              <a:t>Live To Give Foundation</a:t>
            </a:r>
            <a:endParaRPr lang="en-US" dirty="0"/>
          </a:p>
          <a:p>
            <a:r>
              <a:rPr lang="en-US" dirty="0"/>
              <a:t>Objective: To support underprivileged beneficiaries with medical, educational, and financial aid</a:t>
            </a:r>
          </a:p>
          <a:p>
            <a:r>
              <a:rPr lang="en-US" dirty="0"/>
              <a:t>My Role: Community service intern focused on outreach, tech assistance, and collaboration</a:t>
            </a:r>
          </a:p>
          <a:p>
            <a:pPr marL="0" lvl="0" indent="0" algn="l" rtl="0">
              <a:lnSpc>
                <a:spcPct val="100000"/>
              </a:lnSpc>
              <a:spcBef>
                <a:spcPts val="0"/>
              </a:spcBef>
              <a:spcAft>
                <a:spcPts val="0"/>
              </a:spcAft>
              <a:buSzPts val="2400"/>
              <a:buNone/>
            </a:pPr>
            <a:endParaRPr dirty="0">
              <a:solidFill>
                <a:srgbClr val="000000"/>
              </a:solidFill>
              <a:latin typeface="Book Antiqua"/>
              <a:ea typeface="Book Antiqua"/>
              <a:cs typeface="Book Antiqua"/>
              <a:sym typeface="Book Antiqua"/>
            </a:endParaRPr>
          </a:p>
        </p:txBody>
      </p:sp>
      <p:sp>
        <p:nvSpPr>
          <p:cNvPr id="89" name="Google Shape;89;p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050" b="0" i="0" u="none" strike="noStrike" cap="none" dirty="0">
              <a:solidFill>
                <a:srgbClr val="888888"/>
              </a:solidFill>
              <a:latin typeface="Calibri"/>
              <a:ea typeface="Calibri"/>
              <a:cs typeface="Calibri"/>
              <a:sym typeface="Calibri"/>
            </a:endParaRPr>
          </a:p>
        </p:txBody>
      </p:sp>
      <p:sp>
        <p:nvSpPr>
          <p:cNvPr id="90" name="Google Shape;90;p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n-IN" sz="1050" b="0" i="0" u="none" strike="noStrike" cap="none">
                <a:solidFill>
                  <a:srgbClr val="888888"/>
                </a:solidFill>
                <a:latin typeface="Calibri"/>
                <a:ea typeface="Calibri"/>
                <a:cs typeface="Calibri"/>
                <a:sym typeface="Calibri"/>
              </a:rPr>
              <a:t>2</a:t>
            </a:fld>
            <a:endParaRPr sz="105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560412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25D78-9457-D564-0F82-13F368CF561F}"/>
              </a:ext>
            </a:extLst>
          </p:cNvPr>
          <p:cNvSpPr>
            <a:spLocks noGrp="1"/>
          </p:cNvSpPr>
          <p:nvPr>
            <p:ph type="title"/>
          </p:nvPr>
        </p:nvSpPr>
        <p:spPr/>
        <p:txBody>
          <a:bodyPr/>
          <a:lstStyle/>
          <a:p>
            <a:r>
              <a:rPr lang="en-US" dirty="0"/>
              <a:t>INTRODUCTION TO THE FOUNDATION</a:t>
            </a:r>
          </a:p>
        </p:txBody>
      </p:sp>
      <p:sp>
        <p:nvSpPr>
          <p:cNvPr id="3" name="Text Placeholder 2">
            <a:extLst>
              <a:ext uri="{FF2B5EF4-FFF2-40B4-BE49-F238E27FC236}">
                <a16:creationId xmlns:a16="http://schemas.microsoft.com/office/drawing/2014/main" id="{B458F1B0-A811-26F2-95DA-4E59F8C02E82}"/>
              </a:ext>
            </a:extLst>
          </p:cNvPr>
          <p:cNvSpPr>
            <a:spLocks noGrp="1"/>
          </p:cNvSpPr>
          <p:nvPr>
            <p:ph type="body" idx="1"/>
          </p:nvPr>
        </p:nvSpPr>
        <p:spPr>
          <a:xfrm>
            <a:off x="457199" y="2286000"/>
            <a:ext cx="4804757" cy="4070351"/>
          </a:xfrm>
        </p:spPr>
        <p:txBody>
          <a:bodyPr/>
          <a:lstStyle/>
          <a:p>
            <a:r>
              <a:rPr lang="en-US" sz="1800" b="1" dirty="0"/>
              <a:t>Live to Give</a:t>
            </a:r>
            <a:r>
              <a:rPr lang="en-US" sz="1800" dirty="0"/>
              <a:t> is a CSR and 80G registered foundation that functions primarily through WhatsApp. It is designed for individuals who may be unsure about how to begin their journey in social service or struggle to find genuine, verified cases of people in need. The platform unites thousands of everyday citizens along with doctors, NGO founders, and bureaucrats, enabling them to collaboratively </a:t>
            </a:r>
            <a:r>
              <a:rPr lang="en-US" sz="1800" b="1" dirty="0"/>
              <a:t>verify cases and provide both financial and physical assistance</a:t>
            </a:r>
            <a:r>
              <a:rPr lang="en-US" sz="1800" dirty="0"/>
              <a:t>—all from the comfort of their homes.</a:t>
            </a:r>
          </a:p>
        </p:txBody>
      </p:sp>
      <p:sp>
        <p:nvSpPr>
          <p:cNvPr id="4" name="Slide Number Placeholder 3">
            <a:extLst>
              <a:ext uri="{FF2B5EF4-FFF2-40B4-BE49-F238E27FC236}">
                <a16:creationId xmlns:a16="http://schemas.microsoft.com/office/drawing/2014/main" id="{E755FBAD-BDDD-A332-DD68-B399BE9B2A2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3</a:t>
            </a:fld>
            <a:endParaRPr lang="en-IN"/>
          </a:p>
        </p:txBody>
      </p:sp>
      <p:pic>
        <p:nvPicPr>
          <p:cNvPr id="5" name="Picture 4">
            <a:extLst>
              <a:ext uri="{FF2B5EF4-FFF2-40B4-BE49-F238E27FC236}">
                <a16:creationId xmlns:a16="http://schemas.microsoft.com/office/drawing/2014/main" id="{7DBB3286-6052-4B15-BAE9-D9CC02B99971}"/>
              </a:ext>
            </a:extLst>
          </p:cNvPr>
          <p:cNvPicPr>
            <a:picLocks noChangeAspect="1"/>
          </p:cNvPicPr>
          <p:nvPr/>
        </p:nvPicPr>
        <p:blipFill>
          <a:blip r:embed="rId2"/>
          <a:stretch>
            <a:fillRect/>
          </a:stretch>
        </p:blipFill>
        <p:spPr>
          <a:xfrm>
            <a:off x="5450476" y="2286000"/>
            <a:ext cx="3236324" cy="2867268"/>
          </a:xfrm>
          <a:prstGeom prst="rect">
            <a:avLst/>
          </a:prstGeom>
        </p:spPr>
      </p:pic>
    </p:spTree>
    <p:extLst>
      <p:ext uri="{BB962C8B-B14F-4D97-AF65-F5344CB8AC3E}">
        <p14:creationId xmlns:p14="http://schemas.microsoft.com/office/powerpoint/2010/main" val="2666355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
          <p:cNvSpPr txBox="1">
            <a:spLocks noGrp="1"/>
          </p:cNvSpPr>
          <p:nvPr>
            <p:ph type="title"/>
          </p:nvPr>
        </p:nvSpPr>
        <p:spPr>
          <a:xfrm>
            <a:off x="523702" y="1197033"/>
            <a:ext cx="8229600" cy="914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3600"/>
              <a:buFont typeface="Calibri"/>
              <a:buNone/>
            </a:pPr>
            <a:r>
              <a:rPr lang="en-IN" dirty="0"/>
              <a:t>SCOPE OF WORK</a:t>
            </a:r>
            <a:endParaRPr dirty="0"/>
          </a:p>
        </p:txBody>
      </p:sp>
      <p:sp>
        <p:nvSpPr>
          <p:cNvPr id="96" name="Google Shape;96;p3"/>
          <p:cNvSpPr txBox="1">
            <a:spLocks noGrp="1"/>
          </p:cNvSpPr>
          <p:nvPr>
            <p:ph type="body" idx="1"/>
          </p:nvPr>
        </p:nvSpPr>
        <p:spPr>
          <a:xfrm>
            <a:off x="-143028" y="2111433"/>
            <a:ext cx="9426632" cy="3416531"/>
          </a:xfrm>
          <a:prstGeom prst="rect">
            <a:avLst/>
          </a:prstGeom>
          <a:noFill/>
          <a:ln>
            <a:noFill/>
          </a:ln>
        </p:spPr>
        <p:txBody>
          <a:bodyPr spcFirstLastPara="1" wrap="square" lIns="91425" tIns="91425" rIns="91425" bIns="91425" anchor="t" anchorCtr="0">
            <a:noAutofit/>
          </a:bodyPr>
          <a:lstStyle/>
          <a:p>
            <a:pPr lvl="0">
              <a:buNone/>
            </a:pPr>
            <a:r>
              <a:rPr lang="en-US" sz="2000" dirty="0"/>
              <a:t>       During my internship, I contributed in three key areas: beneficiary outreach, NGO collaboration, and digital support. I engaged with over 100 beneficiaries to collect testimonials, assess their needs, and document their experiences in a structured manner. I also participated in strategic discussions with partner NGOs to explore opportunities for collaboration and fundraising. On the digital front, I applied my technical and design skills to enhance the foundation’s social media content and optimize its website presence. This diverse scope of work provided me with valuable hands-on experience in both administrative and creative roles, enabling me to make meaningful contributions across multiple functions.</a:t>
            </a:r>
          </a:p>
        </p:txBody>
      </p:sp>
      <p:sp>
        <p:nvSpPr>
          <p:cNvPr id="97" name="Google Shape;97;p3"/>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dirty="0"/>
          </a:p>
        </p:txBody>
      </p:sp>
      <p:sp>
        <p:nvSpPr>
          <p:cNvPr id="98" name="Google Shape;98;p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n-IN"/>
              <a:t>4</a:t>
            </a:fld>
            <a:endParaRPr/>
          </a:p>
        </p:txBody>
      </p:sp>
    </p:spTree>
    <p:extLst>
      <p:ext uri="{BB962C8B-B14F-4D97-AF65-F5344CB8AC3E}">
        <p14:creationId xmlns:p14="http://schemas.microsoft.com/office/powerpoint/2010/main" val="982727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p>
            <a:r>
              <a:rPr lang="en-IN" dirty="0"/>
              <a:t>BENEFICIARY OUTREACH </a:t>
            </a:r>
            <a:endParaRPr dirty="0"/>
          </a:p>
        </p:txBody>
      </p:sp>
      <p:sp>
        <p:nvSpPr>
          <p:cNvPr id="104" name="Google Shape;104;p4"/>
          <p:cNvSpPr txBox="1">
            <a:spLocks noGrp="1"/>
          </p:cNvSpPr>
          <p:nvPr>
            <p:ph type="body" idx="1"/>
          </p:nvPr>
        </p:nvSpPr>
        <p:spPr>
          <a:xfrm>
            <a:off x="84407" y="2209800"/>
            <a:ext cx="5410306" cy="4070351"/>
          </a:xfrm>
          <a:prstGeom prst="rect">
            <a:avLst/>
          </a:prstGeom>
          <a:noFill/>
          <a:ln>
            <a:noFill/>
          </a:ln>
        </p:spPr>
        <p:txBody>
          <a:bodyPr spcFirstLastPara="1" wrap="square" lIns="91425" tIns="91425" rIns="91425" bIns="91425" anchor="t" anchorCtr="0">
            <a:noAutofit/>
          </a:bodyPr>
          <a:lstStyle/>
          <a:p>
            <a:pPr marL="76200" lvl="0" indent="0">
              <a:buNone/>
            </a:pPr>
            <a:r>
              <a:rPr lang="en-US" sz="1800" dirty="0"/>
              <a:t>A central part of my work involved collecting and organizing beneficiary testimonials. I conducted phone interviews with individuals receiving aid for education, healthcare, and financial support, ensuring that every conversation was handled with empathy, respect, and confidentiality. Each story was then categorized according to the type and urgency of aid required, creating a structured database that could guide future support efforts. In addition, I introduced improvements to the testimonial documentation format, which helped the team streamline the process and made it easier for future volunteers to carry out outreach more effectively.</a:t>
            </a:r>
            <a:endParaRPr lang="en-IN" sz="1800" dirty="0"/>
          </a:p>
        </p:txBody>
      </p:sp>
      <p:sp>
        <p:nvSpPr>
          <p:cNvPr id="105" name="Google Shape;105;p4"/>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dirty="0"/>
          </a:p>
        </p:txBody>
      </p:sp>
      <p:sp>
        <p:nvSpPr>
          <p:cNvPr id="106" name="Google Shape;106;p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n-IN"/>
              <a:t>5</a:t>
            </a:fld>
            <a:endParaRPr/>
          </a:p>
        </p:txBody>
      </p:sp>
      <p:pic>
        <p:nvPicPr>
          <p:cNvPr id="2" name="Picture 1" descr="A screenshot of a computer&#10;&#10;AI-generated content may be incorrect.">
            <a:extLst>
              <a:ext uri="{FF2B5EF4-FFF2-40B4-BE49-F238E27FC236}">
                <a16:creationId xmlns:a16="http://schemas.microsoft.com/office/drawing/2014/main" id="{A0DD082C-9BE6-703C-8CC8-C2906B4508A4}"/>
              </a:ext>
            </a:extLst>
          </p:cNvPr>
          <p:cNvPicPr>
            <a:picLocks noChangeAspect="1"/>
          </p:cNvPicPr>
          <p:nvPr/>
        </p:nvPicPr>
        <p:blipFill>
          <a:blip r:embed="rId3"/>
          <a:stretch>
            <a:fillRect/>
          </a:stretch>
        </p:blipFill>
        <p:spPr>
          <a:xfrm>
            <a:off x="5494713" y="4306814"/>
            <a:ext cx="3420896" cy="1658184"/>
          </a:xfrm>
          <a:prstGeom prst="rect">
            <a:avLst/>
          </a:prstGeom>
        </p:spPr>
      </p:pic>
      <p:pic>
        <p:nvPicPr>
          <p:cNvPr id="3" name="Picture 2">
            <a:extLst>
              <a:ext uri="{FF2B5EF4-FFF2-40B4-BE49-F238E27FC236}">
                <a16:creationId xmlns:a16="http://schemas.microsoft.com/office/drawing/2014/main" id="{FA703010-7109-F839-F101-70D7684404C3}"/>
              </a:ext>
            </a:extLst>
          </p:cNvPr>
          <p:cNvPicPr>
            <a:picLocks noChangeAspect="1"/>
          </p:cNvPicPr>
          <p:nvPr/>
        </p:nvPicPr>
        <p:blipFill>
          <a:blip r:embed="rId4"/>
          <a:stretch>
            <a:fillRect/>
          </a:stretch>
        </p:blipFill>
        <p:spPr>
          <a:xfrm>
            <a:off x="5494712" y="2390973"/>
            <a:ext cx="1058487" cy="1874502"/>
          </a:xfrm>
          <a:prstGeom prst="rect">
            <a:avLst/>
          </a:prstGeom>
        </p:spPr>
      </p:pic>
      <p:pic>
        <p:nvPicPr>
          <p:cNvPr id="4" name="Picture 3">
            <a:extLst>
              <a:ext uri="{FF2B5EF4-FFF2-40B4-BE49-F238E27FC236}">
                <a16:creationId xmlns:a16="http://schemas.microsoft.com/office/drawing/2014/main" id="{903A33AF-DAAE-CCEB-419C-891E907557FF}"/>
              </a:ext>
            </a:extLst>
          </p:cNvPr>
          <p:cNvPicPr>
            <a:picLocks noChangeAspect="1"/>
          </p:cNvPicPr>
          <p:nvPr/>
        </p:nvPicPr>
        <p:blipFill>
          <a:blip r:embed="rId5"/>
          <a:stretch>
            <a:fillRect/>
          </a:stretch>
        </p:blipFill>
        <p:spPr>
          <a:xfrm>
            <a:off x="6582062" y="2390973"/>
            <a:ext cx="1082336" cy="1915841"/>
          </a:xfrm>
          <a:prstGeom prst="rect">
            <a:avLst/>
          </a:prstGeom>
        </p:spPr>
      </p:pic>
      <p:pic>
        <p:nvPicPr>
          <p:cNvPr id="5" name="Picture 4">
            <a:extLst>
              <a:ext uri="{FF2B5EF4-FFF2-40B4-BE49-F238E27FC236}">
                <a16:creationId xmlns:a16="http://schemas.microsoft.com/office/drawing/2014/main" id="{ED6E8C54-5D00-55DA-4629-EF9CB415EB8F}"/>
              </a:ext>
            </a:extLst>
          </p:cNvPr>
          <p:cNvPicPr>
            <a:picLocks noChangeAspect="1"/>
          </p:cNvPicPr>
          <p:nvPr/>
        </p:nvPicPr>
        <p:blipFill>
          <a:blip r:embed="rId6"/>
          <a:stretch>
            <a:fillRect/>
          </a:stretch>
        </p:blipFill>
        <p:spPr>
          <a:xfrm>
            <a:off x="7710081" y="2390973"/>
            <a:ext cx="1159844" cy="1915841"/>
          </a:xfrm>
          <a:prstGeom prst="rect">
            <a:avLst/>
          </a:prstGeom>
        </p:spPr>
      </p:pic>
    </p:spTree>
    <p:extLst>
      <p:ext uri="{BB962C8B-B14F-4D97-AF65-F5344CB8AC3E}">
        <p14:creationId xmlns:p14="http://schemas.microsoft.com/office/powerpoint/2010/main" val="3235215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p>
            <a:pPr lvl="0"/>
            <a:r>
              <a:rPr lang="en-US" dirty="0"/>
              <a:t>NGO Collaboration &amp; Fundraising</a:t>
            </a:r>
            <a:endParaRPr dirty="0"/>
          </a:p>
        </p:txBody>
      </p:sp>
      <p:sp>
        <p:nvSpPr>
          <p:cNvPr id="112" name="Google Shape;112;p5"/>
          <p:cNvSpPr txBox="1">
            <a:spLocks noGrp="1"/>
          </p:cNvSpPr>
          <p:nvPr>
            <p:ph type="body" idx="1"/>
          </p:nvPr>
        </p:nvSpPr>
        <p:spPr>
          <a:xfrm>
            <a:off x="-235854" y="2025446"/>
            <a:ext cx="6145041" cy="3421626"/>
          </a:xfrm>
          <a:prstGeom prst="rect">
            <a:avLst/>
          </a:prstGeom>
          <a:noFill/>
          <a:ln>
            <a:noFill/>
          </a:ln>
        </p:spPr>
        <p:txBody>
          <a:bodyPr spcFirstLastPara="1" wrap="square" lIns="91425" tIns="91425" rIns="91425" bIns="91425" anchor="t" anchorCtr="0">
            <a:noAutofit/>
          </a:bodyPr>
          <a:lstStyle/>
          <a:p>
            <a:pPr lvl="0" indent="-228600">
              <a:buNone/>
            </a:pPr>
            <a:r>
              <a:rPr lang="en-US" sz="2000" dirty="0"/>
              <a:t>    During the internship, I actively collaborated with the founders of other NGOs to explore </a:t>
            </a:r>
            <a:r>
              <a:rPr lang="en-US" sz="2000" b="1" dirty="0"/>
              <a:t>joint initiatives and partnerships</a:t>
            </a:r>
            <a:r>
              <a:rPr lang="en-US" sz="2000" dirty="0"/>
              <a:t>. I attended meetings to align objectives and discuss potential co-hosted campaigns, while also conducting research to identify suitable NGOs for collaboration. My role further extended to preparing </a:t>
            </a:r>
            <a:r>
              <a:rPr lang="en-US" sz="2000" b="1" dirty="0"/>
              <a:t>proposal presentations</a:t>
            </a:r>
            <a:r>
              <a:rPr lang="en-US" sz="2000" dirty="0"/>
              <a:t> and contributing to the </a:t>
            </a:r>
            <a:r>
              <a:rPr lang="en-US" sz="2000" b="1" dirty="0"/>
              <a:t>design and copywriting</a:t>
            </a:r>
            <a:r>
              <a:rPr lang="en-US" sz="2000" dirty="0"/>
              <a:t> of donor outreach materials. These cross-organizational efforts allowed me to gain valuable insights into </a:t>
            </a:r>
            <a:r>
              <a:rPr lang="en-US" sz="2000" b="1" dirty="0"/>
              <a:t>fundraising strategies, donor engagement, and the critical role of networking</a:t>
            </a:r>
            <a:r>
              <a:rPr lang="en-US" sz="2000" dirty="0"/>
              <a:t> within the social impact sector.</a:t>
            </a:r>
            <a:endParaRPr sz="2000" dirty="0"/>
          </a:p>
        </p:txBody>
      </p:sp>
      <p:sp>
        <p:nvSpPr>
          <p:cNvPr id="113" name="Google Shape;113;p5"/>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dirty="0"/>
          </a:p>
        </p:txBody>
      </p:sp>
      <p:sp>
        <p:nvSpPr>
          <p:cNvPr id="114" name="Google Shape;114;p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n-IN"/>
              <a:t>6</a:t>
            </a:fld>
            <a:endParaRPr/>
          </a:p>
        </p:txBody>
      </p:sp>
      <p:pic>
        <p:nvPicPr>
          <p:cNvPr id="3" name="Picture 2" descr="A group of people standing around a table&#10;&#10;AI-generated content may be incorrect.">
            <a:extLst>
              <a:ext uri="{FF2B5EF4-FFF2-40B4-BE49-F238E27FC236}">
                <a16:creationId xmlns:a16="http://schemas.microsoft.com/office/drawing/2014/main" id="{B3201650-A583-0123-B45A-D2A03142F032}"/>
              </a:ext>
            </a:extLst>
          </p:cNvPr>
          <p:cNvPicPr>
            <a:picLocks noChangeAspect="1"/>
          </p:cNvPicPr>
          <p:nvPr/>
        </p:nvPicPr>
        <p:blipFill>
          <a:blip r:embed="rId3"/>
          <a:stretch>
            <a:fillRect/>
          </a:stretch>
        </p:blipFill>
        <p:spPr>
          <a:xfrm>
            <a:off x="6018088" y="2448233"/>
            <a:ext cx="1264620" cy="2920180"/>
          </a:xfrm>
          <a:prstGeom prst="rect">
            <a:avLst/>
          </a:prstGeom>
        </p:spPr>
      </p:pic>
      <p:pic>
        <p:nvPicPr>
          <p:cNvPr id="5" name="Picture 4">
            <a:extLst>
              <a:ext uri="{FF2B5EF4-FFF2-40B4-BE49-F238E27FC236}">
                <a16:creationId xmlns:a16="http://schemas.microsoft.com/office/drawing/2014/main" id="{ACA432C7-2863-2424-F785-3BE5BB55ABBF}"/>
              </a:ext>
            </a:extLst>
          </p:cNvPr>
          <p:cNvPicPr>
            <a:picLocks noChangeAspect="1"/>
          </p:cNvPicPr>
          <p:nvPr/>
        </p:nvPicPr>
        <p:blipFill>
          <a:blip r:embed="rId4"/>
          <a:stretch>
            <a:fillRect/>
          </a:stretch>
        </p:blipFill>
        <p:spPr>
          <a:xfrm>
            <a:off x="7282708" y="2448233"/>
            <a:ext cx="1468881" cy="2920180"/>
          </a:xfrm>
          <a:prstGeom prst="rect">
            <a:avLst/>
          </a:prstGeom>
        </p:spPr>
      </p:pic>
    </p:spTree>
    <p:extLst>
      <p:ext uri="{BB962C8B-B14F-4D97-AF65-F5344CB8AC3E}">
        <p14:creationId xmlns:p14="http://schemas.microsoft.com/office/powerpoint/2010/main" val="1619761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FD736-71AA-AC6E-5846-CE5DB6FA228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8DCC927-D672-3652-D0FB-CFA3DF93B5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2D03AAE-997A-2DB1-BAD0-D62F346AE9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7</a:t>
            </a:fld>
            <a:endParaRPr lang="en-IN"/>
          </a:p>
        </p:txBody>
      </p:sp>
      <p:pic>
        <p:nvPicPr>
          <p:cNvPr id="6" name="Picture 5">
            <a:extLst>
              <a:ext uri="{FF2B5EF4-FFF2-40B4-BE49-F238E27FC236}">
                <a16:creationId xmlns:a16="http://schemas.microsoft.com/office/drawing/2014/main" id="{57286BA8-3ED5-21FB-ED8C-20EF9B96E023}"/>
              </a:ext>
            </a:extLst>
          </p:cNvPr>
          <p:cNvPicPr>
            <a:picLocks noChangeAspect="1"/>
          </p:cNvPicPr>
          <p:nvPr/>
        </p:nvPicPr>
        <p:blipFill>
          <a:blip r:embed="rId2"/>
          <a:stretch>
            <a:fillRect/>
          </a:stretch>
        </p:blipFill>
        <p:spPr>
          <a:xfrm>
            <a:off x="457200" y="1419367"/>
            <a:ext cx="4305113" cy="3228834"/>
          </a:xfrm>
          <a:prstGeom prst="rect">
            <a:avLst/>
          </a:prstGeom>
        </p:spPr>
      </p:pic>
      <p:pic>
        <p:nvPicPr>
          <p:cNvPr id="8" name="Picture 7">
            <a:extLst>
              <a:ext uri="{FF2B5EF4-FFF2-40B4-BE49-F238E27FC236}">
                <a16:creationId xmlns:a16="http://schemas.microsoft.com/office/drawing/2014/main" id="{60A34D32-7C2D-32AF-3706-719A27BE3382}"/>
              </a:ext>
            </a:extLst>
          </p:cNvPr>
          <p:cNvPicPr>
            <a:picLocks noChangeAspect="1"/>
          </p:cNvPicPr>
          <p:nvPr/>
        </p:nvPicPr>
        <p:blipFill>
          <a:blip r:embed="rId3"/>
          <a:stretch>
            <a:fillRect/>
          </a:stretch>
        </p:blipFill>
        <p:spPr>
          <a:xfrm>
            <a:off x="5074692" y="3723470"/>
            <a:ext cx="3612108" cy="2709081"/>
          </a:xfrm>
          <a:prstGeom prst="rect">
            <a:avLst/>
          </a:prstGeom>
        </p:spPr>
      </p:pic>
    </p:spTree>
    <p:extLst>
      <p:ext uri="{BB962C8B-B14F-4D97-AF65-F5344CB8AC3E}">
        <p14:creationId xmlns:p14="http://schemas.microsoft.com/office/powerpoint/2010/main" val="904451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E731-1C35-72DA-0F35-36EC5D3FF071}"/>
              </a:ext>
            </a:extLst>
          </p:cNvPr>
          <p:cNvSpPr>
            <a:spLocks noGrp="1"/>
          </p:cNvSpPr>
          <p:nvPr>
            <p:ph type="title"/>
          </p:nvPr>
        </p:nvSpPr>
        <p:spPr/>
        <p:txBody>
          <a:bodyPr/>
          <a:lstStyle/>
          <a:p>
            <a:r>
              <a:rPr lang="en-US" dirty="0"/>
              <a:t>Social Media &amp; Tech Contributions</a:t>
            </a:r>
          </a:p>
        </p:txBody>
      </p:sp>
      <p:sp>
        <p:nvSpPr>
          <p:cNvPr id="3" name="Text Placeholder 2">
            <a:extLst>
              <a:ext uri="{FF2B5EF4-FFF2-40B4-BE49-F238E27FC236}">
                <a16:creationId xmlns:a16="http://schemas.microsoft.com/office/drawing/2014/main" id="{7F318D5B-6FF3-3380-53B9-4E60678EE88C}"/>
              </a:ext>
            </a:extLst>
          </p:cNvPr>
          <p:cNvSpPr>
            <a:spLocks noGrp="1"/>
          </p:cNvSpPr>
          <p:nvPr>
            <p:ph type="body" idx="1"/>
          </p:nvPr>
        </p:nvSpPr>
        <p:spPr/>
        <p:txBody>
          <a:bodyPr/>
          <a:lstStyle/>
          <a:p>
            <a:pPr marL="76200" indent="0">
              <a:buNone/>
            </a:pPr>
            <a:r>
              <a:rPr lang="en-US" dirty="0"/>
              <a:t>Leveraging my skills in web design and content creation, I contributed to strengthening the foundation’s digital presence. I designed Instagram posts, LinkedIn banners, and infographic templates to ensure consistent and engaging updates. On the website, I optimized blog layouts and integrated new testimonial sections, which enhanced both usability and storytelling. Additionally, I supported the organization’s social media presence through content creation, editing, and copywriting—efforts that improved visual consistency and boosted audience engagement across platforms.</a:t>
            </a:r>
          </a:p>
        </p:txBody>
      </p:sp>
      <p:sp>
        <p:nvSpPr>
          <p:cNvPr id="4" name="Slide Number Placeholder 3">
            <a:extLst>
              <a:ext uri="{FF2B5EF4-FFF2-40B4-BE49-F238E27FC236}">
                <a16:creationId xmlns:a16="http://schemas.microsoft.com/office/drawing/2014/main" id="{CE0C01A6-4312-1CBE-684E-0B08C17E0F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8</a:t>
            </a:fld>
            <a:endParaRPr lang="en-IN"/>
          </a:p>
        </p:txBody>
      </p:sp>
    </p:spTree>
    <p:extLst>
      <p:ext uri="{BB962C8B-B14F-4D97-AF65-F5344CB8AC3E}">
        <p14:creationId xmlns:p14="http://schemas.microsoft.com/office/powerpoint/2010/main" val="3172853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8ECFA-E1D9-3061-218A-360496E4390B}"/>
              </a:ext>
            </a:extLst>
          </p:cNvPr>
          <p:cNvSpPr>
            <a:spLocks noGrp="1"/>
          </p:cNvSpPr>
          <p:nvPr>
            <p:ph type="title"/>
          </p:nvPr>
        </p:nvSpPr>
        <p:spPr/>
        <p:txBody>
          <a:bodyPr/>
          <a:lstStyle/>
          <a:p>
            <a:r>
              <a:rPr lang="en-US" dirty="0"/>
              <a:t>Learning Experience</a:t>
            </a:r>
          </a:p>
        </p:txBody>
      </p:sp>
      <p:sp>
        <p:nvSpPr>
          <p:cNvPr id="3" name="Text Placeholder 2">
            <a:extLst>
              <a:ext uri="{FF2B5EF4-FFF2-40B4-BE49-F238E27FC236}">
                <a16:creationId xmlns:a16="http://schemas.microsoft.com/office/drawing/2014/main" id="{A9BDF577-25DF-0F12-7FB8-FB9F48DF9AAA}"/>
              </a:ext>
            </a:extLst>
          </p:cNvPr>
          <p:cNvSpPr>
            <a:spLocks noGrp="1"/>
          </p:cNvSpPr>
          <p:nvPr>
            <p:ph type="body" idx="1"/>
          </p:nvPr>
        </p:nvSpPr>
        <p:spPr/>
        <p:txBody>
          <a:bodyPr/>
          <a:lstStyle/>
          <a:p>
            <a:r>
              <a:rPr lang="en-US" dirty="0"/>
              <a:t>This internship proved to be a </a:t>
            </a:r>
            <a:r>
              <a:rPr lang="en-US" b="1" dirty="0"/>
              <a:t>valuable learning experience</a:t>
            </a:r>
            <a:r>
              <a:rPr lang="en-US" dirty="0"/>
              <a:t>, offering me hands-on exposure to outreach, communication, and digital campaigning. It provided deeper insight into how NGOs operate, particularly in </a:t>
            </a:r>
            <a:r>
              <a:rPr lang="en-US" b="1" dirty="0"/>
              <a:t>remote and hybrid models</a:t>
            </a:r>
            <a:r>
              <a:rPr lang="en-US" dirty="0"/>
              <a:t> of service delivery. I learned the importance of </a:t>
            </a:r>
            <a:r>
              <a:rPr lang="en-US" b="1" dirty="0"/>
              <a:t>empathy</a:t>
            </a:r>
            <a:r>
              <a:rPr lang="en-US" dirty="0"/>
              <a:t> while handling sensitive beneficiary narratives and discovered how digital tools can significantly expand impact. The experience strengthened my </a:t>
            </a:r>
            <a:r>
              <a:rPr lang="en-US" b="1" dirty="0"/>
              <a:t>problem-solving abilities</a:t>
            </a:r>
            <a:r>
              <a:rPr lang="en-US" dirty="0"/>
              <a:t>, enhanced my skills in </a:t>
            </a:r>
            <a:r>
              <a:rPr lang="en-US" b="1" dirty="0"/>
              <a:t>content strategy</a:t>
            </a:r>
            <a:r>
              <a:rPr lang="en-US" dirty="0"/>
              <a:t>, and built greater confidence in presenting ideas to both beneficiaries and organizational leaders.</a:t>
            </a:r>
          </a:p>
        </p:txBody>
      </p:sp>
      <p:sp>
        <p:nvSpPr>
          <p:cNvPr id="4" name="Slide Number Placeholder 3">
            <a:extLst>
              <a:ext uri="{FF2B5EF4-FFF2-40B4-BE49-F238E27FC236}">
                <a16:creationId xmlns:a16="http://schemas.microsoft.com/office/drawing/2014/main" id="{F011F5A1-F156-A690-7A79-0F8DE72F1C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9</a:t>
            </a:fld>
            <a:endParaRPr lang="en-IN"/>
          </a:p>
        </p:txBody>
      </p:sp>
    </p:spTree>
    <p:extLst>
      <p:ext uri="{BB962C8B-B14F-4D97-AF65-F5344CB8AC3E}">
        <p14:creationId xmlns:p14="http://schemas.microsoft.com/office/powerpoint/2010/main" val="228608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5C416-E7BB-1018-E669-A3F3533F1988}"/>
              </a:ext>
            </a:extLst>
          </p:cNvPr>
          <p:cNvSpPr>
            <a:spLocks noGrp="1"/>
          </p:cNvSpPr>
          <p:nvPr>
            <p:ph type="title"/>
          </p:nvPr>
        </p:nvSpPr>
        <p:spPr/>
        <p:txBody>
          <a:bodyPr/>
          <a:lstStyle/>
          <a:p>
            <a:r>
              <a:rPr lang="en-US" dirty="0"/>
              <a:t> Conclusion</a:t>
            </a:r>
          </a:p>
        </p:txBody>
      </p:sp>
      <p:sp>
        <p:nvSpPr>
          <p:cNvPr id="3" name="Text Placeholder 2">
            <a:extLst>
              <a:ext uri="{FF2B5EF4-FFF2-40B4-BE49-F238E27FC236}">
                <a16:creationId xmlns:a16="http://schemas.microsoft.com/office/drawing/2014/main" id="{A30F5E56-6CE1-5318-A9A7-7B3B79BDC2B8}"/>
              </a:ext>
            </a:extLst>
          </p:cNvPr>
          <p:cNvSpPr>
            <a:spLocks noGrp="1"/>
          </p:cNvSpPr>
          <p:nvPr>
            <p:ph type="body" idx="1"/>
          </p:nvPr>
        </p:nvSpPr>
        <p:spPr/>
        <p:txBody>
          <a:bodyPr/>
          <a:lstStyle/>
          <a:p>
            <a:pPr marL="76200" indent="0">
              <a:buNone/>
            </a:pPr>
            <a:r>
              <a:rPr lang="en-US" dirty="0"/>
              <a:t>This community service experience with Live To Give Foundation was deeply enriching and transformative. Over the course of 21 days, I was able to contribute meaningfully across outreach, digital, and collaborative initiatives. It allowed me to step out of my academic routine and engage directly with social realities, giving me a better understanding of empathy, responsibility, and structured service. Working with real stories, real people, and real challenges helped me grow both personally and professionally. This journey has strengthened my values and left a lasting impact on how I view social change.</a:t>
            </a:r>
          </a:p>
          <a:p>
            <a:pPr marL="76200" indent="0">
              <a:buNone/>
            </a:pPr>
            <a:endParaRPr lang="en-US" dirty="0"/>
          </a:p>
        </p:txBody>
      </p:sp>
      <p:sp>
        <p:nvSpPr>
          <p:cNvPr id="4" name="Slide Number Placeholder 3">
            <a:extLst>
              <a:ext uri="{FF2B5EF4-FFF2-40B4-BE49-F238E27FC236}">
                <a16:creationId xmlns:a16="http://schemas.microsoft.com/office/drawing/2014/main" id="{C08CE3A6-0513-C6CE-304A-9041025A34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10</a:t>
            </a:fld>
            <a:endParaRPr lang="en-IN"/>
          </a:p>
        </p:txBody>
      </p:sp>
    </p:spTree>
    <p:extLst>
      <p:ext uri="{BB962C8B-B14F-4D97-AF65-F5344CB8AC3E}">
        <p14:creationId xmlns:p14="http://schemas.microsoft.com/office/powerpoint/2010/main" val="3910827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02901-F951-4498-AB8F-680420D658E9}"/>
              </a:ext>
            </a:extLst>
          </p:cNvPr>
          <p:cNvSpPr>
            <a:spLocks noGrp="1"/>
          </p:cNvSpPr>
          <p:nvPr>
            <p:ph type="title"/>
          </p:nvPr>
        </p:nvSpPr>
        <p:spPr>
          <a:xfrm>
            <a:off x="457200" y="3429000"/>
            <a:ext cx="8229600" cy="914400"/>
          </a:xfrm>
        </p:spPr>
        <p:txBody>
          <a:bodyPr/>
          <a:lstStyle/>
          <a:p>
            <a:r>
              <a:rPr lang="en-US" dirty="0"/>
              <a:t>THANK YOU</a:t>
            </a:r>
          </a:p>
        </p:txBody>
      </p:sp>
      <p:sp>
        <p:nvSpPr>
          <p:cNvPr id="3" name="Text Placeholder 2">
            <a:extLst>
              <a:ext uri="{FF2B5EF4-FFF2-40B4-BE49-F238E27FC236}">
                <a16:creationId xmlns:a16="http://schemas.microsoft.com/office/drawing/2014/main" id="{A7B4E724-B8F1-43F0-90D3-DAD2B165E2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967712-4904-4ACC-9D77-0BF45807E1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11</a:t>
            </a:fld>
            <a:endParaRPr lang="en-IN"/>
          </a:p>
        </p:txBody>
      </p:sp>
    </p:spTree>
    <p:extLst>
      <p:ext uri="{BB962C8B-B14F-4D97-AF65-F5344CB8AC3E}">
        <p14:creationId xmlns:p14="http://schemas.microsoft.com/office/powerpoint/2010/main" val="2159386611"/>
      </p:ext>
    </p:extLst>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790</Words>
  <Application>Microsoft Office PowerPoint</Application>
  <PresentationFormat>On-screen Show (4:3)</PresentationFormat>
  <Paragraphs>39</Paragraphs>
  <Slides>11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Noto Sans Symbols</vt:lpstr>
      <vt:lpstr>Book Antiqua</vt:lpstr>
      <vt:lpstr>Calibri</vt:lpstr>
      <vt:lpstr>MPSTME</vt:lpstr>
      <vt:lpstr>        Community Service Presentation  A.Y. 2025-26 </vt:lpstr>
      <vt:lpstr>PowerPoint Presentation</vt:lpstr>
      <vt:lpstr>INTRODUCTION TO THE FOUNDATION</vt:lpstr>
      <vt:lpstr>SCOPE OF WORK</vt:lpstr>
      <vt:lpstr>BENEFICIARY OUTREACH </vt:lpstr>
      <vt:lpstr>NGO Collaboration &amp; Fundraising</vt:lpstr>
      <vt:lpstr>PowerPoint Presentation</vt:lpstr>
      <vt:lpstr>Social Media &amp; Tech Contributions</vt:lpstr>
      <vt:lpstr>Learning Experience</vt:lpstr>
      <vt:lpstr>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BTech CSBS Synopsis Presentation A.Y. 2023-2024 Project Title:</dc:title>
  <dc:creator>Shubha Puthran</dc:creator>
  <cp:lastModifiedBy>Shayan Mandrekar</cp:lastModifiedBy>
  <cp:revision>172</cp:revision>
  <dcterms:modified xsi:type="dcterms:W3CDTF">2025-08-25T20:41:00Z</dcterms:modified>
</cp:coreProperties>
</file>