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8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i Bhambar" userId="00a8fab9-7aa3-4075-b99f-3577476e29e3" providerId="ADAL" clId="{0ED533A6-C23A-4471-96F7-4ADF92F89369}"/>
    <pc:docChg chg="custSel addSld modSld">
      <pc:chgData name="Soni Bhambar" userId="00a8fab9-7aa3-4075-b99f-3577476e29e3" providerId="ADAL" clId="{0ED533A6-C23A-4471-96F7-4ADF92F89369}" dt="2026-07-17T09:06:02.737" v="50" actId="20577"/>
      <pc:docMkLst>
        <pc:docMk/>
      </pc:docMkLst>
      <pc:sldChg chg="addSp delSp modSp new mod">
        <pc:chgData name="Soni Bhambar" userId="00a8fab9-7aa3-4075-b99f-3577476e29e3" providerId="ADAL" clId="{0ED533A6-C23A-4471-96F7-4ADF92F89369}" dt="2026-07-17T09:06:02.737" v="50" actId="20577"/>
        <pc:sldMkLst>
          <pc:docMk/>
          <pc:sldMk cId="113591027" sldId="283"/>
        </pc:sldMkLst>
        <pc:spChg chg="add del mod">
          <ac:chgData name="Soni Bhambar" userId="00a8fab9-7aa3-4075-b99f-3577476e29e3" providerId="ADAL" clId="{0ED533A6-C23A-4471-96F7-4ADF92F89369}" dt="2026-07-17T09:03:43.902" v="2" actId="478"/>
          <ac:spMkLst>
            <pc:docMk/>
            <pc:sldMk cId="113591027" sldId="283"/>
            <ac:spMk id="3" creationId="{706886F9-1FB6-42C1-85CA-A85F02681183}"/>
          </ac:spMkLst>
        </pc:spChg>
        <pc:spChg chg="add del mod">
          <ac:chgData name="Soni Bhambar" userId="00a8fab9-7aa3-4075-b99f-3577476e29e3" providerId="ADAL" clId="{0ED533A6-C23A-4471-96F7-4ADF92F89369}" dt="2026-07-17T09:03:59.083" v="7" actId="478"/>
          <ac:spMkLst>
            <pc:docMk/>
            <pc:sldMk cId="113591027" sldId="283"/>
            <ac:spMk id="5" creationId="{8FA83673-DAE7-4A0F-B4E6-428A2A7956BB}"/>
          </ac:spMkLst>
        </pc:spChg>
        <pc:spChg chg="add mod">
          <ac:chgData name="Soni Bhambar" userId="00a8fab9-7aa3-4075-b99f-3577476e29e3" providerId="ADAL" clId="{0ED533A6-C23A-4471-96F7-4ADF92F89369}" dt="2026-07-17T09:06:02.737" v="50" actId="20577"/>
          <ac:spMkLst>
            <pc:docMk/>
            <pc:sldMk cId="113591027" sldId="283"/>
            <ac:spMk id="6" creationId="{9A8AB509-4B91-462D-BF1E-A8F93C3FBBC7}"/>
          </ac:spMkLst>
        </pc:spChg>
        <pc:graphicFrameChg chg="add del mod">
          <ac:chgData name="Soni Bhambar" userId="00a8fab9-7aa3-4075-b99f-3577476e29e3" providerId="ADAL" clId="{0ED533A6-C23A-4471-96F7-4ADF92F89369}" dt="2026-07-17T09:03:43.902" v="2" actId="478"/>
          <ac:graphicFrameMkLst>
            <pc:docMk/>
            <pc:sldMk cId="113591027" sldId="283"/>
            <ac:graphicFrameMk id="2" creationId="{4C0ACCAD-60DB-49FA-8655-CA2FE0C11248}"/>
          </ac:graphicFrameMkLst>
        </pc:graphicFrameChg>
        <pc:graphicFrameChg chg="add mod modGraphic">
          <ac:chgData name="Soni Bhambar" userId="00a8fab9-7aa3-4075-b99f-3577476e29e3" providerId="ADAL" clId="{0ED533A6-C23A-4471-96F7-4ADF92F89369}" dt="2026-07-17T09:05:03.658" v="8" actId="207"/>
          <ac:graphicFrameMkLst>
            <pc:docMk/>
            <pc:sldMk cId="113591027" sldId="283"/>
            <ac:graphicFrameMk id="4" creationId="{17B3B6DE-7D57-4F23-B36E-2BD5953C0EA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507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326880" y="731520"/>
            <a:ext cx="1280160" cy="457200"/>
          </a:xfrm>
          <a:prstGeom prst="line">
            <a:avLst/>
          </a:prstGeom>
          <a:noFill/>
          <a:ln w="15875">
            <a:solidFill>
              <a:srgbClr val="00C2CB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731520"/>
            <a:ext cx="822960" cy="1005840"/>
          </a:xfrm>
          <a:prstGeom prst="line">
            <a:avLst/>
          </a:prstGeom>
          <a:noFill/>
          <a:ln w="15875">
            <a:solidFill>
              <a:srgbClr val="00C2CB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1737360"/>
            <a:ext cx="1097280" cy="640080"/>
          </a:xfrm>
          <a:prstGeom prst="line">
            <a:avLst/>
          </a:prstGeom>
          <a:noFill/>
          <a:ln w="15875">
            <a:solidFill>
              <a:srgbClr val="00C2CB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326880" y="1188720"/>
            <a:ext cx="1005840" cy="1188720"/>
          </a:xfrm>
          <a:prstGeom prst="line">
            <a:avLst/>
          </a:prstGeom>
          <a:noFill/>
          <a:ln w="15875">
            <a:solidFill>
              <a:srgbClr val="00C2CB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1188720"/>
            <a:ext cx="182880" cy="1005840"/>
          </a:xfrm>
          <a:prstGeom prst="line">
            <a:avLst/>
          </a:prstGeom>
          <a:noFill/>
          <a:ln w="15875">
            <a:solidFill>
              <a:srgbClr val="00C2CB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0" y="1737360"/>
            <a:ext cx="365760" cy="1280160"/>
          </a:xfrm>
          <a:prstGeom prst="line">
            <a:avLst/>
          </a:prstGeom>
          <a:noFill/>
          <a:ln w="15875">
            <a:solidFill>
              <a:srgbClr val="00C2CB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2377440"/>
            <a:ext cx="731520" cy="640080"/>
          </a:xfrm>
          <a:prstGeom prst="line">
            <a:avLst/>
          </a:prstGeom>
          <a:noFill/>
          <a:ln w="15875">
            <a:solidFill>
              <a:srgbClr val="00C2CB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62872" y="1124712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3032" y="667512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1" name="Shape 9"/>
          <p:cNvSpPr/>
          <p:nvPr/>
        </p:nvSpPr>
        <p:spPr>
          <a:xfrm>
            <a:off x="11365992" y="1673352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8712" y="2313432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3" name="Shape 11"/>
          <p:cNvSpPr/>
          <p:nvPr/>
        </p:nvSpPr>
        <p:spPr>
          <a:xfrm>
            <a:off x="9079992" y="2130552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00232" y="2953512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 |  UNIT 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Networks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22960" y="34290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Foundations for Virtualization &amp; Cloud Computing – Unit 1</a:t>
            </a:r>
            <a:endParaRPr lang="en-US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3E8378-A13D-4F75-8402-06EBA949B04D}"/>
              </a:ext>
            </a:extLst>
          </p:cNvPr>
          <p:cNvSpPr txBox="1"/>
          <p:nvPr/>
        </p:nvSpPr>
        <p:spPr>
          <a:xfrm>
            <a:off x="9567333" y="5461000"/>
            <a:ext cx="1926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 Soni Bhambar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/>
              <a:t>Topics to be Covered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74520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9339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196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 to Computer Networks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222199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uses, components &amp; topologies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3291840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1071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23697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Network Models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71600" y="363931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layered architectures are used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5262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4709160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82803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6542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OSI Model &amp; TCP/IP Model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505663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Layers, functions and comparison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1691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6248" y="1874520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199339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18196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Internet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78040" y="222199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IP addressing and DNS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355080" y="3108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56248" y="3291840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3410712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78040" y="323697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Protocols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178040" y="363931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govern communication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55080" y="45262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56248" y="4709160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4828032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46542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Network Applications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178040" y="505663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uses, incl. Cloud &amp; Virtualization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Computer Network?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interconnected computing devices </a:t>
            </a: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(computers, servers, mobile devices) that can exchange data and share resources using a common communication medium and set of rules.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35224"/>
            <a:ext cx="91440" cy="9144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0720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are called nodes or hosts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438144"/>
            <a:ext cx="91440" cy="9144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101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via wired links (cable, fibre) or wireless links (radio, Wi-Fi)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941064"/>
            <a:ext cx="91440" cy="9144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81304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sharing of data, hardware and applications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443984"/>
            <a:ext cx="91440" cy="9144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31596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a set of rules called protocols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0B1F3B"/>
          </a:solidFill>
          <a:ln/>
        </p:spPr>
      </p:sp>
      <p:sp>
        <p:nvSpPr>
          <p:cNvPr id="14" name="Shape 12"/>
          <p:cNvSpPr/>
          <p:nvPr/>
        </p:nvSpPr>
        <p:spPr>
          <a:xfrm>
            <a:off x="8458200" y="3429000"/>
            <a:ext cx="640080" cy="64008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3547872"/>
            <a:ext cx="402336" cy="40233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858000" y="2651760"/>
            <a:ext cx="1719072" cy="1060704"/>
          </a:xfrm>
          <a:prstGeom prst="line">
            <a:avLst/>
          </a:prstGeom>
          <a:noFill/>
          <a:ln w="19050">
            <a:solidFill>
              <a:srgbClr val="6B84A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65392" y="2267712"/>
            <a:ext cx="585216" cy="585216"/>
          </a:xfrm>
          <a:prstGeom prst="ellipse">
            <a:avLst/>
          </a:prstGeom>
          <a:solidFill>
            <a:srgbClr val="13294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386584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172200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 flipV="1">
            <a:off x="8778240" y="2560320"/>
            <a:ext cx="1920240" cy="1188720"/>
          </a:xfrm>
          <a:prstGeom prst="line">
            <a:avLst/>
          </a:prstGeom>
          <a:noFill/>
          <a:ln w="19050">
            <a:solidFill>
              <a:srgbClr val="6B84A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405872" y="2267712"/>
            <a:ext cx="585216" cy="585216"/>
          </a:xfrm>
          <a:prstGeom prst="ellipse">
            <a:avLst/>
          </a:prstGeom>
          <a:solidFill>
            <a:srgbClr val="13294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4744" y="2386584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012680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 flipV="1">
            <a:off x="7031736" y="3813048"/>
            <a:ext cx="1545336" cy="960120"/>
          </a:xfrm>
          <a:prstGeom prst="line">
            <a:avLst/>
          </a:prstGeom>
          <a:noFill/>
          <a:ln w="19050">
            <a:solidFill>
              <a:srgbClr val="6B84A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65392" y="4645152"/>
            <a:ext cx="585216" cy="585216"/>
          </a:xfrm>
          <a:prstGeom prst="ellipse">
            <a:avLst/>
          </a:prstGeom>
          <a:solidFill>
            <a:srgbClr val="13294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4764024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172200" y="5266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8778240" y="3749040"/>
            <a:ext cx="1920240" cy="1188720"/>
          </a:xfrm>
          <a:prstGeom prst="line">
            <a:avLst/>
          </a:prstGeom>
          <a:noFill/>
          <a:ln w="19050">
            <a:solidFill>
              <a:srgbClr val="6B84A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405872" y="4645152"/>
            <a:ext cx="585216" cy="585216"/>
          </a:xfrm>
          <a:prstGeom prst="ellipse">
            <a:avLst/>
          </a:prstGeom>
          <a:solidFill>
            <a:srgbClr val="13294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4744" y="4764024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012680" y="5266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Computer Networks Matter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4023360"/>
          </a:xfrm>
          <a:prstGeom prst="roundRect">
            <a:avLst>
              <a:gd name="adj" fmla="val 3051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057400"/>
            <a:ext cx="731520" cy="73152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68" y="22128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9718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Sharing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520440"/>
            <a:ext cx="2295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printers, storage, software and internet access across users.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737360"/>
            <a:ext cx="2697480" cy="4023360"/>
          </a:xfrm>
          <a:prstGeom prst="roundRect">
            <a:avLst>
              <a:gd name="adj" fmla="val 3051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57700" y="2057400"/>
            <a:ext cx="731520" cy="73152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148" y="221284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9718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75888" y="3520440"/>
            <a:ext cx="2295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messaging and video calls connect people instantly, anywhere.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0" y="1737360"/>
            <a:ext cx="2697480" cy="4023360"/>
          </a:xfrm>
          <a:prstGeom prst="roundRect">
            <a:avLst>
              <a:gd name="adj" fmla="val 3051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83780" y="2057400"/>
            <a:ext cx="731520" cy="73152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228" y="221284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65392" y="29718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Data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601968" y="3520440"/>
            <a:ext cx="2295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manage data centrally for consistency and easy backup.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326880" y="1737360"/>
            <a:ext cx="2697480" cy="4023360"/>
          </a:xfrm>
          <a:prstGeom prst="roundRect">
            <a:avLst>
              <a:gd name="adj" fmla="val 3051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309860" y="2057400"/>
            <a:ext cx="731520" cy="73152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5308" y="221284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91472" y="29718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Cost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528048" y="3520440"/>
            <a:ext cx="2295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or services incrementally; reduce hardware duplication.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Components of a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8059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64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 Host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434840" y="16642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device that sends or receives data — computers, servers, phones, printers.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404872"/>
            <a:ext cx="11064240" cy="0"/>
          </a:xfrm>
          <a:prstGeom prst="line">
            <a:avLst/>
          </a:prstGeom>
          <a:noFill/>
          <a:ln w="12700">
            <a:solidFill>
              <a:srgbClr val="D7E0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587752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27020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(Medium)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434840" y="2560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or wireless path data travels through — cable, fibre optic, radio waves.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300984"/>
            <a:ext cx="11064240" cy="0"/>
          </a:xfrm>
          <a:prstGeom prst="line">
            <a:avLst/>
          </a:prstGeom>
          <a:noFill/>
          <a:ln w="12700">
            <a:solidFill>
              <a:srgbClr val="D7E0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483864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359816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4564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/ Router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434840" y="34564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devices that direct data to its correct destination.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197096"/>
            <a:ext cx="11064240" cy="0"/>
          </a:xfrm>
          <a:prstGeom prst="line">
            <a:avLst/>
          </a:prstGeom>
          <a:noFill/>
          <a:ln w="12700">
            <a:solidFill>
              <a:srgbClr val="D7E0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4379976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" y="449427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435254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Interface Card (NIC)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434840" y="435254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that connects a device to the network medium.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5093208"/>
            <a:ext cx="11064240" cy="0"/>
          </a:xfrm>
          <a:prstGeom prst="line">
            <a:avLst/>
          </a:prstGeom>
          <a:noFill/>
          <a:ln w="12700">
            <a:solidFill>
              <a:srgbClr val="D7E0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5276088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" y="539038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52486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434840" y="5248656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rules that define how data is formatted, sent and received.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Networks by Geographic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4114800"/>
          </a:xfrm>
          <a:prstGeom prst="roundRect">
            <a:avLst>
              <a:gd name="adj" fmla="val 3051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348" y="201168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651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3108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Area Network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005840" y="3703320"/>
            <a:ext cx="1783080" cy="0"/>
          </a:xfrm>
          <a:prstGeom prst="line">
            <a:avLst/>
          </a:prstGeom>
          <a:noFill/>
          <a:ln w="12700">
            <a:solidFill>
              <a:srgbClr val="D7E0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840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
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44348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headset, smartwatch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1737360"/>
            <a:ext cx="2697480" cy="4114800"/>
          </a:xfrm>
          <a:prstGeom prst="roundRect">
            <a:avLst>
              <a:gd name="adj" fmla="val 3051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428" y="2011680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651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611880" y="3108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Area Network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931920" y="3703320"/>
            <a:ext cx="1783080" cy="0"/>
          </a:xfrm>
          <a:prstGeom prst="line">
            <a:avLst/>
          </a:prstGeom>
          <a:noFill/>
          <a:ln w="12700">
            <a:solidFill>
              <a:srgbClr val="D7E0E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57600" y="3840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/ Campus
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657600" y="44348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or college network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0" y="1737360"/>
            <a:ext cx="2697480" cy="4114800"/>
          </a:xfrm>
          <a:prstGeom prst="roundRect">
            <a:avLst>
              <a:gd name="adj" fmla="val 3051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508" y="2011680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2651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537960" y="3108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Metropolitan Area Network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858000" y="3703320"/>
            <a:ext cx="1783080" cy="0"/>
          </a:xfrm>
          <a:prstGeom prst="line">
            <a:avLst/>
          </a:prstGeom>
          <a:noFill/>
          <a:ln w="12700">
            <a:solidFill>
              <a:srgbClr val="D7E0E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583680" y="3840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
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583680" y="44348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TV network, city Wi-Fi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326880" y="1737360"/>
            <a:ext cx="2697480" cy="4114800"/>
          </a:xfrm>
          <a:prstGeom prst="roundRect">
            <a:avLst>
              <a:gd name="adj" fmla="val 3051"/>
            </a:avLst>
          </a:prstGeom>
          <a:solidFill>
            <a:srgbClr val="0B1F3B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9588" y="2011680"/>
            <a:ext cx="512064" cy="5120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64040" y="2651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9464040" y="3108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Area Network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9784080" y="3703320"/>
            <a:ext cx="1783080" cy="0"/>
          </a:xfrm>
          <a:prstGeom prst="line">
            <a:avLst/>
          </a:prstGeom>
          <a:noFill/>
          <a:ln w="12700">
            <a:solidFill>
              <a:srgbClr val="3A5A8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509760" y="3840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r>
              <a:rPr lang="en-US" sz="11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/ Global
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509760" y="44348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itself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B3B6DE-7D57-4F23-B36E-2BD5953C0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954870"/>
              </p:ext>
            </p:extLst>
          </p:nvPr>
        </p:nvGraphicFramePr>
        <p:xfrm>
          <a:off x="1361586" y="1579475"/>
          <a:ext cx="8702675" cy="4374936"/>
        </p:xfrm>
        <a:graphic>
          <a:graphicData uri="http://schemas.openxmlformats.org/drawingml/2006/table">
            <a:tbl>
              <a:tblPr/>
              <a:tblGrid>
                <a:gridCol w="1740535">
                  <a:extLst>
                    <a:ext uri="{9D8B030D-6E8A-4147-A177-3AD203B41FA5}">
                      <a16:colId xmlns:a16="http://schemas.microsoft.com/office/drawing/2014/main" val="797326874"/>
                    </a:ext>
                  </a:extLst>
                </a:gridCol>
                <a:gridCol w="1740535">
                  <a:extLst>
                    <a:ext uri="{9D8B030D-6E8A-4147-A177-3AD203B41FA5}">
                      <a16:colId xmlns:a16="http://schemas.microsoft.com/office/drawing/2014/main" val="3692541097"/>
                    </a:ext>
                  </a:extLst>
                </a:gridCol>
                <a:gridCol w="1740535">
                  <a:extLst>
                    <a:ext uri="{9D8B030D-6E8A-4147-A177-3AD203B41FA5}">
                      <a16:colId xmlns:a16="http://schemas.microsoft.com/office/drawing/2014/main" val="916480862"/>
                    </a:ext>
                  </a:extLst>
                </a:gridCol>
                <a:gridCol w="1740535">
                  <a:extLst>
                    <a:ext uri="{9D8B030D-6E8A-4147-A177-3AD203B41FA5}">
                      <a16:colId xmlns:a16="http://schemas.microsoft.com/office/drawing/2014/main" val="3615407581"/>
                    </a:ext>
                  </a:extLst>
                </a:gridCol>
                <a:gridCol w="1740535">
                  <a:extLst>
                    <a:ext uri="{9D8B030D-6E8A-4147-A177-3AD203B41FA5}">
                      <a16:colId xmlns:a16="http://schemas.microsoft.com/office/drawing/2014/main" val="820768508"/>
                    </a:ext>
                  </a:extLst>
                </a:gridCol>
              </a:tblGrid>
              <a:tr h="332131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 dirty="0">
                          <a:effectLst/>
                        </a:rPr>
                        <a:t>Feature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 b="1" dirty="0">
                          <a:effectLst/>
                        </a:rPr>
                        <a:t>PAN</a:t>
                      </a:r>
                      <a:r>
                        <a:rPr lang="en-IN" sz="1500" dirty="0">
                          <a:effectLst/>
                        </a:rPr>
                        <a:t> (Personal)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 b="1" dirty="0">
                          <a:effectLst/>
                        </a:rPr>
                        <a:t>LAN</a:t>
                      </a:r>
                      <a:r>
                        <a:rPr lang="en-IN" sz="1500" dirty="0">
                          <a:effectLst/>
                        </a:rPr>
                        <a:t> (Local)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 b="1" dirty="0">
                          <a:effectLst/>
                        </a:rPr>
                        <a:t>MAN</a:t>
                      </a:r>
                      <a:r>
                        <a:rPr lang="en-IN" sz="1500" dirty="0">
                          <a:effectLst/>
                        </a:rPr>
                        <a:t> (Metropolitan)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 b="1" dirty="0">
                          <a:effectLst/>
                        </a:rPr>
                        <a:t>WAN</a:t>
                      </a:r>
                      <a:r>
                        <a:rPr lang="en-IN" sz="1500" dirty="0">
                          <a:effectLst/>
                        </a:rPr>
                        <a:t> (Wide)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93981"/>
                  </a:ext>
                </a:extLst>
              </a:tr>
              <a:tr h="559157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 b="1" dirty="0">
                          <a:effectLst/>
                        </a:rPr>
                        <a:t>Full Name</a:t>
                      </a:r>
                      <a:endParaRPr lang="en-IN" sz="1500" dirty="0">
                        <a:effectLst/>
                      </a:endParaRP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Personal Area Network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Local Area Network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Metropolitan Area Network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Wide Area Network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808405"/>
                  </a:ext>
                </a:extLst>
              </a:tr>
              <a:tr h="559157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 b="1" dirty="0">
                          <a:effectLst/>
                        </a:rPr>
                        <a:t>Geographic Range</a:t>
                      </a:r>
                      <a:endParaRPr lang="en-IN" sz="1500" dirty="0">
                        <a:effectLst/>
                      </a:endParaRP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Within 10 meters (33 ft)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Under 1 kilometer (0.6 miles)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5 to 50 kilometers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Global / Country-wide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102798"/>
                  </a:ext>
                </a:extLst>
              </a:tr>
              <a:tr h="559157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 b="1" dirty="0">
                          <a:effectLst/>
                        </a:rPr>
                        <a:t>Primary Use Case</a:t>
                      </a:r>
                      <a:endParaRPr lang="en-IN" sz="1500" dirty="0">
                        <a:effectLst/>
                      </a:endParaRP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Connecting personal gadgets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Connecting a single building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Connecting a whole city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Connecting continents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5302764"/>
                  </a:ext>
                </a:extLst>
              </a:tr>
              <a:tr h="559157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 b="1" dirty="0">
                          <a:effectLst/>
                        </a:rPr>
                        <a:t>Data Speed</a:t>
                      </a:r>
                      <a:endParaRPr lang="en-IN" sz="1500" dirty="0">
                        <a:effectLst/>
                      </a:endParaRP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Moderate (up to 24 Mbps)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Very High (up to 10 Gbps)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High (up to 1 Gbps)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Lower (varies by region)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071990"/>
                  </a:ext>
                </a:extLst>
              </a:tr>
              <a:tr h="559157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 b="1" dirty="0">
                          <a:effectLst/>
                        </a:rPr>
                        <a:t>Common Technology</a:t>
                      </a:r>
                      <a:endParaRPr lang="en-IN" sz="1500" dirty="0">
                        <a:effectLst/>
                      </a:endParaRP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Bluetooth, Zigbee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Ethernet, Wi-Fi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Fiber-optic, Microwave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Leased lines, Satellite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971003"/>
                  </a:ext>
                </a:extLst>
              </a:tr>
              <a:tr h="559157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 b="1" dirty="0">
                          <a:effectLst/>
                        </a:rPr>
                        <a:t>Ownership</a:t>
                      </a:r>
                      <a:endParaRPr lang="en-IN" sz="1500" dirty="0">
                        <a:effectLst/>
                      </a:endParaRP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Single individual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Single private organization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Joint / Telecom company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Multiple organizations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7162567"/>
                  </a:ext>
                </a:extLst>
              </a:tr>
              <a:tr h="332131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 b="1" dirty="0">
                          <a:effectLst/>
                        </a:rPr>
                        <a:t>Setup Cost</a:t>
                      </a:r>
                      <a:endParaRPr lang="en-IN" sz="1500" dirty="0">
                        <a:effectLst/>
                      </a:endParaRP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Very low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Low to moderate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High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Very high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93442"/>
                  </a:ext>
                </a:extLst>
              </a:tr>
              <a:tr h="332131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 b="1" dirty="0">
                          <a:effectLst/>
                        </a:rPr>
                        <a:t>Error Rates</a:t>
                      </a:r>
                      <a:endParaRPr lang="en-IN" sz="1500" dirty="0">
                        <a:effectLst/>
                      </a:endParaRP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Very low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Low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</a:rPr>
                        <a:t>Moderate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 dirty="0">
                          <a:effectLst/>
                        </a:rPr>
                        <a:t>High</a:t>
                      </a:r>
                    </a:p>
                  </a:txBody>
                  <a:tcPr marL="52552" marR="52552" marT="52552" marB="5255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123275"/>
                  </a:ext>
                </a:extLst>
              </a:tr>
            </a:tbl>
          </a:graphicData>
        </a:graphic>
      </p:graphicFrame>
      <p:sp>
        <p:nvSpPr>
          <p:cNvPr id="6" name="Text 1">
            <a:extLst>
              <a:ext uri="{FF2B5EF4-FFF2-40B4-BE49-F238E27FC236}">
                <a16:creationId xmlns:a16="http://schemas.microsoft.com/office/drawing/2014/main" id="{9A8AB509-4B91-462D-BF1E-A8F93C3FBBC7}"/>
              </a:ext>
            </a:extLst>
          </p:cNvPr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of Types </a:t>
            </a:r>
            <a:r>
              <a:rPr lang="en-US" sz="3000" b="1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Networks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13591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Topologies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EF3F8"/>
          </a:solidFill>
          <a:ln/>
        </p:spPr>
      </p:sp>
      <p:sp>
        <p:nvSpPr>
          <p:cNvPr id="5" name="Shape 3"/>
          <p:cNvSpPr/>
          <p:nvPr/>
        </p:nvSpPr>
        <p:spPr>
          <a:xfrm>
            <a:off x="1760220" y="2514600"/>
            <a:ext cx="182880" cy="182880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6" name="Shape 4"/>
          <p:cNvSpPr/>
          <p:nvPr/>
        </p:nvSpPr>
        <p:spPr>
          <a:xfrm>
            <a:off x="1851660" y="2606040"/>
            <a:ext cx="777240" cy="9144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46604" y="2523744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8" name="Shape 6"/>
          <p:cNvSpPr/>
          <p:nvPr/>
        </p:nvSpPr>
        <p:spPr>
          <a:xfrm>
            <a:off x="1851660" y="2606040"/>
            <a:ext cx="240180" cy="565270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09544" y="3089014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10" name="Shape 8"/>
          <p:cNvSpPr/>
          <p:nvPr/>
        </p:nvSpPr>
        <p:spPr>
          <a:xfrm flipV="1">
            <a:off x="1305156" y="2615184"/>
            <a:ext cx="546504" cy="281580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0564" y="2873100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12" name="Shape 10"/>
          <p:cNvSpPr/>
          <p:nvPr/>
        </p:nvSpPr>
        <p:spPr>
          <a:xfrm>
            <a:off x="1222860" y="2315316"/>
            <a:ext cx="619656" cy="285348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0564" y="2174388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14" name="Shape 12"/>
          <p:cNvSpPr/>
          <p:nvPr/>
        </p:nvSpPr>
        <p:spPr>
          <a:xfrm flipV="1">
            <a:off x="1851660" y="2040770"/>
            <a:ext cx="240180" cy="565270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09544" y="1958474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36210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 connect to a central hub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10712" y="17373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EF3F8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5052" y="2606040"/>
            <a:ext cx="1737360" cy="0"/>
          </a:xfrm>
          <a:prstGeom prst="line">
            <a:avLst/>
          </a:prstGeom>
          <a:noFill/>
          <a:ln w="25400">
            <a:solidFill>
              <a:srgbClr val="9DB3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3845052" y="2286000"/>
            <a:ext cx="9144" cy="320040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62756" y="2203704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22" name="Shape 20"/>
          <p:cNvSpPr/>
          <p:nvPr/>
        </p:nvSpPr>
        <p:spPr>
          <a:xfrm flipV="1">
            <a:off x="4279392" y="2286000"/>
            <a:ext cx="9144" cy="320040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97096" y="2203704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24" name="Shape 22"/>
          <p:cNvSpPr/>
          <p:nvPr/>
        </p:nvSpPr>
        <p:spPr>
          <a:xfrm flipV="1">
            <a:off x="4713732" y="2286000"/>
            <a:ext cx="9144" cy="320040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1436" y="2203704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26" name="Shape 24"/>
          <p:cNvSpPr/>
          <p:nvPr/>
        </p:nvSpPr>
        <p:spPr>
          <a:xfrm flipV="1">
            <a:off x="5148072" y="2286000"/>
            <a:ext cx="9144" cy="320040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65776" y="2203704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28" name="Shape 26"/>
          <p:cNvSpPr/>
          <p:nvPr/>
        </p:nvSpPr>
        <p:spPr>
          <a:xfrm flipV="1">
            <a:off x="5582412" y="2286000"/>
            <a:ext cx="9144" cy="320040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00116" y="2203704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30" name="Text 28"/>
          <p:cNvSpPr/>
          <p:nvPr/>
        </p:nvSpPr>
        <p:spPr>
          <a:xfrm>
            <a:off x="3547872" y="33101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547872" y="36210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 share one common cable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72784" y="17373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EF3F8"/>
          </a:solidFill>
          <a:ln/>
        </p:spPr>
      </p:sp>
      <p:sp>
        <p:nvSpPr>
          <p:cNvPr id="33" name="Shape 31"/>
          <p:cNvSpPr/>
          <p:nvPr/>
        </p:nvSpPr>
        <p:spPr>
          <a:xfrm>
            <a:off x="7575804" y="1920240"/>
            <a:ext cx="593920" cy="342900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69724" y="2263140"/>
            <a:ext cx="9144" cy="685800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7630668" y="3031236"/>
            <a:ext cx="527070" cy="260604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81884" y="2962656"/>
            <a:ext cx="566488" cy="329184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6981884" y="2263140"/>
            <a:ext cx="9144" cy="685800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6981884" y="1920240"/>
            <a:ext cx="593920" cy="342900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3508" y="1837944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40" name="Shape 38"/>
          <p:cNvSpPr/>
          <p:nvPr/>
        </p:nvSpPr>
        <p:spPr>
          <a:xfrm>
            <a:off x="8087428" y="2180844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41" name="Shape 39"/>
          <p:cNvSpPr/>
          <p:nvPr/>
        </p:nvSpPr>
        <p:spPr>
          <a:xfrm>
            <a:off x="8087428" y="2866644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42" name="Shape 40"/>
          <p:cNvSpPr/>
          <p:nvPr/>
        </p:nvSpPr>
        <p:spPr>
          <a:xfrm>
            <a:off x="7493508" y="3209544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43" name="Shape 41"/>
          <p:cNvSpPr/>
          <p:nvPr/>
        </p:nvSpPr>
        <p:spPr>
          <a:xfrm>
            <a:off x="6899588" y="2866644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44" name="Shape 42"/>
          <p:cNvSpPr/>
          <p:nvPr/>
        </p:nvSpPr>
        <p:spPr>
          <a:xfrm>
            <a:off x="6899588" y="2180844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45" name="Text 43"/>
          <p:cNvSpPr/>
          <p:nvPr/>
        </p:nvSpPr>
        <p:spPr>
          <a:xfrm>
            <a:off x="6409944" y="33101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409944" y="36210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form a closed loop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134856" y="17373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EF3F8"/>
          </a:solidFill>
          <a:ln/>
        </p:spPr>
      </p:sp>
      <p:sp>
        <p:nvSpPr>
          <p:cNvPr id="48" name="Shape 46"/>
          <p:cNvSpPr/>
          <p:nvPr/>
        </p:nvSpPr>
        <p:spPr>
          <a:xfrm>
            <a:off x="10437876" y="1947672"/>
            <a:ext cx="626145" cy="454921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37876" y="1947672"/>
            <a:ext cx="386979" cy="1190999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>
            <a:off x="10065684" y="2002536"/>
            <a:ext cx="366096" cy="1117847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9811731" y="1984249"/>
            <a:ext cx="575415" cy="384048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>
            <a:off x="10824855" y="2411737"/>
            <a:ext cx="239166" cy="699502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93086" y="2460471"/>
            <a:ext cx="1031769" cy="605048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811731" y="2402593"/>
            <a:ext cx="1252290" cy="9144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050897" y="3138671"/>
            <a:ext cx="773958" cy="9144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10125471" y="2420878"/>
            <a:ext cx="856254" cy="668135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9805635" y="2411737"/>
            <a:ext cx="245262" cy="736078"/>
          </a:xfrm>
          <a:prstGeom prst="line">
            <a:avLst/>
          </a:prstGeom>
          <a:noFill/>
          <a:ln w="15875">
            <a:solidFill>
              <a:srgbClr val="9DB3C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55580" y="1865376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59" name="Shape 57"/>
          <p:cNvSpPr/>
          <p:nvPr/>
        </p:nvSpPr>
        <p:spPr>
          <a:xfrm>
            <a:off x="10981725" y="2320297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60" name="Shape 58"/>
          <p:cNvSpPr/>
          <p:nvPr/>
        </p:nvSpPr>
        <p:spPr>
          <a:xfrm>
            <a:off x="10742559" y="3056375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61" name="Shape 59"/>
          <p:cNvSpPr/>
          <p:nvPr/>
        </p:nvSpPr>
        <p:spPr>
          <a:xfrm>
            <a:off x="9968601" y="3056375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62" name="Shape 60"/>
          <p:cNvSpPr/>
          <p:nvPr/>
        </p:nvSpPr>
        <p:spPr>
          <a:xfrm>
            <a:off x="9729435" y="2320297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63" name="Text 61"/>
          <p:cNvSpPr/>
          <p:nvPr/>
        </p:nvSpPr>
        <p:spPr>
          <a:xfrm>
            <a:off x="9272016" y="33101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9272016" y="36210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connects to every other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Client–Server vs Peer-to-Peer (P2P)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03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842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Client–Server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22960" y="2898648"/>
            <a:ext cx="82296" cy="82296"/>
          </a:xfrm>
          <a:prstGeom prst="ellipse">
            <a:avLst/>
          </a:prstGeom>
          <a:solidFill>
            <a:srgbClr val="0B1F3B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77977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server provides resources/services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657600"/>
            <a:ext cx="82296" cy="82296"/>
          </a:xfrm>
          <a:prstGeom prst="ellipse">
            <a:avLst/>
          </a:prstGeom>
          <a:solidFill>
            <a:srgbClr val="0B1F3B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53872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request data or services from the server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4416552"/>
            <a:ext cx="82296" cy="82296"/>
          </a:xfrm>
          <a:prstGeom prst="ellipse">
            <a:avLst/>
          </a:prstGeom>
          <a:solidFill>
            <a:srgbClr val="0B1F3B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42976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control, easier security &amp; backup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5175504"/>
            <a:ext cx="82296" cy="82296"/>
          </a:xfrm>
          <a:prstGeom prst="ellipse">
            <a:avLst/>
          </a:prstGeom>
          <a:solidFill>
            <a:srgbClr val="0B1F3B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505663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Web servers, email servers, databases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37960" y="1965960"/>
            <a:ext cx="594360" cy="59436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10312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0" y="19842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Peer-to-Peer (P2P)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6537960" y="2898648"/>
            <a:ext cx="82296" cy="82296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21" name="Text 17"/>
          <p:cNvSpPr/>
          <p:nvPr/>
        </p:nvSpPr>
        <p:spPr>
          <a:xfrm>
            <a:off x="6720840" y="277977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(peer) acts as both client and server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37960" y="3657600"/>
            <a:ext cx="82296" cy="82296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23" name="Text 19"/>
          <p:cNvSpPr/>
          <p:nvPr/>
        </p:nvSpPr>
        <p:spPr>
          <a:xfrm>
            <a:off x="6720840" y="353872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 share resources directly with each other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537960" y="4416552"/>
            <a:ext cx="82296" cy="82296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840" y="42976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point of control; more fault-tolerant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37960" y="5175504"/>
            <a:ext cx="82296" cy="82296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27" name="Text 23"/>
          <p:cNvSpPr/>
          <p:nvPr/>
        </p:nvSpPr>
        <p:spPr>
          <a:xfrm>
            <a:off x="6720840" y="505663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File-sharing networks, blockchain nodes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9728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530352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91440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566928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603504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274320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Models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layered architecture in computer networks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Use Layered Network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communication is broken into independent layers, each handling one specific job. This is called a layered architecture.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97480" cy="3383280"/>
          </a:xfrm>
          <a:prstGeom prst="roundRect">
            <a:avLst>
              <a:gd name="adj" fmla="val 3051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68196" y="2651760"/>
            <a:ext cx="658368" cy="658368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279806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474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95020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designed and updated independently without affecting others.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0" y="2377440"/>
            <a:ext cx="2697480" cy="3383280"/>
          </a:xfrm>
          <a:prstGeom prst="roundRect">
            <a:avLst>
              <a:gd name="adj" fmla="val 3051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4276" y="2651760"/>
            <a:ext cx="658368" cy="658368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79806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474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Design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57600" y="395020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networking tasks are broken into smaller, manageable problems.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0" y="2377440"/>
            <a:ext cx="2697480" cy="3383280"/>
          </a:xfrm>
          <a:prstGeom prst="roundRect">
            <a:avLst>
              <a:gd name="adj" fmla="val 3051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20356" y="2651760"/>
            <a:ext cx="658368" cy="658368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660" y="279806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3474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583680" y="395020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from different vendors can communicate using standard layers.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326880" y="2377440"/>
            <a:ext cx="2697480" cy="3383280"/>
          </a:xfrm>
          <a:prstGeom prst="roundRect">
            <a:avLst>
              <a:gd name="adj" fmla="val 3051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346436" y="2651760"/>
            <a:ext cx="658368" cy="658368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2740" y="2798064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64040" y="3474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Troubleshooting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509760" y="395020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can be isolated to a specific layer rather than the whole system.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OSI Model — 7 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675120" cy="52578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029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19202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54680" y="1600200"/>
            <a:ext cx="40690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directly with end-user software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6675120" cy="525780"/>
          </a:xfrm>
          <a:prstGeom prst="rect">
            <a:avLst/>
          </a:prstGeom>
          <a:solidFill>
            <a:srgbClr val="2A5D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5029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19202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54680" y="2194560"/>
            <a:ext cx="40690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translation, encryption, compression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6675120" cy="52578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5029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788920"/>
            <a:ext cx="19202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54680" y="2788920"/>
            <a:ext cx="40690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&amp; manages sessions between hosts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6675120" cy="525780"/>
          </a:xfrm>
          <a:prstGeom prst="rect">
            <a:avLst/>
          </a:prstGeom>
          <a:solidFill>
            <a:srgbClr val="2A5D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83280"/>
            <a:ext cx="5029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383280"/>
            <a:ext cx="19202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54680" y="3383280"/>
            <a:ext cx="40690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end-to-end delivery (TCP/UDP)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6675120" cy="52578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77640"/>
            <a:ext cx="5029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3977640"/>
            <a:ext cx="19202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54680" y="3977640"/>
            <a:ext cx="40690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addressing &amp; routing (IP)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6675120" cy="525780"/>
          </a:xfrm>
          <a:prstGeom prst="rect">
            <a:avLst/>
          </a:prstGeom>
          <a:solidFill>
            <a:srgbClr val="2A5D9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72000"/>
            <a:ext cx="5029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88720" y="4572000"/>
            <a:ext cx="19202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154680" y="4572000"/>
            <a:ext cx="40690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addressing, framing (MAC)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166360"/>
            <a:ext cx="6675120" cy="52578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166360"/>
            <a:ext cx="5029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88720" y="5166360"/>
            <a:ext cx="19202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154680" y="5166360"/>
            <a:ext cx="40690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of raw bits over medium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35240" y="1600200"/>
            <a:ext cx="3977640" cy="4160520"/>
          </a:xfrm>
          <a:prstGeom prst="roundRect">
            <a:avLst>
              <a:gd name="adj" fmla="val 2069"/>
            </a:avLst>
          </a:prstGeom>
          <a:solidFill>
            <a:srgbClr val="13294B"/>
          </a:solidFill>
          <a:ln w="12700">
            <a:solidFill>
              <a:srgbClr val="2A40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Aid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86384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People Seem To Need Data Processing”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63840" y="2651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7 → 1: Application, Presentation, Session, Transport, Network, Data Link, Physical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63840" y="3611880"/>
            <a:ext cx="3520440" cy="0"/>
          </a:xfrm>
          <a:prstGeom prst="line">
            <a:avLst/>
          </a:prstGeom>
          <a:noFill/>
          <a:ln w="12700">
            <a:solidFill>
              <a:srgbClr val="2A40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0" y="37947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ISO as a conceptual reference model — it is not implemented directly, but used to understand and design network communication.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Model — Layer Functions &amp; Examples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4348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Key Function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Examples / PDU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Application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User-facing services &amp; network access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HTTP, FTP, SMTP · Data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Presentation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Data format, encryption, compression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SSL/TLS, JPEG, ASCII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Session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Opens, manages &amp; closes sessions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NetBIOS, RPC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Transport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Reliable/unreliable end-to-end delivery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TCP, UDP · Segments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Network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Logical addressing &amp; path selection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IP, ICMP · Packets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Data Link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Node-to-node delivery, error detection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Ethernet, MAC · Frames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Physical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Bit transmission over physical medium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Cables, Hubs · Bits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TCP/IP Model — 4 Layers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implementation-based model that the modern Internet is actually built on — developed by the US DoD before OSI.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B1F3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10028"/>
            <a:ext cx="512064" cy="512064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6380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95728"/>
            <a:ext cx="2468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69080" y="2395728"/>
            <a:ext cx="5120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OSI's Application, Presentation &amp; Session layers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281160" y="2395728"/>
            <a:ext cx="21488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FTP, SMTP, DNS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3832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D4E89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3607308"/>
            <a:ext cx="512064" cy="512064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73532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3493008"/>
            <a:ext cx="2468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069080" y="3493008"/>
            <a:ext cx="5120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communication &amp; reliability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281160" y="3493008"/>
            <a:ext cx="21488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TCP, UDP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4805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A5D96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4704588"/>
            <a:ext cx="512064" cy="512064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83260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4590288"/>
            <a:ext cx="2468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069080" y="4590288"/>
            <a:ext cx="5120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addressing &amp; routing across networks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281160" y="4590288"/>
            <a:ext cx="21488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ICMP, ARP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55778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3D6FA8"/>
          </a:solidFill>
          <a:ln/>
        </p:spPr>
      </p:sp>
      <p:sp>
        <p:nvSpPr>
          <p:cNvPr id="24" name="Shape 19"/>
          <p:cNvSpPr/>
          <p:nvPr/>
        </p:nvSpPr>
        <p:spPr>
          <a:xfrm>
            <a:off x="777240" y="5801868"/>
            <a:ext cx="512064" cy="512064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592988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5687568"/>
            <a:ext cx="2468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4069080" y="5687568"/>
            <a:ext cx="5120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OSI's Data Link &amp; Physical layers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281160" y="5687568"/>
            <a:ext cx="21488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Ethernet, Wi-Fi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vs TCP/IP — Side-by-Side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(7)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498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(4)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05840" y="1691640"/>
            <a:ext cx="365760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7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2286000"/>
            <a:ext cx="3657600" cy="512064"/>
          </a:xfrm>
          <a:prstGeom prst="rect">
            <a:avLst/>
          </a:prstGeom>
          <a:solidFill>
            <a:srgbClr val="E2EAF4"/>
          </a:solidFill>
          <a:ln w="9525">
            <a:solidFill>
              <a:srgbClr val="D7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860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2880360"/>
            <a:ext cx="365760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7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803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3474720"/>
            <a:ext cx="3657600" cy="512064"/>
          </a:xfrm>
          <a:prstGeom prst="rect">
            <a:avLst/>
          </a:prstGeom>
          <a:solidFill>
            <a:srgbClr val="E2EAF4"/>
          </a:solidFill>
          <a:ln w="9525">
            <a:solidFill>
              <a:srgbClr val="D7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47472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4069080"/>
            <a:ext cx="365760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7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06908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4663440"/>
            <a:ext cx="3657600" cy="512064"/>
          </a:xfrm>
          <a:prstGeom prst="rect">
            <a:avLst/>
          </a:prstGeom>
          <a:solidFill>
            <a:srgbClr val="E2EAF4"/>
          </a:solidFill>
          <a:ln w="9525">
            <a:solidFill>
              <a:srgbClr val="D7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66344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5840" y="5257800"/>
            <a:ext cx="365760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7E0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257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0" y="1691640"/>
            <a:ext cx="3657600" cy="1700784"/>
          </a:xfrm>
          <a:prstGeom prst="rect">
            <a:avLst/>
          </a:prstGeom>
          <a:solidFill>
            <a:srgbClr val="0B1F3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1691640"/>
            <a:ext cx="36576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663440" y="1947672"/>
            <a:ext cx="2834640" cy="594360"/>
          </a:xfrm>
          <a:prstGeom prst="line">
            <a:avLst/>
          </a:prstGeom>
          <a:noFill/>
          <a:ln w="12700">
            <a:solidFill>
              <a:srgbClr val="00C2C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663440" y="2542032"/>
            <a:ext cx="2834640" cy="9144"/>
          </a:xfrm>
          <a:prstGeom prst="line">
            <a:avLst/>
          </a:prstGeom>
          <a:noFill/>
          <a:ln w="12700">
            <a:solidFill>
              <a:srgbClr val="00C2C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 flipV="1">
            <a:off x="4663440" y="2542032"/>
            <a:ext cx="2834640" cy="594360"/>
          </a:xfrm>
          <a:prstGeom prst="line">
            <a:avLst/>
          </a:prstGeom>
          <a:noFill/>
          <a:ln w="12700">
            <a:solidFill>
              <a:srgbClr val="00C2C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498080" y="3474720"/>
            <a:ext cx="3657600" cy="512064"/>
          </a:xfrm>
          <a:prstGeom prst="rect">
            <a:avLst/>
          </a:prstGeom>
          <a:solidFill>
            <a:srgbClr val="0B1F3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347472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663440" y="3730752"/>
            <a:ext cx="2834640" cy="9144"/>
          </a:xfrm>
          <a:prstGeom prst="line">
            <a:avLst/>
          </a:prstGeom>
          <a:noFill/>
          <a:ln w="12700">
            <a:solidFill>
              <a:srgbClr val="00C2CB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498080" y="4069080"/>
            <a:ext cx="3657600" cy="512064"/>
          </a:xfrm>
          <a:prstGeom prst="rect">
            <a:avLst/>
          </a:prstGeom>
          <a:solidFill>
            <a:srgbClr val="0B1F3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406908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663440" y="4325112"/>
            <a:ext cx="2834640" cy="9144"/>
          </a:xfrm>
          <a:prstGeom prst="line">
            <a:avLst/>
          </a:prstGeom>
          <a:noFill/>
          <a:ln w="12700">
            <a:solidFill>
              <a:srgbClr val="00C2C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7498080" y="4663440"/>
            <a:ext cx="3657600" cy="1106424"/>
          </a:xfrm>
          <a:prstGeom prst="rect">
            <a:avLst/>
          </a:prstGeom>
          <a:solidFill>
            <a:srgbClr val="0B1F3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4663440"/>
            <a:ext cx="3657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663440" y="4919472"/>
            <a:ext cx="2834640" cy="297180"/>
          </a:xfrm>
          <a:prstGeom prst="line">
            <a:avLst/>
          </a:prstGeom>
          <a:noFill/>
          <a:ln w="12700">
            <a:solidFill>
              <a:srgbClr val="00C2CB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 flipV="1">
            <a:off x="4663440" y="5216652"/>
            <a:ext cx="2834640" cy="297180"/>
          </a:xfrm>
          <a:prstGeom prst="line">
            <a:avLst/>
          </a:prstGeom>
          <a:noFill/>
          <a:ln w="12700">
            <a:solidFill>
              <a:srgbClr val="00C2CB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9728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530352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91440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566928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603504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274320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network of interconnected networks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Internet &amp; How Is It Structured?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</a:t>
            </a:r>
            <a:r>
              <a:rPr lang="en-US" sz="14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vast, global “network of networks” that connects billions of devices worldwide using the standardised TCP/IP protocol suite.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8072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651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ISPs (Internet Service Providers)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29535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access by connecting homes/organisations to the Internet backbone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593592"/>
            <a:ext cx="457200" cy="45720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70332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35478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Networks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43000" y="38496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High-capacity fibre links that carry data between major regions globally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489704"/>
            <a:ext cx="457200" cy="45720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599432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44439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&amp; Exchange Points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3000" y="47457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traffic efficiently between thousands of interconnected networks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309360" y="155448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0B1F3B"/>
          </a:solidFill>
          <a:ln/>
        </p:spPr>
      </p:sp>
      <p:sp>
        <p:nvSpPr>
          <p:cNvPr id="18" name="Shape 13"/>
          <p:cNvSpPr/>
          <p:nvPr/>
        </p:nvSpPr>
        <p:spPr>
          <a:xfrm>
            <a:off x="8705088" y="1709928"/>
            <a:ext cx="512064" cy="512064"/>
          </a:xfrm>
          <a:prstGeom prst="ellipse">
            <a:avLst/>
          </a:prstGeom>
          <a:solidFill>
            <a:srgbClr val="13294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4816" y="1819656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72600" y="18105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961120" y="2221992"/>
            <a:ext cx="9144" cy="173736"/>
          </a:xfrm>
          <a:prstGeom prst="line">
            <a:avLst/>
          </a:prstGeom>
          <a:noFill/>
          <a:ln w="19050">
            <a:solidFill>
              <a:srgbClr val="6B84A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705088" y="2395728"/>
            <a:ext cx="512064" cy="512064"/>
          </a:xfrm>
          <a:prstGeom prst="ellipse">
            <a:avLst/>
          </a:prstGeom>
          <a:solidFill>
            <a:srgbClr val="13294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2505456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72600" y="24963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ISP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8961120" y="2907792"/>
            <a:ext cx="9144" cy="173736"/>
          </a:xfrm>
          <a:prstGeom prst="line">
            <a:avLst/>
          </a:prstGeom>
          <a:noFill/>
          <a:ln w="19050">
            <a:solidFill>
              <a:srgbClr val="6B84A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705088" y="3081528"/>
            <a:ext cx="512064" cy="51206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4816" y="3191256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372600" y="31821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Backbone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8961120" y="3593592"/>
            <a:ext cx="9144" cy="173736"/>
          </a:xfrm>
          <a:prstGeom prst="line">
            <a:avLst/>
          </a:prstGeom>
          <a:noFill/>
          <a:ln w="19050">
            <a:solidFill>
              <a:srgbClr val="6B84AC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8705088" y="3767328"/>
            <a:ext cx="512064" cy="512064"/>
          </a:xfrm>
          <a:prstGeom prst="ellipse">
            <a:avLst/>
          </a:prstGeom>
          <a:solidFill>
            <a:srgbClr val="13294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3877056"/>
            <a:ext cx="292608" cy="29260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372600" y="38679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ISP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8961120" y="4279392"/>
            <a:ext cx="9144" cy="173736"/>
          </a:xfrm>
          <a:prstGeom prst="line">
            <a:avLst/>
          </a:prstGeom>
          <a:noFill/>
          <a:ln w="19050">
            <a:solidFill>
              <a:srgbClr val="6B84AC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8705088" y="4453128"/>
            <a:ext cx="512064" cy="512064"/>
          </a:xfrm>
          <a:prstGeom prst="ellipse">
            <a:avLst/>
          </a:prstGeom>
          <a:solidFill>
            <a:srgbClr val="13294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4816" y="4562856"/>
            <a:ext cx="292608" cy="29260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372600" y="45537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Addressing — IPv4 vs IPv6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on a network needs a unique IP address to send and receive data — like a postal address for the digital world.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1D4E8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96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0" y="2532888"/>
            <a:ext cx="2423160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5328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721608"/>
            <a:ext cx="73152" cy="7315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6027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~4.3 billion unique addresses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343400"/>
            <a:ext cx="73152" cy="7315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2245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 4 decimal numbers (0-255)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965192"/>
            <a:ext cx="73152" cy="7315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846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exhaustion due to device growth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24028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0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496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128-bit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915400" y="2532888"/>
            <a:ext cx="2423160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25328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2001:0db8::1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3721608"/>
            <a:ext cx="73152" cy="7315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6027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× 10³⁸ unique addresses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0" y="4343400"/>
            <a:ext cx="73152" cy="7315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42245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8 groups of hexadecimal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0" y="4965192"/>
            <a:ext cx="73152" cy="7315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4846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solve IPv4 exhaustion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Name System (DNS)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</a:t>
            </a: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human-friendly domain names into the numeric IP addresses computers use to identify each other — often called the “phonebook of the Internet.”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83464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50492" y="3063240"/>
            <a:ext cx="585216" cy="585216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508" y="31912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490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4069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www.example.com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3547872"/>
            <a:ext cx="347472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611880" y="283464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85132" y="3063240"/>
            <a:ext cx="585216" cy="585216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3148" y="3191256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03320" y="37490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Resolver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703320" y="4069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Looks up the domain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3547872"/>
            <a:ext cx="347472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46520" y="283464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319772" y="3063240"/>
            <a:ext cx="585216" cy="585216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7788" y="3191256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37960" y="37490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Server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537960" y="4069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matching IP</a:t>
            </a:r>
            <a:endParaRPr lang="en-US" sz="10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2" y="3547872"/>
            <a:ext cx="347472" cy="29260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281160" y="283464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10154412" y="3063240"/>
            <a:ext cx="585216" cy="585216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2428" y="3191256"/>
            <a:ext cx="329184" cy="32918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372600" y="37490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9372600" y="4069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192.0.2.10 responds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9728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530352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91440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566928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603504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274320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that make network communication possible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Network Protocol?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protocol </a:t>
            </a: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formal set of rules and conventions that governs how devices communicate, format, transmit and interpret data over a network.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3100" y="2834640"/>
            <a:ext cx="731520" cy="7315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692" y="29992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7490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519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or format of the data — how bits are organised into fields.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5146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37860" y="2834640"/>
            <a:ext cx="731520" cy="7315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452" y="29992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7490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42519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 of each field — what action or response it indicates.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5146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EF3F8"/>
          </a:solidFill>
          <a:ln/>
          <a:effectLst>
            <a:outerShdw blurRad="63500" dist="1905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532620" y="2834640"/>
            <a:ext cx="731520" cy="7315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7212" y="299923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7490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12480" y="42519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should be sent and at what speed it should arrive.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Network Protocols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1892808"/>
            <a:ext cx="548640" cy="54864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20116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6032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HTTPS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web pages; HTTPS adds encryption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01568" y="1691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53128" y="1892808"/>
            <a:ext cx="548640" cy="54864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01168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256032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38728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files between client and server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54496" y="1691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06056" y="1892808"/>
            <a:ext cx="548640" cy="54864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201168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56032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91656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email between mail servers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07424" y="1691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58984" y="1892808"/>
            <a:ext cx="548640" cy="54864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7856" y="201168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17152" y="256032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244584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domain names to IP addresses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840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600200" y="4041648"/>
            <a:ext cx="548640" cy="54864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9072" y="4160520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8368" y="47091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85800" y="5074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connection-oriented data delivery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01568" y="3840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453128" y="4041648"/>
            <a:ext cx="548640" cy="54864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160520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11296" y="47091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538728" y="5074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connectionless data delivery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54496" y="3840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306056" y="4041648"/>
            <a:ext cx="548640" cy="54864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4928" y="4160520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64224" y="47091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391656" y="5074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and routes packets across networks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107424" y="3840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10158984" y="4041648"/>
            <a:ext cx="548640" cy="54864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77856" y="4160520"/>
            <a:ext cx="310896" cy="31089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17152" y="47091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9244584" y="5074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remote login and command execution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vs UDP — Transport Layer Comparison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783080"/>
          <a:ext cx="10149840" cy="42062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TCP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UDP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</a:rPr>
                        <a:t>Connection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Connection-oriented (handshake)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Connectionless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</a:rPr>
                        <a:t>Reliability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Guaranteed delivery, error checking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No delivery guarantee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</a:rPr>
                        <a:t>Ordering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Data arrives in order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Order not guaranteed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</a:rPr>
                        <a:t>Speed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Slower due to overhead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Faster, minimal overhead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</a:rPr>
                        <a:t>Use Cases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Web, email, file transfer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Video streaming, gaming, VoIP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9728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530352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91440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566928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603504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2743200"/>
            <a:ext cx="128016" cy="128016"/>
          </a:xfrm>
          <a:prstGeom prst="ellipse">
            <a:avLst/>
          </a:prstGeom>
          <a:solidFill>
            <a:srgbClr val="00C2CB">
              <a:alpha val="4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Applications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networks power everyday digital services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Applications Built on Networks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0B1F3B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1892808"/>
            <a:ext cx="548640" cy="54864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20116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6032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926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websites via HTTP/HTTPS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01568" y="1691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0B1F3B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53128" y="1892808"/>
            <a:ext cx="548640" cy="54864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01168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256032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38728" y="2926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&amp; receive messages via SMTP/IMAP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54496" y="1691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0B1F3B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06056" y="1892808"/>
            <a:ext cx="548640" cy="54864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201168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56032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91656" y="2926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Upload/download files via FTP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07424" y="1691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0B1F3B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58984" y="1892808"/>
            <a:ext cx="548640" cy="54864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7856" y="201168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17152" y="256032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Conferencing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244584" y="2926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audio/video calls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840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600200" y="4041648"/>
            <a:ext cx="548640" cy="54864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9072" y="4160520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8368" y="47091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85800" y="5074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storage &amp; computing power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01568" y="3840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453128" y="4041648"/>
            <a:ext cx="548640" cy="54864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160520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11296" y="47091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538728" y="5074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devices sharing sensor data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54496" y="3840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306056" y="4041648"/>
            <a:ext cx="548640" cy="54864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4928" y="4160520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64224" y="47091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391656" y="5074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sharing &amp; messaging platforms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107424" y="3840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10158984" y="4041648"/>
            <a:ext cx="548640" cy="54864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77856" y="4160520"/>
            <a:ext cx="310896" cy="31089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17152" y="47091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9244584" y="5074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audio &amp; video delivery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Networking Matters for Virtualization &amp;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532888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 Connectivity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99008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switches &amp; NICs let VMs on the same host or across hosts communicate.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20240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4" y="204368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8848" y="2532888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Delivery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98848" y="299008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IaaS, PaaS &amp; SaaS are all delivered to users entirely over the network.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920240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64" y="204368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47888" y="2532888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&amp; Shared Storage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47888" y="299008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SAN/NAS and cloud storage are accessed remotely by virtualized workloads.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" y="432968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818888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Networks &amp; VLANs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527608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networking isolates and connects VMs across data centres.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97764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206240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9724" y="432968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98848" y="4818888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&amp; Scaling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98848" y="527608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routed across VM/container instances to scale cloud applications.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EEF3F8"/>
          </a:solidFill>
          <a:ln/>
          <a:effectLst>
            <a:outerShdw blurRad="50800" dist="1905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206240"/>
            <a:ext cx="502920" cy="50292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8764" y="432968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47888" y="4818888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for Cloud Management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47888" y="527608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and orchestration tools (e.g. hypervisor/cloud APIs) run over HTTP.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network connects devices to share resources and communicate using protocols.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4871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models (OSI's 7 layers, TCP/IP's 4 layers) organise networking tasks into manageable, standard stages.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374136"/>
            <a:ext cx="457200" cy="45720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32841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is a global network of networks, relying on IP addressing and DNS for identification.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457200" cy="45720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16966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 are the agreed rules — HTTP, TCP, UDP, DNS and more — that make reliable communication possible.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457200" cy="45720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501091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applications from web browsing to cloud computing and IoT power everyday life and modern data science workflows.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1371600"/>
            <a:ext cx="109728" cy="109728"/>
          </a:xfrm>
          <a:prstGeom prst="ellipse">
            <a:avLst/>
          </a:prstGeom>
          <a:solidFill>
            <a:srgbClr val="00C2CB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03120" y="5394960"/>
            <a:ext cx="109728" cy="109728"/>
          </a:xfrm>
          <a:prstGeom prst="ellipse">
            <a:avLst/>
          </a:prstGeom>
          <a:solidFill>
            <a:srgbClr val="00C2CB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1005840"/>
            <a:ext cx="109728" cy="109728"/>
          </a:xfrm>
          <a:prstGeom prst="ellipse">
            <a:avLst/>
          </a:prstGeom>
          <a:solidFill>
            <a:srgbClr val="00C2CB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5029200"/>
            <a:ext cx="109728" cy="109728"/>
          </a:xfrm>
          <a:prstGeom prst="ellipse">
            <a:avLst/>
          </a:prstGeom>
          <a:solidFill>
            <a:srgbClr val="00C2CB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3840480"/>
            <a:ext cx="109728" cy="109728"/>
          </a:xfrm>
          <a:prstGeom prst="ellipse">
            <a:avLst/>
          </a:prstGeom>
          <a:solidFill>
            <a:srgbClr val="00C2CB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3108960"/>
            <a:ext cx="109728" cy="109728"/>
          </a:xfrm>
          <a:prstGeom prst="ellipse">
            <a:avLst/>
          </a:prstGeom>
          <a:solidFill>
            <a:srgbClr val="00C2CB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92928" y="1965960"/>
            <a:ext cx="1005840" cy="100584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0C2C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40" y="2176272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 · Unit 1 · Networking Foundations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6812894AF27C4B9BEA242A5F6FBAEB" ma:contentTypeVersion="0" ma:contentTypeDescription="Create a new document." ma:contentTypeScope="" ma:versionID="857544aff4cfd9ea8d328815af76a90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75A049-29DD-4559-A0A3-E8C38EDBF007}"/>
</file>

<file path=customXml/itemProps2.xml><?xml version="1.0" encoding="utf-8"?>
<ds:datastoreItem xmlns:ds="http://schemas.openxmlformats.org/officeDocument/2006/customXml" ds:itemID="{8B6ECBB9-DF6E-48DA-9AA7-773D0CEF95B0}"/>
</file>

<file path=customXml/itemProps3.xml><?xml version="1.0" encoding="utf-8"?>
<ds:datastoreItem xmlns:ds="http://schemas.openxmlformats.org/officeDocument/2006/customXml" ds:itemID="{BBF9EDE0-0766-4B54-9F1F-39E28160328C}"/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2013</Words>
  <Application>Microsoft Office PowerPoint</Application>
  <PresentationFormat>Widescreen</PresentationFormat>
  <Paragraphs>452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- Virtualization &amp; Cloud Computing Unit 1</dc:title>
  <dc:subject>PptxGenJS Presentation</dc:subject>
  <dc:creator>Computer Networks</dc:creator>
  <cp:lastModifiedBy>Soni Bhambar</cp:lastModifiedBy>
  <cp:revision>3</cp:revision>
  <dcterms:created xsi:type="dcterms:W3CDTF">2026-07-01T07:48:53Z</dcterms:created>
  <dcterms:modified xsi:type="dcterms:W3CDTF">2026-07-17T09:06:03Z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0x010100896812894AF27C4B9BEA242A5F6FBAEB</vt:lpwstr>
  </property>
</Properties>
</file>