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raunces ExtraBold" panose="020B0604020202020204" charset="0"/>
      <p:regular r:id="rId17"/>
    </p:embeddedFont>
    <p:embeddedFont>
      <p:font typeface="Nobile" panose="020B0604020202020204" charset="0"/>
      <p:regular r:id="rId18"/>
    </p:embeddedFont>
    <p:embeddedFont>
      <p:font typeface="Nobile Bold" panose="020B0604020202020204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28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860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Virtualization &amp; Containerization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50840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From Hardware to Cloud Native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66467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deep dive into the technologies that power modern computing — from abstracting physical hardware to orchestrating cloud-native workloads at scale.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947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Defining Virtualization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6885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Virtualization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decouples resources from their physical providers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enabling multiple isolated environments to share a single host.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486323"/>
            <a:ext cx="3053877" cy="1996380"/>
          </a:xfrm>
          <a:prstGeom prst="roundRect">
            <a:avLst>
              <a:gd name="adj" fmla="val 8521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5422367" y="2675334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Abstraction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2367" y="3084016"/>
            <a:ext cx="2675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Separates software from hardware, creating virtual versions of CPU, memory, storage, and networking.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486323"/>
            <a:ext cx="3053976" cy="1996380"/>
          </a:xfrm>
          <a:prstGeom prst="roundRect">
            <a:avLst>
              <a:gd name="adj" fmla="val 8521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8665251" y="2675334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Isolation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65251" y="3084016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virtual environment runs independently, with no interference between guests.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671715"/>
            <a:ext cx="6296860" cy="1391543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5422367" y="486072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Consolidation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2367" y="5269409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workloads share one physical host, reducing cost and complexity.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99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Types of Virtualization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586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Virtualization spans multiple layers of the stack — from hardware to applications.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73660"/>
            <a:ext cx="2009923" cy="1242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5211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Hardware Virtualization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660801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Emulates entire computer systems, enabling multiple OS instances on one machine.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773660"/>
            <a:ext cx="2009923" cy="124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25211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OS-Level Virtualization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66080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Isolates processes on a shared kernel, forming the basis of containers.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773660"/>
            <a:ext cx="2009923" cy="1242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25211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 &amp; Network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66080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Abstracts software or infrastructure layers for portability and flexibility.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37940"/>
            <a:ext cx="5203794" cy="29271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32776" y="1302643"/>
            <a:ext cx="2433775" cy="287139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6446180" y="1359297"/>
            <a:ext cx="28165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HARDWARE VIRTUALIZATION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332776" y="1665387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One Machine, Many Worlds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32776" y="303569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Hardware virtualization transforms a single physical server into multiple isolated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guest machines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each with its own kernel and operating system.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90343"/>
            <a:ext cx="5339820" cy="1442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7479" y="4704755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Server Consolidation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77479" y="5113437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dozens of workloads on fewer physical servers.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4490343"/>
            <a:ext cx="5339919" cy="1442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6305" y="4704755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Multi-Platform Testing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506305" y="5113437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different OS configurations without dedicated hardware.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38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Full vs. Paravirtualization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438003"/>
            <a:ext cx="5476043" cy="2856111"/>
          </a:xfrm>
          <a:prstGeom prst="roundRect">
            <a:avLst>
              <a:gd name="adj" fmla="val 9530"/>
            </a:avLst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627015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Full Virtualization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111302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VMM (virtual machine monitor) presents an abstraction </a:t>
            </a:r>
            <a:r>
              <a:rPr lang="en-US" sz="14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identical to physical hardware</a:t>
            </a: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Guest OS requires </a:t>
            </a:r>
            <a:r>
              <a:rPr lang="en-US" sz="14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 modifications</a:t>
            </a: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it runs unmodified, unaware of the hypervisor.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4357" y="4188619"/>
            <a:ext cx="509802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hardware emulation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overhead due to binary translation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Examples: VMware, QEMU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62701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Paravirtualization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111302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guest OS is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modified to be hypervisor-aware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making explicit calls that reduce overhead and boost performance.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418861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Guest OS modified for the hypervisor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Lower overhead, higher throughput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Examples: Xen (paravirt mode)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1467" y="611783"/>
            <a:ext cx="10378753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Hypervisors: The Virtual Machine Monitor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1000295" y="1686994"/>
            <a:ext cx="105650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hypervisor (VMM) sits between hardware and VMs, managing </a:t>
            </a: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resource allocation, isolation, and lifecycle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54960" y="2354809"/>
            <a:ext cx="5139032" cy="1829991"/>
          </a:xfrm>
          <a:prstGeom prst="roundRect">
            <a:avLst>
              <a:gd name="adj" fmla="val 7902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415592" y="2515444"/>
            <a:ext cx="393367" cy="48200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145" y="2648000"/>
            <a:ext cx="177007" cy="216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5592" y="3133974"/>
            <a:ext cx="48768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Type 1 — Bare-Metal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15592" y="3466853"/>
            <a:ext cx="487684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Runs </a:t>
            </a: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directly on hardware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no host OS. Ideal for production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5592" y="3786436"/>
            <a:ext cx="487684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Xen, VMware ESXi, Microsoft Hyper-V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40180" y="2403559"/>
            <a:ext cx="6296860" cy="1829991"/>
          </a:xfrm>
          <a:prstGeom prst="roundRect">
            <a:avLst>
              <a:gd name="adj" fmla="val 7902"/>
            </a:avLst>
          </a:prstGeom>
          <a:solidFill>
            <a:srgbClr val="E8F3E8"/>
          </a:solidFill>
          <a:ln/>
        </p:spPr>
      </p:sp>
      <p:sp>
        <p:nvSpPr>
          <p:cNvPr id="12" name="Shape 8"/>
          <p:cNvSpPr/>
          <p:nvPr/>
        </p:nvSpPr>
        <p:spPr>
          <a:xfrm>
            <a:off x="5800812" y="2564194"/>
            <a:ext cx="481993" cy="48200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3365" y="2696750"/>
            <a:ext cx="216887" cy="2168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00812" y="3182723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Type 2 — Hosted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800812" y="3515602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Runs </a:t>
            </a:r>
            <a:r>
              <a:rPr lang="en-US" sz="12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within a conventional host OS</a:t>
            </a: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Great for development.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800812" y="3835186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VirtualBox, VMware Workstation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2697B5-CCF1-4D88-B3AC-A8D27DAC07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5063" y="4646910"/>
            <a:ext cx="7377857" cy="17350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12850"/>
            <a:ext cx="4637269" cy="26084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6251" y="1218208"/>
            <a:ext cx="2534777" cy="287139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</p:sp>
      <p:sp>
        <p:nvSpPr>
          <p:cNvPr id="4" name="Text 1"/>
          <p:cNvSpPr/>
          <p:nvPr/>
        </p:nvSpPr>
        <p:spPr>
          <a:xfrm>
            <a:off x="5879655" y="1274862"/>
            <a:ext cx="291755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OPTIMIZATION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66251" y="1580952"/>
            <a:ext cx="577022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Hardware-Assisted Virtualization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766251" y="2951262"/>
            <a:ext cx="5770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VT-x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AMD-V introduced CPU-level instructions to handle virtualization tasks in hardware, reducing hypervisor overhead.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15" y="4252416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246563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Simplified Transitions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275723" y="4655245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Hardware manages guest-to-host mode switches directly.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3975" y="4252416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77383" y="4246563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Reduced Binary Translation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4977383" y="495052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Privileged instructions execute natively, eliminating costly emulation.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5635" y="4252416"/>
            <a:ext cx="283461" cy="2834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79042" y="4246563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Near-Native Performance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679042" y="4950520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VMs approach bare-metal speed for compute-intensive workloads.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OS-Level Virtualization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Unlike hardware VMs, OS-level virtualization </a:t>
            </a: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shares the host kernel</a:t>
            </a: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all instances — dramatically lighter and faster.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9109"/>
            <a:ext cx="5874000" cy="58741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2403" y="3625056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772403" y="3819922"/>
            <a:ext cx="4764068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Lightweight</a:t>
            </a: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No duplicate kernels; startup in seconds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Efficient</a:t>
            </a: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More instances per host than VMs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Isolated</a:t>
            </a: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Processes cannot interfere across containers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772403" y="4246166"/>
            <a:ext cx="4764068" cy="255191"/>
          </a:xfrm>
          <a:prstGeom prst="roundRect">
            <a:avLst>
              <a:gd name="adj" fmla="val 33331"/>
            </a:avLst>
          </a:prstGeom>
          <a:solidFill>
            <a:srgbClr val="DDEEE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857" y="4364236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79378" y="4312245"/>
            <a:ext cx="49722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Containers are the foundation of modern cloud-native architectures.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53765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 Virtualization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514971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Application virtualization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decouples software from the underlying OS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allowing apps to run in self-contained packages without installation dependencies.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62907"/>
            <a:ext cx="3071835" cy="20026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95299" y="2590502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50581" y="3143250"/>
            <a:ext cx="26936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Installation Required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50581" y="3500735"/>
            <a:ext cx="26936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Apps run in isolated sandboxes without modifying the host OS.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400" y="2462907"/>
            <a:ext cx="3071934" cy="20026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0324" y="2590502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075507" y="3143250"/>
            <a:ext cx="26937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Portability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4075507" y="3500735"/>
            <a:ext cx="269372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Same package runs across different OS versions and environments.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18633"/>
            <a:ext cx="6296860" cy="14855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07861" y="4746228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50581" y="5298976"/>
            <a:ext cx="59186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Legacy Support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850581" y="5656461"/>
            <a:ext cx="59186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outdated software on modern systems without compatibility issues.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1954"/>
            <a:ext cx="6296860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Container Revolution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297781"/>
            <a:ext cx="6296860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Docker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Kubernetes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transformed how applications are built, shipped, and run at scale.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969889"/>
            <a:ext cx="3074216" cy="2346523"/>
          </a:xfrm>
          <a:prstGeom prst="roundRect">
            <a:avLst>
              <a:gd name="adj" fmla="val 6423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5400738" y="2137271"/>
            <a:ext cx="502332" cy="50234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8847" y="2275384"/>
            <a:ext cx="226015" cy="2260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00738" y="2787948"/>
            <a:ext cx="273946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Docker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00738" y="3138587"/>
            <a:ext cx="2739460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Packages apps into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immutable, portable images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all dependencies bundled.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455905" y="1969889"/>
            <a:ext cx="3074315" cy="2346523"/>
          </a:xfrm>
          <a:prstGeom prst="roundRect">
            <a:avLst>
              <a:gd name="adj" fmla="val 6423"/>
            </a:avLst>
          </a:prstGeom>
          <a:solidFill>
            <a:srgbClr val="E8F3E8"/>
          </a:solidFill>
          <a:ln/>
        </p:spPr>
      </p:sp>
      <p:sp>
        <p:nvSpPr>
          <p:cNvPr id="11" name="Shape 7"/>
          <p:cNvSpPr/>
          <p:nvPr/>
        </p:nvSpPr>
        <p:spPr>
          <a:xfrm>
            <a:off x="8623283" y="2137271"/>
            <a:ext cx="502332" cy="50234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1392" y="2275384"/>
            <a:ext cx="226015" cy="2260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23283" y="2787948"/>
            <a:ext cx="273956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623283" y="3138587"/>
            <a:ext cx="2739560" cy="1010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Orchestrates containers across clusters —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automating deployment, scaling, and healing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233360" y="4464745"/>
            <a:ext cx="6296860" cy="1841302"/>
          </a:xfrm>
          <a:prstGeom prst="roundRect">
            <a:avLst>
              <a:gd name="adj" fmla="val 8185"/>
            </a:avLst>
          </a:prstGeom>
          <a:solidFill>
            <a:srgbClr val="E8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5400738" y="4632127"/>
            <a:ext cx="502332" cy="502345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8847" y="4770239"/>
            <a:ext cx="226015" cy="2260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00738" y="5282803"/>
            <a:ext cx="596210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Cloud Native Standard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00738" y="5633442"/>
            <a:ext cx="5962104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backbone of </a:t>
            </a:r>
            <a:r>
              <a:rPr lang="en-US" sz="13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microservices architectures</a:t>
            </a: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modern DevOps pipelines.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6812894AF27C4B9BEA242A5F6FBAEB" ma:contentTypeVersion="0" ma:contentTypeDescription="Create a new document." ma:contentTypeScope="" ma:versionID="857544aff4cfd9ea8d328815af76a9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03FF46-62E7-4CD2-91FF-B06959FAC435}"/>
</file>

<file path=customXml/itemProps2.xml><?xml version="1.0" encoding="utf-8"?>
<ds:datastoreItem xmlns:ds="http://schemas.openxmlformats.org/officeDocument/2006/customXml" ds:itemID="{3C2CA0B7-698F-41A0-BA91-88BBC00D3EDE}"/>
</file>

<file path=customXml/itemProps3.xml><?xml version="1.0" encoding="utf-8"?>
<ds:datastoreItem xmlns:ds="http://schemas.openxmlformats.org/officeDocument/2006/customXml" ds:itemID="{6CAC3D03-0957-483F-9B9D-CDA4BED3FE7F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601</Words>
  <Application>Microsoft Office PowerPoint</Application>
  <PresentationFormat>Widescreen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Fraunces ExtraBold</vt:lpstr>
      <vt:lpstr>Nobile</vt:lpstr>
      <vt:lpstr>Nobile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Soni Bhambar</cp:lastModifiedBy>
  <cp:revision>5</cp:revision>
  <dcterms:created xsi:type="dcterms:W3CDTF">2026-07-19T12:02:53Z</dcterms:created>
  <dcterms:modified xsi:type="dcterms:W3CDTF">2026-07-27T09:48:14Z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0x010100896812894AF27C4B9BEA242A5F6FBAEB</vt:lpwstr>
  </property>
</Properties>
</file>