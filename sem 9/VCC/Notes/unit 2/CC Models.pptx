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2" r:id="rId1"/>
  </p:sldMasterIdLst>
  <p:notesMasterIdLst>
    <p:notesMasterId r:id="rId25"/>
  </p:notesMasterIdLst>
  <p:sldIdLst>
    <p:sldId id="275" r:id="rId2"/>
    <p:sldId id="265" r:id="rId3"/>
    <p:sldId id="266" r:id="rId4"/>
    <p:sldId id="278" r:id="rId5"/>
    <p:sldId id="279" r:id="rId6"/>
    <p:sldId id="280" r:id="rId7"/>
    <p:sldId id="267" r:id="rId8"/>
    <p:sldId id="281" r:id="rId9"/>
    <p:sldId id="282" r:id="rId10"/>
    <p:sldId id="283" r:id="rId11"/>
    <p:sldId id="284" r:id="rId12"/>
    <p:sldId id="285" r:id="rId13"/>
    <p:sldId id="268" r:id="rId14"/>
    <p:sldId id="286" r:id="rId15"/>
    <p:sldId id="287" r:id="rId16"/>
    <p:sldId id="290" r:id="rId17"/>
    <p:sldId id="289" r:id="rId18"/>
    <p:sldId id="291" r:id="rId19"/>
    <p:sldId id="292" r:id="rId20"/>
    <p:sldId id="293" r:id="rId21"/>
    <p:sldId id="294" r:id="rId22"/>
    <p:sldId id="295" r:id="rId23"/>
    <p:sldId id="296"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mn-ea"/>
        <a:cs typeface="Arial" charset="0"/>
      </a:defRPr>
    </a:lvl1pPr>
    <a:lvl2pPr marL="457200" algn="l" rtl="0" fontAlgn="base">
      <a:spcBef>
        <a:spcPct val="0"/>
      </a:spcBef>
      <a:spcAft>
        <a:spcPct val="0"/>
      </a:spcAft>
      <a:defRPr kern="1200">
        <a:solidFill>
          <a:schemeClr val="tx1"/>
        </a:solidFill>
        <a:latin typeface="Tahoma" pitchFamily="34" charset="0"/>
        <a:ea typeface="+mn-ea"/>
        <a:cs typeface="Arial" charset="0"/>
      </a:defRPr>
    </a:lvl2pPr>
    <a:lvl3pPr marL="914400" algn="l" rtl="0" fontAlgn="base">
      <a:spcBef>
        <a:spcPct val="0"/>
      </a:spcBef>
      <a:spcAft>
        <a:spcPct val="0"/>
      </a:spcAft>
      <a:defRPr kern="1200">
        <a:solidFill>
          <a:schemeClr val="tx1"/>
        </a:solidFill>
        <a:latin typeface="Tahoma" pitchFamily="34" charset="0"/>
        <a:ea typeface="+mn-ea"/>
        <a:cs typeface="Arial" charset="0"/>
      </a:defRPr>
    </a:lvl3pPr>
    <a:lvl4pPr marL="1371600" algn="l" rtl="0" fontAlgn="base">
      <a:spcBef>
        <a:spcPct val="0"/>
      </a:spcBef>
      <a:spcAft>
        <a:spcPct val="0"/>
      </a:spcAft>
      <a:defRPr kern="1200">
        <a:solidFill>
          <a:schemeClr val="tx1"/>
        </a:solidFill>
        <a:latin typeface="Tahoma" pitchFamily="34" charset="0"/>
        <a:ea typeface="+mn-ea"/>
        <a:cs typeface="Arial" charset="0"/>
      </a:defRPr>
    </a:lvl4pPr>
    <a:lvl5pPr marL="1828800" algn="l" rtl="0" fontAlgn="base">
      <a:spcBef>
        <a:spcPct val="0"/>
      </a:spcBef>
      <a:spcAft>
        <a:spcPct val="0"/>
      </a:spcAft>
      <a:defRPr kern="1200">
        <a:solidFill>
          <a:schemeClr val="tx1"/>
        </a:solidFill>
        <a:latin typeface="Tahoma" pitchFamily="34" charset="0"/>
        <a:ea typeface="+mn-ea"/>
        <a:cs typeface="Arial" charset="0"/>
      </a:defRPr>
    </a:lvl5pPr>
    <a:lvl6pPr marL="2286000" algn="l" defTabSz="914400" rtl="0" eaLnBrk="1" latinLnBrk="0" hangingPunct="1">
      <a:defRPr kern="1200">
        <a:solidFill>
          <a:schemeClr val="tx1"/>
        </a:solidFill>
        <a:latin typeface="Tahoma" pitchFamily="34" charset="0"/>
        <a:ea typeface="+mn-ea"/>
        <a:cs typeface="Arial" charset="0"/>
      </a:defRPr>
    </a:lvl6pPr>
    <a:lvl7pPr marL="2743200" algn="l" defTabSz="914400" rtl="0" eaLnBrk="1" latinLnBrk="0" hangingPunct="1">
      <a:defRPr kern="1200">
        <a:solidFill>
          <a:schemeClr val="tx1"/>
        </a:solidFill>
        <a:latin typeface="Tahoma" pitchFamily="34" charset="0"/>
        <a:ea typeface="+mn-ea"/>
        <a:cs typeface="Arial" charset="0"/>
      </a:defRPr>
    </a:lvl7pPr>
    <a:lvl8pPr marL="3200400" algn="l" defTabSz="914400" rtl="0" eaLnBrk="1" latinLnBrk="0" hangingPunct="1">
      <a:defRPr kern="1200">
        <a:solidFill>
          <a:schemeClr val="tx1"/>
        </a:solidFill>
        <a:latin typeface="Tahoma" pitchFamily="34" charset="0"/>
        <a:ea typeface="+mn-ea"/>
        <a:cs typeface="Arial" charset="0"/>
      </a:defRPr>
    </a:lvl8pPr>
    <a:lvl9pPr marL="3657600" algn="l" defTabSz="914400" rtl="0" eaLnBrk="1" latinLnBrk="0" hangingPunct="1">
      <a:defRPr kern="1200">
        <a:solidFill>
          <a:schemeClr val="tx1"/>
        </a:solidFill>
        <a:latin typeface="Tahoma"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i Bhambar" userId="00a8fab9-7aa3-4075-b99f-3577476e29e3" providerId="ADAL" clId="{41C0AB90-8D79-4A4E-8CB4-4ACCEFD4490E}"/>
    <pc:docChg chg="delSld modSld">
      <pc:chgData name="Soni Bhambar" userId="00a8fab9-7aa3-4075-b99f-3577476e29e3" providerId="ADAL" clId="{41C0AB90-8D79-4A4E-8CB4-4ACCEFD4490E}" dt="2026-08-07T08:24:28.787" v="63" actId="47"/>
      <pc:docMkLst>
        <pc:docMk/>
      </pc:docMkLst>
      <pc:sldChg chg="modSp mod">
        <pc:chgData name="Soni Bhambar" userId="00a8fab9-7aa3-4075-b99f-3577476e29e3" providerId="ADAL" clId="{41C0AB90-8D79-4A4E-8CB4-4ACCEFD4490E}" dt="2026-08-03T07:26:55.965" v="48" actId="14100"/>
        <pc:sldMkLst>
          <pc:docMk/>
          <pc:sldMk cId="0" sldId="265"/>
        </pc:sldMkLst>
        <pc:spChg chg="mod">
          <ac:chgData name="Soni Bhambar" userId="00a8fab9-7aa3-4075-b99f-3577476e29e3" providerId="ADAL" clId="{41C0AB90-8D79-4A4E-8CB4-4ACCEFD4490E}" dt="2026-08-03T07:26:55.965" v="48" actId="14100"/>
          <ac:spMkLst>
            <pc:docMk/>
            <pc:sldMk cId="0" sldId="265"/>
            <ac:spMk id="11266" creationId="{00000000-0000-0000-0000-000000000000}"/>
          </ac:spMkLst>
        </pc:spChg>
      </pc:sldChg>
      <pc:sldChg chg="modSp mod">
        <pc:chgData name="Soni Bhambar" userId="00a8fab9-7aa3-4075-b99f-3577476e29e3" providerId="ADAL" clId="{41C0AB90-8D79-4A4E-8CB4-4ACCEFD4490E}" dt="2026-08-07T07:22:14.746" v="61"/>
        <pc:sldMkLst>
          <pc:docMk/>
          <pc:sldMk cId="878034243" sldId="278"/>
        </pc:sldMkLst>
        <pc:spChg chg="mod">
          <ac:chgData name="Soni Bhambar" userId="00a8fab9-7aa3-4075-b99f-3577476e29e3" providerId="ADAL" clId="{41C0AB90-8D79-4A4E-8CB4-4ACCEFD4490E}" dt="2026-08-07T07:22:14.746" v="61"/>
          <ac:spMkLst>
            <pc:docMk/>
            <pc:sldMk cId="878034243" sldId="278"/>
            <ac:spMk id="16387" creationId="{00000000-0000-0000-0000-000000000000}"/>
          </ac:spMkLst>
        </pc:spChg>
      </pc:sldChg>
      <pc:sldChg chg="modSp mod">
        <pc:chgData name="Soni Bhambar" userId="00a8fab9-7aa3-4075-b99f-3577476e29e3" providerId="ADAL" clId="{41C0AB90-8D79-4A4E-8CB4-4ACCEFD4490E}" dt="2026-08-07T07:06:15.053" v="51" actId="20577"/>
        <pc:sldMkLst>
          <pc:docMk/>
          <pc:sldMk cId="2143703116" sldId="279"/>
        </pc:sldMkLst>
        <pc:spChg chg="mod">
          <ac:chgData name="Soni Bhambar" userId="00a8fab9-7aa3-4075-b99f-3577476e29e3" providerId="ADAL" clId="{41C0AB90-8D79-4A4E-8CB4-4ACCEFD4490E}" dt="2026-08-07T07:06:15.053" v="51" actId="20577"/>
          <ac:spMkLst>
            <pc:docMk/>
            <pc:sldMk cId="2143703116" sldId="279"/>
            <ac:spMk id="16387" creationId="{00000000-0000-0000-0000-000000000000}"/>
          </ac:spMkLst>
        </pc:spChg>
      </pc:sldChg>
      <pc:sldChg chg="modSp mod">
        <pc:chgData name="Soni Bhambar" userId="00a8fab9-7aa3-4075-b99f-3577476e29e3" providerId="ADAL" clId="{41C0AB90-8D79-4A4E-8CB4-4ACCEFD4490E}" dt="2026-08-07T07:20:26.700" v="55"/>
        <pc:sldMkLst>
          <pc:docMk/>
          <pc:sldMk cId="1011594328" sldId="280"/>
        </pc:sldMkLst>
        <pc:spChg chg="mod">
          <ac:chgData name="Soni Bhambar" userId="00a8fab9-7aa3-4075-b99f-3577476e29e3" providerId="ADAL" clId="{41C0AB90-8D79-4A4E-8CB4-4ACCEFD4490E}" dt="2026-08-07T07:20:26.700" v="55"/>
          <ac:spMkLst>
            <pc:docMk/>
            <pc:sldMk cId="1011594328" sldId="280"/>
            <ac:spMk id="16387" creationId="{00000000-0000-0000-0000-000000000000}"/>
          </ac:spMkLst>
        </pc:spChg>
      </pc:sldChg>
      <pc:sldChg chg="modSp mod">
        <pc:chgData name="Soni Bhambar" userId="00a8fab9-7aa3-4075-b99f-3577476e29e3" providerId="ADAL" clId="{41C0AB90-8D79-4A4E-8CB4-4ACCEFD4490E}" dt="2026-08-07T07:39:40.247" v="62" actId="20577"/>
        <pc:sldMkLst>
          <pc:docMk/>
          <pc:sldMk cId="53862791" sldId="286"/>
        </pc:sldMkLst>
        <pc:spChg chg="mod">
          <ac:chgData name="Soni Bhambar" userId="00a8fab9-7aa3-4075-b99f-3577476e29e3" providerId="ADAL" clId="{41C0AB90-8D79-4A4E-8CB4-4ACCEFD4490E}" dt="2026-08-07T07:39:40.247" v="62" actId="20577"/>
          <ac:spMkLst>
            <pc:docMk/>
            <pc:sldMk cId="53862791" sldId="286"/>
            <ac:spMk id="14339" creationId="{00000000-0000-0000-0000-000000000000}"/>
          </ac:spMkLst>
        </pc:spChg>
      </pc:sldChg>
      <pc:sldChg chg="del">
        <pc:chgData name="Soni Bhambar" userId="00a8fab9-7aa3-4075-b99f-3577476e29e3" providerId="ADAL" clId="{41C0AB90-8D79-4A4E-8CB4-4ACCEFD4490E}" dt="2026-08-07T08:24:28.787" v="63" actId="47"/>
        <pc:sldMkLst>
          <pc:docMk/>
          <pc:sldMk cId="3769537446"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D7768354-9CFF-4A4A-B763-C82C644FAE77}" type="datetimeFigureOut">
              <a:rPr lang="en-US"/>
              <a:pPr>
                <a:defRPr/>
              </a:pPr>
              <a:t>8/7/2026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cs typeface="Arial" charset="0"/>
              </a:defRPr>
            </a:lvl1pPr>
          </a:lstStyle>
          <a:p>
            <a:pPr>
              <a:defRPr/>
            </a:pPr>
            <a:fld id="{9CC1BAAF-AA3F-43B4-A59D-D2EC91D5DE6F}" type="slidenum">
              <a:rPr lang="en-US"/>
              <a:pPr>
                <a:defRPr/>
              </a:pPr>
              <a:t>‹#›</a:t>
            </a:fld>
            <a:endParaRPr lang="en-US"/>
          </a:p>
        </p:txBody>
      </p:sp>
    </p:spTree>
    <p:extLst>
      <p:ext uri="{BB962C8B-B14F-4D97-AF65-F5344CB8AC3E}">
        <p14:creationId xmlns:p14="http://schemas.microsoft.com/office/powerpoint/2010/main" val="13757230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11E53BE-1D5B-4A78-A64D-0FF248B3FC95}" type="slidenum">
              <a:rPr lang="en-US" smtClean="0"/>
              <a:pPr/>
              <a:t>1</a:t>
            </a:fld>
            <a:endParaRPr lang="en-US"/>
          </a:p>
        </p:txBody>
      </p:sp>
      <p:sp>
        <p:nvSpPr>
          <p:cNvPr id="296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97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2715599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CC1BAAF-AA3F-43B4-A59D-D2EC91D5DE6F}" type="slidenum">
              <a:rPr lang="en-US" smtClean="0"/>
              <a:pPr>
                <a:defRPr/>
              </a:pPr>
              <a:t>6</a:t>
            </a:fld>
            <a:endParaRPr lang="en-US"/>
          </a:p>
        </p:txBody>
      </p:sp>
    </p:spTree>
    <p:extLst>
      <p:ext uri="{BB962C8B-B14F-4D97-AF65-F5344CB8AC3E}">
        <p14:creationId xmlns:p14="http://schemas.microsoft.com/office/powerpoint/2010/main" val="2387425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4"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5"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0"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1"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2" name="Date Placeholder 27"/>
          <p:cNvSpPr>
            <a:spLocks noGrp="1"/>
          </p:cNvSpPr>
          <p:nvPr>
            <p:ph type="dt" sz="half" idx="10"/>
          </p:nvPr>
        </p:nvSpPr>
        <p:spPr bwMode="auto">
          <a:xfrm rot="5400000">
            <a:off x="7764463" y="1174750"/>
            <a:ext cx="2286000" cy="381000"/>
          </a:xfrm>
        </p:spPr>
        <p:txBody>
          <a:bodyPr/>
          <a:lstStyle>
            <a:lvl1pPr>
              <a:defRPr/>
            </a:lvl1pPr>
          </a:lstStyle>
          <a:p>
            <a:pPr>
              <a:defRPr/>
            </a:pPr>
            <a:endParaRPr lang="en-US"/>
          </a:p>
        </p:txBody>
      </p:sp>
      <p:sp>
        <p:nvSpPr>
          <p:cNvPr id="23" name="Footer Placeholder 16"/>
          <p:cNvSpPr>
            <a:spLocks noGrp="1"/>
          </p:cNvSpPr>
          <p:nvPr>
            <p:ph type="ftr" sz="quarter" idx="11"/>
          </p:nvPr>
        </p:nvSpPr>
        <p:spPr bwMode="auto">
          <a:xfrm rot="5400000">
            <a:off x="7077076" y="4181475"/>
            <a:ext cx="3657600" cy="384175"/>
          </a:xfrm>
        </p:spPr>
        <p:txBody>
          <a:bodyPr/>
          <a:lstStyle>
            <a:lvl1pPr>
              <a:defRPr/>
            </a:lvl1pPr>
          </a:lstStyle>
          <a:p>
            <a:pPr>
              <a:defRPr/>
            </a:pPr>
            <a:endParaRPr lang="en-US"/>
          </a:p>
        </p:txBody>
      </p:sp>
      <p:sp>
        <p:nvSpPr>
          <p:cNvPr id="24" name="Slide Number Placeholder 28"/>
          <p:cNvSpPr>
            <a:spLocks noGrp="1"/>
          </p:cNvSpPr>
          <p:nvPr>
            <p:ph type="sldNum" sz="quarter" idx="12"/>
          </p:nvPr>
        </p:nvSpPr>
        <p:spPr bwMode="auto">
          <a:xfrm>
            <a:off x="1325563" y="4929188"/>
            <a:ext cx="609600" cy="517525"/>
          </a:xfrm>
        </p:spPr>
        <p:txBody>
          <a:bodyPr/>
          <a:lstStyle>
            <a:lvl1pPr>
              <a:defRPr/>
            </a:lvl1pPr>
          </a:lstStyle>
          <a:p>
            <a:pPr>
              <a:defRPr/>
            </a:pPr>
            <a:fld id="{FE93BA56-541A-4675-8BA9-B9F9AAE95199}"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p:cNvSpPr>
          <p:nvPr>
            <p:ph type="dt" sz="half" idx="10"/>
          </p:nvPr>
        </p:nvSpPr>
        <p:spPr/>
        <p:txBody>
          <a:bodyPr rtlCol="0"/>
          <a:lstStyle>
            <a:lvl1pPr>
              <a:defRPr/>
            </a:lvl1pPr>
          </a:lstStyle>
          <a:p>
            <a:pPr>
              <a:defRPr/>
            </a:pPr>
            <a:endParaRPr lang="en-US"/>
          </a:p>
        </p:txBody>
      </p:sp>
      <p:sp>
        <p:nvSpPr>
          <p:cNvPr id="5" name="Slide Number Placeholder 8"/>
          <p:cNvSpPr>
            <a:spLocks noGrp="1"/>
          </p:cNvSpPr>
          <p:nvPr>
            <p:ph type="sldNum" sz="quarter" idx="11"/>
          </p:nvPr>
        </p:nvSpPr>
        <p:spPr/>
        <p:txBody>
          <a:bodyPr rtlCol="0"/>
          <a:lstStyle>
            <a:lvl1pPr>
              <a:defRPr/>
            </a:lvl1pPr>
          </a:lstStyle>
          <a:p>
            <a:pPr>
              <a:defRPr/>
            </a:pPr>
            <a:fld id="{79CBE303-A913-4586-8F6A-6E5D5E4E05A5}" type="slidenum">
              <a:rPr lang="en-US"/>
              <a:pPr>
                <a:defRPr/>
              </a:pPr>
              <a:t>‹#›</a:t>
            </a:fld>
            <a:endParaRPr lang="en-US"/>
          </a:p>
        </p:txBody>
      </p:sp>
      <p:sp>
        <p:nvSpPr>
          <p:cNvPr id="6" name="Footer Placeholder 9"/>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a:defRPr/>
            </a:pPr>
            <a:endParaRPr lang="en-US"/>
          </a:p>
        </p:txBody>
      </p:sp>
      <p:sp>
        <p:nvSpPr>
          <p:cNvPr id="9"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a:defRPr/>
            </a:pPr>
            <a:endParaRPr lang="en-US"/>
          </a:p>
        </p:txBody>
      </p:sp>
      <p:sp>
        <p:nvSpPr>
          <p:cNvPr id="10"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1"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a:defRPr/>
            </a:pPr>
            <a:endParaRPr lang="en-US"/>
          </a:p>
        </p:txBody>
      </p:sp>
      <p:sp>
        <p:nvSpPr>
          <p:cNvPr id="12"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13"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4"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5"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6"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7"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8"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9"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3"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0" name="Date Placeholder 3"/>
          <p:cNvSpPr>
            <a:spLocks noGrp="1"/>
          </p:cNvSpPr>
          <p:nvPr>
            <p:ph type="dt" sz="half" idx="10"/>
          </p:nvPr>
        </p:nvSpPr>
        <p:spPr bwMode="auto">
          <a:xfrm rot="5400000">
            <a:off x="7762875" y="1169988"/>
            <a:ext cx="2286000" cy="381000"/>
          </a:xfrm>
        </p:spPr>
        <p:txBody>
          <a:bodyPr/>
          <a:lstStyle>
            <a:lvl1pPr>
              <a:defRPr/>
            </a:lvl1pPr>
          </a:lstStyle>
          <a:p>
            <a:pPr>
              <a:defRPr/>
            </a:pPr>
            <a:endParaRPr lang="en-US"/>
          </a:p>
        </p:txBody>
      </p:sp>
      <p:sp>
        <p:nvSpPr>
          <p:cNvPr id="21" name="Footer Placeholder 4"/>
          <p:cNvSpPr>
            <a:spLocks noGrp="1"/>
          </p:cNvSpPr>
          <p:nvPr>
            <p:ph type="ftr" sz="quarter" idx="11"/>
          </p:nvPr>
        </p:nvSpPr>
        <p:spPr bwMode="auto">
          <a:xfrm rot="5400000">
            <a:off x="7077076" y="4178300"/>
            <a:ext cx="3657600" cy="384175"/>
          </a:xfrm>
        </p:spPr>
        <p:txBody>
          <a:bodyPr/>
          <a:lstStyle>
            <a:lvl1pPr>
              <a:defRPr/>
            </a:lvl1pPr>
          </a:lstStyle>
          <a:p>
            <a:pPr>
              <a:defRPr/>
            </a:pPr>
            <a:endParaRPr lang="en-US"/>
          </a:p>
        </p:txBody>
      </p:sp>
      <p:sp>
        <p:nvSpPr>
          <p:cNvPr id="22" name="Slide Number Placeholder 5"/>
          <p:cNvSpPr>
            <a:spLocks noGrp="1"/>
          </p:cNvSpPr>
          <p:nvPr>
            <p:ph type="sldNum" sz="quarter" idx="12"/>
          </p:nvPr>
        </p:nvSpPr>
        <p:spPr bwMode="auto">
          <a:xfrm>
            <a:off x="1339850" y="4929188"/>
            <a:ext cx="609600" cy="517525"/>
          </a:xfrm>
        </p:spPr>
        <p:txBody>
          <a:bodyPr/>
          <a:lstStyle>
            <a:lvl1pPr>
              <a:defRPr/>
            </a:lvl1pPr>
          </a:lstStyle>
          <a:p>
            <a:pPr>
              <a:defRPr/>
            </a:pPr>
            <a:fld id="{9F0684B5-C5B9-4BA4-A96F-F3D66BD4F9A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84FC6BBA-3EB4-4F66-B98F-5798752ACA3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a:defRPr/>
            </a:pPr>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C601AE54-054E-4923-ADDD-4207DC574AD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5"/>
          <p:cNvSpPr>
            <a:spLocks noGrp="1"/>
          </p:cNvSpPr>
          <p:nvPr>
            <p:ph type="dt" sz="half" idx="10"/>
          </p:nvPr>
        </p:nvSpPr>
        <p:spPr/>
        <p:txBody>
          <a:bodyPr rtlCol="0"/>
          <a:lstStyle>
            <a:lvl1pPr>
              <a:defRPr/>
            </a:lvl1pPr>
          </a:lstStyle>
          <a:p>
            <a:pPr>
              <a:defRPr/>
            </a:pPr>
            <a:endParaRPr lang="en-US"/>
          </a:p>
        </p:txBody>
      </p:sp>
      <p:sp>
        <p:nvSpPr>
          <p:cNvPr id="4" name="Slide Number Placeholder 6"/>
          <p:cNvSpPr>
            <a:spLocks noGrp="1"/>
          </p:cNvSpPr>
          <p:nvPr>
            <p:ph type="sldNum" sz="quarter" idx="11"/>
          </p:nvPr>
        </p:nvSpPr>
        <p:spPr/>
        <p:txBody>
          <a:bodyPr rtlCol="0"/>
          <a:lstStyle>
            <a:lvl1pPr>
              <a:defRPr/>
            </a:lvl1pPr>
          </a:lstStyle>
          <a:p>
            <a:pPr>
              <a:defRPr/>
            </a:pPr>
            <a:fld id="{C1DDCB44-3CD0-48EC-A5C8-FDF1004AE7EE}" type="slidenum">
              <a:rPr lang="en-US"/>
              <a:pPr>
                <a:defRPr/>
              </a:pPr>
              <a:t>‹#›</a:t>
            </a:fld>
            <a:endParaRPr lang="en-US"/>
          </a:p>
        </p:txBody>
      </p:sp>
      <p:sp>
        <p:nvSpPr>
          <p:cNvPr id="5" name="Footer Placeholder 7"/>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E5CBF5F7-4908-4AAF-A4C0-F3F71BFE203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6"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7" name="Straight Connector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p>
        </p:txBody>
      </p:sp>
      <p:sp>
        <p:nvSpPr>
          <p:cNvPr id="8" name="Straight Connector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9"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Straight Connector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1"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8"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20"/>
          <p:cNvSpPr>
            <a:spLocks noGrp="1"/>
          </p:cNvSpPr>
          <p:nvPr>
            <p:ph type="dt" sz="half" idx="10"/>
          </p:nvPr>
        </p:nvSpPr>
        <p:spPr/>
        <p:txBody>
          <a:bodyPr rtlCol="0"/>
          <a:lstStyle>
            <a:lvl1pPr>
              <a:defRPr/>
            </a:lvl1pPr>
          </a:lstStyle>
          <a:p>
            <a:pPr>
              <a:defRPr/>
            </a:pPr>
            <a:endParaRPr lang="en-US"/>
          </a:p>
        </p:txBody>
      </p:sp>
      <p:sp>
        <p:nvSpPr>
          <p:cNvPr id="13" name="Slide Number Placeholder 21"/>
          <p:cNvSpPr>
            <a:spLocks noGrp="1"/>
          </p:cNvSpPr>
          <p:nvPr>
            <p:ph type="sldNum" sz="quarter" idx="11"/>
          </p:nvPr>
        </p:nvSpPr>
        <p:spPr/>
        <p:txBody>
          <a:bodyPr rtlCol="0"/>
          <a:lstStyle>
            <a:lvl1pPr>
              <a:defRPr/>
            </a:lvl1pPr>
          </a:lstStyle>
          <a:p>
            <a:pPr>
              <a:defRPr/>
            </a:pPr>
            <a:fld id="{23A9015A-72EB-43E0-BDA1-B0B12729A0E8}" type="slidenum">
              <a:rPr lang="en-US"/>
              <a:pPr>
                <a:defRPr/>
              </a:pPr>
              <a:t>‹#›</a:t>
            </a:fld>
            <a:endParaRPr lang="en-US"/>
          </a:p>
        </p:txBody>
      </p:sp>
      <p:sp>
        <p:nvSpPr>
          <p:cNvPr id="14" name="Footer Placeholder 22"/>
          <p:cNvSpPr>
            <a:spLocks noGrp="1"/>
          </p:cNvSpPr>
          <p:nvPr>
            <p:ph type="ftr" sz="quarter" idx="12"/>
          </p:nvPr>
        </p:nvSpPr>
        <p:spPr/>
        <p:txBody>
          <a:bodyPr rtlCol="0"/>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6"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Straight Connector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a:defRPr/>
            </a:pPr>
            <a:endParaRPr lang="en-US"/>
          </a:p>
        </p:txBody>
      </p:sp>
      <p:sp>
        <p:nvSpPr>
          <p:cNvPr id="8"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traight Connector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0"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a:defRPr/>
            </a:pPr>
            <a:endParaRPr lang="en-US" dirty="0"/>
          </a:p>
        </p:txBody>
      </p:sp>
      <p:sp>
        <p:nvSpPr>
          <p:cNvPr id="11" name="Straight Connector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a:defRPr/>
            </a:pPr>
            <a:endParaRPr lang="en-US" dirty="0"/>
          </a:p>
        </p:txBody>
      </p:sp>
      <p:sp>
        <p:nvSpPr>
          <p:cNvPr id="2"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2" name="Date Placeholder 16"/>
          <p:cNvSpPr>
            <a:spLocks noGrp="1"/>
          </p:cNvSpPr>
          <p:nvPr>
            <p:ph type="dt" sz="half" idx="10"/>
          </p:nvPr>
        </p:nvSpPr>
        <p:spPr/>
        <p:txBody>
          <a:bodyPr rtlCol="0"/>
          <a:lstStyle>
            <a:lvl1pPr>
              <a:defRPr/>
            </a:lvl1pPr>
          </a:lstStyle>
          <a:p>
            <a:pPr>
              <a:defRPr/>
            </a:pPr>
            <a:endParaRPr lang="en-US"/>
          </a:p>
        </p:txBody>
      </p:sp>
      <p:sp>
        <p:nvSpPr>
          <p:cNvPr id="13" name="Slide Number Placeholder 17"/>
          <p:cNvSpPr>
            <a:spLocks noGrp="1"/>
          </p:cNvSpPr>
          <p:nvPr>
            <p:ph type="sldNum" sz="quarter" idx="11"/>
          </p:nvPr>
        </p:nvSpPr>
        <p:spPr/>
        <p:txBody>
          <a:bodyPr rtlCol="0"/>
          <a:lstStyle>
            <a:lvl1pPr>
              <a:defRPr/>
            </a:lvl1pPr>
          </a:lstStyle>
          <a:p>
            <a:pPr>
              <a:defRPr/>
            </a:pPr>
            <a:fld id="{BE5954F4-B0FE-4043-A2E9-EE7D73E9714F}" type="slidenum">
              <a:rPr lang="en-US"/>
              <a:pPr>
                <a:defRPr/>
              </a:pPr>
              <a:t>‹#›</a:t>
            </a:fld>
            <a:endParaRPr lang="en-US"/>
          </a:p>
        </p:txBody>
      </p:sp>
      <p:sp>
        <p:nvSpPr>
          <p:cNvPr id="14" name="Footer Placeholder 20"/>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B28814C8-1780-40F0-98BF-54515B238A0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04683975-210A-4DA0-BA5A-0DA09369197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a:defRPr/>
            </a:pPr>
            <a:endParaRPr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28" name="Text Placeholder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cs typeface="Arial" charset="0"/>
              </a:defRPr>
            </a:lvl1pPr>
          </a:lstStyle>
          <a:p>
            <a:pPr>
              <a:defRPr/>
            </a:pPr>
            <a:endParaRPr lang="en-US"/>
          </a:p>
        </p:txBody>
      </p:sp>
      <p:sp>
        <p:nvSpPr>
          <p:cNvPr id="3"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cs typeface="Arial" charset="0"/>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a:defRPr/>
            </a:pPr>
            <a:endParaRPr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a:defRPr/>
            </a:pPr>
            <a:endParaRPr lang="en-US"/>
          </a:p>
        </p:txBody>
      </p:sp>
      <p:sp>
        <p:nvSpPr>
          <p:cNvPr id="12"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3" name="Slide Number Placehold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cs typeface="Arial" charset="0"/>
              </a:defRPr>
            </a:lvl1pPr>
          </a:lstStyle>
          <a:p>
            <a:pPr>
              <a:defRPr/>
            </a:pPr>
            <a:fld id="{9EFE83B1-F5D3-4EA0-B120-A8EA5AB1846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02" r:id="rId4"/>
    <p:sldLayoutId id="2147484003" r:id="rId5"/>
    <p:sldLayoutId id="2147484010" r:id="rId6"/>
    <p:sldLayoutId id="2147484004" r:id="rId7"/>
    <p:sldLayoutId id="2147484011" r:id="rId8"/>
    <p:sldLayoutId id="2147484012" r:id="rId9"/>
    <p:sldLayoutId id="2147484005" r:id="rId10"/>
    <p:sldLayoutId id="2147484006" r:id="rId11"/>
  </p:sldLayoutIdLst>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E0752F"/>
        </a:buClr>
        <a:buSzPct val="60000"/>
        <a:buFont typeface="Wingdings" pitchFamily="2" charset="2"/>
        <a:buChar char=""/>
        <a:defRPr sz="2400"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EC3AE"/>
        </a:buClr>
        <a:buSzPct val="60000"/>
        <a:buFont typeface="Wingdings" pitchFamily="2" charset="2"/>
        <a:buChar char=""/>
        <a:defRPr sz="2000"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logo1"/>
          <p:cNvPicPr>
            <a:picLocks noChangeAspect="1" noChangeArrowheads="1"/>
          </p:cNvPicPr>
          <p:nvPr/>
        </p:nvPicPr>
        <p:blipFill>
          <a:blip r:embed="rId3" cstate="print"/>
          <a:srcRect/>
          <a:stretch>
            <a:fillRect/>
          </a:stretch>
        </p:blipFill>
        <p:spPr bwMode="auto">
          <a:xfrm>
            <a:off x="304800" y="60325"/>
            <a:ext cx="1143000" cy="1143000"/>
          </a:xfrm>
          <a:prstGeom prst="rect">
            <a:avLst/>
          </a:prstGeom>
          <a:noFill/>
          <a:ln w="9525">
            <a:noFill/>
            <a:miter lim="800000"/>
            <a:headEnd/>
            <a:tailEnd/>
          </a:ln>
        </p:spPr>
      </p:pic>
      <p:pic>
        <p:nvPicPr>
          <p:cNvPr id="8195" name="Picture 3" descr="strip1"/>
          <p:cNvPicPr>
            <a:picLocks noChangeAspect="1" noChangeArrowheads="1"/>
          </p:cNvPicPr>
          <p:nvPr/>
        </p:nvPicPr>
        <p:blipFill>
          <a:blip r:embed="rId4" cstate="print"/>
          <a:srcRect/>
          <a:stretch>
            <a:fillRect/>
          </a:stretch>
        </p:blipFill>
        <p:spPr bwMode="auto">
          <a:xfrm>
            <a:off x="1371600" y="573177"/>
            <a:ext cx="7620000" cy="76200"/>
          </a:xfrm>
          <a:prstGeom prst="rect">
            <a:avLst/>
          </a:prstGeom>
          <a:noFill/>
          <a:ln w="9525">
            <a:noFill/>
            <a:miter lim="800000"/>
            <a:headEnd/>
            <a:tailEnd/>
          </a:ln>
        </p:spPr>
      </p:pic>
      <p:sp>
        <p:nvSpPr>
          <p:cNvPr id="10246" name="Rectangle 8"/>
          <p:cNvSpPr>
            <a:spLocks noChangeArrowheads="1"/>
          </p:cNvSpPr>
          <p:nvPr/>
        </p:nvSpPr>
        <p:spPr bwMode="auto">
          <a:xfrm>
            <a:off x="1752600" y="2362200"/>
            <a:ext cx="3962400" cy="2862322"/>
          </a:xfrm>
          <a:prstGeom prst="rect">
            <a:avLst/>
          </a:prstGeom>
          <a:noFill/>
          <a:ln w="9525">
            <a:noFill/>
            <a:miter lim="800000"/>
            <a:headEnd/>
            <a:tailEnd/>
          </a:ln>
        </p:spPr>
        <p:txBody>
          <a:bodyPr>
            <a:spAutoFit/>
          </a:bodyPr>
          <a:lstStyle/>
          <a:p>
            <a:pPr algn="ctr">
              <a:defRPr/>
            </a:pPr>
            <a:endParaRPr lang="en-US" sz="3600" b="1" dirty="0">
              <a:solidFill>
                <a:schemeClr val="accent2">
                  <a:lumMod val="75000"/>
                </a:schemeClr>
              </a:solidFill>
            </a:endParaRPr>
          </a:p>
          <a:p>
            <a:pPr algn="ctr">
              <a:defRPr/>
            </a:pPr>
            <a:r>
              <a:rPr lang="en-US" sz="3600" b="1" dirty="0">
                <a:solidFill>
                  <a:schemeClr val="accent2">
                    <a:lumMod val="75000"/>
                  </a:schemeClr>
                </a:solidFill>
              </a:rPr>
              <a:t>Cloud Computing Deployment Models</a:t>
            </a:r>
            <a:endParaRPr lang="en-US" sz="3600" dirty="0">
              <a:solidFill>
                <a:schemeClr val="accent2">
                  <a:lumMod val="75000"/>
                </a:schemeClr>
              </a:solidFill>
            </a:endParaRPr>
          </a:p>
        </p:txBody>
      </p:sp>
      <p:pic>
        <p:nvPicPr>
          <p:cNvPr id="8199" name="Picture 2" descr="https://encrypted-tbn2.gstatic.com/images?q=tbn:ANd9GcQCXw5pCpfuS9fBR7Ieb_KRG7pSvnMCW1idScpIkHlUc6nbR_taG22t5Nmy"/>
          <p:cNvPicPr>
            <a:picLocks noChangeAspect="1" noChangeArrowheads="1"/>
          </p:cNvPicPr>
          <p:nvPr/>
        </p:nvPicPr>
        <p:blipFill>
          <a:blip r:embed="rId5" cstate="print"/>
          <a:srcRect/>
          <a:stretch>
            <a:fillRect/>
          </a:stretch>
        </p:blipFill>
        <p:spPr bwMode="auto">
          <a:xfrm>
            <a:off x="5715000" y="2286000"/>
            <a:ext cx="2717800" cy="1905000"/>
          </a:xfrm>
          <a:prstGeom prst="rect">
            <a:avLst/>
          </a:prstGeom>
          <a:noFill/>
          <a:ln w="9525">
            <a:noFill/>
            <a:miter lim="800000"/>
            <a:headEnd/>
            <a:tailEnd/>
          </a:ln>
        </p:spPr>
      </p:pic>
    </p:spTree>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305800" cy="1143000"/>
          </a:xfrm>
        </p:spPr>
        <p:txBody>
          <a:bodyPr/>
          <a:lstStyle/>
          <a:p>
            <a:pPr eaLnBrk="1" fontAlgn="auto" hangingPunct="1">
              <a:spcAft>
                <a:spcPts val="0"/>
              </a:spcAft>
              <a:defRPr/>
            </a:pPr>
            <a:r>
              <a:rPr lang="en-US" b="1" dirty="0"/>
              <a:t>Types of</a:t>
            </a:r>
            <a:r>
              <a:rPr lang="en-US" dirty="0"/>
              <a:t> </a:t>
            </a:r>
            <a:r>
              <a:rPr lang="en-US" b="1" dirty="0"/>
              <a:t>Cloud Computing deployment models</a:t>
            </a:r>
          </a:p>
        </p:txBody>
      </p:sp>
      <p:pic>
        <p:nvPicPr>
          <p:cNvPr id="15363" name="Picture 4" descr="images"/>
          <p:cNvPicPr>
            <a:picLocks noGrp="1" noChangeAspect="1" noChangeArrowheads="1"/>
          </p:cNvPicPr>
          <p:nvPr>
            <p:ph sz="quarter" idx="1"/>
          </p:nvPr>
        </p:nvPicPr>
        <p:blipFill>
          <a:blip r:embed="rId2" cstate="print"/>
          <a:srcRect/>
          <a:stretch>
            <a:fillRect/>
          </a:stretch>
        </p:blipFill>
        <p:spPr>
          <a:xfrm>
            <a:off x="990600" y="2133600"/>
            <a:ext cx="6119813" cy="2774950"/>
          </a:xfrm>
          <a:noFill/>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fontAlgn="auto" hangingPunct="1">
              <a:spcAft>
                <a:spcPts val="0"/>
              </a:spcAft>
              <a:defRPr/>
            </a:pPr>
            <a:r>
              <a:rPr lang="en-US" b="1"/>
              <a:t>Public cloud</a:t>
            </a:r>
            <a:r>
              <a:rPr lang="en-US"/>
              <a:t> </a:t>
            </a:r>
          </a:p>
        </p:txBody>
      </p:sp>
      <p:sp>
        <p:nvSpPr>
          <p:cNvPr id="16387" name="Rectangle 3"/>
          <p:cNvSpPr>
            <a:spLocks noGrp="1" noChangeArrowheads="1"/>
          </p:cNvSpPr>
          <p:nvPr>
            <p:ph sz="quarter" idx="1"/>
          </p:nvPr>
        </p:nvSpPr>
        <p:spPr>
          <a:xfrm>
            <a:off x="457200" y="2057400"/>
            <a:ext cx="8229600" cy="4572000"/>
          </a:xfrm>
        </p:spPr>
        <p:txBody>
          <a:bodyPr/>
          <a:lstStyle/>
          <a:p>
            <a:pPr algn="just" eaLnBrk="1" hangingPunct="1">
              <a:lnSpc>
                <a:spcPct val="90000"/>
              </a:lnSpc>
            </a:pPr>
            <a:r>
              <a:rPr lang="en-US" dirty="0"/>
              <a:t>Public clouds are made available to the general public by a service provider who hosts the cloud infrastructure. Generally, public cloud providers like Amazon AWS, Microsoft and Google own and operate the infrastructure and offer access over the Internet. </a:t>
            </a:r>
          </a:p>
          <a:p>
            <a:pPr algn="just" eaLnBrk="1" hangingPunct="1">
              <a:lnSpc>
                <a:spcPct val="90000"/>
              </a:lnSpc>
            </a:pPr>
            <a:r>
              <a:rPr lang="en-US" dirty="0"/>
              <a:t>With this model, customers have no visibility or control over where the infrastructure is located. It is important to note that all customers on public clouds share the same infrastructure pool with limited configuration, security protections and availability variances.</a:t>
            </a:r>
          </a:p>
        </p:txBody>
      </p:sp>
      <p:pic>
        <p:nvPicPr>
          <p:cNvPr id="16388" name="Picture 4" descr="images"/>
          <p:cNvPicPr>
            <a:picLocks noChangeAspect="1" noChangeArrowheads="1"/>
          </p:cNvPicPr>
          <p:nvPr/>
        </p:nvPicPr>
        <p:blipFill>
          <a:blip r:embed="rId2" cstate="print"/>
          <a:srcRect/>
          <a:stretch>
            <a:fillRect/>
          </a:stretch>
        </p:blipFill>
        <p:spPr bwMode="auto">
          <a:xfrm>
            <a:off x="6553200" y="304800"/>
            <a:ext cx="1981200" cy="1531938"/>
          </a:xfrm>
          <a:prstGeom prst="rect">
            <a:avLst/>
          </a:prstGeom>
          <a:noFill/>
          <a:ln w="9525">
            <a:noFill/>
            <a:miter lim="800000"/>
            <a:headEnd/>
            <a:tailEnd/>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fontAlgn="auto" hangingPunct="1">
              <a:spcAft>
                <a:spcPts val="0"/>
              </a:spcAft>
              <a:defRPr/>
            </a:pPr>
            <a:r>
              <a:rPr lang="en-US" b="1"/>
              <a:t>Public cloud</a:t>
            </a:r>
            <a:r>
              <a:rPr lang="en-US"/>
              <a:t> </a:t>
            </a:r>
          </a:p>
        </p:txBody>
      </p:sp>
      <p:sp>
        <p:nvSpPr>
          <p:cNvPr id="16387" name="Rectangle 3"/>
          <p:cNvSpPr>
            <a:spLocks noGrp="1" noChangeArrowheads="1"/>
          </p:cNvSpPr>
          <p:nvPr>
            <p:ph sz="quarter" idx="1"/>
          </p:nvPr>
        </p:nvSpPr>
        <p:spPr>
          <a:xfrm>
            <a:off x="457200" y="1981200"/>
            <a:ext cx="8229600" cy="4648200"/>
          </a:xfrm>
        </p:spPr>
        <p:txBody>
          <a:bodyPr/>
          <a:lstStyle/>
          <a:p>
            <a:pPr marL="0" indent="0" algn="just" eaLnBrk="1" hangingPunct="1">
              <a:lnSpc>
                <a:spcPct val="90000"/>
              </a:lnSpc>
              <a:buNone/>
            </a:pPr>
            <a:r>
              <a:rPr lang="en-US" dirty="0">
                <a:solidFill>
                  <a:srgbClr val="FF0000"/>
                </a:solidFill>
              </a:rPr>
              <a:t>Benefits of public cloud</a:t>
            </a:r>
          </a:p>
          <a:p>
            <a:pPr algn="just" eaLnBrk="1" hangingPunct="1">
              <a:lnSpc>
                <a:spcPct val="90000"/>
              </a:lnSpc>
            </a:pPr>
            <a:r>
              <a:rPr lang="en-US" dirty="0"/>
              <a:t>Pay as you go</a:t>
            </a:r>
          </a:p>
          <a:p>
            <a:pPr algn="just" eaLnBrk="1" hangingPunct="1">
              <a:lnSpc>
                <a:spcPct val="90000"/>
              </a:lnSpc>
            </a:pPr>
            <a:r>
              <a:rPr lang="en-US" dirty="0"/>
              <a:t>Scalability</a:t>
            </a:r>
          </a:p>
          <a:p>
            <a:pPr algn="just" eaLnBrk="1" hangingPunct="1">
              <a:lnSpc>
                <a:spcPct val="90000"/>
              </a:lnSpc>
            </a:pPr>
            <a:r>
              <a:rPr lang="en-US" dirty="0"/>
              <a:t>High availability</a:t>
            </a:r>
          </a:p>
          <a:p>
            <a:pPr algn="just" eaLnBrk="1" hangingPunct="1">
              <a:lnSpc>
                <a:spcPct val="90000"/>
              </a:lnSpc>
            </a:pPr>
            <a:r>
              <a:rPr lang="en-IN" dirty="0"/>
              <a:t>Easy Accessibility</a:t>
            </a:r>
          </a:p>
          <a:p>
            <a:pPr algn="just" eaLnBrk="1" hangingPunct="1">
              <a:lnSpc>
                <a:spcPct val="90000"/>
              </a:lnSpc>
            </a:pPr>
            <a:r>
              <a:rPr lang="en-IN" dirty="0"/>
              <a:t>No Maintenance Required</a:t>
            </a:r>
          </a:p>
          <a:p>
            <a:pPr algn="just" eaLnBrk="1" hangingPunct="1">
              <a:lnSpc>
                <a:spcPct val="90000"/>
              </a:lnSpc>
            </a:pPr>
            <a:r>
              <a:rPr lang="en-IN" dirty="0"/>
              <a:t>Automatic Updates</a:t>
            </a:r>
            <a:endParaRPr lang="en-US" dirty="0"/>
          </a:p>
        </p:txBody>
      </p:sp>
      <p:pic>
        <p:nvPicPr>
          <p:cNvPr id="16388" name="Picture 4" descr="images"/>
          <p:cNvPicPr>
            <a:picLocks noChangeAspect="1" noChangeArrowheads="1"/>
          </p:cNvPicPr>
          <p:nvPr/>
        </p:nvPicPr>
        <p:blipFill>
          <a:blip r:embed="rId2" cstate="print"/>
          <a:srcRect/>
          <a:stretch>
            <a:fillRect/>
          </a:stretch>
        </p:blipFill>
        <p:spPr bwMode="auto">
          <a:xfrm>
            <a:off x="6553200" y="304800"/>
            <a:ext cx="1981200" cy="1531938"/>
          </a:xfrm>
          <a:prstGeom prst="rect">
            <a:avLst/>
          </a:prstGeom>
          <a:noFill/>
          <a:ln w="9525">
            <a:noFill/>
            <a:miter lim="800000"/>
            <a:headEnd/>
            <a:tailEnd/>
          </a:ln>
        </p:spPr>
      </p:pic>
    </p:spTree>
    <p:extLst>
      <p:ext uri="{BB962C8B-B14F-4D97-AF65-F5344CB8AC3E}">
        <p14:creationId xmlns:p14="http://schemas.microsoft.com/office/powerpoint/2010/main" val="8780342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fontAlgn="auto" hangingPunct="1">
              <a:spcAft>
                <a:spcPts val="0"/>
              </a:spcAft>
              <a:defRPr/>
            </a:pPr>
            <a:r>
              <a:rPr lang="en-US" b="1"/>
              <a:t>Public cloud</a:t>
            </a:r>
            <a:r>
              <a:rPr lang="en-US"/>
              <a:t> </a:t>
            </a:r>
          </a:p>
        </p:txBody>
      </p:sp>
      <p:sp>
        <p:nvSpPr>
          <p:cNvPr id="16387" name="Rectangle 3"/>
          <p:cNvSpPr>
            <a:spLocks noGrp="1" noChangeArrowheads="1"/>
          </p:cNvSpPr>
          <p:nvPr>
            <p:ph sz="quarter" idx="1"/>
          </p:nvPr>
        </p:nvSpPr>
        <p:spPr>
          <a:xfrm>
            <a:off x="457200" y="1981200"/>
            <a:ext cx="8001000" cy="3733800"/>
          </a:xfrm>
        </p:spPr>
        <p:txBody>
          <a:bodyPr/>
          <a:lstStyle/>
          <a:p>
            <a:pPr marL="0" indent="0" algn="just" eaLnBrk="1" hangingPunct="1">
              <a:lnSpc>
                <a:spcPct val="90000"/>
              </a:lnSpc>
              <a:buNone/>
            </a:pPr>
            <a:r>
              <a:rPr lang="en-US" dirty="0">
                <a:solidFill>
                  <a:srgbClr val="FF0000"/>
                </a:solidFill>
              </a:rPr>
              <a:t>Disadvantages of public cloud</a:t>
            </a:r>
          </a:p>
          <a:p>
            <a:pPr algn="just" eaLnBrk="1" hangingPunct="1">
              <a:lnSpc>
                <a:spcPct val="90000"/>
              </a:lnSpc>
            </a:pPr>
            <a:r>
              <a:rPr lang="en-US" dirty="0"/>
              <a:t>Lacks correct management</a:t>
            </a:r>
          </a:p>
          <a:p>
            <a:pPr lvl="1" algn="just" eaLnBrk="1" hangingPunct="1">
              <a:lnSpc>
                <a:spcPct val="90000"/>
              </a:lnSpc>
            </a:pPr>
            <a:r>
              <a:rPr lang="en-US" dirty="0"/>
              <a:t>The consumer has no control of information or infrastructure.</a:t>
            </a:r>
          </a:p>
          <a:p>
            <a:pPr lvl="1" algn="just" eaLnBrk="1" hangingPunct="1">
              <a:lnSpc>
                <a:spcPct val="90000"/>
              </a:lnSpc>
            </a:pPr>
            <a:r>
              <a:rPr lang="en-US" dirty="0"/>
              <a:t>There are problems with knowledge privacy and integrity</a:t>
            </a:r>
          </a:p>
          <a:p>
            <a:pPr algn="just" eaLnBrk="1" hangingPunct="1">
              <a:lnSpc>
                <a:spcPct val="90000"/>
              </a:lnSpc>
            </a:pPr>
            <a:r>
              <a:rPr lang="en-US" dirty="0"/>
              <a:t>Performance </a:t>
            </a:r>
          </a:p>
          <a:p>
            <a:pPr lvl="1" algn="just" eaLnBrk="1" hangingPunct="1">
              <a:lnSpc>
                <a:spcPct val="90000"/>
              </a:lnSpc>
            </a:pPr>
            <a:r>
              <a:rPr lang="en-US" dirty="0"/>
              <a:t>The performance of the network depends on speed of the web property</a:t>
            </a:r>
          </a:p>
          <a:p>
            <a:pPr marL="366713" lvl="1" indent="0" algn="just" eaLnBrk="1" hangingPunct="1">
              <a:lnSpc>
                <a:spcPct val="90000"/>
              </a:lnSpc>
              <a:buNone/>
            </a:pPr>
            <a:endParaRPr lang="en-US" dirty="0"/>
          </a:p>
          <a:p>
            <a:pPr marL="0" indent="0" algn="just" eaLnBrk="1" hangingPunct="1">
              <a:lnSpc>
                <a:spcPct val="90000"/>
              </a:lnSpc>
              <a:buNone/>
            </a:pPr>
            <a:endParaRPr lang="en-US" dirty="0"/>
          </a:p>
        </p:txBody>
      </p:sp>
      <p:pic>
        <p:nvPicPr>
          <p:cNvPr id="16388" name="Picture 4" descr="images"/>
          <p:cNvPicPr>
            <a:picLocks noChangeAspect="1" noChangeArrowheads="1"/>
          </p:cNvPicPr>
          <p:nvPr/>
        </p:nvPicPr>
        <p:blipFill>
          <a:blip r:embed="rId2" cstate="print"/>
          <a:srcRect/>
          <a:stretch>
            <a:fillRect/>
          </a:stretch>
        </p:blipFill>
        <p:spPr bwMode="auto">
          <a:xfrm>
            <a:off x="6553200" y="304800"/>
            <a:ext cx="1981200" cy="1531938"/>
          </a:xfrm>
          <a:prstGeom prst="rect">
            <a:avLst/>
          </a:prstGeom>
          <a:noFill/>
          <a:ln w="9525">
            <a:noFill/>
            <a:miter lim="800000"/>
            <a:headEnd/>
            <a:tailEnd/>
          </a:ln>
        </p:spPr>
      </p:pic>
    </p:spTree>
    <p:extLst>
      <p:ext uri="{BB962C8B-B14F-4D97-AF65-F5344CB8AC3E}">
        <p14:creationId xmlns:p14="http://schemas.microsoft.com/office/powerpoint/2010/main" val="214370311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fontAlgn="auto" hangingPunct="1">
              <a:spcAft>
                <a:spcPts val="0"/>
              </a:spcAft>
              <a:defRPr/>
            </a:pPr>
            <a:r>
              <a:rPr lang="en-US" b="1"/>
              <a:t>Public cloud</a:t>
            </a:r>
            <a:r>
              <a:rPr lang="en-US"/>
              <a:t> </a:t>
            </a:r>
          </a:p>
        </p:txBody>
      </p:sp>
      <p:sp>
        <p:nvSpPr>
          <p:cNvPr id="16387" name="Rectangle 3"/>
          <p:cNvSpPr>
            <a:spLocks noGrp="1" noChangeArrowheads="1"/>
          </p:cNvSpPr>
          <p:nvPr>
            <p:ph sz="quarter" idx="1"/>
          </p:nvPr>
        </p:nvSpPr>
        <p:spPr>
          <a:xfrm>
            <a:off x="457200" y="1981200"/>
            <a:ext cx="8001000" cy="3733800"/>
          </a:xfrm>
        </p:spPr>
        <p:txBody>
          <a:bodyPr/>
          <a:lstStyle/>
          <a:p>
            <a:pPr marL="0" indent="0" algn="just" eaLnBrk="1" hangingPunct="1">
              <a:lnSpc>
                <a:spcPct val="90000"/>
              </a:lnSpc>
              <a:buNone/>
            </a:pPr>
            <a:r>
              <a:rPr lang="en-US" dirty="0">
                <a:solidFill>
                  <a:srgbClr val="FF0000"/>
                </a:solidFill>
              </a:rPr>
              <a:t>Disadvantages of public cloud</a:t>
            </a:r>
          </a:p>
          <a:p>
            <a:pPr algn="just" eaLnBrk="1" hangingPunct="1">
              <a:lnSpc>
                <a:spcPct val="90000"/>
              </a:lnSpc>
            </a:pPr>
            <a:r>
              <a:rPr lang="en-US" dirty="0"/>
              <a:t>Weak security</a:t>
            </a:r>
          </a:p>
          <a:p>
            <a:pPr lvl="1" algn="just" eaLnBrk="1" hangingPunct="1">
              <a:lnSpc>
                <a:spcPct val="90000"/>
              </a:lnSpc>
            </a:pPr>
            <a:r>
              <a:rPr lang="en-US" dirty="0"/>
              <a:t>Since hardware resources are shared among multiple users, security risks are more significant. Data may be vulnerable to unauthorized access, data breaches, or theft.</a:t>
            </a:r>
          </a:p>
          <a:p>
            <a:pPr algn="just" eaLnBrk="1" hangingPunct="1">
              <a:lnSpc>
                <a:spcPct val="90000"/>
              </a:lnSpc>
            </a:pPr>
            <a:r>
              <a:rPr lang="en-US" dirty="0"/>
              <a:t>Customization </a:t>
            </a:r>
          </a:p>
          <a:p>
            <a:pPr lvl="1" algn="just" eaLnBrk="1" hangingPunct="1">
              <a:lnSpc>
                <a:spcPct val="90000"/>
              </a:lnSpc>
            </a:pPr>
            <a:r>
              <a:rPr lang="en-US" dirty="0"/>
              <a:t>Customization of services or resources isn’t potential</a:t>
            </a:r>
          </a:p>
          <a:p>
            <a:pPr marL="366713" lvl="1" indent="0" algn="just" eaLnBrk="1" hangingPunct="1">
              <a:lnSpc>
                <a:spcPct val="90000"/>
              </a:lnSpc>
              <a:buNone/>
            </a:pPr>
            <a:endParaRPr lang="en-US" dirty="0"/>
          </a:p>
          <a:p>
            <a:pPr marL="0" indent="0" algn="just" eaLnBrk="1" hangingPunct="1">
              <a:lnSpc>
                <a:spcPct val="90000"/>
              </a:lnSpc>
              <a:buNone/>
            </a:pPr>
            <a:endParaRPr lang="en-US" dirty="0"/>
          </a:p>
        </p:txBody>
      </p:sp>
      <p:pic>
        <p:nvPicPr>
          <p:cNvPr id="16388" name="Picture 4" descr="images"/>
          <p:cNvPicPr>
            <a:picLocks noChangeAspect="1" noChangeArrowheads="1"/>
          </p:cNvPicPr>
          <p:nvPr/>
        </p:nvPicPr>
        <p:blipFill>
          <a:blip r:embed="rId3" cstate="print"/>
          <a:srcRect/>
          <a:stretch>
            <a:fillRect/>
          </a:stretch>
        </p:blipFill>
        <p:spPr bwMode="auto">
          <a:xfrm>
            <a:off x="6553200" y="304800"/>
            <a:ext cx="1981200" cy="1531938"/>
          </a:xfrm>
          <a:prstGeom prst="rect">
            <a:avLst/>
          </a:prstGeom>
          <a:noFill/>
          <a:ln w="9525">
            <a:noFill/>
            <a:miter lim="800000"/>
            <a:headEnd/>
            <a:tailEnd/>
          </a:ln>
        </p:spPr>
      </p:pic>
    </p:spTree>
    <p:extLst>
      <p:ext uri="{BB962C8B-B14F-4D97-AF65-F5344CB8AC3E}">
        <p14:creationId xmlns:p14="http://schemas.microsoft.com/office/powerpoint/2010/main" val="10115943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229600" cy="4876800"/>
          </a:xfrm>
        </p:spPr>
        <p:txBody>
          <a:bodyPr/>
          <a:lstStyle/>
          <a:p>
            <a:pPr algn="just" eaLnBrk="1" hangingPunct="1">
              <a:lnSpc>
                <a:spcPct val="90000"/>
              </a:lnSpc>
            </a:pPr>
            <a:r>
              <a:rPr lang="en-US" dirty="0"/>
              <a:t>Private cloud is cloud infrastructure dedicated to a particular organization. Private clouds allow businesses to host applications in the cloud, while addressing concerns regarding data security and control, which is often lacking in a public cloud environment.  </a:t>
            </a:r>
          </a:p>
          <a:p>
            <a:pPr algn="just" eaLnBrk="1" hangingPunct="1">
              <a:lnSpc>
                <a:spcPct val="90000"/>
              </a:lnSpc>
            </a:pPr>
            <a:r>
              <a:rPr lang="en-US" dirty="0"/>
              <a:t>It is not shared with other organizations, whether managed internally or by a third-party, and it can be hosted internally or externally.</a:t>
            </a:r>
          </a:p>
        </p:txBody>
      </p:sp>
      <p:pic>
        <p:nvPicPr>
          <p:cNvPr id="17412" name="Picture 4" descr="images"/>
          <p:cNvPicPr>
            <a:picLocks noChangeAspect="1" noChangeArrowheads="1"/>
          </p:cNvPicPr>
          <p:nvPr/>
        </p:nvPicPr>
        <p:blipFill>
          <a:blip r:embed="rId2" cstate="print"/>
          <a:srcRect/>
          <a:stretch>
            <a:fillRect/>
          </a:stretch>
        </p:blipFill>
        <p:spPr bwMode="auto">
          <a:xfrm>
            <a:off x="5410200" y="4510722"/>
            <a:ext cx="2286000" cy="2072640"/>
          </a:xfrm>
          <a:prstGeom prst="rect">
            <a:avLst/>
          </a:prstGeom>
          <a:noFill/>
          <a:ln w="9525">
            <a:noFill/>
            <a:miter lim="800000"/>
            <a:headEnd/>
            <a:tailEnd/>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229600" cy="4876800"/>
          </a:xfrm>
        </p:spPr>
        <p:txBody>
          <a:bodyPr/>
          <a:lstStyle/>
          <a:p>
            <a:pPr marL="0" indent="0" algn="just" eaLnBrk="1" hangingPunct="1">
              <a:lnSpc>
                <a:spcPct val="90000"/>
              </a:lnSpc>
              <a:buNone/>
            </a:pPr>
            <a:r>
              <a:rPr lang="en-US" dirty="0"/>
              <a:t>Benefits:</a:t>
            </a:r>
          </a:p>
          <a:p>
            <a:pPr algn="just" eaLnBrk="1" hangingPunct="1">
              <a:lnSpc>
                <a:spcPct val="90000"/>
              </a:lnSpc>
            </a:pPr>
            <a:r>
              <a:rPr lang="en-US" dirty="0"/>
              <a:t>Higher privacy and security</a:t>
            </a:r>
          </a:p>
          <a:p>
            <a:pPr algn="just" eaLnBrk="1" hangingPunct="1">
              <a:lnSpc>
                <a:spcPct val="90000"/>
              </a:lnSpc>
            </a:pPr>
            <a:r>
              <a:rPr lang="en-US" dirty="0"/>
              <a:t>More control</a:t>
            </a:r>
          </a:p>
          <a:p>
            <a:pPr algn="just" eaLnBrk="1" hangingPunct="1">
              <a:lnSpc>
                <a:spcPct val="90000"/>
              </a:lnSpc>
            </a:pPr>
            <a:r>
              <a:rPr lang="en-US" dirty="0"/>
              <a:t>Improved reliability</a:t>
            </a:r>
          </a:p>
          <a:p>
            <a:pPr marL="0" indent="0" algn="just" eaLnBrk="1" hangingPunct="1">
              <a:lnSpc>
                <a:spcPct val="90000"/>
              </a:lnSpc>
              <a:buNone/>
            </a:pPr>
            <a:endParaRPr lang="en-US" dirty="0"/>
          </a:p>
        </p:txBody>
      </p:sp>
      <p:pic>
        <p:nvPicPr>
          <p:cNvPr id="17412" name="Picture 4" descr="images"/>
          <p:cNvPicPr>
            <a:picLocks noChangeAspect="1" noChangeArrowheads="1"/>
          </p:cNvPicPr>
          <p:nvPr/>
        </p:nvPicPr>
        <p:blipFill>
          <a:blip r:embed="rId2" cstate="print"/>
          <a:srcRect/>
          <a:stretch>
            <a:fillRect/>
          </a:stretch>
        </p:blipFill>
        <p:spPr bwMode="auto">
          <a:xfrm>
            <a:off x="5631094" y="2514600"/>
            <a:ext cx="2286000" cy="2072640"/>
          </a:xfrm>
          <a:prstGeom prst="rect">
            <a:avLst/>
          </a:prstGeom>
          <a:noFill/>
          <a:ln w="9525">
            <a:noFill/>
            <a:miter lim="800000"/>
            <a:headEnd/>
            <a:tailEnd/>
          </a:ln>
        </p:spPr>
      </p:pic>
    </p:spTree>
    <p:extLst>
      <p:ext uri="{BB962C8B-B14F-4D97-AF65-F5344CB8AC3E}">
        <p14:creationId xmlns:p14="http://schemas.microsoft.com/office/powerpoint/2010/main" val="31789063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001000" cy="4876800"/>
          </a:xfrm>
        </p:spPr>
        <p:txBody>
          <a:bodyPr/>
          <a:lstStyle/>
          <a:p>
            <a:pPr marL="0" indent="0" algn="just" eaLnBrk="1" hangingPunct="1">
              <a:lnSpc>
                <a:spcPct val="90000"/>
              </a:lnSpc>
              <a:buNone/>
            </a:pPr>
            <a:r>
              <a:rPr lang="en-US" dirty="0"/>
              <a:t>Disadvantages</a:t>
            </a:r>
          </a:p>
          <a:p>
            <a:pPr marL="0" indent="0" algn="just" eaLnBrk="1" hangingPunct="1">
              <a:lnSpc>
                <a:spcPct val="90000"/>
              </a:lnSpc>
              <a:buNone/>
            </a:pPr>
            <a:r>
              <a:rPr lang="en-US" b="1" dirty="0">
                <a:solidFill>
                  <a:srgbClr val="FF0000"/>
                </a:solidFill>
              </a:rPr>
              <a:t>Cost </a:t>
            </a:r>
          </a:p>
          <a:p>
            <a:pPr lvl="1" algn="just" eaLnBrk="1" hangingPunct="1">
              <a:lnSpc>
                <a:spcPct val="90000"/>
              </a:lnSpc>
            </a:pPr>
            <a:r>
              <a:rPr lang="en-US" dirty="0"/>
              <a:t>Costs are substantial in the case of building an on-premise private cloud. </a:t>
            </a:r>
          </a:p>
          <a:p>
            <a:pPr lvl="1" algn="just" eaLnBrk="1" hangingPunct="1">
              <a:lnSpc>
                <a:spcPct val="90000"/>
              </a:lnSpc>
            </a:pPr>
            <a:r>
              <a:rPr lang="en-US" dirty="0"/>
              <a:t>The running cost would include personnel cost and periodic hardware upgrade costs.</a:t>
            </a:r>
          </a:p>
          <a:p>
            <a:pPr lvl="1" algn="just" eaLnBrk="1" hangingPunct="1">
              <a:lnSpc>
                <a:spcPct val="90000"/>
              </a:lnSpc>
            </a:pPr>
            <a:r>
              <a:rPr lang="en-US" dirty="0"/>
              <a:t>In the case of outsourced private cloud, operating cost will include per resource usage and subject to change at the discretion of the service provider.</a:t>
            </a:r>
          </a:p>
          <a:p>
            <a:pPr lvl="1" algn="just" eaLnBrk="1" hangingPunct="1">
              <a:lnSpc>
                <a:spcPct val="90000"/>
              </a:lnSpc>
            </a:pPr>
            <a:endParaRPr lang="en-US" dirty="0"/>
          </a:p>
          <a:p>
            <a:pPr marL="0" indent="0" algn="just" eaLnBrk="1" hangingPunct="1">
              <a:lnSpc>
                <a:spcPct val="90000"/>
              </a:lnSpc>
              <a:buNone/>
            </a:pPr>
            <a:endParaRPr lang="en-US" dirty="0"/>
          </a:p>
        </p:txBody>
      </p:sp>
      <p:pic>
        <p:nvPicPr>
          <p:cNvPr id="17412" name="Picture 4" descr="images"/>
          <p:cNvPicPr>
            <a:picLocks noChangeAspect="1" noChangeArrowheads="1"/>
          </p:cNvPicPr>
          <p:nvPr/>
        </p:nvPicPr>
        <p:blipFill>
          <a:blip r:embed="rId2" cstate="print"/>
          <a:srcRect/>
          <a:stretch>
            <a:fillRect/>
          </a:stretch>
        </p:blipFill>
        <p:spPr bwMode="auto">
          <a:xfrm>
            <a:off x="5562600" y="4539832"/>
            <a:ext cx="2286000" cy="2072640"/>
          </a:xfrm>
          <a:prstGeom prst="rect">
            <a:avLst/>
          </a:prstGeom>
          <a:noFill/>
          <a:ln w="9525">
            <a:noFill/>
            <a:miter lim="800000"/>
            <a:headEnd/>
            <a:tailEnd/>
          </a:ln>
        </p:spPr>
      </p:pic>
    </p:spTree>
    <p:extLst>
      <p:ext uri="{BB962C8B-B14F-4D97-AF65-F5344CB8AC3E}">
        <p14:creationId xmlns:p14="http://schemas.microsoft.com/office/powerpoint/2010/main" val="80445641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001000" cy="4876800"/>
          </a:xfrm>
        </p:spPr>
        <p:txBody>
          <a:bodyPr/>
          <a:lstStyle/>
          <a:p>
            <a:pPr marL="0" indent="0" algn="just" eaLnBrk="1" hangingPunct="1">
              <a:lnSpc>
                <a:spcPct val="90000"/>
              </a:lnSpc>
              <a:buNone/>
            </a:pPr>
            <a:r>
              <a:rPr lang="en-US" dirty="0"/>
              <a:t>Disadvantages</a:t>
            </a:r>
          </a:p>
          <a:p>
            <a:pPr marL="0" indent="0" algn="just" eaLnBrk="1" hangingPunct="1">
              <a:lnSpc>
                <a:spcPct val="90000"/>
              </a:lnSpc>
              <a:buNone/>
            </a:pPr>
            <a:r>
              <a:rPr lang="en-US" b="1" dirty="0">
                <a:solidFill>
                  <a:srgbClr val="FF0000"/>
                </a:solidFill>
              </a:rPr>
              <a:t>Under-utilization</a:t>
            </a:r>
            <a:r>
              <a:rPr lang="en-US" dirty="0"/>
              <a:t> </a:t>
            </a:r>
          </a:p>
          <a:p>
            <a:pPr lvl="1" algn="just" eaLnBrk="1" hangingPunct="1">
              <a:lnSpc>
                <a:spcPct val="90000"/>
              </a:lnSpc>
            </a:pPr>
            <a:r>
              <a:rPr lang="en-US" dirty="0"/>
              <a:t>In some instances, the resources subscribed can be under-utilized. </a:t>
            </a:r>
          </a:p>
          <a:p>
            <a:pPr lvl="1" algn="just" eaLnBrk="1" hangingPunct="1">
              <a:lnSpc>
                <a:spcPct val="90000"/>
              </a:lnSpc>
            </a:pPr>
            <a:r>
              <a:rPr lang="en-US" dirty="0"/>
              <a:t>Hence, optimizing the utilization of all resources is a challenge.</a:t>
            </a:r>
          </a:p>
          <a:p>
            <a:pPr marL="0" indent="0" algn="just" eaLnBrk="1" hangingPunct="1">
              <a:lnSpc>
                <a:spcPct val="90000"/>
              </a:lnSpc>
              <a:buNone/>
            </a:pPr>
            <a:endParaRPr lang="en-US" dirty="0"/>
          </a:p>
        </p:txBody>
      </p:sp>
      <p:pic>
        <p:nvPicPr>
          <p:cNvPr id="17412" name="Picture 4" descr="images"/>
          <p:cNvPicPr>
            <a:picLocks noChangeAspect="1" noChangeArrowheads="1"/>
          </p:cNvPicPr>
          <p:nvPr/>
        </p:nvPicPr>
        <p:blipFill>
          <a:blip r:embed="rId2" cstate="print"/>
          <a:srcRect/>
          <a:stretch>
            <a:fillRect/>
          </a:stretch>
        </p:blipFill>
        <p:spPr bwMode="auto">
          <a:xfrm>
            <a:off x="4616949" y="3810000"/>
            <a:ext cx="2286000" cy="2072640"/>
          </a:xfrm>
          <a:prstGeom prst="rect">
            <a:avLst/>
          </a:prstGeom>
          <a:noFill/>
          <a:ln w="9525">
            <a:noFill/>
            <a:miter lim="800000"/>
            <a:headEnd/>
            <a:tailEnd/>
          </a:ln>
        </p:spPr>
      </p:pic>
    </p:spTree>
    <p:extLst>
      <p:ext uri="{BB962C8B-B14F-4D97-AF65-F5344CB8AC3E}">
        <p14:creationId xmlns:p14="http://schemas.microsoft.com/office/powerpoint/2010/main" val="141734887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001000" cy="4876800"/>
          </a:xfrm>
        </p:spPr>
        <p:txBody>
          <a:bodyPr/>
          <a:lstStyle/>
          <a:p>
            <a:pPr marL="0" indent="0" algn="just" eaLnBrk="1" hangingPunct="1">
              <a:lnSpc>
                <a:spcPct val="90000"/>
              </a:lnSpc>
              <a:buNone/>
            </a:pPr>
            <a:r>
              <a:rPr lang="en-US" dirty="0"/>
              <a:t>Disadvantages</a:t>
            </a:r>
          </a:p>
          <a:p>
            <a:pPr marL="0" indent="0" algn="just" eaLnBrk="1" hangingPunct="1">
              <a:lnSpc>
                <a:spcPct val="90000"/>
              </a:lnSpc>
              <a:buNone/>
            </a:pPr>
            <a:r>
              <a:rPr lang="en-US" b="1" dirty="0">
                <a:solidFill>
                  <a:srgbClr val="FF0000"/>
                </a:solidFill>
              </a:rPr>
              <a:t>Capacity ceiling</a:t>
            </a:r>
          </a:p>
          <a:p>
            <a:pPr lvl="1" algn="just" eaLnBrk="1" hangingPunct="1">
              <a:lnSpc>
                <a:spcPct val="90000"/>
              </a:lnSpc>
            </a:pPr>
            <a:r>
              <a:rPr lang="en-US" sz="2400" dirty="0"/>
              <a:t>Due to physical hardware limitations with the service provider, there could be a capacity ceiling to handle only certain amount of servers or storage.</a:t>
            </a:r>
          </a:p>
        </p:txBody>
      </p:sp>
      <p:pic>
        <p:nvPicPr>
          <p:cNvPr id="17412" name="Picture 4" descr="images"/>
          <p:cNvPicPr>
            <a:picLocks noChangeAspect="1" noChangeArrowheads="1"/>
          </p:cNvPicPr>
          <p:nvPr/>
        </p:nvPicPr>
        <p:blipFill>
          <a:blip r:embed="rId2" cstate="print"/>
          <a:srcRect/>
          <a:stretch>
            <a:fillRect/>
          </a:stretch>
        </p:blipFill>
        <p:spPr bwMode="auto">
          <a:xfrm>
            <a:off x="4196993" y="3886200"/>
            <a:ext cx="2286000" cy="2072640"/>
          </a:xfrm>
          <a:prstGeom prst="rect">
            <a:avLst/>
          </a:prstGeom>
          <a:noFill/>
          <a:ln w="9525">
            <a:noFill/>
            <a:miter lim="800000"/>
            <a:headEnd/>
            <a:tailEnd/>
          </a:ln>
        </p:spPr>
      </p:pic>
    </p:spTree>
    <p:extLst>
      <p:ext uri="{BB962C8B-B14F-4D97-AF65-F5344CB8AC3E}">
        <p14:creationId xmlns:p14="http://schemas.microsoft.com/office/powerpoint/2010/main" val="295659267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fontAlgn="auto" hangingPunct="1">
              <a:spcAft>
                <a:spcPts val="0"/>
              </a:spcAft>
              <a:defRPr/>
            </a:pPr>
            <a:r>
              <a:rPr lang="en-US" b="1"/>
              <a:t>Private cloud</a:t>
            </a:r>
            <a:r>
              <a:rPr lang="en-US"/>
              <a:t> </a:t>
            </a:r>
          </a:p>
        </p:txBody>
      </p:sp>
      <p:sp>
        <p:nvSpPr>
          <p:cNvPr id="17411" name="Rectangle 3"/>
          <p:cNvSpPr>
            <a:spLocks noGrp="1" noChangeArrowheads="1"/>
          </p:cNvSpPr>
          <p:nvPr>
            <p:ph sz="quarter" idx="1"/>
          </p:nvPr>
        </p:nvSpPr>
        <p:spPr>
          <a:xfrm>
            <a:off x="609600" y="1524000"/>
            <a:ext cx="8001000" cy="4876800"/>
          </a:xfrm>
        </p:spPr>
        <p:txBody>
          <a:bodyPr/>
          <a:lstStyle/>
          <a:p>
            <a:pPr marL="0" indent="0" algn="just" eaLnBrk="1" hangingPunct="1">
              <a:lnSpc>
                <a:spcPct val="90000"/>
              </a:lnSpc>
              <a:buNone/>
            </a:pPr>
            <a:r>
              <a:rPr lang="en-US" dirty="0"/>
              <a:t>Disadvantages</a:t>
            </a:r>
          </a:p>
          <a:p>
            <a:pPr marL="0" indent="0" algn="just" eaLnBrk="1" hangingPunct="1">
              <a:lnSpc>
                <a:spcPct val="90000"/>
              </a:lnSpc>
              <a:buNone/>
            </a:pPr>
            <a:r>
              <a:rPr lang="en-US" b="1" dirty="0">
                <a:solidFill>
                  <a:srgbClr val="FF0000"/>
                </a:solidFill>
              </a:rPr>
              <a:t>Vendor lock-in</a:t>
            </a:r>
          </a:p>
          <a:p>
            <a:pPr marL="273050" lvl="1" algn="just" eaLnBrk="1" hangingPunct="1">
              <a:lnSpc>
                <a:spcPct val="90000"/>
              </a:lnSpc>
              <a:spcBef>
                <a:spcPts val="600"/>
              </a:spcBef>
              <a:buSzPct val="70000"/>
              <a:buFont typeface="Wingdings" pitchFamily="2" charset="2"/>
              <a:buChar char=""/>
            </a:pPr>
            <a:r>
              <a:rPr lang="en-US" dirty="0"/>
              <a:t>This can be a major impediment in private cloud adoption especially when the hardware and infrastructure is outsourced. </a:t>
            </a:r>
          </a:p>
          <a:p>
            <a:pPr marL="273050" lvl="1" algn="just" eaLnBrk="1" hangingPunct="1">
              <a:lnSpc>
                <a:spcPct val="90000"/>
              </a:lnSpc>
              <a:spcBef>
                <a:spcPts val="600"/>
              </a:spcBef>
              <a:buSzPct val="70000"/>
              <a:buFont typeface="Wingdings" pitchFamily="2" charset="2"/>
              <a:buChar char=""/>
            </a:pPr>
            <a:r>
              <a:rPr lang="en-US" dirty="0"/>
              <a:t>This is a service delivery technique where the client company is forced to continue with the same service provider, thus preventing the client to migrate to another vendor.</a:t>
            </a:r>
          </a:p>
        </p:txBody>
      </p:sp>
      <p:pic>
        <p:nvPicPr>
          <p:cNvPr id="17412" name="Picture 4" descr="images"/>
          <p:cNvPicPr>
            <a:picLocks noChangeAspect="1" noChangeArrowheads="1"/>
          </p:cNvPicPr>
          <p:nvPr/>
        </p:nvPicPr>
        <p:blipFill>
          <a:blip r:embed="rId2" cstate="print"/>
          <a:srcRect/>
          <a:stretch>
            <a:fillRect/>
          </a:stretch>
        </p:blipFill>
        <p:spPr bwMode="auto">
          <a:xfrm>
            <a:off x="4724400" y="4648200"/>
            <a:ext cx="2286000" cy="2072640"/>
          </a:xfrm>
          <a:prstGeom prst="rect">
            <a:avLst/>
          </a:prstGeom>
          <a:noFill/>
          <a:ln w="9525">
            <a:noFill/>
            <a:miter lim="800000"/>
            <a:headEnd/>
            <a:tailEnd/>
          </a:ln>
        </p:spPr>
      </p:pic>
    </p:spTree>
    <p:extLst>
      <p:ext uri="{BB962C8B-B14F-4D97-AF65-F5344CB8AC3E}">
        <p14:creationId xmlns:p14="http://schemas.microsoft.com/office/powerpoint/2010/main" val="18016701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a:t> </a:t>
            </a:r>
            <a:r>
              <a:rPr lang="en-US" b="1"/>
              <a:t>Hybrid cloud</a:t>
            </a:r>
          </a:p>
        </p:txBody>
      </p:sp>
      <p:sp>
        <p:nvSpPr>
          <p:cNvPr id="14339" name="Rectangle 3"/>
          <p:cNvSpPr>
            <a:spLocks noGrp="1" noChangeArrowheads="1"/>
          </p:cNvSpPr>
          <p:nvPr>
            <p:ph sz="quarter" idx="1"/>
          </p:nvPr>
        </p:nvSpPr>
        <p:spPr>
          <a:xfrm>
            <a:off x="396240" y="1654214"/>
            <a:ext cx="8229600" cy="4114800"/>
          </a:xfrm>
        </p:spPr>
        <p:txBody>
          <a:bodyPr>
            <a:normAutofit/>
          </a:bodyPr>
          <a:lstStyle/>
          <a:p>
            <a:pPr marL="274320" indent="-274320" eaLnBrk="1" fontAlgn="auto" hangingPunct="1">
              <a:lnSpc>
                <a:spcPct val="90000"/>
              </a:lnSpc>
              <a:spcAft>
                <a:spcPts val="0"/>
              </a:spcAft>
              <a:buFont typeface="Wingdings"/>
              <a:buChar char=""/>
              <a:defRPr/>
            </a:pPr>
            <a:r>
              <a:rPr lang="en-US" dirty="0"/>
              <a:t>Hybrid Clouds are a composition of two or more clouds (private, community or public) that remain unique entities but are bound together offering the advantages of multiple deployment models. </a:t>
            </a:r>
          </a:p>
          <a:p>
            <a:pPr marL="274320" indent="-274320" eaLnBrk="1" fontAlgn="auto" hangingPunct="1">
              <a:lnSpc>
                <a:spcPct val="90000"/>
              </a:lnSpc>
              <a:spcAft>
                <a:spcPts val="0"/>
              </a:spcAft>
              <a:buFont typeface="Wingdings"/>
              <a:buChar char=""/>
              <a:defRPr/>
            </a:pPr>
            <a:r>
              <a:rPr lang="en-US" dirty="0"/>
              <a:t>In a hybrid cloud, you can leverage third party cloud providers in either a full or partial manner; increasing the flexibility of computing. Augmenting a traditional private cloud with the resources of a public cloud can be used to manage any unexpected surges in workload.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a:t> </a:t>
            </a:r>
            <a:r>
              <a:rPr lang="en-US" b="1"/>
              <a:t>Hybrid cloud</a:t>
            </a:r>
          </a:p>
        </p:txBody>
      </p:sp>
      <p:sp>
        <p:nvSpPr>
          <p:cNvPr id="14339" name="Rectangle 3"/>
          <p:cNvSpPr>
            <a:spLocks noGrp="1" noChangeArrowheads="1"/>
          </p:cNvSpPr>
          <p:nvPr>
            <p:ph sz="quarter" idx="1"/>
          </p:nvPr>
        </p:nvSpPr>
        <p:spPr>
          <a:xfrm>
            <a:off x="396240" y="1654214"/>
            <a:ext cx="8229600" cy="4114800"/>
          </a:xfrm>
        </p:spPr>
        <p:txBody>
          <a:bodyPr>
            <a:normAutofit/>
          </a:bodyPr>
          <a:lstStyle/>
          <a:p>
            <a:pPr marL="0" indent="0" eaLnBrk="1" fontAlgn="auto" hangingPunct="1">
              <a:lnSpc>
                <a:spcPct val="90000"/>
              </a:lnSpc>
              <a:spcAft>
                <a:spcPts val="0"/>
              </a:spcAft>
              <a:buNone/>
              <a:defRPr/>
            </a:pPr>
            <a:r>
              <a:rPr lang="en-US" b="1" dirty="0">
                <a:solidFill>
                  <a:srgbClr val="FF0000"/>
                </a:solidFill>
              </a:rPr>
              <a:t>Benefits:</a:t>
            </a:r>
          </a:p>
          <a:p>
            <a:pPr marL="274320" indent="-274320" eaLnBrk="1" fontAlgn="auto" hangingPunct="1">
              <a:lnSpc>
                <a:spcPct val="90000"/>
              </a:lnSpc>
              <a:spcAft>
                <a:spcPts val="0"/>
              </a:spcAft>
              <a:buFont typeface="Wingdings"/>
              <a:buChar char=""/>
              <a:defRPr/>
            </a:pPr>
            <a:r>
              <a:rPr lang="en-US" dirty="0"/>
              <a:t>Risk management</a:t>
            </a:r>
          </a:p>
          <a:p>
            <a:pPr marL="274320" indent="-274320" eaLnBrk="1" fontAlgn="auto" hangingPunct="1">
              <a:lnSpc>
                <a:spcPct val="90000"/>
              </a:lnSpc>
              <a:spcAft>
                <a:spcPts val="0"/>
              </a:spcAft>
              <a:buFont typeface="Wingdings"/>
              <a:buChar char=""/>
              <a:defRPr/>
            </a:pPr>
            <a:r>
              <a:rPr lang="en-US" dirty="0"/>
              <a:t>Flexibility</a:t>
            </a:r>
          </a:p>
          <a:p>
            <a:pPr marL="274320" indent="-274320" eaLnBrk="1" fontAlgn="auto" hangingPunct="1">
              <a:lnSpc>
                <a:spcPct val="90000"/>
              </a:lnSpc>
              <a:spcAft>
                <a:spcPts val="0"/>
              </a:spcAft>
              <a:buFont typeface="Wingdings"/>
              <a:buChar char=""/>
              <a:defRPr/>
            </a:pPr>
            <a:r>
              <a:rPr lang="en-US" dirty="0"/>
              <a:t>Scalability</a:t>
            </a:r>
          </a:p>
          <a:p>
            <a:pPr marL="274320" indent="-274320" eaLnBrk="1" fontAlgn="auto" hangingPunct="1">
              <a:lnSpc>
                <a:spcPct val="90000"/>
              </a:lnSpc>
              <a:spcAft>
                <a:spcPts val="0"/>
              </a:spcAft>
              <a:buFont typeface="Wingdings"/>
              <a:buChar char=""/>
              <a:defRPr/>
            </a:pPr>
            <a:r>
              <a:rPr lang="en-US" dirty="0"/>
              <a:t>Enhanced security</a:t>
            </a:r>
          </a:p>
          <a:p>
            <a:pPr marL="274320" indent="-274320" eaLnBrk="1" fontAlgn="auto" hangingPunct="1">
              <a:lnSpc>
                <a:spcPct val="90000"/>
              </a:lnSpc>
              <a:spcAft>
                <a:spcPts val="0"/>
              </a:spcAft>
              <a:buFont typeface="Wingdings"/>
              <a:buChar char=""/>
              <a:defRPr/>
            </a:pPr>
            <a:r>
              <a:rPr lang="en-US" dirty="0"/>
              <a:t>Backup and disaster recovery </a:t>
            </a:r>
          </a:p>
          <a:p>
            <a:pPr marL="274320" indent="-274320" eaLnBrk="1" fontAlgn="auto" hangingPunct="1">
              <a:lnSpc>
                <a:spcPct val="90000"/>
              </a:lnSpc>
              <a:spcAft>
                <a:spcPts val="0"/>
              </a:spcAft>
              <a:buFont typeface="Wingdings"/>
              <a:buChar char=""/>
              <a:defRPr/>
            </a:pPr>
            <a:r>
              <a:rPr lang="en-US" dirty="0"/>
              <a:t>More opportunity for innovation</a:t>
            </a:r>
          </a:p>
          <a:p>
            <a:pPr marL="0" indent="0" eaLnBrk="1" fontAlgn="auto" hangingPunct="1">
              <a:lnSpc>
                <a:spcPct val="90000"/>
              </a:lnSpc>
              <a:spcAft>
                <a:spcPts val="0"/>
              </a:spcAft>
              <a:buNone/>
              <a:defRPr/>
            </a:pPr>
            <a:endParaRPr lang="en-US" dirty="0"/>
          </a:p>
          <a:p>
            <a:pPr marL="274320" indent="-274320" eaLnBrk="1" fontAlgn="auto" hangingPunct="1">
              <a:lnSpc>
                <a:spcPct val="90000"/>
              </a:lnSpc>
              <a:spcAft>
                <a:spcPts val="0"/>
              </a:spcAft>
              <a:buFont typeface="Wingdings"/>
              <a:buChar char=""/>
              <a:defRPr/>
            </a:pPr>
            <a:endParaRPr lang="en-US" dirty="0"/>
          </a:p>
        </p:txBody>
      </p:sp>
    </p:spTree>
    <p:extLst>
      <p:ext uri="{BB962C8B-B14F-4D97-AF65-F5344CB8AC3E}">
        <p14:creationId xmlns:p14="http://schemas.microsoft.com/office/powerpoint/2010/main" val="538627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dirty="0"/>
              <a:t> </a:t>
            </a:r>
            <a:r>
              <a:rPr lang="en-US" b="1" dirty="0"/>
              <a:t>Hybrid cloud</a:t>
            </a:r>
          </a:p>
        </p:txBody>
      </p:sp>
      <p:sp>
        <p:nvSpPr>
          <p:cNvPr id="14339" name="Rectangle 3"/>
          <p:cNvSpPr>
            <a:spLocks noGrp="1" noChangeArrowheads="1"/>
          </p:cNvSpPr>
          <p:nvPr>
            <p:ph sz="quarter" idx="1"/>
          </p:nvPr>
        </p:nvSpPr>
        <p:spPr>
          <a:xfrm>
            <a:off x="396240" y="1417638"/>
            <a:ext cx="7985760" cy="4906962"/>
          </a:xfrm>
        </p:spPr>
        <p:txBody>
          <a:bodyPr>
            <a:normAutofit/>
          </a:bodyPr>
          <a:lstStyle/>
          <a:p>
            <a:pPr marL="0" indent="0" eaLnBrk="1" fontAlgn="auto" hangingPunct="1">
              <a:lnSpc>
                <a:spcPct val="90000"/>
              </a:lnSpc>
              <a:spcAft>
                <a:spcPts val="0"/>
              </a:spcAft>
              <a:buNone/>
              <a:defRPr/>
            </a:pPr>
            <a:r>
              <a:rPr lang="en-US" b="1" dirty="0">
                <a:solidFill>
                  <a:srgbClr val="FF0000"/>
                </a:solidFill>
              </a:rPr>
              <a:t>Disadvantages:</a:t>
            </a:r>
          </a:p>
          <a:p>
            <a:pPr marL="274320" indent="-274320" eaLnBrk="1" fontAlgn="auto" hangingPunct="1">
              <a:lnSpc>
                <a:spcPct val="90000"/>
              </a:lnSpc>
              <a:spcAft>
                <a:spcPts val="0"/>
              </a:spcAft>
              <a:buFont typeface="Wingdings"/>
              <a:buChar char=""/>
              <a:defRPr/>
            </a:pPr>
            <a:r>
              <a:rPr lang="en-US" dirty="0"/>
              <a:t>Reliability </a:t>
            </a:r>
          </a:p>
          <a:p>
            <a:pPr marL="641033" lvl="1" indent="-274320" eaLnBrk="1" fontAlgn="auto" hangingPunct="1">
              <a:lnSpc>
                <a:spcPct val="90000"/>
              </a:lnSpc>
              <a:spcAft>
                <a:spcPts val="0"/>
              </a:spcAft>
              <a:buFont typeface="Wingdings"/>
              <a:buChar char=""/>
              <a:defRPr/>
            </a:pPr>
            <a:r>
              <a:rPr lang="en-US" dirty="0"/>
              <a:t>The reliableness of the services depends upon technological and money capability of the cloud service suppliers.</a:t>
            </a:r>
          </a:p>
          <a:p>
            <a:pPr marL="274320" indent="-274320" eaLnBrk="1" fontAlgn="auto" hangingPunct="1">
              <a:lnSpc>
                <a:spcPct val="90000"/>
              </a:lnSpc>
              <a:spcAft>
                <a:spcPts val="0"/>
              </a:spcAft>
              <a:buFont typeface="Wingdings"/>
              <a:buChar char=""/>
              <a:defRPr/>
            </a:pPr>
            <a:r>
              <a:rPr lang="en-US" dirty="0"/>
              <a:t>Implementation</a:t>
            </a:r>
          </a:p>
          <a:p>
            <a:pPr marL="641033" lvl="1" indent="-274320" algn="just" eaLnBrk="1" fontAlgn="auto" hangingPunct="1">
              <a:lnSpc>
                <a:spcPct val="90000"/>
              </a:lnSpc>
              <a:spcAft>
                <a:spcPts val="0"/>
              </a:spcAft>
              <a:buFont typeface="Wingdings"/>
              <a:buChar char=""/>
              <a:defRPr/>
            </a:pPr>
            <a:r>
              <a:rPr lang="en-US" dirty="0"/>
              <a:t>The hybrid cloud infrastructure is as difficult to implement as much as it is to maintain. </a:t>
            </a:r>
          </a:p>
          <a:p>
            <a:pPr marL="641033" lvl="1" indent="-274320" algn="just" eaLnBrk="1" fontAlgn="auto" hangingPunct="1">
              <a:lnSpc>
                <a:spcPct val="90000"/>
              </a:lnSpc>
              <a:spcAft>
                <a:spcPts val="0"/>
              </a:spcAft>
              <a:buFont typeface="Wingdings"/>
              <a:buChar char=""/>
              <a:defRPr/>
            </a:pPr>
            <a:r>
              <a:rPr lang="en-US" dirty="0"/>
              <a:t>For example, setting up a hybrid cloud infrastructure creates a strong demand for network capabilities, storage, and servers.</a:t>
            </a:r>
          </a:p>
          <a:p>
            <a:pPr marL="641033" lvl="1" indent="-274320" algn="just" eaLnBrk="1" fontAlgn="auto" hangingPunct="1">
              <a:lnSpc>
                <a:spcPct val="90000"/>
              </a:lnSpc>
              <a:spcAft>
                <a:spcPts val="0"/>
              </a:spcAft>
              <a:buFont typeface="Wingdings"/>
              <a:buChar char=""/>
              <a:defRPr/>
            </a:pPr>
            <a:r>
              <a:rPr lang="en-US" dirty="0"/>
              <a:t> Implementation of all these is time-intensive and requires accuracy to stave off any inherent issue that may result after. </a:t>
            </a:r>
          </a:p>
        </p:txBody>
      </p:sp>
    </p:spTree>
    <p:extLst>
      <p:ext uri="{BB962C8B-B14F-4D97-AF65-F5344CB8AC3E}">
        <p14:creationId xmlns:p14="http://schemas.microsoft.com/office/powerpoint/2010/main" val="382648062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a:t> </a:t>
            </a:r>
            <a:r>
              <a:rPr lang="en-US" b="1"/>
              <a:t>Hybrid cloud</a:t>
            </a:r>
          </a:p>
        </p:txBody>
      </p:sp>
      <p:sp>
        <p:nvSpPr>
          <p:cNvPr id="14339" name="Rectangle 3"/>
          <p:cNvSpPr>
            <a:spLocks noGrp="1" noChangeArrowheads="1"/>
          </p:cNvSpPr>
          <p:nvPr>
            <p:ph sz="quarter" idx="1"/>
          </p:nvPr>
        </p:nvSpPr>
        <p:spPr>
          <a:xfrm>
            <a:off x="396240" y="1417638"/>
            <a:ext cx="7985760" cy="4906962"/>
          </a:xfrm>
        </p:spPr>
        <p:txBody>
          <a:bodyPr>
            <a:normAutofit/>
          </a:bodyPr>
          <a:lstStyle/>
          <a:p>
            <a:pPr marL="0" indent="0" eaLnBrk="1" fontAlgn="auto" hangingPunct="1">
              <a:lnSpc>
                <a:spcPct val="90000"/>
              </a:lnSpc>
              <a:spcAft>
                <a:spcPts val="0"/>
              </a:spcAft>
              <a:buNone/>
              <a:defRPr/>
            </a:pPr>
            <a:r>
              <a:rPr lang="en-US" b="1" dirty="0">
                <a:solidFill>
                  <a:srgbClr val="FF0000"/>
                </a:solidFill>
              </a:rPr>
              <a:t>Disadvantages:</a:t>
            </a:r>
          </a:p>
          <a:p>
            <a:pPr marL="274320" indent="-274320" eaLnBrk="1" fontAlgn="auto" hangingPunct="1">
              <a:lnSpc>
                <a:spcPct val="90000"/>
              </a:lnSpc>
              <a:spcAft>
                <a:spcPts val="0"/>
              </a:spcAft>
              <a:buFont typeface="Wingdings"/>
              <a:buChar char=""/>
              <a:defRPr/>
            </a:pPr>
            <a:r>
              <a:rPr lang="en-US" dirty="0"/>
              <a:t>Hardware expenses </a:t>
            </a:r>
          </a:p>
          <a:p>
            <a:pPr marL="641033" lvl="1" indent="-274320" algn="just" eaLnBrk="1" fontAlgn="auto" hangingPunct="1">
              <a:spcAft>
                <a:spcPts val="0"/>
              </a:spcAft>
              <a:buFont typeface="Wingdings"/>
              <a:buChar char=""/>
              <a:defRPr/>
            </a:pPr>
            <a:r>
              <a:rPr lang="en-US" dirty="0"/>
              <a:t>With the hybrid cloud infrastructure, organizations must maintain and spend on on-premises hardware for handling the computing needs of the private cloud. </a:t>
            </a:r>
          </a:p>
          <a:p>
            <a:pPr marL="641033" lvl="1" indent="-274320" algn="just" eaLnBrk="1" fontAlgn="auto" hangingPunct="1">
              <a:spcAft>
                <a:spcPts val="0"/>
              </a:spcAft>
              <a:buFont typeface="Wingdings"/>
              <a:buChar char=""/>
              <a:defRPr/>
            </a:pPr>
            <a:r>
              <a:rPr lang="en-US" dirty="0"/>
              <a:t>Although public cloud operations offset the hardware expenses ultimately, it still depends on organizations and their computing requirements. </a:t>
            </a:r>
          </a:p>
          <a:p>
            <a:pPr marL="641033" lvl="1" indent="-274320" algn="just" eaLnBrk="1" fontAlgn="auto" hangingPunct="1">
              <a:spcAft>
                <a:spcPts val="0"/>
              </a:spcAft>
              <a:buFont typeface="Wingdings"/>
              <a:buChar char=""/>
              <a:defRPr/>
            </a:pPr>
            <a:r>
              <a:rPr lang="en-US" dirty="0"/>
              <a:t>Also, the cost accompanied with maintenance and installation of the hybrid cloud infrastructure is high.</a:t>
            </a:r>
          </a:p>
        </p:txBody>
      </p:sp>
    </p:spTree>
    <p:extLst>
      <p:ext uri="{BB962C8B-B14F-4D97-AF65-F5344CB8AC3E}">
        <p14:creationId xmlns:p14="http://schemas.microsoft.com/office/powerpoint/2010/main" val="43859703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fontAlgn="auto" hangingPunct="1">
              <a:spcAft>
                <a:spcPts val="0"/>
              </a:spcAft>
              <a:defRPr/>
            </a:pPr>
            <a:r>
              <a:rPr lang="en-US"/>
              <a:t> </a:t>
            </a:r>
            <a:r>
              <a:rPr lang="en-US" b="1"/>
              <a:t>Hybrid cloud</a:t>
            </a:r>
          </a:p>
        </p:txBody>
      </p:sp>
      <p:sp>
        <p:nvSpPr>
          <p:cNvPr id="14339" name="Rectangle 3"/>
          <p:cNvSpPr>
            <a:spLocks noGrp="1" noChangeArrowheads="1"/>
          </p:cNvSpPr>
          <p:nvPr>
            <p:ph sz="quarter" idx="1"/>
          </p:nvPr>
        </p:nvSpPr>
        <p:spPr>
          <a:xfrm>
            <a:off x="396240" y="1417638"/>
            <a:ext cx="7985760" cy="4906962"/>
          </a:xfrm>
        </p:spPr>
        <p:txBody>
          <a:bodyPr>
            <a:normAutofit/>
          </a:bodyPr>
          <a:lstStyle/>
          <a:p>
            <a:pPr marL="0" indent="0" eaLnBrk="1" fontAlgn="auto" hangingPunct="1">
              <a:lnSpc>
                <a:spcPct val="90000"/>
              </a:lnSpc>
              <a:spcAft>
                <a:spcPts val="0"/>
              </a:spcAft>
              <a:buNone/>
              <a:defRPr/>
            </a:pPr>
            <a:r>
              <a:rPr lang="en-US" b="1" dirty="0">
                <a:solidFill>
                  <a:srgbClr val="FF0000"/>
                </a:solidFill>
              </a:rPr>
              <a:t>Disadvantages:</a:t>
            </a:r>
          </a:p>
          <a:p>
            <a:pPr marL="274320" indent="-274320" eaLnBrk="1" fontAlgn="auto" hangingPunct="1">
              <a:lnSpc>
                <a:spcPct val="90000"/>
              </a:lnSpc>
              <a:spcAft>
                <a:spcPts val="0"/>
              </a:spcAft>
              <a:buFont typeface="Wingdings"/>
              <a:buChar char=""/>
              <a:defRPr/>
            </a:pPr>
            <a:r>
              <a:rPr lang="en-US" dirty="0"/>
              <a:t>Security concern</a:t>
            </a:r>
          </a:p>
          <a:p>
            <a:pPr marL="641033" lvl="1" indent="-274320" algn="just" eaLnBrk="1" fontAlgn="auto" hangingPunct="1">
              <a:spcAft>
                <a:spcPts val="0"/>
              </a:spcAft>
              <a:buFont typeface="Wingdings"/>
              <a:buChar char=""/>
              <a:defRPr/>
            </a:pPr>
            <a:r>
              <a:rPr lang="en-US" dirty="0"/>
              <a:t>The blend of public cloud, private cloud, and on-premises deployment makes the hybrid cloud infrastructure to be free of risks such as intrusion between neighboring environments. </a:t>
            </a:r>
          </a:p>
          <a:p>
            <a:pPr marL="641033" lvl="1" indent="-274320" algn="just" eaLnBrk="1" fontAlgn="auto" hangingPunct="1">
              <a:spcAft>
                <a:spcPts val="0"/>
              </a:spcAft>
              <a:buFont typeface="Wingdings"/>
              <a:buChar char=""/>
              <a:defRPr/>
            </a:pPr>
            <a:r>
              <a:rPr lang="en-US" dirty="0"/>
              <a:t>However, there might be cases of misuse of the hybrid cloud infrastructure contracted by third-party vendors. </a:t>
            </a:r>
          </a:p>
          <a:p>
            <a:pPr marL="641033" lvl="1" indent="-274320" algn="just" eaLnBrk="1" fontAlgn="auto" hangingPunct="1">
              <a:spcAft>
                <a:spcPts val="0"/>
              </a:spcAft>
              <a:buFont typeface="Wingdings"/>
              <a:buChar char=""/>
              <a:defRPr/>
            </a:pPr>
            <a:r>
              <a:rPr lang="en-US" dirty="0"/>
              <a:t>This puts the organizations at risk in terms of cyberattacks on the primary server, potentially creating the possibility of breaches to systems.</a:t>
            </a:r>
          </a:p>
        </p:txBody>
      </p:sp>
    </p:spTree>
    <p:extLst>
      <p:ext uri="{BB962C8B-B14F-4D97-AF65-F5344CB8AC3E}">
        <p14:creationId xmlns:p14="http://schemas.microsoft.com/office/powerpoint/2010/main" val="271468412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7985760" cy="4906962"/>
          </a:xfrm>
        </p:spPr>
        <p:txBody>
          <a:bodyPr>
            <a:normAutofit/>
          </a:bodyPr>
          <a:lstStyle/>
          <a:p>
            <a:pPr marL="274320" indent="-274320" algn="just" eaLnBrk="1" fontAlgn="auto" hangingPunct="1">
              <a:lnSpc>
                <a:spcPct val="90000"/>
              </a:lnSpc>
              <a:spcAft>
                <a:spcPts val="0"/>
              </a:spcAft>
              <a:buFont typeface="Wingdings"/>
              <a:buChar char=""/>
              <a:defRPr/>
            </a:pPr>
            <a:r>
              <a:rPr lang="en-US" sz="2100" dirty="0"/>
              <a:t>Community cloud is a cloud infrastructure that allows systems and services to be accessible by a group of several organizations to share the information.</a:t>
            </a:r>
          </a:p>
          <a:p>
            <a:pPr marL="274320" indent="-274320" algn="just" eaLnBrk="1" fontAlgn="auto" hangingPunct="1">
              <a:lnSpc>
                <a:spcPct val="90000"/>
              </a:lnSpc>
              <a:spcAft>
                <a:spcPts val="0"/>
              </a:spcAft>
              <a:buFont typeface="Wingdings"/>
              <a:buChar char=""/>
              <a:defRPr/>
            </a:pPr>
            <a:r>
              <a:rPr lang="en-US" sz="2100" dirty="0"/>
              <a:t>A community cloud in computing could be a corporate effort within which the infrastructure is shared between many organizations from selected community with common considerations.</a:t>
            </a:r>
          </a:p>
          <a:p>
            <a:pPr marL="274320" indent="-274320" algn="just" eaLnBrk="1" fontAlgn="auto" hangingPunct="1">
              <a:lnSpc>
                <a:spcPct val="90000"/>
              </a:lnSpc>
              <a:spcAft>
                <a:spcPts val="0"/>
              </a:spcAft>
              <a:buFont typeface="Wingdings"/>
              <a:buChar char=""/>
              <a:defRPr/>
            </a:pPr>
            <a:endParaRPr lang="en-US" sz="2100" dirty="0"/>
          </a:p>
        </p:txBody>
      </p:sp>
      <p:pic>
        <p:nvPicPr>
          <p:cNvPr id="3" name="Picture 2" descr="A picture containing graphical user interface&#10;&#10;Description automatically generated">
            <a:extLst>
              <a:ext uri="{FF2B5EF4-FFF2-40B4-BE49-F238E27FC236}">
                <a16:creationId xmlns:a16="http://schemas.microsoft.com/office/drawing/2014/main" id="{DCC9A8BC-AAA9-44B3-BBB4-EE3C5170B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3881393"/>
            <a:ext cx="3886200" cy="2228850"/>
          </a:xfrm>
          <a:prstGeom prst="rect">
            <a:avLst/>
          </a:prstGeom>
        </p:spPr>
      </p:pic>
    </p:spTree>
    <p:extLst>
      <p:ext uri="{BB962C8B-B14F-4D97-AF65-F5344CB8AC3E}">
        <p14:creationId xmlns:p14="http://schemas.microsoft.com/office/powerpoint/2010/main" val="329756565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8214360" cy="4906962"/>
          </a:xfrm>
        </p:spPr>
        <p:txBody>
          <a:bodyPr>
            <a:normAutofit/>
          </a:bodyPr>
          <a:lstStyle/>
          <a:p>
            <a:pPr marL="0" indent="0" algn="just" eaLnBrk="1" fontAlgn="auto" hangingPunct="1">
              <a:lnSpc>
                <a:spcPct val="90000"/>
              </a:lnSpc>
              <a:spcAft>
                <a:spcPts val="0"/>
              </a:spcAft>
              <a:buNone/>
              <a:defRPr/>
            </a:pPr>
            <a:r>
              <a:rPr lang="en-US" sz="2100" dirty="0"/>
              <a:t>Benefits:</a:t>
            </a:r>
          </a:p>
          <a:p>
            <a:pPr marL="0" indent="0" algn="just" eaLnBrk="1" fontAlgn="auto" hangingPunct="1">
              <a:lnSpc>
                <a:spcPct val="90000"/>
              </a:lnSpc>
              <a:spcAft>
                <a:spcPts val="0"/>
              </a:spcAft>
              <a:buNone/>
              <a:defRPr/>
            </a:pPr>
            <a:r>
              <a:rPr lang="en-US" b="1" dirty="0">
                <a:solidFill>
                  <a:srgbClr val="FF0000"/>
                </a:solidFill>
              </a:rPr>
              <a:t>Cost-effectiveness:</a:t>
            </a:r>
          </a:p>
          <a:p>
            <a:pPr marL="641033" lvl="1" indent="-274320" algn="just" eaLnBrk="1" fontAlgn="auto" hangingPunct="1">
              <a:lnSpc>
                <a:spcPct val="90000"/>
              </a:lnSpc>
              <a:spcAft>
                <a:spcPts val="0"/>
              </a:spcAft>
              <a:buFont typeface="Wingdings"/>
              <a:buChar char=""/>
              <a:defRPr/>
            </a:pPr>
            <a:r>
              <a:rPr lang="en-US" dirty="0"/>
              <a:t>The cost-effectiveness of setting up a community cloud vs. a private cloud is a compelling reason for organizations such as educational institutions to consider this shift. </a:t>
            </a:r>
          </a:p>
          <a:p>
            <a:pPr marL="641033" lvl="1" indent="-274320" algn="just" eaLnBrk="1" fontAlgn="auto" hangingPunct="1">
              <a:lnSpc>
                <a:spcPct val="90000"/>
              </a:lnSpc>
              <a:spcAft>
                <a:spcPts val="0"/>
              </a:spcAft>
              <a:buFont typeface="Wingdings"/>
              <a:buChar char=""/>
              <a:defRPr/>
            </a:pPr>
            <a:r>
              <a:rPr lang="en-US" dirty="0"/>
              <a:t>A community cloud allows users to connect to the same environment, with their sessions segmented logically. </a:t>
            </a:r>
          </a:p>
          <a:p>
            <a:pPr marL="641033" lvl="1" indent="-274320" algn="just" eaLnBrk="1" fontAlgn="auto" hangingPunct="1">
              <a:lnSpc>
                <a:spcPct val="90000"/>
              </a:lnSpc>
              <a:spcAft>
                <a:spcPts val="0"/>
              </a:spcAft>
              <a:buFont typeface="Wingdings"/>
              <a:buChar char=""/>
              <a:defRPr/>
            </a:pPr>
            <a:r>
              <a:rPr lang="en-US" dirty="0"/>
              <a:t>This removes the need to have separate servers to fulfill the same requirements across organizations.</a:t>
            </a:r>
          </a:p>
          <a:p>
            <a:pPr marL="274320" indent="-274320" algn="just" eaLnBrk="1" fontAlgn="auto" hangingPunct="1">
              <a:lnSpc>
                <a:spcPct val="90000"/>
              </a:lnSpc>
              <a:spcAft>
                <a:spcPts val="0"/>
              </a:spcAft>
              <a:buFont typeface="Wingdings"/>
              <a:buChar char=""/>
              <a:defRPr/>
            </a:pPr>
            <a:endParaRPr lang="en-US" sz="2100" dirty="0"/>
          </a:p>
          <a:p>
            <a:pPr marL="274320" indent="-274320" algn="just" eaLnBrk="1" fontAlgn="auto" hangingPunct="1">
              <a:lnSpc>
                <a:spcPct val="90000"/>
              </a:lnSpc>
              <a:spcAft>
                <a:spcPts val="0"/>
              </a:spcAft>
              <a:buFont typeface="Wingdings"/>
              <a:buChar char=""/>
              <a:defRPr/>
            </a:pPr>
            <a:endParaRPr lang="en-US" sz="2100" dirty="0"/>
          </a:p>
        </p:txBody>
      </p:sp>
    </p:spTree>
    <p:extLst>
      <p:ext uri="{BB962C8B-B14F-4D97-AF65-F5344CB8AC3E}">
        <p14:creationId xmlns:p14="http://schemas.microsoft.com/office/powerpoint/2010/main" val="190785608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7985760" cy="4144962"/>
          </a:xfrm>
        </p:spPr>
        <p:txBody>
          <a:bodyPr>
            <a:normAutofit/>
          </a:bodyPr>
          <a:lstStyle/>
          <a:p>
            <a:pPr marL="0" indent="0" algn="just" eaLnBrk="1" fontAlgn="auto" hangingPunct="1">
              <a:lnSpc>
                <a:spcPct val="90000"/>
              </a:lnSpc>
              <a:spcAft>
                <a:spcPts val="0"/>
              </a:spcAft>
              <a:buNone/>
              <a:defRPr/>
            </a:pPr>
            <a:r>
              <a:rPr lang="en-US" sz="2100" dirty="0"/>
              <a:t>Benefits:</a:t>
            </a:r>
          </a:p>
          <a:p>
            <a:pPr marL="0" indent="0" algn="just" eaLnBrk="1" fontAlgn="auto" hangingPunct="1">
              <a:lnSpc>
                <a:spcPct val="90000"/>
              </a:lnSpc>
              <a:spcAft>
                <a:spcPts val="0"/>
              </a:spcAft>
              <a:buNone/>
              <a:defRPr/>
            </a:pPr>
            <a:r>
              <a:rPr lang="en-US" b="1" i="0" dirty="0">
                <a:solidFill>
                  <a:srgbClr val="FF0000"/>
                </a:solidFill>
                <a:effectLst/>
                <a:latin typeface="PT Serif" panose="020A0603040505020204" pitchFamily="18" charset="0"/>
              </a:rPr>
              <a:t>Regulatory compliance:</a:t>
            </a:r>
          </a:p>
          <a:p>
            <a:pPr marL="0" indent="0" algn="just" eaLnBrk="1" fontAlgn="auto" hangingPunct="1">
              <a:lnSpc>
                <a:spcPct val="90000"/>
              </a:lnSpc>
              <a:spcAft>
                <a:spcPts val="0"/>
              </a:spcAft>
              <a:buNone/>
              <a:defRPr/>
            </a:pPr>
            <a:endParaRPr lang="en-US" b="1" i="0" dirty="0">
              <a:solidFill>
                <a:srgbClr val="FF0000"/>
              </a:solidFill>
              <a:effectLst/>
              <a:latin typeface="PT Serif" panose="020A0603040505020204" pitchFamily="18" charset="0"/>
            </a:endParaRPr>
          </a:p>
          <a:p>
            <a:pPr marL="641033" lvl="1" indent="-274320" algn="just" eaLnBrk="1" fontAlgn="auto" hangingPunct="1">
              <a:lnSpc>
                <a:spcPct val="90000"/>
              </a:lnSpc>
              <a:spcAft>
                <a:spcPts val="0"/>
              </a:spcAft>
              <a:buFont typeface="Wingdings"/>
              <a:buChar char=""/>
              <a:defRPr/>
            </a:pPr>
            <a:r>
              <a:rPr lang="en-US" sz="2100" dirty="0"/>
              <a:t>By banding together under the community cloud umbrella, the common interpretation and implementation of laws can be ensured. </a:t>
            </a:r>
          </a:p>
          <a:p>
            <a:pPr marL="641033" lvl="1" indent="-274320" algn="just" eaLnBrk="1" fontAlgn="auto" hangingPunct="1">
              <a:lnSpc>
                <a:spcPct val="90000"/>
              </a:lnSpc>
              <a:spcAft>
                <a:spcPts val="0"/>
              </a:spcAft>
              <a:buFont typeface="Wingdings"/>
              <a:buChar char=""/>
              <a:defRPr/>
            </a:pPr>
            <a:r>
              <a:rPr lang="en-US" sz="2100" dirty="0"/>
              <a:t>This drastically reduces vulnerability to legal action. </a:t>
            </a:r>
          </a:p>
          <a:p>
            <a:pPr marL="641033" lvl="1" indent="-274320" algn="just" eaLnBrk="1" fontAlgn="auto" hangingPunct="1">
              <a:lnSpc>
                <a:spcPct val="90000"/>
              </a:lnSpc>
              <a:spcAft>
                <a:spcPts val="0"/>
              </a:spcAft>
              <a:buFont typeface="Wingdings"/>
              <a:buChar char=""/>
              <a:defRPr/>
            </a:pPr>
            <a:r>
              <a:rPr lang="en-US" sz="2100" dirty="0"/>
              <a:t>A community cloud allows users to connect to the same environment, with their sessions segmented logically. </a:t>
            </a:r>
          </a:p>
          <a:p>
            <a:pPr marL="641033" lvl="1" indent="-274320" algn="just" eaLnBrk="1" fontAlgn="auto" hangingPunct="1">
              <a:lnSpc>
                <a:spcPct val="90000"/>
              </a:lnSpc>
              <a:spcAft>
                <a:spcPts val="0"/>
              </a:spcAft>
              <a:buFont typeface="Wingdings"/>
              <a:buChar char=""/>
              <a:defRPr/>
            </a:pPr>
            <a:endParaRPr lang="en-US" dirty="0"/>
          </a:p>
          <a:p>
            <a:pPr marL="274320" indent="-274320" algn="just" eaLnBrk="1" fontAlgn="auto" hangingPunct="1">
              <a:lnSpc>
                <a:spcPct val="90000"/>
              </a:lnSpc>
              <a:spcAft>
                <a:spcPts val="0"/>
              </a:spcAft>
              <a:buFont typeface="Wingdings"/>
              <a:buChar char=""/>
              <a:defRPr/>
            </a:pPr>
            <a:endParaRPr lang="en-US" sz="2100" dirty="0"/>
          </a:p>
          <a:p>
            <a:pPr marL="274320" indent="-274320" algn="just" eaLnBrk="1" fontAlgn="auto" hangingPunct="1">
              <a:lnSpc>
                <a:spcPct val="90000"/>
              </a:lnSpc>
              <a:spcAft>
                <a:spcPts val="0"/>
              </a:spcAft>
              <a:buFont typeface="Wingdings"/>
              <a:buChar char=""/>
              <a:defRPr/>
            </a:pPr>
            <a:endParaRPr lang="en-US" sz="2100" dirty="0"/>
          </a:p>
        </p:txBody>
      </p:sp>
    </p:spTree>
    <p:extLst>
      <p:ext uri="{BB962C8B-B14F-4D97-AF65-F5344CB8AC3E}">
        <p14:creationId xmlns:p14="http://schemas.microsoft.com/office/powerpoint/2010/main" val="248305094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7757160" cy="3535362"/>
          </a:xfrm>
        </p:spPr>
        <p:txBody>
          <a:bodyPr>
            <a:normAutofit/>
          </a:bodyPr>
          <a:lstStyle/>
          <a:p>
            <a:pPr marL="0" indent="0" algn="just" eaLnBrk="1" fontAlgn="auto" hangingPunct="1">
              <a:lnSpc>
                <a:spcPct val="90000"/>
              </a:lnSpc>
              <a:spcAft>
                <a:spcPts val="0"/>
              </a:spcAft>
              <a:buNone/>
              <a:defRPr/>
            </a:pPr>
            <a:r>
              <a:rPr lang="en-US" sz="2100" dirty="0"/>
              <a:t>Benefits:</a:t>
            </a:r>
          </a:p>
          <a:p>
            <a:pPr marL="0" indent="0" algn="just" eaLnBrk="1" fontAlgn="auto" hangingPunct="1">
              <a:lnSpc>
                <a:spcPct val="90000"/>
              </a:lnSpc>
              <a:spcAft>
                <a:spcPts val="0"/>
              </a:spcAft>
              <a:buNone/>
              <a:defRPr/>
            </a:pPr>
            <a:r>
              <a:rPr lang="en-US" b="1" i="0" dirty="0">
                <a:solidFill>
                  <a:srgbClr val="FF0000"/>
                </a:solidFill>
                <a:effectLst/>
                <a:latin typeface="PT Serif" panose="020A0603040505020204" pitchFamily="18" charset="0"/>
              </a:rPr>
              <a:t>Industry-based security requirements</a:t>
            </a:r>
            <a:r>
              <a:rPr lang="en-US" b="0" i="0" dirty="0">
                <a:solidFill>
                  <a:srgbClr val="FF0000"/>
                </a:solidFill>
                <a:effectLst/>
                <a:latin typeface="PT Serif" panose="020A0603040505020204" pitchFamily="18" charset="0"/>
              </a:rPr>
              <a:t>:</a:t>
            </a:r>
          </a:p>
          <a:p>
            <a:pPr marL="0" indent="0" algn="just" eaLnBrk="1" fontAlgn="auto" hangingPunct="1">
              <a:lnSpc>
                <a:spcPct val="90000"/>
              </a:lnSpc>
              <a:spcAft>
                <a:spcPts val="0"/>
              </a:spcAft>
              <a:buNone/>
              <a:defRPr/>
            </a:pPr>
            <a:endParaRPr lang="en-US" b="1" i="0" dirty="0">
              <a:solidFill>
                <a:srgbClr val="FF0000"/>
              </a:solidFill>
              <a:effectLst/>
              <a:latin typeface="PT Serif" panose="020A0603040505020204" pitchFamily="18" charset="0"/>
            </a:endParaRPr>
          </a:p>
          <a:p>
            <a:pPr marL="641033" lvl="1" indent="-274320" algn="just" eaLnBrk="1" fontAlgn="auto" hangingPunct="1">
              <a:lnSpc>
                <a:spcPct val="90000"/>
              </a:lnSpc>
              <a:spcAft>
                <a:spcPts val="0"/>
              </a:spcAft>
              <a:buFont typeface="Wingdings"/>
              <a:buChar char=""/>
              <a:defRPr/>
            </a:pPr>
            <a:r>
              <a:rPr lang="en-US" b="0" i="0" dirty="0">
                <a:solidFill>
                  <a:srgbClr val="0D0D0D"/>
                </a:solidFill>
                <a:effectLst/>
                <a:latin typeface="PT Serif" panose="020A0603040505020204" pitchFamily="18" charset="0"/>
              </a:rPr>
              <a:t>The expertise and technology to implement these security requirements cannot be avoided. </a:t>
            </a:r>
          </a:p>
          <a:p>
            <a:pPr marL="641033" lvl="1" indent="-274320" algn="just" eaLnBrk="1" fontAlgn="auto" hangingPunct="1">
              <a:lnSpc>
                <a:spcPct val="90000"/>
              </a:lnSpc>
              <a:spcAft>
                <a:spcPts val="0"/>
              </a:spcAft>
              <a:buFont typeface="Wingdings"/>
              <a:buChar char=""/>
              <a:defRPr/>
            </a:pPr>
            <a:r>
              <a:rPr lang="en-US" b="0" i="0" dirty="0">
                <a:solidFill>
                  <a:srgbClr val="0D0D0D"/>
                </a:solidFill>
                <a:effectLst/>
                <a:latin typeface="PT Serif" panose="020A0603040505020204" pitchFamily="18" charset="0"/>
              </a:rPr>
              <a:t>This is where community cloud members help each other by sharing expertise.</a:t>
            </a:r>
            <a:endParaRPr lang="en-US" dirty="0"/>
          </a:p>
          <a:p>
            <a:pPr marL="274320" indent="-274320" algn="just" eaLnBrk="1" fontAlgn="auto" hangingPunct="1">
              <a:lnSpc>
                <a:spcPct val="90000"/>
              </a:lnSpc>
              <a:spcAft>
                <a:spcPts val="0"/>
              </a:spcAft>
              <a:buFont typeface="Wingdings"/>
              <a:buChar char=""/>
              <a:defRPr/>
            </a:pPr>
            <a:endParaRPr lang="en-US" sz="2100" dirty="0"/>
          </a:p>
          <a:p>
            <a:pPr marL="274320" indent="-274320" algn="just" eaLnBrk="1" fontAlgn="auto" hangingPunct="1">
              <a:lnSpc>
                <a:spcPct val="90000"/>
              </a:lnSpc>
              <a:spcAft>
                <a:spcPts val="0"/>
              </a:spcAft>
              <a:buFont typeface="Wingdings"/>
              <a:buChar char=""/>
              <a:defRPr/>
            </a:pPr>
            <a:endParaRPr lang="en-US" sz="2100" dirty="0"/>
          </a:p>
        </p:txBody>
      </p:sp>
    </p:spTree>
    <p:extLst>
      <p:ext uri="{BB962C8B-B14F-4D97-AF65-F5344CB8AC3E}">
        <p14:creationId xmlns:p14="http://schemas.microsoft.com/office/powerpoint/2010/main" val="261060702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7757160" cy="3535362"/>
          </a:xfrm>
        </p:spPr>
        <p:txBody>
          <a:bodyPr>
            <a:normAutofit/>
          </a:bodyPr>
          <a:lstStyle/>
          <a:p>
            <a:pPr marL="0" indent="0" algn="just" eaLnBrk="1" fontAlgn="auto" hangingPunct="1">
              <a:lnSpc>
                <a:spcPct val="90000"/>
              </a:lnSpc>
              <a:spcAft>
                <a:spcPts val="0"/>
              </a:spcAft>
              <a:buNone/>
              <a:defRPr/>
            </a:pPr>
            <a:r>
              <a:rPr lang="en-US" sz="2100" dirty="0"/>
              <a:t>Benefits:</a:t>
            </a:r>
          </a:p>
          <a:p>
            <a:pPr marL="0" indent="0" algn="just" eaLnBrk="1" fontAlgn="auto" hangingPunct="1">
              <a:lnSpc>
                <a:spcPct val="90000"/>
              </a:lnSpc>
              <a:spcAft>
                <a:spcPts val="0"/>
              </a:spcAft>
              <a:buNone/>
              <a:defRPr/>
            </a:pPr>
            <a:r>
              <a:rPr lang="en-US" b="1" i="0" dirty="0">
                <a:solidFill>
                  <a:srgbClr val="FF0000"/>
                </a:solidFill>
                <a:effectLst/>
                <a:latin typeface="PT Serif" panose="020A0603040505020204" pitchFamily="18" charset="0"/>
              </a:rPr>
              <a:t>High availability: </a:t>
            </a:r>
          </a:p>
          <a:p>
            <a:pPr marL="641033" lvl="1" indent="-274320" algn="just" eaLnBrk="1" fontAlgn="auto" hangingPunct="1">
              <a:lnSpc>
                <a:spcPct val="90000"/>
              </a:lnSpc>
              <a:spcAft>
                <a:spcPts val="0"/>
              </a:spcAft>
              <a:buFont typeface="Wingdings"/>
              <a:buChar char=""/>
              <a:defRPr/>
            </a:pPr>
            <a:r>
              <a:rPr lang="en-US" dirty="0"/>
              <a:t>The lure of cloud solutions lies in the fact that most come with high availability, meaning downtime is low or nonexistent. </a:t>
            </a:r>
          </a:p>
          <a:p>
            <a:pPr marL="641033" lvl="1" indent="-274320" algn="just" eaLnBrk="1" fontAlgn="auto" hangingPunct="1">
              <a:lnSpc>
                <a:spcPct val="90000"/>
              </a:lnSpc>
              <a:spcAft>
                <a:spcPts val="0"/>
              </a:spcAft>
              <a:buFont typeface="Wingdings"/>
              <a:buChar char=""/>
              <a:defRPr/>
            </a:pPr>
            <a:r>
              <a:rPr lang="en-US" dirty="0"/>
              <a:t>This holds true for community clouds as well.</a:t>
            </a:r>
          </a:p>
          <a:p>
            <a:pPr marL="274320" indent="-274320" algn="just" eaLnBrk="1" fontAlgn="auto" hangingPunct="1">
              <a:lnSpc>
                <a:spcPct val="90000"/>
              </a:lnSpc>
              <a:spcAft>
                <a:spcPts val="0"/>
              </a:spcAft>
              <a:buFont typeface="Wingdings"/>
              <a:buChar char=""/>
              <a:defRPr/>
            </a:pPr>
            <a:endParaRPr lang="en-US" sz="2100" dirty="0"/>
          </a:p>
          <a:p>
            <a:pPr marL="274320" indent="-274320" algn="just" eaLnBrk="1" fontAlgn="auto" hangingPunct="1">
              <a:lnSpc>
                <a:spcPct val="90000"/>
              </a:lnSpc>
              <a:spcAft>
                <a:spcPts val="0"/>
              </a:spcAft>
              <a:buFont typeface="Wingdings"/>
              <a:buChar char=""/>
              <a:defRPr/>
            </a:pPr>
            <a:endParaRPr lang="en-US" sz="2100" dirty="0"/>
          </a:p>
        </p:txBody>
      </p:sp>
    </p:spTree>
    <p:extLst>
      <p:ext uri="{BB962C8B-B14F-4D97-AF65-F5344CB8AC3E}">
        <p14:creationId xmlns:p14="http://schemas.microsoft.com/office/powerpoint/2010/main" val="36299746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7467600" cy="715962"/>
          </a:xfrm>
        </p:spPr>
        <p:txBody>
          <a:bodyPr/>
          <a:lstStyle/>
          <a:p>
            <a:pPr eaLnBrk="1" fontAlgn="auto" hangingPunct="1">
              <a:spcAft>
                <a:spcPts val="0"/>
              </a:spcAft>
              <a:defRPr/>
            </a:pPr>
            <a:r>
              <a:rPr lang="en-US" dirty="0"/>
              <a:t> </a:t>
            </a:r>
            <a:r>
              <a:rPr lang="en-US" b="1" dirty="0"/>
              <a:t>Community cloud</a:t>
            </a:r>
          </a:p>
        </p:txBody>
      </p:sp>
      <p:sp>
        <p:nvSpPr>
          <p:cNvPr id="14339" name="Rectangle 3"/>
          <p:cNvSpPr>
            <a:spLocks noGrp="1" noChangeArrowheads="1"/>
          </p:cNvSpPr>
          <p:nvPr>
            <p:ph sz="quarter" idx="1"/>
          </p:nvPr>
        </p:nvSpPr>
        <p:spPr>
          <a:xfrm>
            <a:off x="396240" y="1417638"/>
            <a:ext cx="7757160" cy="4525962"/>
          </a:xfrm>
        </p:spPr>
        <p:txBody>
          <a:bodyPr>
            <a:normAutofit/>
          </a:bodyPr>
          <a:lstStyle/>
          <a:p>
            <a:pPr marL="0" indent="0" algn="just" eaLnBrk="1" fontAlgn="auto" hangingPunct="1">
              <a:lnSpc>
                <a:spcPct val="90000"/>
              </a:lnSpc>
              <a:spcAft>
                <a:spcPts val="0"/>
              </a:spcAft>
              <a:buNone/>
              <a:defRPr/>
            </a:pPr>
            <a:r>
              <a:rPr lang="en-US" sz="2100" b="1" dirty="0">
                <a:solidFill>
                  <a:srgbClr val="FF0000"/>
                </a:solidFill>
              </a:rPr>
              <a:t>Disadvantages:</a:t>
            </a:r>
          </a:p>
          <a:p>
            <a:pPr algn="just">
              <a:buFont typeface="Arial" panose="020B0604020202020204" pitchFamily="34" charset="0"/>
              <a:buChar char="•"/>
            </a:pPr>
            <a:r>
              <a:rPr lang="en-US" dirty="0"/>
              <a:t>The Community cloud is not a good choice for every organization.</a:t>
            </a:r>
          </a:p>
          <a:p>
            <a:pPr algn="just">
              <a:buFont typeface="Arial" panose="020B0604020202020204" pitchFamily="34" charset="0"/>
              <a:buChar char="•"/>
            </a:pPr>
            <a:r>
              <a:rPr lang="en-US" dirty="0"/>
              <a:t>Slow adoption to data.</a:t>
            </a:r>
          </a:p>
          <a:p>
            <a:pPr algn="just">
              <a:buFont typeface="Arial" panose="020B0604020202020204" pitchFamily="34" charset="0"/>
              <a:buChar char="•"/>
            </a:pPr>
            <a:r>
              <a:rPr lang="en-US" dirty="0"/>
              <a:t>The fixed amount of data storage and bandwidth is shared among all community members.</a:t>
            </a:r>
          </a:p>
          <a:p>
            <a:pPr algn="just">
              <a:buFont typeface="Arial" panose="020B0604020202020204" pitchFamily="34" charset="0"/>
              <a:buChar char="•"/>
            </a:pPr>
            <a:r>
              <a:rPr lang="en-US" dirty="0"/>
              <a:t>Community Cloud is costly than the public cloud.</a:t>
            </a:r>
          </a:p>
          <a:p>
            <a:pPr algn="just">
              <a:buFont typeface="Arial" panose="020B0604020202020204" pitchFamily="34" charset="0"/>
              <a:buChar char="•"/>
            </a:pPr>
            <a:r>
              <a:rPr lang="en-US" dirty="0"/>
              <a:t>Sharing responsibilities among organizations is difficult.</a:t>
            </a:r>
          </a:p>
          <a:p>
            <a:pPr marL="274320" indent="-274320" algn="just" eaLnBrk="1" fontAlgn="auto" hangingPunct="1">
              <a:lnSpc>
                <a:spcPct val="90000"/>
              </a:lnSpc>
              <a:spcAft>
                <a:spcPts val="0"/>
              </a:spcAft>
              <a:buFont typeface="Wingdings"/>
              <a:buChar char=""/>
              <a:defRPr/>
            </a:pPr>
            <a:endParaRPr lang="en-US" sz="2100" dirty="0"/>
          </a:p>
          <a:p>
            <a:pPr marL="274320" indent="-274320" algn="just" eaLnBrk="1" fontAlgn="auto" hangingPunct="1">
              <a:lnSpc>
                <a:spcPct val="90000"/>
              </a:lnSpc>
              <a:spcAft>
                <a:spcPts val="0"/>
              </a:spcAft>
              <a:buFont typeface="Wingdings"/>
              <a:buChar char=""/>
              <a:defRPr/>
            </a:pPr>
            <a:endParaRPr lang="en-US" sz="2100" dirty="0"/>
          </a:p>
        </p:txBody>
      </p:sp>
    </p:spTree>
    <p:extLst>
      <p:ext uri="{BB962C8B-B14F-4D97-AF65-F5344CB8AC3E}">
        <p14:creationId xmlns:p14="http://schemas.microsoft.com/office/powerpoint/2010/main" val="4145281435"/>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6812894AF27C4B9BEA242A5F6FBAEB" ma:contentTypeVersion="3" ma:contentTypeDescription="Create a new document." ma:contentTypeScope="" ma:versionID="a489823335127097a59b5e1221195550">
  <xsd:schema xmlns:xsd="http://www.w3.org/2001/XMLSchema" xmlns:xs="http://www.w3.org/2001/XMLSchema" xmlns:p="http://schemas.microsoft.com/office/2006/metadata/properties" xmlns:ns2="7bca1dba-6ac6-41dc-89fe-ef4b674b2d91" targetNamespace="http://schemas.microsoft.com/office/2006/metadata/properties" ma:root="true" ma:fieldsID="1d5048d958bb91d07665fe1e62e4cc96" ns2:_="">
    <xsd:import namespace="7bca1dba-6ac6-41dc-89fe-ef4b674b2d9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ca1dba-6ac6-41dc-89fe-ef4b674b2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FB5F1BA-C29A-4DD7-8CA2-3D6A04719009}"/>
</file>

<file path=customXml/itemProps2.xml><?xml version="1.0" encoding="utf-8"?>
<ds:datastoreItem xmlns:ds="http://schemas.openxmlformats.org/officeDocument/2006/customXml" ds:itemID="{D3812422-6BF9-46A1-99F7-BB2A98412F12}"/>
</file>

<file path=customXml/itemProps3.xml><?xml version="1.0" encoding="utf-8"?>
<ds:datastoreItem xmlns:ds="http://schemas.openxmlformats.org/officeDocument/2006/customXml" ds:itemID="{277D710A-0265-4801-878C-E96993BE6FB1}"/>
</file>

<file path=docProps/app.xml><?xml version="1.0" encoding="utf-8"?>
<Properties xmlns="http://schemas.openxmlformats.org/officeDocument/2006/extended-properties" xmlns:vt="http://schemas.openxmlformats.org/officeDocument/2006/docPropsVTypes">
  <Template>Oriel</Template>
  <TotalTime>659</TotalTime>
  <Words>1093</Words>
  <Application>Microsoft Office PowerPoint</Application>
  <PresentationFormat>On-screen Show (4:3)</PresentationFormat>
  <Paragraphs>123</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Century Schoolbook</vt:lpstr>
      <vt:lpstr>PT Serif</vt:lpstr>
      <vt:lpstr>Tahoma</vt:lpstr>
      <vt:lpstr>Wingdings</vt:lpstr>
      <vt:lpstr>Wingdings 2</vt:lpstr>
      <vt:lpstr>Oriel</vt:lpstr>
      <vt:lpstr>PowerPoint Presentation</vt:lpstr>
      <vt:lpstr>Types of Cloud Computing deployment models</vt:lpstr>
      <vt:lpstr>Public cloud </vt:lpstr>
      <vt:lpstr>Public cloud </vt:lpstr>
      <vt:lpstr>Public cloud </vt:lpstr>
      <vt:lpstr>Public cloud </vt:lpstr>
      <vt:lpstr>Private cloud </vt:lpstr>
      <vt:lpstr>Private cloud </vt:lpstr>
      <vt:lpstr>Private cloud </vt:lpstr>
      <vt:lpstr>Private cloud </vt:lpstr>
      <vt:lpstr>Private cloud </vt:lpstr>
      <vt:lpstr>Private cloud </vt:lpstr>
      <vt:lpstr> Hybrid cloud</vt:lpstr>
      <vt:lpstr> Hybrid cloud</vt:lpstr>
      <vt:lpstr> Hybrid cloud</vt:lpstr>
      <vt:lpstr> Hybrid cloud</vt:lpstr>
      <vt:lpstr> Hybrid cloud</vt:lpstr>
      <vt:lpstr> Community cloud</vt:lpstr>
      <vt:lpstr> Community cloud</vt:lpstr>
      <vt:lpstr> Community cloud</vt:lpstr>
      <vt:lpstr> Community cloud</vt:lpstr>
      <vt:lpstr> Community cloud</vt:lpstr>
      <vt:lpstr> Community cloud</vt:lpstr>
    </vt:vector>
  </TitlesOfParts>
  <Company>&lt;arabianhorse&gt;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Sumit</dc:creator>
  <cp:lastModifiedBy>Soni Bhambar</cp:lastModifiedBy>
  <cp:revision>65</cp:revision>
  <dcterms:created xsi:type="dcterms:W3CDTF">2013-11-26T11:56:53Z</dcterms:created>
  <dcterms:modified xsi:type="dcterms:W3CDTF">2026-08-07T08:25:41Z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0x010100896812894AF27C4B9BEA242A5F6FBAEB</vt:lpwstr>
  </property>
</Properties>
</file>