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4"/>
  </p:sldMasterIdLst>
  <p:notesMasterIdLst>
    <p:notesMasterId r:id="rId26"/>
  </p:notesMasterIdLst>
  <p:sldIdLst>
    <p:sldId id="275" r:id="rId5"/>
    <p:sldId id="278" r:id="rId6"/>
    <p:sldId id="262" r:id="rId7"/>
    <p:sldId id="279" r:id="rId8"/>
    <p:sldId id="280" r:id="rId9"/>
    <p:sldId id="294" r:id="rId10"/>
    <p:sldId id="295" r:id="rId11"/>
    <p:sldId id="297" r:id="rId12"/>
    <p:sldId id="296" r:id="rId13"/>
    <p:sldId id="299" r:id="rId14"/>
    <p:sldId id="300" r:id="rId15"/>
    <p:sldId id="301" r:id="rId16"/>
    <p:sldId id="302" r:id="rId17"/>
    <p:sldId id="282" r:id="rId18"/>
    <p:sldId id="286" r:id="rId19"/>
    <p:sldId id="287" r:id="rId20"/>
    <p:sldId id="288" r:id="rId21"/>
    <p:sldId id="303" r:id="rId22"/>
    <p:sldId id="283" r:id="rId23"/>
    <p:sldId id="284" r:id="rId24"/>
    <p:sldId id="285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D3276-72CD-F60F-730B-C22C8BF8746D}" v="2" dt="2026-08-16T07:12:32.951"/>
    <p1510:client id="{9C3281A7-411F-FC67-6D80-428FF528EAF1}" v="1" dt="2026-08-18T06:31:22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ITI VICHHIVORA - 70382200010" userId="S::dhriti.vichhivora10@nmims.in::af5b2e52-3b0a-4418-ba9e-df5bad76003e" providerId="AD" clId="Web-{9C3281A7-411F-FC67-6D80-428FF528EAF1}"/>
    <pc:docChg chg="sldOrd">
      <pc:chgData name="DHRITI VICHHIVORA - 70382200010" userId="S::dhriti.vichhivora10@nmims.in::af5b2e52-3b0a-4418-ba9e-df5bad76003e" providerId="AD" clId="Web-{9C3281A7-411F-FC67-6D80-428FF528EAF1}" dt="2026-08-18T06:31:22.257" v="0"/>
      <pc:docMkLst>
        <pc:docMk/>
      </pc:docMkLst>
      <pc:sldChg chg="ord">
        <pc:chgData name="DHRITI VICHHIVORA - 70382200010" userId="S::dhriti.vichhivora10@nmims.in::af5b2e52-3b0a-4418-ba9e-df5bad76003e" providerId="AD" clId="Web-{9C3281A7-411F-FC67-6D80-428FF528EAF1}" dt="2026-08-18T06:31:22.257" v="0"/>
        <pc:sldMkLst>
          <pc:docMk/>
          <pc:sldMk cId="1686421940" sldId="297"/>
        </pc:sldMkLst>
      </pc:sldChg>
    </pc:docChg>
  </pc:docChgLst>
  <pc:docChgLst>
    <pc:chgData name="Soni Bhambar" userId="00a8fab9-7aa3-4075-b99f-3577476e29e3" providerId="ADAL" clId="{A18437A5-ABAC-4888-A2BA-24EA01533EB6}"/>
    <pc:docChg chg="addSld delSld modSld">
      <pc:chgData name="Soni Bhambar" userId="00a8fab9-7aa3-4075-b99f-3577476e29e3" providerId="ADAL" clId="{A18437A5-ABAC-4888-A2BA-24EA01533EB6}" dt="2026-08-07T04:05:49.438" v="82" actId="20577"/>
      <pc:docMkLst>
        <pc:docMk/>
      </pc:docMkLst>
      <pc:sldChg chg="addSp delSp modSp new mod">
        <pc:chgData name="Soni Bhambar" userId="00a8fab9-7aa3-4075-b99f-3577476e29e3" providerId="ADAL" clId="{A18437A5-ABAC-4888-A2BA-24EA01533EB6}" dt="2026-08-07T04:05:49.438" v="82" actId="20577"/>
        <pc:sldMkLst>
          <pc:docMk/>
          <pc:sldMk cId="3855459290" sldId="303"/>
        </pc:sldMkLst>
        <pc:spChg chg="mod">
          <ac:chgData name="Soni Bhambar" userId="00a8fab9-7aa3-4075-b99f-3577476e29e3" providerId="ADAL" clId="{A18437A5-ABAC-4888-A2BA-24EA01533EB6}" dt="2026-08-07T04:05:49.438" v="82" actId="20577"/>
          <ac:spMkLst>
            <pc:docMk/>
            <pc:sldMk cId="3855459290" sldId="303"/>
            <ac:spMk id="2" creationId="{6926BC08-71E8-4971-97F5-04BAB0328C58}"/>
          </ac:spMkLst>
        </pc:spChg>
        <pc:picChg chg="add mod">
          <ac:chgData name="Soni Bhambar" userId="00a8fab9-7aa3-4075-b99f-3577476e29e3" providerId="ADAL" clId="{A18437A5-ABAC-4888-A2BA-24EA01533EB6}" dt="2026-08-07T04:05:14.983" v="9" actId="1076"/>
          <ac:picMkLst>
            <pc:docMk/>
            <pc:sldMk cId="3855459290" sldId="303"/>
            <ac:picMk id="1026" creationId="{539B199E-3959-4CE1-A7C6-252FAECC08A2}"/>
          </ac:picMkLst>
        </pc:picChg>
      </pc:sldChg>
    </pc:docChg>
  </pc:docChgLst>
  <pc:docChgLst>
    <pc:chgData name="SHRAVAN GADKARI - 70382200036" userId="S::shravan.gadkari36@nmims.in::d1e4a3ac-0656-4a5a-bc36-65605d981b91" providerId="AD" clId="Web-{3BAD3276-72CD-F60F-730B-C22C8BF8746D}"/>
    <pc:docChg chg="addSld delSld">
      <pc:chgData name="SHRAVAN GADKARI - 70382200036" userId="S::shravan.gadkari36@nmims.in::d1e4a3ac-0656-4a5a-bc36-65605d981b91" providerId="AD" clId="Web-{3BAD3276-72CD-F60F-730B-C22C8BF8746D}" dt="2026-08-16T07:12:32.951" v="1"/>
      <pc:docMkLst>
        <pc:docMk/>
      </pc:docMkLst>
    </pc:docChg>
  </pc:docChgLst>
  <pc:docChgLst>
    <pc:chgData name="DHRITI VICHHIVORA - 70382200010" userId="S::dhriti.vichhivora10@nmims.in::af5b2e52-3b0a-4418-ba9e-df5bad76003e" providerId="AD" clId="Web-{A4722B0D-B928-B278-020E-E284D43ED85A}"/>
    <pc:docChg chg="sldOrd">
      <pc:chgData name="DHRITI VICHHIVORA - 70382200010" userId="S::dhriti.vichhivora10@nmims.in::af5b2e52-3b0a-4418-ba9e-df5bad76003e" providerId="AD" clId="Web-{A4722B0D-B928-B278-020E-E284D43ED85A}" dt="2026-08-15T07:40:43.040" v="0"/>
      <pc:docMkLst>
        <pc:docMk/>
      </pc:docMkLst>
      <pc:sldChg chg="ord">
        <pc:chgData name="DHRITI VICHHIVORA - 70382200010" userId="S::dhriti.vichhivora10@nmims.in::af5b2e52-3b0a-4418-ba9e-df5bad76003e" providerId="AD" clId="Web-{A4722B0D-B928-B278-020E-E284D43ED85A}" dt="2026-08-15T07:40:43.040" v="0"/>
        <pc:sldMkLst>
          <pc:docMk/>
          <pc:sldMk cId="1686421940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D7768354-9CFF-4A4A-B763-C82C644FAE77}" type="datetimeFigureOut">
              <a:rPr lang="en-US"/>
              <a:pPr>
                <a:defRPr/>
              </a:pPr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9CC1BAAF-AA3F-43B4-A59D-D2EC91D5DE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11E53BE-1D5B-4A78-A64D-0FF248B3FC9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40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93BA56-541A-4675-8BA9-B9F9AAE95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9CBE303-A913-4586-8F6A-6E5D5E4E05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0684B5-C5B9-4BA4-A96F-F3D66BD4F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FC6BBA-3EB4-4F66-B98F-5798752ACA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01AE54-054E-4923-ADDD-4207DC574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1DDCB44-3CD0-48EC-A5C8-FDF1004AE7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BF5F7-4908-4AAF-A4C0-F3F71BFE20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3A9015A-72EB-43E0-BDA1-B0B12729A0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E5954F4-B0FE-4043-A2E9-EE7D73E971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8814C8-1780-40F0-98BF-54515B238A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83975-210A-4DA0-BA5A-0DA0936919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cs typeface="Arial" charset="0"/>
              </a:defRPr>
            </a:lvl1pPr>
          </a:lstStyle>
          <a:p>
            <a:pPr>
              <a:defRPr/>
            </a:pPr>
            <a:fld id="{9EFE83B1-F5D3-4EA0-B120-A8EA5AB184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02" r:id="rId4"/>
    <p:sldLayoutId id="2147484003" r:id="rId5"/>
    <p:sldLayoutId id="2147484010" r:id="rId6"/>
    <p:sldLayoutId id="2147484004" r:id="rId7"/>
    <p:sldLayoutId id="2147484011" r:id="rId8"/>
    <p:sldLayoutId id="2147484012" r:id="rId9"/>
    <p:sldLayoutId id="2147484005" r:id="rId10"/>
    <p:sldLayoutId id="214748400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logo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60325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 descr="strip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71600" y="573177"/>
            <a:ext cx="7620000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6" name="Rectangle 8"/>
          <p:cNvSpPr>
            <a:spLocks noChangeArrowheads="1"/>
          </p:cNvSpPr>
          <p:nvPr/>
        </p:nvSpPr>
        <p:spPr bwMode="auto">
          <a:xfrm>
            <a:off x="1752600" y="2362200"/>
            <a:ext cx="39624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Cloud Computing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199" name="Picture 2" descr="https://encrypted-tbn2.gstatic.com/images?q=tbn:ANd9GcQCXw5pCpfuS9fBR7Ieb_KRG7pSvnMCW1idScpIkHlUc6nbR_taG22t5Nmy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2286000"/>
            <a:ext cx="2717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E57F-4002-4744-A0D1-636D23872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048"/>
            <a:ext cx="7467600" cy="758952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Cloud Computing Architecture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US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E3BBEF90-5A4D-4E43-A652-E1BFD2D61D9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219200"/>
            <a:ext cx="6553200" cy="4418012"/>
          </a:xfrm>
        </p:spPr>
      </p:pic>
    </p:spTree>
    <p:extLst>
      <p:ext uri="{BB962C8B-B14F-4D97-AF65-F5344CB8AC3E}">
        <p14:creationId xmlns:p14="http://schemas.microsoft.com/office/powerpoint/2010/main" val="211919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2064" y="-152400"/>
            <a:ext cx="7467600" cy="7826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 </a:t>
            </a:r>
            <a:r>
              <a:rPr lang="en-US" b="1" dirty="0"/>
              <a:t>Components</a:t>
            </a:r>
            <a:r>
              <a:rPr lang="en-US" dirty="0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62064" y="685800"/>
            <a:ext cx="7848600" cy="5888038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Cloud computing architecture is divided into the following two parts -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610B4B"/>
                </a:solidFill>
                <a:effectLst/>
                <a:latin typeface="erdana"/>
              </a:rPr>
              <a:t>Front End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front end is used by the client. It contains 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client-side interfaces and applications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that are required to 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access the cloud computing platforms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The front end includes web servers (including Chrome, Firefox, internet explorer, etc.), thin &amp; fat clients, tablets, and mobile devices.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610B4B"/>
                </a:solidFill>
                <a:effectLst/>
                <a:latin typeface="erdana"/>
              </a:rPr>
              <a:t>Back End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back end is 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used by the service provider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It 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manages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all the 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resources that are required to provide cloud computing services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It includes a huge amount of data storage, security mechanism, virtual machines, deploying models, servers, traffic control mechanisms, etc.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5562"/>
            <a:ext cx="7467600" cy="7826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 </a:t>
            </a:r>
            <a:r>
              <a:rPr lang="en-US" b="1" dirty="0"/>
              <a:t>Components</a:t>
            </a:r>
            <a:r>
              <a:rPr lang="en-US" dirty="0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43000"/>
            <a:ext cx="7848600" cy="4648200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There are the following components of cloud computing architecture -</a:t>
            </a:r>
          </a:p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1. Client Infrastructure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Client Infrastructure is a Front-end component. It provides GUI (Graphical User Interface)  to interact with the cloud.</a:t>
            </a:r>
          </a:p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2. Application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application may be any software or platform that a client wants to access.</a:t>
            </a:r>
          </a:p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3. Service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 Cloud Services manages that which type of service you access according to the client’s requirement.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04319692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5562"/>
            <a:ext cx="7467600" cy="7826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 </a:t>
            </a:r>
            <a:r>
              <a:rPr lang="en-US" b="1" dirty="0"/>
              <a:t>Components</a:t>
            </a:r>
            <a:r>
              <a:rPr lang="en-US" dirty="0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7848600" cy="3886200"/>
          </a:xfrm>
        </p:spPr>
        <p:txBody>
          <a:bodyPr/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Cloud computing offers the following three type of services: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rgbClr val="333333"/>
                </a:solidFill>
                <a:latin typeface="inter-bold"/>
              </a:rPr>
              <a:t>i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. Software as a Service (SaaS) – 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is also known as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cloud application services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Mostly, SaaS applications run directly through the web browser means we do not require to download and install these applications. 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Some important example of SaaS is given below –</a:t>
            </a: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Example: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Google Apps, Salesforce Dropbox, Slack, HubSpot, Cisco WebEx.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3056599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44ECC-7C57-475C-8B9D-2195ECA2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96962"/>
          </a:xfrm>
        </p:spPr>
        <p:txBody>
          <a:bodyPr/>
          <a:lstStyle/>
          <a:p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SaaS (Software as a Service).</a:t>
            </a:r>
            <a:b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436CB-98EF-466B-A085-8FA135451A5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696200" cy="5330952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SaaS platforms make software available to users over the internet, usually for a monthly subscription fee.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SaaS Delivery: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Over the internet.</a:t>
            </a:r>
          </a:p>
          <a:p>
            <a:pPr algn="l"/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SaaS Advantages: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With </a:t>
            </a:r>
            <a:r>
              <a:rPr lang="en-US" dirty="0">
                <a:solidFill>
                  <a:srgbClr val="121118"/>
                </a:solidFill>
                <a:latin typeface="Gotham Narr"/>
              </a:rPr>
              <a:t>SaaS, </a:t>
            </a: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you don’t need to install and run software applications on your computer (or any computer).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Everything is available over the internet when you log in to your account online.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You can usually access the software from any device, anytime (as long as there is an internet connection).</a:t>
            </a:r>
          </a:p>
          <a:p>
            <a:pPr marL="0" indent="0" algn="l">
              <a:buNone/>
            </a:pPr>
            <a:endParaRPr lang="en-US" b="0" i="0" dirty="0">
              <a:solidFill>
                <a:srgbClr val="4C4B58"/>
              </a:solidFill>
              <a:effectLst/>
              <a:latin typeface="Gotham Nar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555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44ECC-7C57-475C-8B9D-2195ECA2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96962"/>
          </a:xfrm>
        </p:spPr>
        <p:txBody>
          <a:bodyPr/>
          <a:lstStyle/>
          <a:p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SaaS (Software as a Service).</a:t>
            </a:r>
            <a:b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436CB-98EF-466B-A085-8FA135451A5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696200" cy="5330952"/>
          </a:xfrm>
        </p:spPr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SaaS Advantages: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The same goes for anyone else using the software. All your staff will have personalized logins, suitable to their access level.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It’s all taken care of in the Cloud.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Another key advantage is the payment structure.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Most subscriptions include maintenance, compliance, and security services, which can be time-consuming and costly when using on-premise software.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901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44ECC-7C57-475C-8B9D-2195ECA2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96962"/>
          </a:xfrm>
        </p:spPr>
        <p:txBody>
          <a:bodyPr/>
          <a:lstStyle/>
          <a:p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SaaS (Software as a Service).</a:t>
            </a:r>
            <a:b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436CB-98EF-466B-A085-8FA135451A5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696200" cy="5029200"/>
          </a:xfrm>
        </p:spPr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When to Use SaaS: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Take your email server, for example.</a:t>
            </a:r>
          </a:p>
          <a:p>
            <a:r>
              <a:rPr lang="en-US" dirty="0">
                <a:solidFill>
                  <a:srgbClr val="4C4B58"/>
                </a:solidFill>
                <a:latin typeface="Gotham Narr"/>
              </a:rPr>
              <a:t>You want to ensure that you can continue to send and receive emails without needing to adjust your email settings or worry about updates.</a:t>
            </a:r>
          </a:p>
          <a:p>
            <a:r>
              <a:rPr lang="en-US" dirty="0">
                <a:solidFill>
                  <a:srgbClr val="4C4B58"/>
                </a:solidFill>
                <a:latin typeface="Gotham Narr"/>
              </a:rPr>
              <a:t>Imagine if your email server failed because you forgot to update it, leaving you without email access for days. That’s simply not an option in today’s marketplace.</a:t>
            </a:r>
          </a:p>
          <a:p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If you use a </a:t>
            </a:r>
            <a:r>
              <a:rPr lang="en-US" b="0" i="0" dirty="0" err="1">
                <a:solidFill>
                  <a:srgbClr val="4C4B58"/>
                </a:solidFill>
                <a:effectLst/>
                <a:latin typeface="Gotham Narr"/>
              </a:rPr>
              <a:t>SaaS</a:t>
            </a: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 platform to run your email inbox, the chances of something going wrong are very small.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And if something did go wrong, it would be up to the SaaS provider to find a solution.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421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44ECC-7C57-475C-8B9D-2195ECA2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96962"/>
          </a:xfrm>
        </p:spPr>
        <p:txBody>
          <a:bodyPr/>
          <a:lstStyle/>
          <a:p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SaaS (Software as a Service).</a:t>
            </a:r>
            <a:b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436CB-98EF-466B-A085-8FA135451A5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696200" cy="4419600"/>
          </a:xfrm>
        </p:spPr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SaaS Characteristics: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SaaS platforms are: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Available over the internet.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Hosted on a remote server by a third-party provider.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Scalable, with different tiers for small, medium, and enterprise-level businesses.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Inclusive, offering security, compliance, and maintenance as part of the cost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990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5562"/>
            <a:ext cx="7467600" cy="7826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 </a:t>
            </a:r>
            <a:r>
              <a:rPr lang="en-US" b="1" dirty="0"/>
              <a:t>Components</a:t>
            </a:r>
            <a:r>
              <a:rPr lang="en-US" dirty="0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7848600" cy="41910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ii. Platform as a Service (PaaS) –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It is also known as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cloud platform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services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It is quite similar to SaaS, but the difference is that PaaS provides a platform for software creation, but using SaaS, we can access software over the internet without the need of any platform.</a:t>
            </a:r>
          </a:p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Example: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Windows Azure, Force.com, Magento Commerce Cloud, OpenShift.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422554491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6665-5931-439E-8A0A-4A8BFE280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7467600" cy="685800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PaaS (Platform as a Service).</a:t>
            </a:r>
            <a:b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8E27-B334-445C-80B6-23FC80CB50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620000" cy="5181600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A PaaS vendor provides hardware and software tools over the internet, and people use these tools to develop applications. PaaS users tend to be developers.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PaaS Delivery: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Over the internet.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PaaS Advantages: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PaaS is primarily used by developers who are building software or applications.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This means developers don’t need to start from scratch when creating applications, saving them a lot of time (and money) on writing extensive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076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6665-5931-439E-8A0A-4A8BFE280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7467600" cy="685800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PaaS (Platform as a Service).</a:t>
            </a:r>
            <a:b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8E27-B334-445C-80B6-23FC80CB50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620000" cy="4495800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PaaS Characteristics: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PaaS platforms are: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Accessible by multiple users.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Scalable – you can choose from various tiers of resources to suit the size of your business.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Built on virtualization technology.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Easy to run without extensive system administration knowledge.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66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6665-5931-439E-8A0A-4A8BFE280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7467600" cy="685800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PaaS (Platform as a Service).</a:t>
            </a:r>
            <a:b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8E27-B334-445C-80B6-23FC80CB50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543800" cy="4572000"/>
          </a:xfrm>
        </p:spPr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When to Use PaaS: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PaaS is often the most cost-effective and time-effective way for a developer to create a unique application.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PaaS allows the developer to focus on the creative side of app development, as opposed to menial tasks such as managing software updates or security patches. 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All of their time and brainpower will go into creating, testing, and deploying the app.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257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5562"/>
            <a:ext cx="7467600" cy="7826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 </a:t>
            </a:r>
            <a:r>
              <a:rPr lang="en-US" b="1" dirty="0"/>
              <a:t>Components</a:t>
            </a:r>
            <a:r>
              <a:rPr lang="en-US" dirty="0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7848600" cy="41910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iii. Infrastructure as a Service (IaaS) – 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is also known as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cloud infrastructure services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It is responsible for managing applications data, middleware, and runtime environments.</a:t>
            </a:r>
          </a:p>
          <a:p>
            <a:pPr algn="just"/>
            <a:endParaRPr lang="en-US" b="1" i="0" dirty="0">
              <a:solidFill>
                <a:srgbClr val="333333"/>
              </a:solidFill>
              <a:effectLst/>
              <a:latin typeface="inter-bold"/>
            </a:endParaRPr>
          </a:p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Example: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Amazon Web Services (AWS) EC2, Google Compute Engine (GCE), Cisco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Metapod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245522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0E97-A7B3-4520-B586-7E5E17DB3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7467600" cy="609600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IaaS (Infrastructure as a Service).</a:t>
            </a:r>
            <a:b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4FAE-CC35-4C50-A658-DBC857113AD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1"/>
            <a:ext cx="7467600" cy="4038600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IaaS businesses offer services such as pay-as-you-go storage, networking, and virtualization.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IaaS gives users cloud-based alternatives to on-premise infrastructure, so businesses can avoid investing in expensive on-site resources.</a:t>
            </a:r>
          </a:p>
          <a:p>
            <a:pPr marL="0" indent="0" algn="l">
              <a:buNone/>
            </a:pPr>
            <a:endParaRPr lang="en-US" b="0" i="0" dirty="0">
              <a:solidFill>
                <a:srgbClr val="4C4B58"/>
              </a:solidFill>
              <a:effectLst/>
              <a:latin typeface="Gotham Narr"/>
            </a:endParaRPr>
          </a:p>
          <a:p>
            <a:pPr algn="l"/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IaaS Delivery: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Over the internet.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169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0E97-A7B3-4520-B586-7E5E17DB3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7467600" cy="609600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IaaS (Infrastructure as a Service).</a:t>
            </a:r>
            <a:b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4FAE-CC35-4C50-A658-DBC857113AD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7467600" cy="4952999"/>
          </a:xfrm>
        </p:spPr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IaaS Advantages: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Maintaining on-premise IT infrastructure is costly and labor-intensive.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It often requires a significant initial investment in physical hardware, and then you will probably need to engage external IT contractors to maintain the hardware and keep everything working and up-to-date.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IaaS solutions are highly flexible and highly scalable, and you can replace it whenever you need without losing money on your initial investment.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432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0E97-A7B3-4520-B586-7E5E17DB3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7467600" cy="609600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IaaS (Infrastructure as a Service).</a:t>
            </a:r>
            <a:b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4FAE-CC35-4C50-A658-DBC857113AD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7467600" cy="4952999"/>
          </a:xfrm>
        </p:spPr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121118"/>
                </a:solidFill>
                <a:effectLst/>
                <a:latin typeface="Gotham Narr"/>
              </a:rPr>
              <a:t>IaaS Characteristics:</a:t>
            </a:r>
          </a:p>
          <a:p>
            <a:pPr algn="l"/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IaaS platforms are: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Highly flexible and highly scalable.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Accessible by multiple users.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C4B58"/>
                </a:solidFill>
                <a:effectLst/>
                <a:latin typeface="Gotham Narr"/>
              </a:rPr>
              <a:t>Cost-effective.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218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6BC08-71E8-4971-97F5-04BAB032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On-Premises vs IAAS vs PAAS vs SAAS</a:t>
            </a:r>
            <a:endParaRPr lang="en-IN" dirty="0"/>
          </a:p>
        </p:txBody>
      </p:sp>
      <p:pic>
        <p:nvPicPr>
          <p:cNvPr id="1026" name="Picture 2" descr="What Is the Cloud? Types of Cloud Services - Executech">
            <a:extLst>
              <a:ext uri="{FF2B5EF4-FFF2-40B4-BE49-F238E27FC236}">
                <a16:creationId xmlns:a16="http://schemas.microsoft.com/office/drawing/2014/main" id="{539B199E-3959-4CE1-A7C6-252FAECC08A2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24000"/>
            <a:ext cx="6498166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459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5562"/>
            <a:ext cx="7467600" cy="7826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 </a:t>
            </a:r>
            <a:r>
              <a:rPr lang="en-US" b="1" dirty="0"/>
              <a:t>Components</a:t>
            </a:r>
            <a:r>
              <a:rPr lang="en-US" dirty="0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7848600" cy="41910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4. Runtime Cloud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Runtime Cloud provides the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execution and runtime environment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to the virtual machines.</a:t>
            </a:r>
          </a:p>
          <a:p>
            <a:pPr marL="0" indent="0" algn="just">
              <a:buNone/>
            </a:pPr>
            <a:endParaRPr lang="en-US" b="1" i="0" dirty="0">
              <a:solidFill>
                <a:srgbClr val="333333"/>
              </a:solidFill>
              <a:effectLst/>
              <a:latin typeface="inter-bold"/>
            </a:endParaRPr>
          </a:p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5. Storage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Storage is one of the most important components of cloud computing. It provides a huge amount of storage capacity in the cloud to store and manage data.</a:t>
            </a:r>
          </a:p>
        </p:txBody>
      </p:sp>
    </p:spTree>
    <p:extLst>
      <p:ext uri="{BB962C8B-B14F-4D97-AF65-F5344CB8AC3E}">
        <p14:creationId xmlns:p14="http://schemas.microsoft.com/office/powerpoint/2010/main" val="191670638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5562"/>
            <a:ext cx="7467600" cy="7826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 </a:t>
            </a:r>
            <a:r>
              <a:rPr lang="en-US" b="1" dirty="0"/>
              <a:t>Components</a:t>
            </a:r>
            <a:r>
              <a:rPr lang="en-US" dirty="0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66800"/>
            <a:ext cx="7848600" cy="53340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6. Infrastructure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provides services on the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host level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application level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and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network level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Cloud infrastructure includes hardware and software components such as servers, storage, network devices, virtualization software, and other storage resources that are needed to support the cloud computing model.</a:t>
            </a:r>
          </a:p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7. Management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Management is used to manage components such as application, service, runtime cloud, storage, infrastructure, and other security issues in the backend and establish coordination between them.</a:t>
            </a:r>
          </a:p>
        </p:txBody>
      </p:sp>
    </p:spTree>
    <p:extLst>
      <p:ext uri="{BB962C8B-B14F-4D97-AF65-F5344CB8AC3E}">
        <p14:creationId xmlns:p14="http://schemas.microsoft.com/office/powerpoint/2010/main" val="240867820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5562"/>
            <a:ext cx="7467600" cy="7826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 </a:t>
            </a:r>
            <a:r>
              <a:rPr lang="en-US" b="1" dirty="0"/>
              <a:t>Components</a:t>
            </a:r>
            <a:r>
              <a:rPr lang="en-US" dirty="0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66800"/>
            <a:ext cx="7848600" cy="46482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8. Security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Security is an in-built back-end component of cloud computing. It implements a security mechanism in the back end.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9. Internet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Internet is medium through which front end and back end can interact and communicate with each other.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26342974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6812894AF27C4B9BEA242A5F6FBAEB" ma:contentTypeVersion="3" ma:contentTypeDescription="Create a new document." ma:contentTypeScope="" ma:versionID="a489823335127097a59b5e1221195550">
  <xsd:schema xmlns:xsd="http://www.w3.org/2001/XMLSchema" xmlns:xs="http://www.w3.org/2001/XMLSchema" xmlns:p="http://schemas.microsoft.com/office/2006/metadata/properties" xmlns:ns2="7bca1dba-6ac6-41dc-89fe-ef4b674b2d91" targetNamespace="http://schemas.microsoft.com/office/2006/metadata/properties" ma:root="true" ma:fieldsID="1d5048d958bb91d07665fe1e62e4cc96" ns2:_="">
    <xsd:import namespace="7bca1dba-6ac6-41dc-89fe-ef4b674b2d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a1dba-6ac6-41dc-89fe-ef4b674b2d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807BFC-041C-437F-9F08-836A60C942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ca1dba-6ac6-41dc-89fe-ef4b674b2d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CFC369-BEE4-4270-89C0-8BC317C4B37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C99C7C8-B764-4ADD-9226-7043CBAB08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904</TotalTime>
  <Words>1312</Words>
  <Application>Microsoft Office PowerPoint</Application>
  <PresentationFormat>On-screen Show (4:3)</PresentationFormat>
  <Paragraphs>112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Oriel</vt:lpstr>
      <vt:lpstr>PowerPoint Presentation</vt:lpstr>
      <vt:lpstr>Cloud Computing Architecture </vt:lpstr>
      <vt:lpstr> Components </vt:lpstr>
      <vt:lpstr> Components </vt:lpstr>
      <vt:lpstr> Components </vt:lpstr>
      <vt:lpstr>SaaS (Software as a Service). </vt:lpstr>
      <vt:lpstr>SaaS (Software as a Service). </vt:lpstr>
      <vt:lpstr>SaaS (Software as a Service). </vt:lpstr>
      <vt:lpstr>SaaS (Software as a Service). </vt:lpstr>
      <vt:lpstr> Components </vt:lpstr>
      <vt:lpstr>PaaS (Platform as a Service). </vt:lpstr>
      <vt:lpstr>PaaS (Platform as a Service). </vt:lpstr>
      <vt:lpstr>PaaS (Platform as a Service). </vt:lpstr>
      <vt:lpstr> Components </vt:lpstr>
      <vt:lpstr>IaaS (Infrastructure as a Service). </vt:lpstr>
      <vt:lpstr>IaaS (Infrastructure as a Service). </vt:lpstr>
      <vt:lpstr>IaaS (Infrastructure as a Service). </vt:lpstr>
      <vt:lpstr>On-Premises vs IAAS vs PAAS vs SAAS</vt:lpstr>
      <vt:lpstr> Components </vt:lpstr>
      <vt:lpstr> Components </vt:lpstr>
      <vt:lpstr> Components </vt:lpstr>
    </vt:vector>
  </TitlesOfParts>
  <Company>&lt;arabianhorse&gt;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Sumit</dc:creator>
  <cp:lastModifiedBy>Soni Bhambar</cp:lastModifiedBy>
  <cp:revision>93</cp:revision>
  <dcterms:created xsi:type="dcterms:W3CDTF">2013-11-26T11:56:53Z</dcterms:created>
  <dcterms:modified xsi:type="dcterms:W3CDTF">2026-08-18T06:31:22Z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0x010100896812894AF27C4B9BEA242A5F6FBAEB</vt:lpwstr>
  </property>
</Properties>
</file>