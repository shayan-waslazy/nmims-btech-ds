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8" r:id="rId16"/>
    <p:sldId id="279" r:id="rId17"/>
    <p:sldId id="271" r:id="rId18"/>
    <p:sldId id="274" r:id="rId19"/>
    <p:sldId id="273" r:id="rId20"/>
    <p:sldId id="272" r:id="rId21"/>
    <p:sldId id="275" r:id="rId22"/>
    <p:sldId id="276" r:id="rId23"/>
    <p:sldId id="277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i Bhambar" userId="00a8fab9-7aa3-4075-b99f-3577476e29e3" providerId="ADAL" clId="{9B24AD3E-E95D-49D9-BE95-16D05AB07CF9}"/>
    <pc:docChg chg="undo custSel addSld delSld modSld">
      <pc:chgData name="Soni Bhambar" userId="00a8fab9-7aa3-4075-b99f-3577476e29e3" providerId="ADAL" clId="{9B24AD3E-E95D-49D9-BE95-16D05AB07CF9}" dt="2026-08-07T04:03:10.597" v="80" actId="47"/>
      <pc:docMkLst>
        <pc:docMk/>
      </pc:docMkLst>
      <pc:sldChg chg="modSp mod">
        <pc:chgData name="Soni Bhambar" userId="00a8fab9-7aa3-4075-b99f-3577476e29e3" providerId="ADAL" clId="{9B24AD3E-E95D-49D9-BE95-16D05AB07CF9}" dt="2026-08-04T04:07:03.762" v="20" actId="20577"/>
        <pc:sldMkLst>
          <pc:docMk/>
          <pc:sldMk cId="0" sldId="256"/>
        </pc:sldMkLst>
        <pc:spChg chg="mod">
          <ac:chgData name="Soni Bhambar" userId="00a8fab9-7aa3-4075-b99f-3577476e29e3" providerId="ADAL" clId="{9B24AD3E-E95D-49D9-BE95-16D05AB07CF9}" dt="2026-08-04T04:07:03.762" v="20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new mod">
        <pc:chgData name="Soni Bhambar" userId="00a8fab9-7aa3-4075-b99f-3577476e29e3" providerId="ADAL" clId="{9B24AD3E-E95D-49D9-BE95-16D05AB07CF9}" dt="2026-08-04T05:00:21.984" v="26"/>
        <pc:sldMkLst>
          <pc:docMk/>
          <pc:sldMk cId="899566854" sldId="278"/>
        </pc:sldMkLst>
        <pc:spChg chg="mod">
          <ac:chgData name="Soni Bhambar" userId="00a8fab9-7aa3-4075-b99f-3577476e29e3" providerId="ADAL" clId="{9B24AD3E-E95D-49D9-BE95-16D05AB07CF9}" dt="2026-08-04T05:00:21.984" v="26"/>
          <ac:spMkLst>
            <pc:docMk/>
            <pc:sldMk cId="899566854" sldId="278"/>
            <ac:spMk id="2" creationId="{30B8E637-22E2-495E-9FFD-6A99E17587CB}"/>
          </ac:spMkLst>
        </pc:spChg>
        <pc:spChg chg="mod">
          <ac:chgData name="Soni Bhambar" userId="00a8fab9-7aa3-4075-b99f-3577476e29e3" providerId="ADAL" clId="{9B24AD3E-E95D-49D9-BE95-16D05AB07CF9}" dt="2026-08-04T05:00:10.342" v="25"/>
          <ac:spMkLst>
            <pc:docMk/>
            <pc:sldMk cId="899566854" sldId="278"/>
            <ac:spMk id="3" creationId="{F5373D71-80C4-4B5D-9383-D3F875E46439}"/>
          </ac:spMkLst>
        </pc:spChg>
      </pc:sldChg>
      <pc:sldChg chg="del">
        <pc:chgData name="Soni Bhambar" userId="00a8fab9-7aa3-4075-b99f-3577476e29e3" providerId="ADAL" clId="{9B24AD3E-E95D-49D9-BE95-16D05AB07CF9}" dt="2026-08-04T04:49:10.657" v="21" actId="47"/>
        <pc:sldMkLst>
          <pc:docMk/>
          <pc:sldMk cId="3414889401" sldId="278"/>
        </pc:sldMkLst>
      </pc:sldChg>
      <pc:sldChg chg="modSp add mod">
        <pc:chgData name="Soni Bhambar" userId="00a8fab9-7aa3-4075-b99f-3577476e29e3" providerId="ADAL" clId="{9B24AD3E-E95D-49D9-BE95-16D05AB07CF9}" dt="2026-08-04T05:00:57.503" v="36" actId="20577"/>
        <pc:sldMkLst>
          <pc:docMk/>
          <pc:sldMk cId="1396176164" sldId="279"/>
        </pc:sldMkLst>
        <pc:spChg chg="mod">
          <ac:chgData name="Soni Bhambar" userId="00a8fab9-7aa3-4075-b99f-3577476e29e3" providerId="ADAL" clId="{9B24AD3E-E95D-49D9-BE95-16D05AB07CF9}" dt="2026-08-04T05:00:57.503" v="36" actId="20577"/>
          <ac:spMkLst>
            <pc:docMk/>
            <pc:sldMk cId="1396176164" sldId="279"/>
            <ac:spMk id="2" creationId="{30B8E637-22E2-495E-9FFD-6A99E17587CB}"/>
          </ac:spMkLst>
        </pc:spChg>
        <pc:spChg chg="mod">
          <ac:chgData name="Soni Bhambar" userId="00a8fab9-7aa3-4075-b99f-3577476e29e3" providerId="ADAL" clId="{9B24AD3E-E95D-49D9-BE95-16D05AB07CF9}" dt="2026-08-04T05:00:47.725" v="28"/>
          <ac:spMkLst>
            <pc:docMk/>
            <pc:sldMk cId="1396176164" sldId="279"/>
            <ac:spMk id="3" creationId="{F5373D71-80C4-4B5D-9383-D3F875E46439}"/>
          </ac:spMkLst>
        </pc:spChg>
      </pc:sldChg>
      <pc:sldChg chg="delSp modSp del mod">
        <pc:chgData name="Soni Bhambar" userId="00a8fab9-7aa3-4075-b99f-3577476e29e3" providerId="ADAL" clId="{9B24AD3E-E95D-49D9-BE95-16D05AB07CF9}" dt="2026-08-04T05:03:53.352" v="77" actId="47"/>
        <pc:sldMkLst>
          <pc:docMk/>
          <pc:sldMk cId="0" sldId="280"/>
        </pc:sldMkLst>
        <pc:spChg chg="mod">
          <ac:chgData name="Soni Bhambar" userId="00a8fab9-7aa3-4075-b99f-3577476e29e3" providerId="ADAL" clId="{9B24AD3E-E95D-49D9-BE95-16D05AB07CF9}" dt="2026-08-04T05:03:33.802" v="67" actId="21"/>
          <ac:spMkLst>
            <pc:docMk/>
            <pc:sldMk cId="0" sldId="280"/>
            <ac:spMk id="13315" creationId="{00000000-0000-0000-0000-000000000000}"/>
          </ac:spMkLst>
        </pc:spChg>
        <pc:picChg chg="del mod">
          <ac:chgData name="Soni Bhambar" userId="00a8fab9-7aa3-4075-b99f-3577476e29e3" providerId="ADAL" clId="{9B24AD3E-E95D-49D9-BE95-16D05AB07CF9}" dt="2026-08-04T05:03:40.370" v="71" actId="21"/>
          <ac:picMkLst>
            <pc:docMk/>
            <pc:sldMk cId="0" sldId="280"/>
            <ac:picMk id="1026" creationId="{4F6C8819-C7B2-487A-8A0D-AFCA033C4FF2}"/>
          </ac:picMkLst>
        </pc:picChg>
      </pc:sldChg>
      <pc:sldChg chg="modSp del mod">
        <pc:chgData name="Soni Bhambar" userId="00a8fab9-7aa3-4075-b99f-3577476e29e3" providerId="ADAL" clId="{9B24AD3E-E95D-49D9-BE95-16D05AB07CF9}" dt="2026-08-04T05:02:56.413" v="46" actId="47"/>
        <pc:sldMkLst>
          <pc:docMk/>
          <pc:sldMk cId="0" sldId="281"/>
        </pc:sldMkLst>
        <pc:spChg chg="mod">
          <ac:chgData name="Soni Bhambar" userId="00a8fab9-7aa3-4075-b99f-3577476e29e3" providerId="ADAL" clId="{9B24AD3E-E95D-49D9-BE95-16D05AB07CF9}" dt="2026-08-04T05:02:31.354" v="41" actId="1076"/>
          <ac:spMkLst>
            <pc:docMk/>
            <pc:sldMk cId="0" sldId="281"/>
            <ac:spMk id="10242" creationId="{00000000-0000-0000-0000-000000000000}"/>
          </ac:spMkLst>
        </pc:spChg>
        <pc:spChg chg="mod">
          <ac:chgData name="Soni Bhambar" userId="00a8fab9-7aa3-4075-b99f-3577476e29e3" providerId="ADAL" clId="{9B24AD3E-E95D-49D9-BE95-16D05AB07CF9}" dt="2026-08-04T05:02:35.283" v="42" actId="1076"/>
          <ac:spMkLst>
            <pc:docMk/>
            <pc:sldMk cId="0" sldId="281"/>
            <ac:spMk id="14339" creationId="{00000000-0000-0000-0000-000000000000}"/>
          </ac:spMkLst>
        </pc:spChg>
      </pc:sldChg>
      <pc:sldChg chg="modSp new del mod">
        <pc:chgData name="Soni Bhambar" userId="00a8fab9-7aa3-4075-b99f-3577476e29e3" providerId="ADAL" clId="{9B24AD3E-E95D-49D9-BE95-16D05AB07CF9}" dt="2026-08-07T04:03:10.597" v="80" actId="47"/>
        <pc:sldMkLst>
          <pc:docMk/>
          <pc:sldMk cId="3542912223" sldId="282"/>
        </pc:sldMkLst>
        <pc:spChg chg="mod">
          <ac:chgData name="Soni Bhambar" userId="00a8fab9-7aa3-4075-b99f-3577476e29e3" providerId="ADAL" clId="{9B24AD3E-E95D-49D9-BE95-16D05AB07CF9}" dt="2026-08-04T05:04:01.048" v="78"/>
          <ac:spMkLst>
            <pc:docMk/>
            <pc:sldMk cId="3542912223" sldId="282"/>
            <ac:spMk id="2" creationId="{AC91DB87-7F1F-43EF-B35D-36B1DBB36A0C}"/>
          </ac:spMkLst>
        </pc:spChg>
        <pc:spChg chg="mod">
          <ac:chgData name="Soni Bhambar" userId="00a8fab9-7aa3-4075-b99f-3577476e29e3" providerId="ADAL" clId="{9B24AD3E-E95D-49D9-BE95-16D05AB07CF9}" dt="2026-08-04T05:02:52.157" v="45" actId="5793"/>
          <ac:spMkLst>
            <pc:docMk/>
            <pc:sldMk cId="3542912223" sldId="282"/>
            <ac:spMk id="3" creationId="{82FAFC38-B62D-441E-8060-0DB670368702}"/>
          </ac:spMkLst>
        </pc:spChg>
      </pc:sldChg>
      <pc:sldChg chg="addSp modSp new del mod">
        <pc:chgData name="Soni Bhambar" userId="00a8fab9-7aa3-4075-b99f-3577476e29e3" providerId="ADAL" clId="{9B24AD3E-E95D-49D9-BE95-16D05AB07CF9}" dt="2026-08-07T04:03:09.426" v="79" actId="47"/>
        <pc:sldMkLst>
          <pc:docMk/>
          <pc:sldMk cId="3060917736" sldId="283"/>
        </pc:sldMkLst>
        <pc:spChg chg="mod">
          <ac:chgData name="Soni Bhambar" userId="00a8fab9-7aa3-4075-b99f-3577476e29e3" providerId="ADAL" clId="{9B24AD3E-E95D-49D9-BE95-16D05AB07CF9}" dt="2026-08-04T05:03:27.470" v="66" actId="20577"/>
          <ac:spMkLst>
            <pc:docMk/>
            <pc:sldMk cId="3060917736" sldId="283"/>
            <ac:spMk id="2" creationId="{70E15DC3-6534-4A2B-BD6F-001F409B20E1}"/>
          </ac:spMkLst>
        </pc:spChg>
        <pc:spChg chg="mod">
          <ac:chgData name="Soni Bhambar" userId="00a8fab9-7aa3-4075-b99f-3577476e29e3" providerId="ADAL" clId="{9B24AD3E-E95D-49D9-BE95-16D05AB07CF9}" dt="2026-08-04T05:03:37.472" v="70" actId="20577"/>
          <ac:spMkLst>
            <pc:docMk/>
            <pc:sldMk cId="3060917736" sldId="283"/>
            <ac:spMk id="3" creationId="{5E1277E3-AE34-494A-B970-5E7328E7099C}"/>
          </ac:spMkLst>
        </pc:spChg>
        <pc:picChg chg="add mod">
          <ac:chgData name="Soni Bhambar" userId="00a8fab9-7aa3-4075-b99f-3577476e29e3" providerId="ADAL" clId="{9B24AD3E-E95D-49D9-BE95-16D05AB07CF9}" dt="2026-08-04T05:03:50.982" v="76" actId="1076"/>
          <ac:picMkLst>
            <pc:docMk/>
            <pc:sldMk cId="3060917736" sldId="283"/>
            <ac:picMk id="4" creationId="{FBF03E7F-5B32-4A8D-8058-2672E01CA17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8197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003570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79178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21053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343862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850040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72201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68287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980209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732176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957530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814819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659620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940537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164737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93750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29488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435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613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676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094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859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720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770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123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914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89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10481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47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632622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9061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4417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14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749"/>
            <a:ext cx="1952272" cy="6852504"/>
            <a:chOff x="6627813" y="196102"/>
            <a:chExt cx="1952625" cy="5677649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525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2844" y="2514601"/>
            <a:ext cx="7930024" cy="2262781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Introduction to Distributed Computing and Cloud Fundamentals:</a:t>
            </a:r>
            <a:br>
              <a:rPr lang="en-US" sz="4000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3200" dirty="0"/>
              <a:t>Course: Virtualization and Cloud Computing</a:t>
            </a:r>
            <a:br>
              <a:rPr lang="en-IN" dirty="0"/>
            </a:b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LECTURE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587" y="2133600"/>
            <a:ext cx="7930054" cy="3777622"/>
          </a:xfrm>
        </p:spPr>
        <p:txBody>
          <a:bodyPr>
            <a:noAutofit/>
          </a:bodyPr>
          <a:lstStyle/>
          <a:p>
            <a:r>
              <a:rPr lang="en-US" sz="2800" dirty="0"/>
              <a:t>Understand the evolution of computing systems</a:t>
            </a:r>
          </a:p>
          <a:p>
            <a:r>
              <a:rPr lang="en-US" sz="2800" dirty="0"/>
              <a:t>Learn distributed computing principles</a:t>
            </a:r>
          </a:p>
          <a:p>
            <a:r>
              <a:rPr lang="en-US" sz="2800" dirty="0"/>
              <a:t>Introduce cloud computing</a:t>
            </a:r>
          </a:p>
          <a:p>
            <a:r>
              <a:rPr lang="en-US" sz="2800" dirty="0"/>
              <a:t>Identify key characteristics</a:t>
            </a:r>
          </a:p>
          <a:p>
            <a:r>
              <a:rPr lang="en-US" sz="2800" dirty="0"/>
              <a:t>Discuss benefits, challenges &amp; business drivers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WHY STUDY CLOUD COMPUTING?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Backbone of modern IT systems</a:t>
            </a:r>
          </a:p>
          <a:p>
            <a:r>
              <a:rPr lang="en-US" sz="2800" dirty="0"/>
              <a:t>Enables scalability and global access</a:t>
            </a:r>
          </a:p>
          <a:p>
            <a:r>
              <a:rPr lang="en-US" sz="2800" dirty="0"/>
              <a:t>Foundation of AI, Big Data, </a:t>
            </a:r>
            <a:r>
              <a:rPr lang="en-US" sz="2800" dirty="0" err="1"/>
              <a:t>IoT</a:t>
            </a:r>
            <a:endParaRPr lang="en-US" sz="2800" dirty="0"/>
          </a:p>
          <a:p>
            <a:r>
              <a:rPr lang="en-US" sz="2800" dirty="0"/>
              <a:t>Widely used in industry (AWS, Azure, GCP)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EVOLUTION OF COMPUTING SYSTEMS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2665373" y="6111064"/>
            <a:ext cx="407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Reference: </a:t>
            </a:r>
            <a:r>
              <a:rPr lang="en-US" dirty="0" err="1"/>
              <a:t>GeeksforGeeks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5201" y="2005216"/>
            <a:ext cx="5896798" cy="41058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dirty="0"/>
              <a:t>Mainframe Computing(1950-1970)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3431" y="2133600"/>
            <a:ext cx="6870970" cy="3777622"/>
          </a:xfrm>
        </p:spPr>
        <p:txBody>
          <a:bodyPr>
            <a:normAutofit/>
          </a:bodyPr>
          <a:lstStyle/>
          <a:p>
            <a:r>
              <a:rPr lang="en-IN" dirty="0"/>
              <a:t>Mainframes originated in 1951</a:t>
            </a:r>
            <a:endParaRPr lang="en-US" dirty="0"/>
          </a:p>
          <a:p>
            <a:r>
              <a:rPr lang="en-US" dirty="0"/>
              <a:t>Highly powerful and reliable computing system</a:t>
            </a:r>
            <a:r>
              <a:rPr dirty="0"/>
              <a:t>s</a:t>
            </a:r>
            <a:endParaRPr lang="en-US" dirty="0"/>
          </a:p>
          <a:p>
            <a:r>
              <a:rPr lang="en-US" dirty="0"/>
              <a:t>Designed to handle large-scale data and I/O operations</a:t>
            </a:r>
          </a:p>
          <a:p>
            <a:r>
              <a:rPr lang="en-US" dirty="0"/>
              <a:t>Widely used for bulk processing (e.g., online transactions)</a:t>
            </a:r>
          </a:p>
          <a:p>
            <a:r>
              <a:rPr lang="en-US" dirty="0"/>
              <a:t>Feature high fault tolerance and near-zero downtime</a:t>
            </a:r>
          </a:p>
          <a:p>
            <a:r>
              <a:rPr lang="en-IN" dirty="0"/>
              <a:t>Offer increased processing capabilities after distributed system</a:t>
            </a:r>
          </a:p>
          <a:p>
            <a:r>
              <a:rPr lang="en-US" dirty="0"/>
              <a:t>Very expensive, limiting widespread use</a:t>
            </a:r>
          </a:p>
          <a:p>
            <a:r>
              <a:rPr lang="en-US" dirty="0"/>
              <a:t>Cluster computing emerged to be as cost-effective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6427" y="624110"/>
            <a:ext cx="6977974" cy="805856"/>
          </a:xfrm>
        </p:spPr>
        <p:txBody>
          <a:bodyPr>
            <a:normAutofit/>
          </a:bodyPr>
          <a:lstStyle/>
          <a:p>
            <a:pPr fontAlgn="base"/>
            <a:r>
              <a:rPr lang="en-IN" dirty="0"/>
              <a:t>Distributed Systems(1970-1980)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5683" y="1676399"/>
            <a:ext cx="6588743" cy="3761363"/>
          </a:xfrm>
        </p:spPr>
        <p:txBody>
          <a:bodyPr>
            <a:normAutofit/>
          </a:bodyPr>
          <a:lstStyle/>
          <a:p>
            <a:r>
              <a:rPr lang="en-US" dirty="0"/>
              <a:t>consists of multiple independent systems</a:t>
            </a:r>
          </a:p>
          <a:p>
            <a:r>
              <a:rPr lang="en-US" dirty="0"/>
              <a:t>Appears as a single entity to users</a:t>
            </a:r>
          </a:p>
          <a:p>
            <a:r>
              <a:rPr lang="en-US" dirty="0"/>
              <a:t>Enables resource sharing and efficient utilization</a:t>
            </a:r>
          </a:p>
          <a:p>
            <a:r>
              <a:rPr lang="en-US" dirty="0"/>
              <a:t>Key characteristics: Scalability, Concurrency, Continuous availability, Heterogeneity, Independent failure handling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Cluster Computing (1980s)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7589" y="1802860"/>
            <a:ext cx="6591985" cy="3777622"/>
          </a:xfrm>
        </p:spPr>
        <p:txBody>
          <a:bodyPr/>
          <a:lstStyle/>
          <a:p>
            <a:r>
              <a:rPr lang="en-US" dirty="0"/>
              <a:t>Introduced as an alternative to mainframe computing</a:t>
            </a:r>
          </a:p>
          <a:p>
            <a:r>
              <a:rPr lang="en-US" dirty="0"/>
              <a:t>Consists of multiple machines connected via high-bandwidth networks</a:t>
            </a:r>
          </a:p>
          <a:p>
            <a:r>
              <a:rPr lang="en-IN" dirty="0"/>
              <a:t>More cost-effective than mainframes</a:t>
            </a:r>
          </a:p>
          <a:p>
            <a:r>
              <a:rPr lang="en-US" dirty="0"/>
              <a:t>Capable of high computational performance</a:t>
            </a:r>
          </a:p>
          <a:p>
            <a:r>
              <a:rPr lang="en-US" dirty="0"/>
              <a:t>Scalable – new nodes can be easily added</a:t>
            </a:r>
          </a:p>
          <a:p>
            <a:r>
              <a:rPr lang="en-IN" dirty="0"/>
              <a:t>Limitation: geographical restrictions still existed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Grid Computing (1990s)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9743" y="1754221"/>
            <a:ext cx="6734657" cy="3917004"/>
          </a:xfrm>
        </p:spPr>
        <p:txBody>
          <a:bodyPr/>
          <a:lstStyle/>
          <a:p>
            <a:r>
              <a:rPr lang="en-US" dirty="0"/>
              <a:t>Systems located at different geographical locations</a:t>
            </a:r>
          </a:p>
          <a:p>
            <a:r>
              <a:rPr lang="en-IN" dirty="0"/>
              <a:t>Connected through the internet</a:t>
            </a:r>
          </a:p>
          <a:p>
            <a:r>
              <a:rPr lang="en-US" dirty="0"/>
              <a:t>Nodes belong to multiple organizations</a:t>
            </a:r>
          </a:p>
          <a:p>
            <a:r>
              <a:rPr lang="en-IN" dirty="0"/>
              <a:t>Consists of heterogeneous systems</a:t>
            </a:r>
          </a:p>
          <a:p>
            <a:r>
              <a:rPr lang="en-US" dirty="0"/>
              <a:t>Solved location constraints but introduced:</a:t>
            </a:r>
          </a:p>
          <a:p>
            <a:pPr lvl="1"/>
            <a:r>
              <a:rPr lang="en-IN" dirty="0"/>
              <a:t>Low bandwidth availability</a:t>
            </a:r>
            <a:endParaRPr lang="en-US" dirty="0"/>
          </a:p>
          <a:p>
            <a:pPr lvl="1"/>
            <a:r>
              <a:rPr lang="en-US" dirty="0"/>
              <a:t>Network latency and reliability issues</a:t>
            </a:r>
          </a:p>
          <a:p>
            <a:r>
              <a:rPr lang="en-US" dirty="0"/>
              <a:t>Considered the predecessor of cloud computing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Utility Computing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1788370" y="1987526"/>
            <a:ext cx="6664967" cy="2395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fontAlgn="base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Tx/>
              <a:buFont typeface="Wingdings 3" charset="2"/>
              <a:buChar char=""/>
              <a:tabLst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Computing model based on pay-per-use</a:t>
            </a:r>
          </a:p>
          <a:p>
            <a:pPr marL="342900" marR="0" lvl="0" indent="-342900" fontAlgn="base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Tx/>
              <a:buFont typeface="Wingdings 3" charset="2"/>
              <a:buChar char=""/>
              <a:tabLst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Services include:</a:t>
            </a:r>
          </a:p>
          <a:p>
            <a:pPr marL="800100" lvl="1" indent="-342900" fontAlgn="base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Compute</a:t>
            </a:r>
          </a:p>
          <a:p>
            <a:pPr marL="800100" lvl="1" indent="-342900" fontAlgn="base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Storage</a:t>
            </a:r>
          </a:p>
          <a:p>
            <a:pPr marL="800100" lvl="1" indent="-342900" fontAlgn="base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Infrastructure</a:t>
            </a:r>
          </a:p>
          <a:p>
            <a:pPr marL="342900" marR="0" lvl="0" indent="-342900" fontAlgn="base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Tx/>
              <a:buFont typeface="Wingdings 3" charset="2"/>
              <a:buChar char=""/>
              <a:tabLst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Resources are provisioned on demand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Virtualization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IBM released VM/370 in 1972, its first official virtual machine product, making virtualization a standard offering for its System/370 mainframes.</a:t>
            </a:r>
            <a:r>
              <a:rPr dirty="0"/>
              <a:t> </a:t>
            </a:r>
            <a:endParaRPr lang="en-US" dirty="0"/>
          </a:p>
          <a:p>
            <a:r>
              <a:rPr lang="en-US" dirty="0"/>
              <a:t>Creates a virtual layer over hardware</a:t>
            </a:r>
          </a:p>
          <a:p>
            <a:r>
              <a:rPr lang="en-US" dirty="0"/>
              <a:t>Allows multiple virtual instances on a single machine</a:t>
            </a:r>
          </a:p>
          <a:p>
            <a:r>
              <a:rPr lang="en-US" dirty="0"/>
              <a:t>Core technology behind cloud computing</a:t>
            </a:r>
          </a:p>
          <a:p>
            <a:r>
              <a:rPr lang="en-US" dirty="0"/>
              <a:t>Used by platforms like Amazon EC2 and VMware </a:t>
            </a:r>
            <a:r>
              <a:rPr lang="en-US" dirty="0" err="1"/>
              <a:t>vCloud</a:t>
            </a:r>
            <a:endParaRPr lang="en-US" dirty="0"/>
          </a:p>
          <a:p>
            <a:r>
              <a:rPr lang="en-US" dirty="0"/>
              <a:t>Hardware virtualization is the most common type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IN" dirty="0"/>
              <a:t>Web 2.0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Interface enabling interaction between cloud services and users</a:t>
            </a:r>
          </a:p>
          <a:p>
            <a:r>
              <a:rPr lang="en-US" dirty="0"/>
              <a:t>Enables interactive and dynamic web pages</a:t>
            </a:r>
          </a:p>
          <a:p>
            <a:r>
              <a:rPr lang="en-US" dirty="0"/>
              <a:t>Improves flexibility and user collaboration</a:t>
            </a:r>
          </a:p>
          <a:p>
            <a:r>
              <a:rPr lang="en-US" dirty="0"/>
              <a:t>Foundation of social media platforms</a:t>
            </a:r>
          </a:p>
          <a:p>
            <a:r>
              <a:rPr lang="en-US" dirty="0"/>
              <a:t>Examples: Google Maps, Facebook, Twitter</a:t>
            </a:r>
          </a:p>
          <a:p>
            <a:r>
              <a:rPr lang="en-US" dirty="0"/>
              <a:t>Gained popularity around 2004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Service Orientation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Acts as a reference model for cloud computing</a:t>
            </a:r>
          </a:p>
          <a:p>
            <a:r>
              <a:rPr lang="en-US" dirty="0"/>
              <a:t>Supports low-cost, flexible, and scalable applications</a:t>
            </a:r>
          </a:p>
          <a:p>
            <a:r>
              <a:rPr lang="en-US" dirty="0"/>
              <a:t>Key concepts introduced:</a:t>
            </a:r>
          </a:p>
          <a:p>
            <a:pPr lvl="1"/>
            <a:r>
              <a:rPr lang="en-US" dirty="0"/>
              <a:t>Quality of Service (</a:t>
            </a:r>
            <a:r>
              <a:rPr lang="en-US" dirty="0" err="1"/>
              <a:t>QoS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Service Level Agreements (SLA)</a:t>
            </a:r>
          </a:p>
          <a:p>
            <a:pPr lvl="1"/>
            <a:r>
              <a:rPr lang="en-US" dirty="0"/>
              <a:t>Software as a Service (</a:t>
            </a:r>
            <a:r>
              <a:rPr lang="en-US" dirty="0" err="1"/>
              <a:t>SaaS</a:t>
            </a:r>
            <a:r>
              <a:rPr lang="en-US" dirty="0"/>
              <a:t>)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Distributed computing principles</a:t>
            </a:r>
            <a:endParaRPr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Resource Sharing</a:t>
            </a:r>
          </a:p>
          <a:p>
            <a:pPr lvl="1"/>
            <a:r>
              <a:rPr lang="en-US" dirty="0"/>
              <a:t>Efficient sharing of data, hardware, and services among systems</a:t>
            </a:r>
          </a:p>
          <a:p>
            <a:r>
              <a:rPr lang="en-US" dirty="0"/>
              <a:t>Transparency</a:t>
            </a:r>
          </a:p>
          <a:p>
            <a:pPr lvl="1"/>
            <a:r>
              <a:rPr lang="en-US" dirty="0"/>
              <a:t>The system appears as a single entity, hiding complexity from users.</a:t>
            </a:r>
          </a:p>
          <a:p>
            <a:r>
              <a:rPr lang="en-US" dirty="0"/>
              <a:t>Scalability</a:t>
            </a:r>
          </a:p>
          <a:p>
            <a:pPr lvl="1"/>
            <a:r>
              <a:rPr lang="en-US" dirty="0"/>
              <a:t>Ability to grow in users, resources, and workload without loss of performance.</a:t>
            </a:r>
          </a:p>
          <a:p>
            <a:r>
              <a:rPr lang="en-US" dirty="0"/>
              <a:t>Fault Tolerance &amp; Reliability</a:t>
            </a:r>
          </a:p>
          <a:p>
            <a:pPr lvl="1"/>
            <a:r>
              <a:rPr lang="en-US" dirty="0"/>
              <a:t>System continues to operate despite failures of individual components.</a:t>
            </a:r>
          </a:p>
          <a:p>
            <a:r>
              <a:rPr lang="en-US" dirty="0"/>
              <a:t>Concurrency</a:t>
            </a:r>
          </a:p>
          <a:p>
            <a:pPr lvl="1"/>
            <a:r>
              <a:rPr lang="en-US" dirty="0"/>
              <a:t>Multiple processes and users can work simultaneously without conflict.</a:t>
            </a: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cloud computing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and applications are stored on remote servers over the Internet</a:t>
            </a:r>
          </a:p>
          <a:p>
            <a:r>
              <a:rPr lang="en-US" dirty="0"/>
              <a:t>Eliminates dependence on local hard drives or local servers</a:t>
            </a:r>
          </a:p>
          <a:p>
            <a:r>
              <a:rPr lang="en-US" dirty="0"/>
              <a:t>Also known as Internet-based computing</a:t>
            </a:r>
          </a:p>
          <a:p>
            <a:r>
              <a:rPr lang="en-US" dirty="0"/>
              <a:t>Resources are delivered as services via the Internet</a:t>
            </a:r>
          </a:p>
          <a:p>
            <a:r>
              <a:rPr lang="en-US" dirty="0"/>
              <a:t>Supports storage of files, documents, images, and other data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8E637-22E2-495E-9FFD-6A99E1758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73D71-80C4-4B5D-9383-D3F875E46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Cloud computing is Internet-based computing, whereby shared resources, software, and information are provided to computers and other devices on demand, like the electricity grid.</a:t>
            </a:r>
          </a:p>
          <a:p>
            <a:r>
              <a:rPr lang="en-US" dirty="0"/>
              <a:t>Cloud computing is a paradigm where details are abstracted from the users, who no longer have need for expertise in, or control over, the technology infrastructure "in the cloud" that supports them.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9566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8E637-22E2-495E-9FFD-6A99E1758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cloud computing?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73D71-80C4-4B5D-9383-D3F875E46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US" dirty="0"/>
              <a:t>Cloud computing is Internet based computing where virtual shared servers provide software, infrastructure, platform, devices and other resources and hosting to customers on a pay-as-you-use basis. </a:t>
            </a:r>
          </a:p>
          <a:p>
            <a:pPr algn="just" eaLnBrk="1" hangingPunct="1"/>
            <a:r>
              <a:rPr lang="en-US" dirty="0"/>
              <a:t>All information that a digitized system has to offer is provided as a service in the cloud computing model. Users can access these services available on the "Internet cloud" without having any previous know-how on managing the resources involved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61761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732" y="322553"/>
            <a:ext cx="6589199" cy="1280890"/>
          </a:xfrm>
        </p:spPr>
        <p:txBody>
          <a:bodyPr/>
          <a:lstStyle/>
          <a:p>
            <a:r>
              <a:rPr lang="en-IN" i="1" dirty="0"/>
              <a:t>Characteristics of cloud computing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1444" y="6102857"/>
            <a:ext cx="6591985" cy="377762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Image Credits: </a:t>
            </a:r>
            <a:r>
              <a:rPr lang="en-US" dirty="0" err="1"/>
              <a:t>GeeksForGeeks</a:t>
            </a:r>
            <a:endParaRPr dirty="0"/>
          </a:p>
        </p:txBody>
      </p:sp>
      <p:pic>
        <p:nvPicPr>
          <p:cNvPr id="7172" name="Picture 4" descr="https://media.geeksforgeeks.org/wp-content/uploads/20230127190422/Cloud-Computing-characterstic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536" y="1603443"/>
            <a:ext cx="5176871" cy="4224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1" dirty="0"/>
              <a:t>Characteristics of cloud computing</a:t>
            </a:r>
            <a:endParaRPr lang="en-IN" dirty="0"/>
          </a:p>
        </p:txBody>
      </p:sp>
      <p:sp>
        <p:nvSpPr>
          <p:cNvPr id="4" name="AutoShape 2" descr="data:image/png;base64,iVBORw0KGgoAAAANSUhEUgAAAFgAAABYCAMAAABGS8AGAAAAn1BMVEX+/v7///8qKScClUX7+/tQqG1Npm4AkDmjzbHg7uQAk0AAjzJBoGEAAAAAiChSpm9erHcfHhuz1b2s0bhoZ2e52MPq9O0mJSJusYLm5ubd3d19fXxDQ0NaqW/z8/MYFxQSEAyfn59dXVyIiIi+vr5zc3PLy8samEyUxaRytIovmlU0NDNMS0o7OzqUk5Orq6vI4M/S5NmAt5GLwpsAfgCmbmLUAAAEaElEQVRYhe2ZaXeiShCGacFprAYEhAY0EQEXIMaAmf//2241uJBoJizm3HPvmfcDW8NziupasJWUH5KkSD+kv+D/E5j00vdg4o+761d2S74BawBgdBEDoL/agTV3guLfqL5hMnFzgFZgqnX1b94OzNQvnl8uvyCnrB3YvvfwMnnR9ZfoLlgdAJ5boTcaeau98liwMkKsUOg8FpyEo5P09UPBo4usOyb3Bwd6g/xI8LwBDn/IYm/0SLBkXT2xeST456Ji6Z3jOL4dHJZ5YZ15rw/OPMy95DUMXw/3hoaBhT++qm79wPPDZrP4pCgYDo700LrRSn8bCm7mXFP6fCA4tu6DP+RJD/D2C4PR5GAQeO99BW6a3B1cGWzpn+hedWEVDAALD1ub+esHsrefx3ghTPqDq5DQl+TpE/gy0BfsoMHhgnwEe9a+9v3V5K7gyi7hyibYivfx2fnLnuCN8DAa3ASv1kki2mnl5UNPsJi6KsPOYMsK40hfoSvIetWIuK7gxBIWXsGvSbKIDsmTAEfhAIsrq66u8JxgjgoW+9O86tue4ADB3pMAW+EqDC19Ln5yLnUESy+in/SdvMpSERWOE63fDvG+sjDYb+qA8S7trzN4UTv50ubqA/Hz523VcHF3sIhWz9no0Xq93s63UZURka6PEhFtFxd3By+rNLBGAWq+3QaL02t4lphNXekNroJKvHNQ6VB9tsXnL4xrd+oMlpy6f3hOgnK8MImiw7mlVIHYd/L0U/MMVyhsqmJXX/E8T+8/eUHixM59xXG8CXqD2+pfB7uFbbsX2Z/2typVNm0HHrMWopcjc9YW/AzyVQBQbcQe4HQFGndALzBQM3umoJnm1ByDORXXpnjcvMVvDTavT9EJlp7ScMUccYMQKsu7KpXpMDBMkTorZJekuzynJ7Ci5dpQi4ETMsnQYj7hKSVSBZbKMh1osUyNY0HI2CXFzPYRzAAQXBTvA8H0ncx+uySzSZprGhDJ9310BbArt6fFuyVOHqfV5ClGlWe5RPJGOPb1MfXffQZjtNQ3QWx92fTlnuA/JMg1TQaDv1UnMFAABmdRoJTVxtJ6JxbxTi8AncB5KSnlbsc5XyrPqVi4s3M+AThy9X2ZsrxUlGK3E0t6SkY7gFlBspTMZCKlqpqrpDhy8lwS0yjIOMXyy0nhkhIUSVXVaUcwt31jR5Q0TZlKZtqEjI9kRhVuIFgjE4NlGgY0Du86ucKYYSrbmBDoCwTjx09KKeEmUQVYFBCgBlYjHNY6gWe2YRIuE/7bMBCcojcYw7fHUQTnhDPGC1lRqGHQLgmCrigL4spYKrniq+hVhfjUxHrEKDpG1CROXJBwx1PWKfNUUcB2oqMV06zI2LFIKcwKHwDPKE2rYdEG8cy324J9kLGjYZ2pWhpQPKT1KW4wouXmMIWsLVg90u/z7SqWtuzSkHOTthVabPIc2oEht8tJe4ml9FZgrAys6+J/G3Bm9tDxe/CP/cHyMP0F/5fBdyJluIj0D5CTlr7blWB4AAAAAElFTkSuQmCC"/>
          <p:cNvSpPr>
            <a:spLocks noGrp="1" noChangeAspect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r>
              <a:rPr lang="en-US" b="1" dirty="0"/>
              <a:t>On-Demand Self-Service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Users can automatically get computing resources (like server time, storage, networking) as needed, without human intervention from the provider. </a:t>
            </a:r>
          </a:p>
          <a:p>
            <a:r>
              <a:rPr lang="en-US" b="1" dirty="0"/>
              <a:t>Broad Network Access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Services are available over the network (internet) and accessible via standard mechanisms on various devices (laptops, phones, tablets). </a:t>
            </a:r>
          </a:p>
          <a:p>
            <a:r>
              <a:rPr lang="en-US" b="1" dirty="0">
                <a:solidFill>
                  <a:schemeClr val="tx1"/>
                </a:solidFill>
              </a:rPr>
              <a:t>Resource Pooling:</a:t>
            </a:r>
          </a:p>
          <a:p>
            <a:pPr lvl="1"/>
            <a:r>
              <a:rPr lang="en-US" dirty="0"/>
              <a:t>The provider's resources (servers, storage, etc.) are pooled to serve multiple customers (multi-tenant model), with resources dynamically assigned and reassigned as demand changes.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2178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1" dirty="0"/>
              <a:t>Characteristics of cloud computing</a:t>
            </a:r>
            <a:endParaRPr lang="en-IN" dirty="0"/>
          </a:p>
        </p:txBody>
      </p:sp>
      <p:sp>
        <p:nvSpPr>
          <p:cNvPr id="4" name="AutoShape 2" descr="data:image/png;base64,iVBORw0KGgoAAAANSUhEUgAAAFgAAABYCAMAAABGS8AGAAAAn1BMVEX+/v7///8qKScClUX7+/tQqG1Npm4AkDmjzbHg7uQAk0AAjzJBoGEAAAAAiChSpm9erHcfHhuz1b2s0bhoZ2e52MPq9O0mJSJusYLm5ubd3d19fXxDQ0NaqW/z8/MYFxQSEAyfn59dXVyIiIi+vr5zc3PLy8samEyUxaRytIovmlU0NDNMS0o7OzqUk5Orq6vI4M/S5NmAt5GLwpsAfgCmbmLUAAAEaElEQVRYhe2ZaXeiShCGacFprAYEhAY0EQEXIMaAmf//2241uJBoJizm3HPvmfcDW8NziupasJWUH5KkSD+kv+D/E5j00vdg4o+761d2S74BawBgdBEDoL/agTV3guLfqL5hMnFzgFZgqnX1b94OzNQvnl8uvyCnrB3YvvfwMnnR9ZfoLlgdAJ5boTcaeau98liwMkKsUOg8FpyEo5P09UPBo4usOyb3Bwd6g/xI8LwBDn/IYm/0SLBkXT2xeST456Ji6Z3jOL4dHJZ5YZ15rw/OPMy95DUMXw/3hoaBhT++qm79wPPDZrP4pCgYDo700LrRSn8bCm7mXFP6fCA4tu6DP+RJD/D2C4PR5GAQeO99BW6a3B1cGWzpn+hedWEVDAALD1ub+esHsrefx3ghTPqDq5DQl+TpE/gy0BfsoMHhgnwEe9a+9v3V5K7gyi7hyibYivfx2fnLnuCN8DAa3ASv1kki2mnl5UNPsJi6KsPOYMsK40hfoSvIetWIuK7gxBIWXsGvSbKIDsmTAEfhAIsrq66u8JxgjgoW+9O86tue4ADB3pMAW+EqDC19Ln5yLnUESy+in/SdvMpSERWOE63fDvG+sjDYb+qA8S7trzN4UTv50ubqA/Hz523VcHF3sIhWz9no0Xq93s63UZURka6PEhFtFxd3By+rNLBGAWq+3QaL02t4lphNXekNroJKvHNQ6VB9tsXnL4xrd+oMlpy6f3hOgnK8MImiw7mlVIHYd/L0U/MMVyhsqmJXX/E8T+8/eUHixM59xXG8CXqD2+pfB7uFbbsX2Z/2typVNm0HHrMWopcjc9YW/AzyVQBQbcQe4HQFGndALzBQM3umoJnm1ByDORXXpnjcvMVvDTavT9EJlp7ScMUccYMQKsu7KpXpMDBMkTorZJekuzynJ7Ci5dpQi4ETMsnQYj7hKSVSBZbKMh1osUyNY0HI2CXFzPYRzAAQXBTvA8H0ncx+uySzSZprGhDJ9310BbArt6fFuyVOHqfV5ClGlWe5RPJGOPb1MfXffQZjtNQ3QWx92fTlnuA/JMg1TQaDv1UnMFAABmdRoJTVxtJ6JxbxTi8AncB5KSnlbsc5XyrPqVi4s3M+AThy9X2ZsrxUlGK3E0t6SkY7gFlBspTMZCKlqpqrpDhy8lwS0yjIOMXyy0nhkhIUSVXVaUcwt31jR5Q0TZlKZtqEjI9kRhVuIFgjE4NlGgY0Du86ucKYYSrbmBDoCwTjx09KKeEmUQVYFBCgBlYjHNY6gWe2YRIuE/7bMBCcojcYw7fHUQTnhDPGC1lRqGHQLgmCrigL4spYKrniq+hVhfjUxHrEKDpG1CROXJBwx1PWKfNUUcB2oqMV06zI2LFIKcwKHwDPKE2rYdEG8cy324J9kLGjYZ2pWhpQPKT1KW4wouXmMIWsLVg90u/z7SqWtuzSkHOTthVabPIc2oEht8tJe4ml9FZgrAys6+J/G3Bm9tDxe/CP/cHyMP0F/5fBdyJluIj0D5CTlr7blWB4AAAAAElFTkSuQmCC"/>
          <p:cNvSpPr>
            <a:spLocks noGrp="1" noChangeAspect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b="1" dirty="0"/>
              <a:t>Rapid Elasticity:</a:t>
            </a:r>
          </a:p>
          <a:p>
            <a:pPr lvl="1"/>
            <a:r>
              <a:rPr lang="en-US" dirty="0"/>
              <a:t>Capabilities can be scaled out (up) and in (down) quickly and elastically, appearing unlimited to the consumer, matching demand automatically</a:t>
            </a:r>
            <a:r>
              <a:rPr lang="en-US" b="1" dirty="0"/>
              <a:t>. </a:t>
            </a:r>
          </a:p>
          <a:p>
            <a:r>
              <a:rPr lang="en-US" b="1" dirty="0"/>
              <a:t>Measured Service:</a:t>
            </a:r>
          </a:p>
          <a:p>
            <a:pPr lvl="1" fontAlgn="ctr"/>
            <a:r>
              <a:rPr lang="en-US" dirty="0"/>
              <a:t>Resource usage (storage, processing, bandwidth) is automatically monitored, controlled, and optimized, allowing for pay-per-use billing. </a:t>
            </a:r>
          </a:p>
        </p:txBody>
      </p:sp>
    </p:spTree>
    <p:extLst>
      <p:ext uri="{BB962C8B-B14F-4D97-AF65-F5344CB8AC3E}">
        <p14:creationId xmlns:p14="http://schemas.microsoft.com/office/powerpoint/2010/main" val="25216020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 of Cloud Computing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2341" y="1527243"/>
            <a:ext cx="6832060" cy="4383979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Cost Efficiency</a:t>
            </a:r>
            <a:endParaRPr lang="en-US" dirty="0"/>
          </a:p>
          <a:p>
            <a:pPr lvl="1"/>
            <a:r>
              <a:rPr lang="en-US" dirty="0"/>
              <a:t>Pay-as-you-use model reduces capital and maintenance costs.</a:t>
            </a:r>
          </a:p>
          <a:p>
            <a:r>
              <a:rPr lang="en-US" b="1" dirty="0"/>
              <a:t>Scalability &amp; Flexibility</a:t>
            </a:r>
            <a:endParaRPr lang="en-US" dirty="0"/>
          </a:p>
          <a:p>
            <a:pPr lvl="1"/>
            <a:r>
              <a:rPr lang="en-US" dirty="0"/>
              <a:t>Resources can be scaled up or down on demand.</a:t>
            </a:r>
          </a:p>
          <a:p>
            <a:r>
              <a:rPr lang="en-US" b="1" dirty="0"/>
              <a:t>High Availability &amp; Reliability</a:t>
            </a:r>
            <a:endParaRPr lang="en-US" dirty="0"/>
          </a:p>
          <a:p>
            <a:pPr lvl="1"/>
            <a:r>
              <a:rPr lang="en-US" dirty="0"/>
              <a:t>Ensures minimal downtime with backup and disaster recovery.</a:t>
            </a:r>
          </a:p>
          <a:p>
            <a:r>
              <a:rPr lang="en-US" b="1" dirty="0"/>
              <a:t>Accessibility &amp; Mobility</a:t>
            </a:r>
            <a:endParaRPr lang="en-US" dirty="0"/>
          </a:p>
          <a:p>
            <a:pPr lvl="1"/>
            <a:r>
              <a:rPr lang="en-US" dirty="0"/>
              <a:t>Data and applications can be accessed from anywhere via the Internet.</a:t>
            </a:r>
          </a:p>
          <a:p>
            <a:r>
              <a:rPr lang="en-IN" b="1" dirty="0"/>
              <a:t>Automatic Updates &amp; Maintenance</a:t>
            </a:r>
            <a:endParaRPr lang="en-IN" dirty="0"/>
          </a:p>
          <a:p>
            <a:pPr lvl="1"/>
            <a:r>
              <a:rPr lang="en-IN" dirty="0"/>
              <a:t>Cloud providers handle infrastructure management.</a:t>
            </a:r>
          </a:p>
          <a:p>
            <a:r>
              <a:rPr lang="en-US" b="1" dirty="0"/>
              <a:t>Efficient Resource Utilization</a:t>
            </a:r>
            <a:endParaRPr lang="en-US" dirty="0"/>
          </a:p>
          <a:p>
            <a:pPr lvl="1"/>
            <a:r>
              <a:rPr lang="en-US" dirty="0"/>
              <a:t>Optimized use of computing and storage resources.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of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0306" y="2016867"/>
            <a:ext cx="7298987" cy="4364477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Security &amp; Privacy Risks</a:t>
            </a:r>
            <a:endParaRPr lang="en-US" dirty="0"/>
          </a:p>
          <a:p>
            <a:pPr lvl="1"/>
            <a:r>
              <a:rPr lang="en-US" dirty="0"/>
              <a:t>Data stored off-premises may face security threats.</a:t>
            </a:r>
          </a:p>
          <a:p>
            <a:r>
              <a:rPr lang="en-US" b="1" dirty="0"/>
              <a:t>Internet Dependency</a:t>
            </a:r>
            <a:endParaRPr lang="en-US" dirty="0"/>
          </a:p>
          <a:p>
            <a:pPr lvl="1"/>
            <a:r>
              <a:rPr lang="en-US" dirty="0"/>
              <a:t>Requires reliable and high-speed network connectivity.</a:t>
            </a:r>
          </a:p>
          <a:p>
            <a:r>
              <a:rPr lang="en-IN" b="1" dirty="0"/>
              <a:t>Downtime &amp; Service Outages</a:t>
            </a:r>
            <a:endParaRPr lang="en-IN" dirty="0"/>
          </a:p>
          <a:p>
            <a:pPr lvl="1"/>
            <a:r>
              <a:rPr lang="en-IN" dirty="0"/>
              <a:t>Provider outages can impact availability.</a:t>
            </a:r>
          </a:p>
          <a:p>
            <a:r>
              <a:rPr lang="en-US" b="1" dirty="0"/>
              <a:t>Limited Control &amp; Vendor Lock-in</a:t>
            </a:r>
            <a:endParaRPr lang="en-US" dirty="0"/>
          </a:p>
          <a:p>
            <a:pPr lvl="1"/>
            <a:r>
              <a:rPr lang="en-US" dirty="0"/>
              <a:t>Dependence on a single provider may restrict flexibility.</a:t>
            </a:r>
          </a:p>
          <a:p>
            <a:r>
              <a:rPr lang="en-US" b="1" dirty="0"/>
              <a:t>Compliance &amp; Legal Issues</a:t>
            </a:r>
            <a:endParaRPr lang="en-US" dirty="0"/>
          </a:p>
          <a:p>
            <a:pPr lvl="1"/>
            <a:r>
              <a:rPr lang="en-US" dirty="0"/>
              <a:t>Data location and regulatory requirements can be challenging.</a:t>
            </a:r>
          </a:p>
          <a:p>
            <a:r>
              <a:rPr lang="en-US" b="1" dirty="0"/>
              <a:t>Performance &amp; Latency Issues</a:t>
            </a:r>
            <a:endParaRPr lang="en-US" dirty="0"/>
          </a:p>
          <a:p>
            <a:pPr lvl="1"/>
            <a:r>
              <a:rPr lang="en-US" dirty="0"/>
              <a:t>Network delays can affect application performance.</a:t>
            </a:r>
          </a:p>
        </p:txBody>
      </p:sp>
    </p:spTree>
    <p:extLst>
      <p:ext uri="{BB962C8B-B14F-4D97-AF65-F5344CB8AC3E}">
        <p14:creationId xmlns:p14="http://schemas.microsoft.com/office/powerpoint/2010/main" val="3570466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drivers for cloud adoption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Cost Optimization</a:t>
            </a:r>
          </a:p>
          <a:p>
            <a:pPr lvl="1"/>
            <a:r>
              <a:rPr lang="en-US" dirty="0"/>
              <a:t>Shifts </a:t>
            </a:r>
            <a:r>
              <a:rPr lang="en-US" dirty="0" err="1"/>
              <a:t>CapEx</a:t>
            </a:r>
            <a:r>
              <a:rPr lang="en-US" dirty="0"/>
              <a:t> to </a:t>
            </a:r>
            <a:r>
              <a:rPr lang="en-US" dirty="0" err="1"/>
              <a:t>OpEx</a:t>
            </a:r>
            <a:r>
              <a:rPr lang="en-US" dirty="0"/>
              <a:t> with pay-as-you-go pricing</a:t>
            </a:r>
          </a:p>
          <a:p>
            <a:pPr lvl="1"/>
            <a:r>
              <a:rPr lang="en-US" dirty="0"/>
              <a:t>Reduces infrastructure and maintenance costs</a:t>
            </a:r>
          </a:p>
          <a:p>
            <a:r>
              <a:rPr lang="en-US" b="1" dirty="0"/>
              <a:t>Agility &amp; Speed</a:t>
            </a:r>
          </a:p>
          <a:p>
            <a:pPr lvl="1"/>
            <a:r>
              <a:rPr lang="en-US" dirty="0"/>
              <a:t>Rapid provisioning and scaling of resources</a:t>
            </a:r>
          </a:p>
          <a:p>
            <a:pPr lvl="1"/>
            <a:r>
              <a:rPr lang="en-US" dirty="0"/>
              <a:t>Faster deployments and quicker adaptation to market changes</a:t>
            </a:r>
          </a:p>
          <a:p>
            <a:r>
              <a:rPr lang="en-US" b="1" dirty="0"/>
              <a:t>Scalability &amp; Elasticity</a:t>
            </a:r>
          </a:p>
          <a:p>
            <a:pPr lvl="1"/>
            <a:r>
              <a:rPr lang="en-US" dirty="0"/>
              <a:t>Easily scale resources up or down based on demand</a:t>
            </a:r>
          </a:p>
          <a:p>
            <a:pPr lvl="1"/>
            <a:r>
              <a:rPr lang="en-US" dirty="0"/>
              <a:t>Avoids over-provisioning during peak or seasonal loads</a:t>
            </a:r>
          </a:p>
          <a:p>
            <a:r>
              <a:rPr lang="en-US" b="1" dirty="0"/>
              <a:t>Innovation Enablement</a:t>
            </a:r>
          </a:p>
          <a:p>
            <a:pPr lvl="1"/>
            <a:r>
              <a:rPr lang="en-US" dirty="0"/>
              <a:t>Access to advanced technologies like AI, ML, and Big Data</a:t>
            </a:r>
          </a:p>
          <a:p>
            <a:pPr lvl="1"/>
            <a:r>
              <a:rPr lang="en-US" dirty="0"/>
              <a:t>Focus on application development instead of infrastructure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73204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drivers for cloud adoption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Security &amp; Compliance</a:t>
            </a:r>
          </a:p>
          <a:p>
            <a:pPr lvl="1"/>
            <a:r>
              <a:rPr lang="en-US" dirty="0"/>
              <a:t>Advanced security, backup, and disaster recovery capabilities</a:t>
            </a:r>
          </a:p>
          <a:p>
            <a:pPr lvl="1"/>
            <a:r>
              <a:rPr lang="en-US" dirty="0"/>
              <a:t>Often stronger than traditional on-premise solutions</a:t>
            </a:r>
          </a:p>
          <a:p>
            <a:r>
              <a:rPr lang="en-US" b="1" dirty="0"/>
              <a:t>Digital Transformation</a:t>
            </a:r>
            <a:endParaRPr lang="en-US" dirty="0"/>
          </a:p>
          <a:p>
            <a:pPr lvl="1"/>
            <a:r>
              <a:rPr lang="en-US" dirty="0"/>
              <a:t>Supports remote work, collaboration, and data-driven decision-making</a:t>
            </a:r>
          </a:p>
          <a:p>
            <a:r>
              <a:rPr lang="en-US" b="1" dirty="0"/>
              <a:t>Efficiency &amp; Productivity</a:t>
            </a:r>
            <a:endParaRPr lang="en-US" dirty="0"/>
          </a:p>
          <a:p>
            <a:pPr lvl="1"/>
            <a:r>
              <a:rPr lang="en-US" dirty="0"/>
              <a:t>Automation and simplified IT management</a:t>
            </a:r>
          </a:p>
          <a:p>
            <a:pPr lvl="1"/>
            <a:r>
              <a:rPr lang="en-US" dirty="0"/>
              <a:t>Frees IT teams to focus on strategic business goals</a:t>
            </a:r>
          </a:p>
          <a:p>
            <a:r>
              <a:rPr lang="en-US" b="1" dirty="0"/>
              <a:t>Competitive Advantage</a:t>
            </a:r>
            <a:endParaRPr lang="en-US" dirty="0"/>
          </a:p>
          <a:p>
            <a:pPr lvl="1"/>
            <a:r>
              <a:rPr lang="en-US" dirty="0"/>
              <a:t>Faster response to customer needs</a:t>
            </a:r>
          </a:p>
          <a:p>
            <a:pPr lvl="1"/>
            <a:r>
              <a:rPr lang="en-US" dirty="0"/>
              <a:t>Quicker introduction of new products and services</a:t>
            </a:r>
          </a:p>
        </p:txBody>
      </p:sp>
    </p:spTree>
    <p:extLst>
      <p:ext uri="{BB962C8B-B14F-4D97-AF65-F5344CB8AC3E}">
        <p14:creationId xmlns:p14="http://schemas.microsoft.com/office/powerpoint/2010/main" val="79186249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6812894AF27C4B9BEA242A5F6FBAEB" ma:contentTypeVersion="3" ma:contentTypeDescription="Create a new document." ma:contentTypeScope="" ma:versionID="a489823335127097a59b5e1221195550">
  <xsd:schema xmlns:xsd="http://www.w3.org/2001/XMLSchema" xmlns:xs="http://www.w3.org/2001/XMLSchema" xmlns:p="http://schemas.microsoft.com/office/2006/metadata/properties" xmlns:ns2="7bca1dba-6ac6-41dc-89fe-ef4b674b2d91" targetNamespace="http://schemas.microsoft.com/office/2006/metadata/properties" ma:root="true" ma:fieldsID="1d5048d958bb91d07665fe1e62e4cc96" ns2:_="">
    <xsd:import namespace="7bca1dba-6ac6-41dc-89fe-ef4b674b2d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ca1dba-6ac6-41dc-89fe-ef4b674b2d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E6CD445-7205-4D77-8C32-AEC119EAAD24}"/>
</file>

<file path=customXml/itemProps2.xml><?xml version="1.0" encoding="utf-8"?>
<ds:datastoreItem xmlns:ds="http://schemas.openxmlformats.org/officeDocument/2006/customXml" ds:itemID="{6D2BEBE1-FEAC-46A5-8596-F25B07E33040}"/>
</file>

<file path=customXml/itemProps3.xml><?xml version="1.0" encoding="utf-8"?>
<ds:datastoreItem xmlns:ds="http://schemas.openxmlformats.org/officeDocument/2006/customXml" ds:itemID="{9C69D081-DFFD-48ED-9F71-2B24E0E74AC3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4053</TotalTime>
  <Words>1153</Words>
  <Application>Microsoft Office PowerPoint</Application>
  <PresentationFormat>On-screen Show (4:3)</PresentationFormat>
  <Paragraphs>161</Paragraphs>
  <Slides>23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Century Gothic</vt:lpstr>
      <vt:lpstr>Wingdings 3</vt:lpstr>
      <vt:lpstr>Wisp</vt:lpstr>
      <vt:lpstr>Introduction to Distributed Computing and Cloud Fundamentals: </vt:lpstr>
      <vt:lpstr>LECTURE OBJECTIVES</vt:lpstr>
      <vt:lpstr>WHY STUDY CLOUD COMPUTING?</vt:lpstr>
      <vt:lpstr>EVOLUTION OF COMPUTING SYSTEMS</vt:lpstr>
      <vt:lpstr>Mainframe Computing(1950-1970)</vt:lpstr>
      <vt:lpstr>Distributed Systems(1970-1980)</vt:lpstr>
      <vt:lpstr>Cluster Computing (1980s)</vt:lpstr>
      <vt:lpstr>Grid Computing (1990s)</vt:lpstr>
      <vt:lpstr>Utility Computing</vt:lpstr>
      <vt:lpstr>Virtualization</vt:lpstr>
      <vt:lpstr>Web 2.0</vt:lpstr>
      <vt:lpstr>Service Orientation</vt:lpstr>
      <vt:lpstr>Distributed computing principles</vt:lpstr>
      <vt:lpstr>Introduction to cloud computing</vt:lpstr>
      <vt:lpstr>Introduction to cloud computing</vt:lpstr>
      <vt:lpstr>What is cloud computing?</vt:lpstr>
      <vt:lpstr>Characteristics of cloud computing</vt:lpstr>
      <vt:lpstr>Characteristics of cloud computing</vt:lpstr>
      <vt:lpstr>Characteristics of cloud computing</vt:lpstr>
      <vt:lpstr>Benefits of Cloud Computing</vt:lpstr>
      <vt:lpstr>Challenges of Cloud Computing</vt:lpstr>
      <vt:lpstr>Business drivers for cloud adoption</vt:lpstr>
      <vt:lpstr>Business drivers for cloud adoption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Mobile Forensics</dc:title>
  <dc:subject/>
  <dc:creator>Soni Bhambar</dc:creator>
  <cp:keywords/>
  <dc:description>generated using python-pptx</dc:description>
  <cp:lastModifiedBy>Soni Bhambar</cp:lastModifiedBy>
  <cp:revision>51</cp:revision>
  <dcterms:created xsi:type="dcterms:W3CDTF">2013-01-27T09:14:16Z</dcterms:created>
  <dcterms:modified xsi:type="dcterms:W3CDTF">2026-08-07T04:03:13Z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0x010100896812894AF27C4B9BEA242A5F6FBAEB</vt:lpwstr>
  </property>
</Properties>
</file>