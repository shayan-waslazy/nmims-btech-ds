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2" r:id="rId12"/>
    <p:sldId id="267" r:id="rId13"/>
    <p:sldId id="268" r:id="rId14"/>
    <p:sldId id="269" r:id="rId15"/>
    <p:sldId id="272" r:id="rId16"/>
    <p:sldId id="281" r:id="rId17"/>
    <p:sldId id="273" r:id="rId18"/>
    <p:sldId id="274" r:id="rId19"/>
    <p:sldId id="280" r:id="rId20"/>
    <p:sldId id="275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 Bhambar" userId="00a8fab9-7aa3-4075-b99f-3577476e29e3" providerId="ADAL" clId="{3EB6DD9B-B88E-47E4-827A-45B9E94A63EE}"/>
    <pc:docChg chg="delSld modSld">
      <pc:chgData name="Soni Bhambar" userId="00a8fab9-7aa3-4075-b99f-3577476e29e3" providerId="ADAL" clId="{3EB6DD9B-B88E-47E4-827A-45B9E94A63EE}" dt="2026-07-27T09:46:36.770" v="6" actId="47"/>
      <pc:docMkLst>
        <pc:docMk/>
      </pc:docMkLst>
      <pc:sldChg chg="del">
        <pc:chgData name="Soni Bhambar" userId="00a8fab9-7aa3-4075-b99f-3577476e29e3" providerId="ADAL" clId="{3EB6DD9B-B88E-47E4-827A-45B9E94A63EE}" dt="2026-07-27T09:46:36.052" v="5" actId="47"/>
        <pc:sldMkLst>
          <pc:docMk/>
          <pc:sldMk cId="1995004897" sldId="270"/>
        </pc:sldMkLst>
      </pc:sldChg>
      <pc:sldChg chg="del">
        <pc:chgData name="Soni Bhambar" userId="00a8fab9-7aa3-4075-b99f-3577476e29e3" providerId="ADAL" clId="{3EB6DD9B-B88E-47E4-827A-45B9E94A63EE}" dt="2026-07-27T09:46:36.770" v="6" actId="47"/>
        <pc:sldMkLst>
          <pc:docMk/>
          <pc:sldMk cId="299641257" sldId="271"/>
        </pc:sldMkLst>
      </pc:sldChg>
      <pc:sldChg chg="modSp mod">
        <pc:chgData name="Soni Bhambar" userId="00a8fab9-7aa3-4075-b99f-3577476e29e3" providerId="ADAL" clId="{3EB6DD9B-B88E-47E4-827A-45B9E94A63EE}" dt="2026-07-27T09:44:13.024" v="3" actId="20577"/>
        <pc:sldMkLst>
          <pc:docMk/>
          <pc:sldMk cId="3654043585" sldId="275"/>
        </pc:sldMkLst>
        <pc:spChg chg="mod">
          <ac:chgData name="Soni Bhambar" userId="00a8fab9-7aa3-4075-b99f-3577476e29e3" providerId="ADAL" clId="{3EB6DD9B-B88E-47E4-827A-45B9E94A63EE}" dt="2026-07-27T09:44:13.024" v="3" actId="20577"/>
          <ac:spMkLst>
            <pc:docMk/>
            <pc:sldMk cId="3654043585" sldId="275"/>
            <ac:spMk id="2" creationId="{00000000-0000-0000-0000-000000000000}"/>
          </ac:spMkLst>
        </pc:spChg>
      </pc:sldChg>
      <pc:sldChg chg="del">
        <pc:chgData name="Soni Bhambar" userId="00a8fab9-7aa3-4075-b99f-3577476e29e3" providerId="ADAL" clId="{3EB6DD9B-B88E-47E4-827A-45B9E94A63EE}" dt="2026-07-27T09:44:04.258" v="0" actId="2696"/>
        <pc:sldMkLst>
          <pc:docMk/>
          <pc:sldMk cId="3360747538" sldId="276"/>
        </pc:sldMkLst>
      </pc:sldChg>
      <pc:sldChg chg="modSp mod">
        <pc:chgData name="Soni Bhambar" userId="00a8fab9-7aa3-4075-b99f-3577476e29e3" providerId="ADAL" clId="{3EB6DD9B-B88E-47E4-827A-45B9E94A63EE}" dt="2026-07-27T09:44:20.383" v="4" actId="14100"/>
        <pc:sldMkLst>
          <pc:docMk/>
          <pc:sldMk cId="128059073" sldId="277"/>
        </pc:sldMkLst>
        <pc:picChg chg="mod">
          <ac:chgData name="Soni Bhambar" userId="00a8fab9-7aa3-4075-b99f-3577476e29e3" providerId="ADAL" clId="{3EB6DD9B-B88E-47E4-827A-45B9E94A63EE}" dt="2026-07-27T09:44:20.383" v="4" actId="14100"/>
          <ac:picMkLst>
            <pc:docMk/>
            <pc:sldMk cId="128059073" sldId="277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953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7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02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7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91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67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2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39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2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3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220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819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29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46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976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378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98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5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133" y="1811863"/>
            <a:ext cx="6045467" cy="1515533"/>
          </a:xfrm>
        </p:spPr>
        <p:txBody>
          <a:bodyPr/>
          <a:lstStyle/>
          <a:p>
            <a:r>
              <a:rPr lang="en-IN" dirty="0"/>
              <a:t>Containerization and Modern Virtualization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99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Scenario: Application Deployment WITHOUT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🏢 A software company builds a Student Management Web Application</a:t>
            </a:r>
          </a:p>
          <a:p>
            <a:pPr>
              <a:defRPr sz="1800"/>
            </a:pPr>
            <a:r>
              <a:t>Technologies: Python (Flask) and MySQL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Goal: Deploy the application from development to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Development Phase (Without 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👨‍💻 Developer builds the application on a local machine</a:t>
            </a:r>
            <a:endParaRPr lang="en-US" dirty="0"/>
          </a:p>
          <a:p>
            <a:pPr lvl="1">
              <a:defRPr sz="1800"/>
            </a:pPr>
            <a:r>
              <a:rPr dirty="0"/>
              <a:t>Windows OS</a:t>
            </a:r>
            <a:endParaRPr lang="en-US" dirty="0"/>
          </a:p>
          <a:p>
            <a:pPr lvl="1">
              <a:defRPr sz="1800"/>
            </a:pPr>
            <a:r>
              <a:rPr dirty="0"/>
              <a:t>Python 3.10</a:t>
            </a:r>
          </a:p>
          <a:p>
            <a:pPr lvl="1">
              <a:defRPr sz="1800"/>
            </a:pPr>
            <a:r>
              <a:rPr dirty="0"/>
              <a:t>Specific library versions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✅ Application works perfectly on developer's system</a:t>
            </a:r>
          </a:p>
          <a:p>
            <a:pPr>
              <a:defRPr sz="1800"/>
            </a:pPr>
            <a:r>
              <a:rPr dirty="0"/>
              <a:t>🗣️ "It works on my machine!"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Phase (Without 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 Tester runs the application on a different system</a:t>
            </a:r>
          </a:p>
          <a:p>
            <a:pPr lvl="1">
              <a:defRPr sz="1800"/>
            </a:pPr>
            <a:r>
              <a:rPr dirty="0"/>
              <a:t>Linux OS</a:t>
            </a:r>
          </a:p>
          <a:p>
            <a:pPr lvl="1">
              <a:defRPr sz="1800"/>
            </a:pPr>
            <a:r>
              <a:rPr dirty="0"/>
              <a:t>Python 3.8</a:t>
            </a:r>
          </a:p>
          <a:p>
            <a:pPr>
              <a:defRPr sz="1800"/>
            </a:pPr>
            <a:r>
              <a:rPr lang="en-US" dirty="0"/>
              <a:t>Consequences:</a:t>
            </a:r>
            <a:endParaRPr dirty="0"/>
          </a:p>
          <a:p>
            <a:pPr marL="0" indent="0">
              <a:buNone/>
              <a:defRPr sz="1800"/>
            </a:pPr>
            <a:r>
              <a:rPr lang="en-US" dirty="0"/>
              <a:t>	</a:t>
            </a:r>
            <a:r>
              <a:rPr dirty="0"/>
              <a:t>❌ Application crashes</a:t>
            </a:r>
          </a:p>
          <a:p>
            <a:pPr marL="0" indent="0">
              <a:buNone/>
              <a:defRPr sz="1800"/>
            </a:pPr>
            <a:r>
              <a:rPr lang="en-US" dirty="0"/>
              <a:t>	</a:t>
            </a:r>
            <a:r>
              <a:rPr dirty="0"/>
              <a:t>❌ Dependency and version mismatch errors</a:t>
            </a:r>
          </a:p>
          <a:p>
            <a:pPr marL="0" indent="0">
              <a:buNone/>
              <a:defRPr sz="1800"/>
            </a:pPr>
            <a:r>
              <a:rPr lang="en-US" dirty="0"/>
              <a:t>	</a:t>
            </a:r>
            <a:r>
              <a:rPr dirty="0"/>
              <a:t>❌ Behavior differs from development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Deployment Phase (Without 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🚀 System administrator deploys the app on production server</a:t>
            </a:r>
          </a:p>
          <a:p>
            <a:pPr>
              <a:defRPr sz="1800"/>
            </a:pPr>
            <a:r>
              <a:t>• Missing libraries</a:t>
            </a:r>
          </a:p>
          <a:p>
            <a:pPr>
              <a:defRPr sz="1800"/>
            </a:pPr>
            <a:r>
              <a:t>• Port conflicts with existing applications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❌ Manual installation required</a:t>
            </a:r>
          </a:p>
          <a:p>
            <a:pPr>
              <a:defRPr sz="1800"/>
            </a:pPr>
            <a:r>
              <a:t>❌ Deployment takes hours or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and Maintenance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📈 Number of users increases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❌ Difficult to replicate the setup on new servers</a:t>
            </a:r>
          </a:p>
          <a:p>
            <a:pPr>
              <a:defRPr sz="1800"/>
            </a:pPr>
            <a:r>
              <a:t>❌ Scaling is slow and error-prone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🔧 Updates break existing applications</a:t>
            </a:r>
          </a:p>
          <a:p>
            <a:pPr>
              <a:defRPr sz="1800"/>
            </a:pPr>
            <a:r>
              <a:t>❌ Rollback is difficult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Problems Without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❌ Environment inconsistency</a:t>
            </a:r>
          </a:p>
          <a:p>
            <a:pPr>
              <a:defRPr sz="1800"/>
            </a:pPr>
            <a:r>
              <a:rPr dirty="0"/>
              <a:t>❌ Dependency conflicts</a:t>
            </a:r>
          </a:p>
          <a:p>
            <a:pPr>
              <a:defRPr sz="1800"/>
            </a:pPr>
            <a:r>
              <a:rPr dirty="0"/>
              <a:t>❌ Slow deployment</a:t>
            </a:r>
          </a:p>
          <a:p>
            <a:pPr>
              <a:defRPr sz="1800"/>
            </a:pPr>
            <a:r>
              <a:rPr dirty="0"/>
              <a:t>❌ Poor scalability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⚠The application depends on the environment, not just the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 Scenario: Application Deployment WITH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800"/>
            </a:pPr>
            <a:r>
              <a:rPr sz="1200" dirty="0"/>
              <a:t>🏢 Same company, same Student Management Application</a:t>
            </a:r>
          </a:p>
          <a:p>
            <a:pPr marL="0" indent="0">
              <a:buNone/>
              <a:defRPr sz="1800"/>
            </a:pPr>
            <a:r>
              <a:rPr sz="1200" dirty="0"/>
              <a:t>👨‍💻 Development Phase</a:t>
            </a:r>
          </a:p>
          <a:p>
            <a:pPr>
              <a:defRPr sz="1800"/>
            </a:pPr>
            <a:r>
              <a:rPr sz="1200" dirty="0"/>
              <a:t> Developer packages app + dependencies into a </a:t>
            </a:r>
            <a:r>
              <a:rPr sz="1200" dirty="0" err="1"/>
              <a:t>Docker</a:t>
            </a:r>
            <a:r>
              <a:rPr sz="1200" dirty="0"/>
              <a:t> Image</a:t>
            </a:r>
          </a:p>
          <a:p>
            <a:pPr>
              <a:defRPr sz="1800"/>
            </a:pPr>
            <a:r>
              <a:rPr sz="1200" dirty="0"/>
              <a:t>Environment is fixed and consistent</a:t>
            </a:r>
          </a:p>
          <a:p>
            <a:pPr marL="0" indent="0">
              <a:buNone/>
              <a:defRPr sz="1800"/>
            </a:pPr>
            <a:r>
              <a:rPr sz="1200" dirty="0"/>
              <a:t>🧪 Testing Phase</a:t>
            </a:r>
          </a:p>
          <a:p>
            <a:pPr>
              <a:defRPr sz="1800"/>
            </a:pPr>
            <a:r>
              <a:rPr sz="1200" dirty="0"/>
              <a:t>• Tester runs the same </a:t>
            </a:r>
            <a:r>
              <a:rPr sz="1200" dirty="0" err="1"/>
              <a:t>Docker</a:t>
            </a:r>
            <a:r>
              <a:rPr sz="1200" dirty="0"/>
              <a:t> image</a:t>
            </a:r>
          </a:p>
          <a:p>
            <a:pPr>
              <a:defRPr sz="1800"/>
            </a:pPr>
            <a:r>
              <a:rPr sz="1200" dirty="0"/>
              <a:t>• Application works exactly the same</a:t>
            </a:r>
          </a:p>
          <a:p>
            <a:pPr>
              <a:defRPr sz="1800"/>
            </a:pPr>
            <a:r>
              <a:rPr sz="1200" dirty="0"/>
              <a:t>🚀 Deployment &amp; Scaling</a:t>
            </a:r>
          </a:p>
          <a:p>
            <a:pPr>
              <a:defRPr sz="1800"/>
            </a:pPr>
            <a:r>
              <a:rPr sz="1200" dirty="0"/>
              <a:t>• </a:t>
            </a:r>
            <a:r>
              <a:rPr sz="1200" dirty="0" err="1"/>
              <a:t>Docker</a:t>
            </a:r>
            <a:r>
              <a:rPr sz="1200" dirty="0"/>
              <a:t> image runs on any server or cloud</a:t>
            </a:r>
          </a:p>
          <a:p>
            <a:pPr>
              <a:defRPr sz="1800"/>
            </a:pPr>
            <a:r>
              <a:rPr sz="1200" dirty="0"/>
              <a:t>• Scaling is fast and reliable</a:t>
            </a:r>
          </a:p>
          <a:p>
            <a:pPr>
              <a:defRPr sz="1800"/>
            </a:pPr>
            <a:r>
              <a:rPr sz="1200" dirty="0"/>
              <a:t>✅ Result: Build once, run everywhere</a:t>
            </a:r>
          </a:p>
        </p:txBody>
      </p:sp>
    </p:spTree>
    <p:extLst>
      <p:ext uri="{BB962C8B-B14F-4D97-AF65-F5344CB8AC3E}">
        <p14:creationId xmlns:p14="http://schemas.microsoft.com/office/powerpoint/2010/main" val="327251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Docker Solves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✔ Same environment across </a:t>
            </a:r>
            <a:r>
              <a:rPr dirty="0" err="1"/>
              <a:t>Dev</a:t>
            </a:r>
            <a:r>
              <a:rPr dirty="0"/>
              <a:t>, Test, and Production</a:t>
            </a:r>
          </a:p>
          <a:p>
            <a:pPr marL="0" indent="0">
              <a:buNone/>
              <a:defRPr sz="1800"/>
            </a:pPr>
            <a:r>
              <a:rPr dirty="0"/>
              <a:t>✔ No dependency or version mismatch</a:t>
            </a:r>
          </a:p>
          <a:p>
            <a:pPr marL="0" indent="0">
              <a:buNone/>
              <a:defRPr sz="1800"/>
            </a:pPr>
            <a:r>
              <a:rPr dirty="0"/>
              <a:t>✔ Fast deployment and easy rollback</a:t>
            </a:r>
          </a:p>
          <a:p>
            <a:pPr marL="0" indent="0">
              <a:buNone/>
              <a:defRPr sz="1800"/>
            </a:pPr>
            <a:r>
              <a:rPr dirty="0"/>
              <a:t>✔ Efficient use of system resources</a:t>
            </a:r>
          </a:p>
          <a:p>
            <a:pPr marL="0" indent="0">
              <a:buNone/>
              <a:defRPr sz="1800"/>
            </a:pPr>
            <a:r>
              <a:rPr dirty="0"/>
              <a:t>✔ Supports modern </a:t>
            </a:r>
            <a:r>
              <a:rPr dirty="0" err="1"/>
              <a:t>microservices</a:t>
            </a:r>
            <a:r>
              <a:rPr dirty="0"/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7540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Docker vs After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000" b="1"/>
            </a:pPr>
            <a:r>
              <a:rPr dirty="0"/>
              <a:t>❌ BEFORE </a:t>
            </a:r>
            <a:r>
              <a:rPr dirty="0" err="1"/>
              <a:t>Docker</a:t>
            </a:r>
            <a:endParaRPr dirty="0"/>
          </a:p>
          <a:p>
            <a:pPr>
              <a:defRPr sz="1600"/>
            </a:pPr>
            <a:r>
              <a:rPr dirty="0"/>
              <a:t>Environment mismatch</a:t>
            </a:r>
          </a:p>
          <a:p>
            <a:pPr>
              <a:defRPr sz="1600"/>
            </a:pPr>
            <a:r>
              <a:rPr dirty="0"/>
              <a:t>Manual dependency installation</a:t>
            </a:r>
          </a:p>
          <a:p>
            <a:pPr>
              <a:defRPr sz="1600"/>
            </a:pPr>
            <a:r>
              <a:rPr dirty="0"/>
              <a:t>Slow deployment</a:t>
            </a:r>
          </a:p>
          <a:p>
            <a:pPr>
              <a:defRPr sz="1600"/>
            </a:pPr>
            <a:r>
              <a:rPr dirty="0"/>
              <a:t>Hard to scale</a:t>
            </a:r>
          </a:p>
          <a:p>
            <a:pPr>
              <a:defRPr sz="1600"/>
            </a:pPr>
            <a:r>
              <a:rPr dirty="0"/>
              <a:t>High risk of failure</a:t>
            </a:r>
          </a:p>
          <a:p>
            <a:pPr>
              <a:defRPr sz="1000"/>
            </a:pPr>
            <a:endParaRPr dirty="0"/>
          </a:p>
          <a:p>
            <a:pPr>
              <a:defRPr sz="2000" b="1"/>
            </a:pPr>
            <a:r>
              <a:rPr dirty="0"/>
              <a:t>✅ AFTER </a:t>
            </a:r>
            <a:r>
              <a:rPr dirty="0" err="1"/>
              <a:t>Docker</a:t>
            </a:r>
            <a:endParaRPr dirty="0"/>
          </a:p>
          <a:p>
            <a:pPr>
              <a:defRPr sz="1600"/>
            </a:pPr>
            <a:r>
              <a:rPr dirty="0"/>
              <a:t>Consistent environments</a:t>
            </a:r>
          </a:p>
          <a:p>
            <a:pPr>
              <a:defRPr sz="1600"/>
            </a:pPr>
            <a:r>
              <a:rPr dirty="0"/>
              <a:t>Application packaged with dependencies</a:t>
            </a:r>
          </a:p>
          <a:p>
            <a:pPr>
              <a:defRPr sz="1600"/>
            </a:pPr>
            <a:r>
              <a:rPr dirty="0"/>
              <a:t>Fast and automated deployment</a:t>
            </a:r>
          </a:p>
          <a:p>
            <a:pPr>
              <a:defRPr sz="1600"/>
            </a:pPr>
            <a:r>
              <a:rPr dirty="0"/>
              <a:t>Easy scaling</a:t>
            </a:r>
          </a:p>
          <a:p>
            <a:pPr>
              <a:defRPr sz="1600"/>
            </a:pPr>
            <a:r>
              <a:rPr dirty="0"/>
              <a:t>Reliable and repeatable</a:t>
            </a:r>
          </a:p>
        </p:txBody>
      </p:sp>
    </p:spTree>
    <p:extLst>
      <p:ext uri="{BB962C8B-B14F-4D97-AF65-F5344CB8AC3E}">
        <p14:creationId xmlns:p14="http://schemas.microsoft.com/office/powerpoint/2010/main" val="2678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What is </a:t>
            </a:r>
            <a:r>
              <a:rPr lang="en-IN" b="1" dirty="0" err="1"/>
              <a:t>Docker</a:t>
            </a:r>
            <a:r>
              <a:rPr lang="en-IN" b="1" dirty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is an open platform for developing, shipping, and running applications</a:t>
            </a:r>
          </a:p>
          <a:p>
            <a:r>
              <a:rPr lang="en-US" dirty="0"/>
              <a:t>It separates applications from infrastructure, enabling faster software delivery</a:t>
            </a:r>
          </a:p>
          <a:p>
            <a:r>
              <a:rPr lang="en-US" dirty="0"/>
              <a:t>Reduces the gap between code development and production deployment</a:t>
            </a:r>
            <a:endParaRPr lang="en-IN" dirty="0"/>
          </a:p>
        </p:txBody>
      </p:sp>
      <p:pic>
        <p:nvPicPr>
          <p:cNvPr id="1030" name="Picture 6" descr="Docker Icon SVG Vector &amp; PNG Free Download | UXW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2006599" y="1290473"/>
            <a:ext cx="765175" cy="55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232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Containers in </a:t>
            </a:r>
            <a:r>
              <a:rPr lang="en-IN" dirty="0" err="1"/>
              <a:t>Docker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Applications run inside containers (lightweight, isolated environments)</a:t>
            </a:r>
          </a:p>
          <a:p>
            <a:r>
              <a:rPr lang="en-US" dirty="0"/>
              <a:t>Containers include:</a:t>
            </a:r>
          </a:p>
          <a:p>
            <a:pPr lvl="1"/>
            <a:r>
              <a:rPr lang="en-US" dirty="0"/>
              <a:t>Application code</a:t>
            </a:r>
          </a:p>
          <a:p>
            <a:pPr lvl="1"/>
            <a:r>
              <a:rPr lang="en-US" dirty="0"/>
              <a:t>Dependencies</a:t>
            </a:r>
          </a:p>
          <a:p>
            <a:pPr lvl="1"/>
            <a:r>
              <a:rPr lang="en-US" dirty="0"/>
              <a:t>Runtime environment</a:t>
            </a:r>
          </a:p>
          <a:p>
            <a:r>
              <a:rPr lang="en-US" dirty="0"/>
              <a:t>Run consistently across development, testing, and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74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Docker</a:t>
            </a:r>
            <a:r>
              <a:rPr lang="en-US" b="1" dirty="0"/>
              <a:t> Platform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Build applications using containers</a:t>
            </a:r>
          </a:p>
          <a:p>
            <a:r>
              <a:rPr lang="en-US" dirty="0"/>
              <a:t>Containers become the unit of testing and distribution</a:t>
            </a:r>
          </a:p>
          <a:p>
            <a:r>
              <a:rPr lang="en-US" dirty="0"/>
              <a:t>Deploy applications:</a:t>
            </a:r>
          </a:p>
          <a:p>
            <a:pPr lvl="1"/>
            <a:r>
              <a:rPr lang="en-US" dirty="0"/>
              <a:t>On local servers</a:t>
            </a:r>
          </a:p>
          <a:p>
            <a:pPr lvl="1"/>
            <a:r>
              <a:rPr lang="en-US" dirty="0"/>
              <a:t>In the cloud</a:t>
            </a:r>
          </a:p>
          <a:p>
            <a:pPr lvl="1"/>
            <a:r>
              <a:rPr lang="en-US" dirty="0"/>
              <a:t>In hybrid environments</a:t>
            </a:r>
          </a:p>
          <a:p>
            <a:r>
              <a:rPr lang="en-US" dirty="0"/>
              <a:t>Manage the entire container lifecycle efficiently</a:t>
            </a:r>
          </a:p>
        </p:txBody>
      </p:sp>
    </p:spTree>
    <p:extLst>
      <p:ext uri="{BB962C8B-B14F-4D97-AF65-F5344CB8AC3E}">
        <p14:creationId xmlns:p14="http://schemas.microsoft.com/office/powerpoint/2010/main" val="5898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688" y="-64221"/>
            <a:ext cx="12184175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73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Architecture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26" y="2092204"/>
            <a:ext cx="6982575" cy="33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75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Docker</a:t>
            </a:r>
            <a:r>
              <a:rPr lang="en-US" dirty="0"/>
              <a:t> Engine is the core component that enables </a:t>
            </a:r>
            <a:r>
              <a:rPr lang="en-US" dirty="0" err="1"/>
              <a:t>Docker</a:t>
            </a:r>
            <a:r>
              <a:rPr lang="en-US" dirty="0"/>
              <a:t> to run containers on a system. It follows a client-server architecture and is responsible for building, running, and managing </a:t>
            </a:r>
            <a:r>
              <a:rPr lang="en-US" dirty="0" err="1"/>
              <a:t>Docker</a:t>
            </a:r>
            <a:r>
              <a:rPr lang="en-US" dirty="0"/>
              <a:t> containers.</a:t>
            </a:r>
          </a:p>
          <a:p>
            <a:r>
              <a:rPr lang="en-US" dirty="0"/>
              <a:t>The </a:t>
            </a:r>
            <a:r>
              <a:rPr lang="en-US" dirty="0" err="1"/>
              <a:t>Docker</a:t>
            </a:r>
            <a:r>
              <a:rPr lang="en-US" dirty="0"/>
              <a:t> Engine Daemon (</a:t>
            </a:r>
            <a:r>
              <a:rPr lang="en-US" dirty="0" err="1"/>
              <a:t>dockerd</a:t>
            </a:r>
            <a:r>
              <a:rPr lang="en-US" dirty="0"/>
              <a:t>) runs in the background, listening to API requests and managing objects like images, containers, networks, and volumes.</a:t>
            </a:r>
          </a:p>
          <a:p>
            <a:r>
              <a:rPr lang="en-US" dirty="0"/>
              <a:t>The </a:t>
            </a:r>
            <a:r>
              <a:rPr lang="en-US" dirty="0" err="1"/>
              <a:t>Docker</a:t>
            </a:r>
            <a:r>
              <a:rPr lang="en-US" dirty="0"/>
              <a:t> Client (</a:t>
            </a:r>
            <a:r>
              <a:rPr lang="en-US" dirty="0" err="1"/>
              <a:t>docker</a:t>
            </a:r>
            <a:r>
              <a:rPr lang="en-US" dirty="0"/>
              <a:t> CLI) communicates with the daemon using a REST API. It provides the execution environment where </a:t>
            </a:r>
            <a:r>
              <a:rPr lang="en-US" dirty="0" err="1"/>
              <a:t>Docker</a:t>
            </a:r>
            <a:r>
              <a:rPr lang="en-US" dirty="0"/>
              <a:t> Images are instantiated into live containers.</a:t>
            </a:r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Engine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146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Architecture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6" y="2490135"/>
            <a:ext cx="6604000" cy="321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2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Architecture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6" y="2219204"/>
            <a:ext cx="7112609" cy="336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92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Hub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68" y="1964987"/>
            <a:ext cx="7443842" cy="406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6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lifecycle</a:t>
            </a:r>
          </a:p>
        </p:txBody>
      </p:sp>
      <p:pic>
        <p:nvPicPr>
          <p:cNvPr id="4098" name="Picture 2" descr="Docker Container lifecycl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542" y="2490788"/>
            <a:ext cx="6448853" cy="344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043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490551" cy="3444997"/>
          </a:xfrm>
        </p:spPr>
        <p:txBody>
          <a:bodyPr>
            <a:normAutofit fontScale="92500"/>
          </a:bodyPr>
          <a:lstStyle/>
          <a:p>
            <a:r>
              <a:rPr lang="en-US" dirty="0"/>
              <a:t>Container orchestration automates the deployment, scaling, and management of containerized applications.</a:t>
            </a:r>
          </a:p>
          <a:p>
            <a:r>
              <a:rPr lang="en-US" dirty="0"/>
              <a:t>It handles the lifecycle of containers — from provisioning to scaling and monitoring.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416" y="2490136"/>
            <a:ext cx="3729161" cy="329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9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Challenges Without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Manual container management is </a:t>
            </a:r>
            <a:r>
              <a:rPr lang="en-US" b="1" dirty="0"/>
              <a:t>prone to errors</a:t>
            </a:r>
            <a:r>
              <a:rPr lang="en-US" dirty="0"/>
              <a:t> at large scale. </a:t>
            </a:r>
          </a:p>
          <a:p>
            <a:r>
              <a:rPr lang="en-US" dirty="0"/>
              <a:t>Hard to track host utilization, perform updates, or handle failures. </a:t>
            </a:r>
          </a:p>
          <a:p>
            <a:r>
              <a:rPr lang="en-US" b="1" dirty="0"/>
              <a:t>✳️ What Orchestration Helps With</a:t>
            </a:r>
          </a:p>
          <a:p>
            <a:r>
              <a:rPr lang="en-US" dirty="0"/>
              <a:t>Automates container tasks</a:t>
            </a:r>
          </a:p>
          <a:p>
            <a:r>
              <a:rPr lang="en-US" dirty="0"/>
              <a:t>Ensures efficient use of resources</a:t>
            </a:r>
          </a:p>
          <a:p>
            <a:r>
              <a:rPr lang="en-US" dirty="0"/>
              <a:t>Simplifies </a:t>
            </a:r>
            <a:r>
              <a:rPr lang="en-US" b="1" dirty="0"/>
              <a:t>deployment, scaling, and updates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9299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Benefits of Container Orchestration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Business &amp; Operational Benefits</a:t>
            </a:r>
          </a:p>
          <a:p>
            <a:r>
              <a:rPr lang="en-IN" dirty="0"/>
              <a:t>✔️ </a:t>
            </a:r>
            <a:r>
              <a:rPr lang="en-IN" b="1" dirty="0"/>
              <a:t>Efficient Resource Management</a:t>
            </a:r>
            <a:r>
              <a:rPr lang="en-IN" dirty="0"/>
              <a:t> — optimizes CPU, memory, and storage. </a:t>
            </a:r>
            <a:br>
              <a:rPr lang="en-IN" dirty="0"/>
            </a:br>
            <a:r>
              <a:rPr lang="en-IN" dirty="0"/>
              <a:t>✔️ </a:t>
            </a:r>
            <a:r>
              <a:rPr lang="en-IN" b="1" dirty="0"/>
              <a:t>Cost Savings</a:t>
            </a:r>
            <a:r>
              <a:rPr lang="en-IN" dirty="0"/>
              <a:t> — reduces human </a:t>
            </a:r>
            <a:r>
              <a:rPr lang="en-IN" dirty="0" err="1"/>
              <a:t>labor</a:t>
            </a:r>
            <a:r>
              <a:rPr lang="en-IN" dirty="0"/>
              <a:t> and infrastructure waste. </a:t>
            </a:r>
            <a:br>
              <a:rPr lang="en-IN" dirty="0"/>
            </a:br>
            <a:r>
              <a:rPr lang="en-IN" dirty="0"/>
              <a:t>✔️ </a:t>
            </a:r>
            <a:r>
              <a:rPr lang="en-IN" b="1" dirty="0"/>
              <a:t>Greater Agility</a:t>
            </a:r>
            <a:r>
              <a:rPr lang="en-IN" dirty="0"/>
              <a:t> — faster deployment cycles. </a:t>
            </a:r>
            <a:br>
              <a:rPr lang="en-IN" dirty="0"/>
            </a:br>
            <a:r>
              <a:rPr lang="en-IN" dirty="0"/>
              <a:t>✔️ </a:t>
            </a:r>
            <a:r>
              <a:rPr lang="en-IN" b="1" dirty="0"/>
              <a:t>Scalability</a:t>
            </a:r>
            <a:r>
              <a:rPr lang="en-IN" dirty="0"/>
              <a:t> — easy to scale apps up or down. </a:t>
            </a:r>
            <a:br>
              <a:rPr lang="en-IN" dirty="0"/>
            </a:br>
            <a:r>
              <a:rPr lang="en-IN" dirty="0"/>
              <a:t>✔️ </a:t>
            </a:r>
            <a:r>
              <a:rPr lang="en-IN" b="1" dirty="0"/>
              <a:t>Better Security &amp; Governance</a:t>
            </a:r>
            <a:r>
              <a:rPr lang="en-IN" dirty="0"/>
              <a:t> — isolation and fewer configuration errors.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839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0" ma:contentTypeDescription="Create a new document." ma:contentTypeScope="" ma:versionID="857544aff4cfd9ea8d328815af76a9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02843F-F2F3-460E-A8E3-D9A3818EE0AD}"/>
</file>

<file path=customXml/itemProps2.xml><?xml version="1.0" encoding="utf-8"?>
<ds:datastoreItem xmlns:ds="http://schemas.openxmlformats.org/officeDocument/2006/customXml" ds:itemID="{4980084C-F090-4A63-88F3-96A75409F653}"/>
</file>

<file path=customXml/itemProps3.xml><?xml version="1.0" encoding="utf-8"?>
<ds:datastoreItem xmlns:ds="http://schemas.openxmlformats.org/officeDocument/2006/customXml" ds:itemID="{0FC8F79C-5A18-4917-8A19-505516D1B498}"/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805</TotalTime>
  <Words>716</Words>
  <Application>Microsoft Office PowerPoint</Application>
  <PresentationFormat>On-screen Show (4:3)</PresentationFormat>
  <Paragraphs>118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Garamond</vt:lpstr>
      <vt:lpstr>Organic</vt:lpstr>
      <vt:lpstr>Containerization and Modern Virtualization</vt:lpstr>
      <vt:lpstr>Problem Scenario: Application Deployment WITHOUT Docker</vt:lpstr>
      <vt:lpstr>Development Phase (Without Docker)</vt:lpstr>
      <vt:lpstr>Testing Phase (Without Docker)</vt:lpstr>
      <vt:lpstr>Deployment Phase (Without Docker)</vt:lpstr>
      <vt:lpstr>Scaling and Maintenance Issues</vt:lpstr>
      <vt:lpstr>Core Problems Without Docker</vt:lpstr>
      <vt:lpstr>Solution Scenario: Application Deployment WITH Docker</vt:lpstr>
      <vt:lpstr>Why Docker Solves the Problem</vt:lpstr>
      <vt:lpstr>Before Docker vs After Docker</vt:lpstr>
      <vt:lpstr> What is Docker?</vt:lpstr>
      <vt:lpstr> Containers in Docker</vt:lpstr>
      <vt:lpstr>Docker Platform Capabilities</vt:lpstr>
      <vt:lpstr>PowerPoint Presentation</vt:lpstr>
      <vt:lpstr>Docker Architecture</vt:lpstr>
      <vt:lpstr>Docker Engine</vt:lpstr>
      <vt:lpstr>Docker Architecture</vt:lpstr>
      <vt:lpstr>Docker Architecture</vt:lpstr>
      <vt:lpstr>Docker Hub</vt:lpstr>
      <vt:lpstr>Container lifecycle</vt:lpstr>
      <vt:lpstr>Container Orchestration</vt:lpstr>
      <vt:lpstr>Challenges Without Orchestration</vt:lpstr>
      <vt:lpstr>Core Benefits of Container Orchestration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Containerization and Modern Virtualization</dc:title>
  <dc:subject/>
  <dc:creator>Soni Bhambar</dc:creator>
  <cp:keywords/>
  <dc:description>generated using python-pptx</dc:description>
  <cp:lastModifiedBy>Soni Bhambar</cp:lastModifiedBy>
  <cp:revision>29</cp:revision>
  <dcterms:created xsi:type="dcterms:W3CDTF">2013-01-27T09:14:16Z</dcterms:created>
  <dcterms:modified xsi:type="dcterms:W3CDTF">2026-07-27T09:46:42Z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