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6"/>
  </p:notesMasterIdLst>
  <p:sldIdLst>
    <p:sldId id="633" r:id="rId2"/>
    <p:sldId id="657" r:id="rId3"/>
    <p:sldId id="658" r:id="rId4"/>
    <p:sldId id="660" r:id="rId5"/>
    <p:sldId id="659" r:id="rId6"/>
    <p:sldId id="587" r:id="rId7"/>
    <p:sldId id="663" r:id="rId8"/>
    <p:sldId id="662" r:id="rId9"/>
    <p:sldId id="666" r:id="rId10"/>
    <p:sldId id="664" r:id="rId11"/>
    <p:sldId id="665" r:id="rId12"/>
    <p:sldId id="667" r:id="rId13"/>
    <p:sldId id="588" r:id="rId14"/>
    <p:sldId id="683" r:id="rId15"/>
    <p:sldId id="669" r:id="rId16"/>
    <p:sldId id="668" r:id="rId17"/>
    <p:sldId id="589" r:id="rId18"/>
    <p:sldId id="635" r:id="rId19"/>
    <p:sldId id="670" r:id="rId20"/>
    <p:sldId id="636" r:id="rId21"/>
    <p:sldId id="671" r:id="rId22"/>
    <p:sldId id="590" r:id="rId23"/>
    <p:sldId id="637" r:id="rId24"/>
    <p:sldId id="630" r:id="rId25"/>
    <p:sldId id="638" r:id="rId26"/>
    <p:sldId id="672" r:id="rId27"/>
    <p:sldId id="591" r:id="rId28"/>
    <p:sldId id="639" r:id="rId29"/>
    <p:sldId id="592" r:id="rId30"/>
    <p:sldId id="675" r:id="rId31"/>
    <p:sldId id="593" r:id="rId32"/>
    <p:sldId id="673" r:id="rId33"/>
    <p:sldId id="674" r:id="rId34"/>
    <p:sldId id="594" r:id="rId35"/>
    <p:sldId id="676" r:id="rId36"/>
    <p:sldId id="595" r:id="rId37"/>
    <p:sldId id="640" r:id="rId38"/>
    <p:sldId id="679" r:id="rId39"/>
    <p:sldId id="596" r:id="rId40"/>
    <p:sldId id="641" r:id="rId41"/>
    <p:sldId id="597" r:id="rId42"/>
    <p:sldId id="677" r:id="rId43"/>
    <p:sldId id="643" r:id="rId44"/>
    <p:sldId id="598" r:id="rId45"/>
    <p:sldId id="680" r:id="rId46"/>
    <p:sldId id="644" r:id="rId47"/>
    <p:sldId id="599" r:id="rId48"/>
    <p:sldId id="681" r:id="rId49"/>
    <p:sldId id="645" r:id="rId50"/>
    <p:sldId id="600" r:id="rId51"/>
    <p:sldId id="682" r:id="rId52"/>
    <p:sldId id="601" r:id="rId53"/>
    <p:sldId id="685" r:id="rId54"/>
    <p:sldId id="684" r:id="rId55"/>
    <p:sldId id="647" r:id="rId56"/>
    <p:sldId id="686" r:id="rId57"/>
    <p:sldId id="648" r:id="rId58"/>
    <p:sldId id="687" r:id="rId59"/>
    <p:sldId id="688" r:id="rId60"/>
    <p:sldId id="649" r:id="rId61"/>
    <p:sldId id="650" r:id="rId62"/>
    <p:sldId id="690" r:id="rId63"/>
    <p:sldId id="689" r:id="rId64"/>
    <p:sldId id="651" r:id="rId6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660066"/>
    <a:srgbClr val="D9ECFF"/>
    <a:srgbClr val="99CCFF"/>
    <a:srgbClr val="FFFF00"/>
    <a:srgbClr val="F2F3B7"/>
    <a:srgbClr val="EAEC8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8" autoAdjust="0"/>
    <p:restoredTop sz="94680" autoAdjust="0"/>
  </p:normalViewPr>
  <p:slideViewPr>
    <p:cSldViewPr>
      <p:cViewPr varScale="1">
        <p:scale>
          <a:sx n="107" d="100"/>
          <a:sy n="107" d="100"/>
        </p:scale>
        <p:origin x="186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0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68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8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68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05AE371D-EB0B-40DC-A155-23211BD1D6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309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03FE44-9F26-477D-A5ED-E3A47C7040A3}" type="slidenum">
              <a:rPr lang="en-US"/>
              <a:pPr/>
              <a:t>1</a:t>
            </a:fld>
            <a:endParaRPr lang="en-US"/>
          </a:p>
        </p:txBody>
      </p:sp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B39150-B266-425A-B58D-EF3CA5FEFA27}" type="slidenum">
              <a:rPr lang="en-US"/>
              <a:pPr/>
              <a:t>3</a:t>
            </a:fld>
            <a:endParaRPr lang="en-US"/>
          </a:p>
        </p:txBody>
      </p:sp>
      <p:sp>
        <p:nvSpPr>
          <p:cNvPr id="68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112820-286A-46E5-8FFF-125FB7BBF8D2}" type="slidenum">
              <a:rPr lang="en-US"/>
              <a:pPr/>
              <a:t>6</a:t>
            </a:fld>
            <a:endParaRPr lang="en-US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B39150-B266-425A-B58D-EF3CA5FEFA27}" type="slidenum">
              <a:rPr lang="en-US"/>
              <a:pPr/>
              <a:t>10</a:t>
            </a:fld>
            <a:endParaRPr lang="en-US"/>
          </a:p>
        </p:txBody>
      </p:sp>
      <p:sp>
        <p:nvSpPr>
          <p:cNvPr id="68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13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15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16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6178EE-0457-4346-9056-89897B65F98B}" type="slidenum">
              <a:rPr lang="en-US"/>
              <a:pPr/>
              <a:t>17</a:t>
            </a:fld>
            <a:endParaRPr lang="en-US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18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19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20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21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5D7D15-0B0E-4215-AD10-B36EBB6758B9}" type="slidenum">
              <a:rPr lang="en-US"/>
              <a:pPr/>
              <a:t>22</a:t>
            </a:fld>
            <a:endParaRPr lang="en-US"/>
          </a:p>
        </p:txBody>
      </p:sp>
      <p:sp>
        <p:nvSpPr>
          <p:cNvPr id="69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23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75296D-7F83-4A6C-92FF-398F5A7FF2C9}" type="slidenum">
              <a:rPr lang="en-US"/>
              <a:pPr/>
              <a:t>24</a:t>
            </a:fld>
            <a:endParaRPr lang="en-US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25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26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C29A73-B61A-489E-83E4-6A4FF6AEEA2B}" type="slidenum">
              <a:rPr lang="en-US"/>
              <a:pPr/>
              <a:t>27</a:t>
            </a:fld>
            <a:endParaRPr lang="en-US"/>
          </a:p>
        </p:txBody>
      </p:sp>
      <p:sp>
        <p:nvSpPr>
          <p:cNvPr id="69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28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DCB35-0069-4EE7-BD8B-BC8054B75DE1}" type="slidenum">
              <a:rPr lang="en-US"/>
              <a:pPr/>
              <a:t>29</a:t>
            </a:fld>
            <a:endParaRPr lang="en-US"/>
          </a:p>
        </p:txBody>
      </p:sp>
      <p:sp>
        <p:nvSpPr>
          <p:cNvPr id="69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30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7D8A52-89C1-4D29-BE7B-7E16FD4AC883}" type="slidenum">
              <a:rPr lang="en-US"/>
              <a:pPr/>
              <a:t>31</a:t>
            </a:fld>
            <a:endParaRPr lang="en-US"/>
          </a:p>
        </p:txBody>
      </p:sp>
      <p:sp>
        <p:nvSpPr>
          <p:cNvPr id="70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32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33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1FF0F-0845-44F1-9B1D-B656023B7682}" type="slidenum">
              <a:rPr lang="en-US"/>
              <a:pPr/>
              <a:t>34</a:t>
            </a:fld>
            <a:endParaRPr lang="en-US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35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8C74A1-B4A8-4B3F-8CC9-A039B60CF2E8}" type="slidenum">
              <a:rPr lang="en-US"/>
              <a:pPr/>
              <a:t>36</a:t>
            </a:fld>
            <a:endParaRPr lang="en-US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37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38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8276D0-EBBD-4EAD-BE40-E67691B00DD4}" type="slidenum">
              <a:rPr lang="en-US"/>
              <a:pPr/>
              <a:t>39</a:t>
            </a:fld>
            <a:endParaRPr lang="en-US"/>
          </a:p>
        </p:txBody>
      </p:sp>
      <p:sp>
        <p:nvSpPr>
          <p:cNvPr id="70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40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729D2-8E2F-4963-B750-FC2542EFE7A2}" type="slidenum">
              <a:rPr lang="en-US"/>
              <a:pPr/>
              <a:t>41</a:t>
            </a:fld>
            <a:endParaRPr lang="en-US"/>
          </a:p>
        </p:txBody>
      </p:sp>
      <p:sp>
        <p:nvSpPr>
          <p:cNvPr id="70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42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43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5E46E6-0EAE-4919-AC94-02B6582352DD}" type="slidenum">
              <a:rPr lang="en-US"/>
              <a:pPr/>
              <a:t>44</a:t>
            </a:fld>
            <a:endParaRPr lang="en-US"/>
          </a:p>
        </p:txBody>
      </p:sp>
      <p:sp>
        <p:nvSpPr>
          <p:cNvPr id="70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45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46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5B32DC-2324-4B59-A2BC-B0439E0618EE}" type="slidenum">
              <a:rPr lang="en-US"/>
              <a:pPr/>
              <a:t>47</a:t>
            </a:fld>
            <a:endParaRPr lang="en-US"/>
          </a:p>
        </p:txBody>
      </p:sp>
      <p:sp>
        <p:nvSpPr>
          <p:cNvPr id="71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48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49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F7DF98-FFEB-4F1C-BB7B-5B59CBA9C8D5}" type="slidenum">
              <a:rPr lang="en-US"/>
              <a:pPr/>
              <a:t>50</a:t>
            </a:fld>
            <a:endParaRPr lang="en-US"/>
          </a:p>
        </p:txBody>
      </p:sp>
      <p:sp>
        <p:nvSpPr>
          <p:cNvPr id="71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C3CE44-18B1-43D6-BC41-A839480FD5D2}" type="slidenum">
              <a:rPr lang="en-US"/>
              <a:pPr/>
              <a:t>51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7E1595-F59D-4030-A060-94640045D999}" type="slidenum">
              <a:rPr lang="en-US"/>
              <a:pPr/>
              <a:t>52</a:t>
            </a:fld>
            <a:endParaRPr lang="en-US"/>
          </a:p>
        </p:txBody>
      </p:sp>
      <p:sp>
        <p:nvSpPr>
          <p:cNvPr id="71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53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55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56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57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58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59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60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61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62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63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C21EA-A5FC-4C29-911B-10D3AA34ADBC}" type="slidenum">
              <a:rPr lang="en-US"/>
              <a:pPr/>
              <a:t>64</a:t>
            </a:fld>
            <a:endParaRPr lang="en-US"/>
          </a:p>
        </p:txBody>
      </p:sp>
      <p:sp>
        <p:nvSpPr>
          <p:cNvPr id="71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4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95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5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095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1095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NW 331 - L. Shuroog Alsaleh</a:t>
            </a:r>
          </a:p>
        </p:txBody>
      </p:sp>
      <p:sp>
        <p:nvSpPr>
          <p:cNvPr id="2109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fld id="{B12D6AB2-9C78-4498-A8D8-D37F326947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10961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/>
          </a:p>
        </p:txBody>
      </p:sp>
      <p:sp>
        <p:nvSpPr>
          <p:cNvPr id="210962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6DFB9EE8-3ED4-476A-9E6C-23049BD639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CFC6FDF3-19D0-417B-BACE-E5225691F9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9F5D2913-AD00-4512-8277-6CC51C450D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3FBA593C-1272-4089-A86C-4DE1ECD38F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9D5AA4ED-1092-45CC-82CF-6FDD0C2AE4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9438122F-8990-4B8C-ADE5-D2F4E72555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12FB81FF-2A7F-4B4C-BA30-E4162C8464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36B92B9D-CB87-4287-BCD2-96FFD62D6A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BD087283-7D22-4FDB-8A38-89E2790889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DC30E3F1-09B1-4E81-9AE1-28E0A6D49C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2.</a:t>
            </a:r>
            <a:fld id="{C079A60C-67C7-404C-9001-2AF9C4E835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latin typeface="Arial" charset="0"/>
              </a:defRPr>
            </a:lvl1pPr>
          </a:lstStyle>
          <a:p>
            <a:r>
              <a:rPr lang="en-US"/>
              <a:t>2.</a:t>
            </a:r>
            <a:fld id="{0DA5FC7E-DE9D-475B-9A93-CCC58128695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AF099E64-F41C-46A4-8E74-66B299097132}" type="slidenum">
              <a:rPr lang="en-US"/>
              <a:pPr/>
              <a:t>1</a:t>
            </a:fld>
            <a:endParaRPr lang="en-US"/>
          </a:p>
        </p:txBody>
      </p:sp>
      <p:pic>
        <p:nvPicPr>
          <p:cNvPr id="731138" name="Picture 2" descr="Forouzan4e07_banner"/>
          <p:cNvPicPr>
            <a:picLocks noGrp="1" noChangeAspect="1" noChangeArrowheads="1"/>
          </p:cNvPicPr>
          <p:nvPr>
            <p:ph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>
            <a:miter lim="800000"/>
            <a:headEnd/>
            <a:tailEnd/>
          </a:ln>
        </p:spPr>
      </p:pic>
      <p:sp>
        <p:nvSpPr>
          <p:cNvPr id="731139" name="Rectangle 3"/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en-US" sz="4400" dirty="0">
                <a:solidFill>
                  <a:schemeClr val="tx2"/>
                </a:solidFill>
                <a:latin typeface="Arial" charset="0"/>
              </a:rPr>
              <a:t>Chapter 2</a:t>
            </a:r>
          </a:p>
          <a:p>
            <a:pPr algn="ctr"/>
            <a:endParaRPr lang="en-US" altLang="en-US" sz="2000" dirty="0">
              <a:solidFill>
                <a:schemeClr val="tx2"/>
              </a:solidFill>
              <a:latin typeface="Arial" charset="0"/>
            </a:endParaRPr>
          </a:p>
          <a:p>
            <a:pPr algn="ctr"/>
            <a:r>
              <a:rPr lang="en-US" altLang="en-US" sz="4400" dirty="0">
                <a:latin typeface="Arial" charset="0"/>
              </a:rPr>
              <a:t>Network Models</a:t>
            </a:r>
            <a:endParaRPr lang="en-US" sz="4400" dirty="0">
              <a:latin typeface="Arial" charset="0"/>
            </a:endParaRPr>
          </a:p>
        </p:txBody>
      </p:sp>
      <p:sp>
        <p:nvSpPr>
          <p:cNvPr id="731140" name="Text Box 4"/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1200" b="0"/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is ..</a:t>
            </a:r>
            <a:endParaRPr lang="ar-S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r>
              <a:rPr lang="en-US" dirty="0"/>
              <a:t>A combination of hardware (HW) and software (SW) that send </a:t>
            </a:r>
            <a:r>
              <a:rPr lang="en-US" i="1" dirty="0"/>
              <a:t>data</a:t>
            </a:r>
            <a:r>
              <a:rPr lang="en-US" dirty="0"/>
              <a:t> from one location to another.</a:t>
            </a:r>
          </a:p>
          <a:p>
            <a:pPr lvl="1"/>
            <a:r>
              <a:rPr lang="en-US" dirty="0"/>
              <a:t>HW: physical equipment that carries </a:t>
            </a:r>
            <a:r>
              <a:rPr lang="en-US" b="1" i="1" dirty="0">
                <a:solidFill>
                  <a:srgbClr val="C00000"/>
                </a:solidFill>
              </a:rPr>
              <a:t>signals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one point of the network to another</a:t>
            </a:r>
          </a:p>
          <a:p>
            <a:pPr lvl="1"/>
            <a:r>
              <a:rPr lang="en-US" dirty="0"/>
              <a:t>SW: instruction sets that make possible the services that we expect from a network.</a:t>
            </a:r>
            <a:endParaRPr lang="ar-S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C079A60C-67C7-404C-9001-2AF9C4E8354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loud Callout 5"/>
          <p:cNvSpPr/>
          <p:nvPr/>
        </p:nvSpPr>
        <p:spPr bwMode="auto">
          <a:xfrm>
            <a:off x="0" y="4572000"/>
            <a:ext cx="8077200" cy="1371600"/>
          </a:xfrm>
          <a:prstGeom prst="cloudCallout">
            <a:avLst>
              <a:gd name="adj1" fmla="val 45446"/>
              <a:gd name="adj2" fmla="val -64322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Data transformed into the</a:t>
            </a:r>
            <a:r>
              <a:rPr kumimoji="0" lang="en-US" sz="3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form of electromagnetic signals when sent along a transmission medium (link).</a:t>
            </a:r>
            <a:endParaRPr kumimoji="0" lang="ar-SA" sz="3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1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170CA3D1-C001-4DF4-8EA7-6CDD88800584}" type="slidenum">
              <a:rPr lang="en-US"/>
              <a:pPr/>
              <a:t>3</a:t>
            </a:fld>
            <a:endParaRPr lang="en-US"/>
          </a:p>
        </p:txBody>
      </p:sp>
      <p:sp>
        <p:nvSpPr>
          <p:cNvPr id="565250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4452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2-1   LAYERED TASKS</a:t>
            </a:r>
          </a:p>
        </p:txBody>
      </p:sp>
      <p:sp>
        <p:nvSpPr>
          <p:cNvPr id="565252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5278" name="Rectangle 30"/>
          <p:cNvSpPr>
            <a:spLocks noChangeArrowheads="1"/>
          </p:cNvSpPr>
          <p:nvPr/>
        </p:nvSpPr>
        <p:spPr bwMode="auto">
          <a:xfrm>
            <a:off x="990600" y="2762250"/>
            <a:ext cx="6934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71500" indent="-571500">
              <a:buClr>
                <a:schemeClr val="tx1"/>
              </a:buClr>
              <a:buSzPct val="117000"/>
              <a:buFont typeface="Arial" pitchFamily="34" charset="0"/>
              <a:buChar char="•"/>
            </a:pPr>
            <a:r>
              <a:rPr lang="fr-FR" sz="3600" dirty="0">
                <a:solidFill>
                  <a:srgbClr val="0033CC"/>
                </a:solidFill>
              </a:rPr>
              <a:t>Sender, </a:t>
            </a:r>
            <a:r>
              <a:rPr lang="fr-FR" sz="3600" dirty="0" err="1">
                <a:solidFill>
                  <a:srgbClr val="0033CC"/>
                </a:solidFill>
              </a:rPr>
              <a:t>Receiver</a:t>
            </a:r>
            <a:r>
              <a:rPr lang="fr-FR" sz="3600" dirty="0">
                <a:solidFill>
                  <a:srgbClr val="0033CC"/>
                </a:solidFill>
              </a:rPr>
              <a:t>, and Carrier</a:t>
            </a:r>
          </a:p>
          <a:p>
            <a:pPr marL="571500" indent="-571500">
              <a:buClr>
                <a:schemeClr val="tx1"/>
              </a:buClr>
              <a:buSzPct val="117000"/>
              <a:buFont typeface="Arial" pitchFamily="34" charset="0"/>
              <a:buChar char="•"/>
            </a:pPr>
            <a:r>
              <a:rPr lang="fr-FR" sz="3600" dirty="0" err="1">
                <a:solidFill>
                  <a:srgbClr val="0033CC"/>
                </a:solidFill>
              </a:rPr>
              <a:t>Hierarchy</a:t>
            </a:r>
            <a:endParaRPr lang="en-US" sz="3600" dirty="0">
              <a:solidFill>
                <a:srgbClr val="0033CC"/>
              </a:solidFill>
            </a:endParaRPr>
          </a:p>
        </p:txBody>
      </p:sp>
      <p:sp>
        <p:nvSpPr>
          <p:cNvPr id="565279" name="Text Box 31"/>
          <p:cNvSpPr txBox="1">
            <a:spLocks noChangeArrowheads="1"/>
          </p:cNvSpPr>
          <p:nvPr/>
        </p:nvSpPr>
        <p:spPr bwMode="auto">
          <a:xfrm>
            <a:off x="-63179" y="1905000"/>
            <a:ext cx="6374758" cy="646331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6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  <p:extLst>
      <p:ext uri="{BB962C8B-B14F-4D97-AF65-F5344CB8AC3E}">
        <p14:creationId xmlns:p14="http://schemas.microsoft.com/office/powerpoint/2010/main" val="320376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r>
              <a:rPr lang="en-US" dirty="0"/>
              <a:t>General blue prints that guide the design and implementation of networks.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OSI architecture</a:t>
            </a:r>
          </a:p>
          <a:p>
            <a:pPr lvl="1"/>
            <a:r>
              <a:rPr lang="en-US" dirty="0"/>
              <a:t>Internet architecture</a:t>
            </a:r>
          </a:p>
          <a:p>
            <a:r>
              <a:rPr lang="en-US" dirty="0"/>
              <a:t>Abstraction of the different services and procedures.</a:t>
            </a:r>
          </a:p>
          <a:p>
            <a:r>
              <a:rPr lang="en-US" dirty="0"/>
              <a:t>Abstraction naturally leads to layering.</a:t>
            </a:r>
          </a:p>
          <a:p>
            <a:endParaRPr lang="ar-S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9438122F-8990-4B8C-ADE5-D2F4E72555B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5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Layers</a:t>
            </a: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4525963"/>
          </a:xfrm>
        </p:spPr>
        <p:txBody>
          <a:bodyPr/>
          <a:lstStyle/>
          <a:p>
            <a:r>
              <a:rPr lang="en-US" sz="3600" dirty="0"/>
              <a:t>We use the concept of </a:t>
            </a:r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layers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/>
              <a:t>in our daily life. </a:t>
            </a:r>
          </a:p>
          <a:p>
            <a:r>
              <a:rPr lang="en-US" sz="3600" dirty="0"/>
              <a:t>As an example, let us consider two friends who communicate through postal mail. The process of sending a letter to a friend would be complex if there were no services available from the post office. </a:t>
            </a:r>
          </a:p>
          <a:p>
            <a:endParaRPr lang="ar-S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9438122F-8990-4B8C-ADE5-D2F4E72555B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0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74E2692-1A21-48D3-A382-62A1EF0320D1}" type="slidenum">
              <a:rPr lang="en-US"/>
              <a:pPr/>
              <a:t>6</a:t>
            </a:fld>
            <a:endParaRPr lang="en-US"/>
          </a:p>
        </p:txBody>
      </p:sp>
      <p:sp>
        <p:nvSpPr>
          <p:cNvPr id="63488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488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488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79627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folHlink"/>
                </a:solidFill>
              </a:rPr>
              <a:t>Figure 2.1  </a:t>
            </a:r>
            <a:r>
              <a:rPr lang="en-US" sz="3200" dirty="0"/>
              <a:t>Tasks involved in sending a letter</a:t>
            </a:r>
            <a:endParaRPr lang="en-US" sz="3200" i="1" dirty="0"/>
          </a:p>
        </p:txBody>
      </p:sp>
      <p:pic>
        <p:nvPicPr>
          <p:cNvPr id="63488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066800"/>
            <a:ext cx="7239000" cy="543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/>
              <a:t>Hierarchy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914400"/>
            <a:ext cx="2743200" cy="4525963"/>
          </a:xfrm>
        </p:spPr>
        <p:txBody>
          <a:bodyPr/>
          <a:lstStyle/>
          <a:p>
            <a:r>
              <a:rPr lang="en-US" dirty="0"/>
              <a:t>The tasks must be performed in the order specified by the hierarchy of the layers!</a:t>
            </a:r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6DFB9EE8-3ED4-476A-9E6C-23049BD6391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90600"/>
            <a:ext cx="5867400" cy="4403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2419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Layers</a:t>
            </a: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257800"/>
          </a:xfrm>
        </p:spPr>
        <p:txBody>
          <a:bodyPr/>
          <a:lstStyle/>
          <a:p>
            <a:r>
              <a:rPr lang="en-US" sz="3600" dirty="0"/>
              <a:t>Each layer provides a specific set of services.</a:t>
            </a:r>
          </a:p>
          <a:p>
            <a:r>
              <a:rPr lang="en-US" sz="3600" dirty="0"/>
              <a:t>Services are provided through the definition of </a:t>
            </a:r>
            <a:r>
              <a:rPr lang="en-US" sz="3600" i="1" dirty="0"/>
              <a:t>protocols</a:t>
            </a:r>
            <a:r>
              <a:rPr lang="en-US" sz="3600" dirty="0"/>
              <a:t>.</a:t>
            </a:r>
          </a:p>
          <a:p>
            <a:r>
              <a:rPr lang="en-US" sz="3600" dirty="0"/>
              <a:t>Each layer uses the services provided by the lower/above layers.</a:t>
            </a:r>
          </a:p>
          <a:p>
            <a:r>
              <a:rPr lang="en-US" sz="3600" dirty="0"/>
              <a:t>Layers use protocols to communicate with each others.</a:t>
            </a:r>
          </a:p>
          <a:p>
            <a:endParaRPr lang="en-US" sz="3200" dirty="0"/>
          </a:p>
          <a:p>
            <a:endParaRPr lang="ar-S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9438122F-8990-4B8C-ADE5-D2F4E72555B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7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Layers</a:t>
            </a: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4525963"/>
          </a:xfrm>
        </p:spPr>
        <p:txBody>
          <a:bodyPr/>
          <a:lstStyle/>
          <a:p>
            <a:r>
              <a:rPr lang="en-US" sz="3600" dirty="0"/>
              <a:t>Layering provides two nice features:</a:t>
            </a:r>
          </a:p>
          <a:p>
            <a:pPr lvl="1"/>
            <a:r>
              <a:rPr lang="en-US" sz="3200" dirty="0"/>
              <a:t>Decomposes the problem of building a network into more manageable components.</a:t>
            </a:r>
          </a:p>
          <a:p>
            <a:pPr lvl="1"/>
            <a:r>
              <a:rPr lang="en-US" sz="3200" dirty="0"/>
              <a:t>Provides a more modular design, modifying the functionality of the different layers without affecting the whole system!</a:t>
            </a:r>
          </a:p>
          <a:p>
            <a:endParaRPr lang="ar-S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9438122F-8990-4B8C-ADE5-D2F4E72555B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36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170CA3D1-C001-4DF4-8EA7-6CDD88800584}" type="slidenum">
              <a:rPr lang="en-US"/>
              <a:pPr/>
              <a:t>10</a:t>
            </a:fld>
            <a:endParaRPr lang="en-US"/>
          </a:p>
        </p:txBody>
      </p:sp>
      <p:sp>
        <p:nvSpPr>
          <p:cNvPr id="565250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4452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2-2   THE OSI MODEL</a:t>
            </a:r>
          </a:p>
        </p:txBody>
      </p:sp>
      <p:sp>
        <p:nvSpPr>
          <p:cNvPr id="565252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65278" name="Rectangle 30"/>
          <p:cNvSpPr>
            <a:spLocks noChangeArrowheads="1"/>
          </p:cNvSpPr>
          <p:nvPr/>
        </p:nvSpPr>
        <p:spPr bwMode="auto">
          <a:xfrm>
            <a:off x="990600" y="2762250"/>
            <a:ext cx="69342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71500" indent="-571500">
              <a:buClr>
                <a:schemeClr val="tx1"/>
              </a:buClr>
              <a:buSzPct val="117000"/>
              <a:buFont typeface="Arial" pitchFamily="34" charset="0"/>
              <a:buChar char="•"/>
            </a:pPr>
            <a:r>
              <a:rPr lang="fr-FR" sz="3600" dirty="0" err="1">
                <a:solidFill>
                  <a:srgbClr val="0033CC"/>
                </a:solidFill>
              </a:rPr>
              <a:t>Layered</a:t>
            </a:r>
            <a:r>
              <a:rPr lang="fr-FR" sz="3600" dirty="0">
                <a:solidFill>
                  <a:srgbClr val="0033CC"/>
                </a:solidFill>
              </a:rPr>
              <a:t> Architecture</a:t>
            </a:r>
          </a:p>
          <a:p>
            <a:pPr marL="571500" indent="-571500">
              <a:buClr>
                <a:schemeClr val="tx1"/>
              </a:buClr>
              <a:buSzPct val="117000"/>
              <a:buFont typeface="Arial" pitchFamily="34" charset="0"/>
              <a:buChar char="•"/>
            </a:pPr>
            <a:r>
              <a:rPr lang="fr-FR" sz="3600" dirty="0">
                <a:solidFill>
                  <a:srgbClr val="0033CC"/>
                </a:solidFill>
              </a:rPr>
              <a:t>Peer-to-Peer </a:t>
            </a:r>
            <a:r>
              <a:rPr lang="fr-FR" sz="3600" dirty="0" err="1">
                <a:solidFill>
                  <a:srgbClr val="0033CC"/>
                </a:solidFill>
              </a:rPr>
              <a:t>Processes</a:t>
            </a:r>
            <a:endParaRPr lang="fr-FR" sz="3600" dirty="0">
              <a:solidFill>
                <a:srgbClr val="0033CC"/>
              </a:solidFill>
            </a:endParaRPr>
          </a:p>
          <a:p>
            <a:pPr marL="571500" indent="-571500">
              <a:buClr>
                <a:schemeClr val="tx1"/>
              </a:buClr>
              <a:buSzPct val="117000"/>
              <a:buFont typeface="Arial" pitchFamily="34" charset="0"/>
              <a:buChar char="•"/>
            </a:pPr>
            <a:r>
              <a:rPr lang="en-US" sz="3600" dirty="0">
                <a:solidFill>
                  <a:srgbClr val="0033CC"/>
                </a:solidFill>
              </a:rPr>
              <a:t>Encapsulation</a:t>
            </a:r>
          </a:p>
        </p:txBody>
      </p:sp>
      <p:sp>
        <p:nvSpPr>
          <p:cNvPr id="565279" name="Text Box 31"/>
          <p:cNvSpPr txBox="1">
            <a:spLocks noChangeArrowheads="1"/>
          </p:cNvSpPr>
          <p:nvPr/>
        </p:nvSpPr>
        <p:spPr bwMode="auto">
          <a:xfrm>
            <a:off x="-63179" y="1905000"/>
            <a:ext cx="6374758" cy="646331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36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  <p:extLst>
      <p:ext uri="{BB962C8B-B14F-4D97-AF65-F5344CB8AC3E}">
        <p14:creationId xmlns:p14="http://schemas.microsoft.com/office/powerpoint/2010/main" val="262848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OSI Model</a:t>
            </a: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/>
              <a:t>An ISO standard that covers all aspects of network communications is the Open Systems Interconnection (</a:t>
            </a:r>
            <a:r>
              <a:rPr lang="en-US" dirty="0">
                <a:solidFill>
                  <a:schemeClr val="hlink"/>
                </a:solidFill>
              </a:rPr>
              <a:t>OSI</a:t>
            </a:r>
            <a:r>
              <a:rPr lang="en-US" dirty="0"/>
              <a:t>) model. </a:t>
            </a:r>
          </a:p>
          <a:p>
            <a:r>
              <a:rPr lang="en-US" dirty="0"/>
              <a:t>An </a:t>
            </a:r>
            <a:r>
              <a:rPr lang="en-US" b="1" dirty="0"/>
              <a:t>open system </a:t>
            </a:r>
            <a:r>
              <a:rPr lang="en-US" dirty="0"/>
              <a:t>is a set of protocol that allows any two different systems to communicate regardless of their underlying architecture (H/W and S/W).</a:t>
            </a:r>
          </a:p>
          <a:p>
            <a:endParaRPr lang="ar-S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9438122F-8990-4B8C-ADE5-D2F4E72555B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609600" y="5257800"/>
            <a:ext cx="8153400" cy="83099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ISO is the organization.</a:t>
            </a:r>
            <a:br>
              <a:rPr lang="en-US" sz="2400" dirty="0"/>
            </a:br>
            <a:r>
              <a:rPr lang="en-US" sz="2400" dirty="0"/>
              <a:t>OSI is the model.</a:t>
            </a:r>
          </a:p>
        </p:txBody>
      </p:sp>
    </p:spTree>
    <p:extLst>
      <p:ext uri="{BB962C8B-B14F-4D97-AF65-F5344CB8AC3E}">
        <p14:creationId xmlns:p14="http://schemas.microsoft.com/office/powerpoint/2010/main" val="358010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OSI Model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4525963"/>
          </a:xfrm>
        </p:spPr>
        <p:txBody>
          <a:bodyPr/>
          <a:lstStyle/>
          <a:p>
            <a:r>
              <a:rPr lang="en-US" dirty="0"/>
              <a:t>The OSI model is a layered framework for the design of network systems that allows for communication between all types of computer systems.</a:t>
            </a:r>
          </a:p>
          <a:p>
            <a:r>
              <a:rPr lang="en-US" dirty="0"/>
              <a:t>It consists of seven separate but related layers, each of which defines a part of the process of moving information across a network.</a:t>
            </a:r>
          </a:p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6DFB9EE8-3ED4-476A-9E6C-23049BD6391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5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13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74147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folHlink"/>
                </a:solidFill>
              </a:rPr>
              <a:t>Figure 2.2  </a:t>
            </a:r>
            <a:r>
              <a:rPr lang="en-US" sz="3200" i="1" dirty="0"/>
              <a:t>Seven layers of the OSI model</a:t>
            </a:r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3591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9475" y="914400"/>
            <a:ext cx="5165725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عنصر نائب للتاريخ 1"/>
          <p:cNvSpPr>
            <a:spLocks noGrp="1"/>
          </p:cNvSpPr>
          <p:nvPr>
            <p:ph type="dt" sz="quarter" idx="4294967295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1/18/2006</a:t>
            </a:r>
          </a:p>
        </p:txBody>
      </p:sp>
      <p:sp>
        <p:nvSpPr>
          <p:cNvPr id="19460" name="عنصر نائب لرقم الشريحة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D944DC4-3B6D-4828-AB01-6FB92C07B021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2249488" y="1066800"/>
            <a:ext cx="533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/>
              <a:t>ISO: International Standards Organization</a:t>
            </a:r>
          </a:p>
          <a:p>
            <a:pPr algn="ctr" eaLnBrk="1" hangingPunct="1"/>
            <a:r>
              <a:rPr lang="en-US"/>
              <a:t>OSI: Open Systems Interconnection</a:t>
            </a:r>
          </a:p>
        </p:txBody>
      </p:sp>
      <p:sp>
        <p:nvSpPr>
          <p:cNvPr id="19462" name="Rectangle 3"/>
          <p:cNvSpPr>
            <a:spLocks noChangeArrowheads="1"/>
          </p:cNvSpPr>
          <p:nvPr/>
        </p:nvSpPr>
        <p:spPr bwMode="auto">
          <a:xfrm>
            <a:off x="5345113" y="5480050"/>
            <a:ext cx="2292350" cy="5191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Physical</a:t>
            </a: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5343525" y="2597150"/>
            <a:ext cx="2292350" cy="5191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Presentation</a:t>
            </a:r>
          </a:p>
        </p:txBody>
      </p:sp>
      <p:sp>
        <p:nvSpPr>
          <p:cNvPr id="19464" name="Rectangle 5"/>
          <p:cNvSpPr>
            <a:spLocks noChangeArrowheads="1"/>
          </p:cNvSpPr>
          <p:nvPr/>
        </p:nvSpPr>
        <p:spPr bwMode="auto">
          <a:xfrm>
            <a:off x="5340350" y="3182938"/>
            <a:ext cx="2292350" cy="51911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Session</a:t>
            </a:r>
          </a:p>
        </p:txBody>
      </p:sp>
      <p:sp>
        <p:nvSpPr>
          <p:cNvPr id="19465" name="Rectangle 6"/>
          <p:cNvSpPr>
            <a:spLocks noChangeArrowheads="1"/>
          </p:cNvSpPr>
          <p:nvPr/>
        </p:nvSpPr>
        <p:spPr bwMode="auto">
          <a:xfrm>
            <a:off x="5351463" y="3757613"/>
            <a:ext cx="2292350" cy="51911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Transport</a:t>
            </a:r>
          </a:p>
        </p:txBody>
      </p:sp>
      <p:sp>
        <p:nvSpPr>
          <p:cNvPr id="19466" name="Rectangle 7"/>
          <p:cNvSpPr>
            <a:spLocks noChangeArrowheads="1"/>
          </p:cNvSpPr>
          <p:nvPr/>
        </p:nvSpPr>
        <p:spPr bwMode="auto">
          <a:xfrm>
            <a:off x="5349875" y="4332288"/>
            <a:ext cx="2292350" cy="51911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Network</a:t>
            </a:r>
          </a:p>
        </p:txBody>
      </p:sp>
      <p:sp>
        <p:nvSpPr>
          <p:cNvPr id="19467" name="Rectangle 8"/>
          <p:cNvSpPr>
            <a:spLocks noChangeArrowheads="1"/>
          </p:cNvSpPr>
          <p:nvPr/>
        </p:nvSpPr>
        <p:spPr bwMode="auto">
          <a:xfrm>
            <a:off x="5346700" y="4905375"/>
            <a:ext cx="2292350" cy="5191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Data link</a:t>
            </a:r>
          </a:p>
        </p:txBody>
      </p:sp>
      <p:sp>
        <p:nvSpPr>
          <p:cNvPr id="19468" name="AutoShape 9"/>
          <p:cNvSpPr>
            <a:spLocks/>
          </p:cNvSpPr>
          <p:nvPr/>
        </p:nvSpPr>
        <p:spPr bwMode="auto">
          <a:xfrm>
            <a:off x="4797425" y="1905000"/>
            <a:ext cx="503238" cy="4381500"/>
          </a:xfrm>
          <a:prstGeom prst="leftBrace">
            <a:avLst>
              <a:gd name="adj1" fmla="val 72555"/>
              <a:gd name="adj2" fmla="val 19389"/>
            </a:avLst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69" name="Rectangle 10"/>
          <p:cNvSpPr>
            <a:spLocks noChangeArrowheads="1"/>
          </p:cNvSpPr>
          <p:nvPr/>
        </p:nvSpPr>
        <p:spPr bwMode="auto">
          <a:xfrm>
            <a:off x="5340350" y="2009775"/>
            <a:ext cx="2292350" cy="5191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Application</a:t>
            </a:r>
          </a:p>
        </p:txBody>
      </p:sp>
      <p:sp>
        <p:nvSpPr>
          <p:cNvPr id="19470" name="Text Box 11"/>
          <p:cNvSpPr txBox="1">
            <a:spLocks noChangeArrowheads="1"/>
          </p:cNvSpPr>
          <p:nvPr/>
        </p:nvSpPr>
        <p:spPr bwMode="auto">
          <a:xfrm>
            <a:off x="1901825" y="76200"/>
            <a:ext cx="5886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3600"/>
              <a:t>The ISO/OSI Reference Model</a:t>
            </a:r>
          </a:p>
          <a:p>
            <a:pPr algn="ctr" eaLnBrk="1" hangingPunct="1"/>
            <a:r>
              <a:rPr lang="en-US" sz="2000"/>
              <a:t>Source: Computer Networks, Andrew Tanenbaum</a:t>
            </a:r>
          </a:p>
        </p:txBody>
      </p:sp>
      <p:sp>
        <p:nvSpPr>
          <p:cNvPr id="19471" name="Text Box 12"/>
          <p:cNvSpPr txBox="1">
            <a:spLocks noChangeArrowheads="1"/>
          </p:cNvSpPr>
          <p:nvPr/>
        </p:nvSpPr>
        <p:spPr bwMode="auto">
          <a:xfrm>
            <a:off x="1371600" y="2286000"/>
            <a:ext cx="3573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protocol </a:t>
            </a:r>
            <a:r>
              <a:rPr lang="en-US" sz="3200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r>
              <a:rPr 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9472" name="Text Box 13"/>
          <p:cNvSpPr txBox="1">
            <a:spLocks noChangeArrowheads="1"/>
          </p:cNvSpPr>
          <p:nvPr/>
        </p:nvSpPr>
        <p:spPr bwMode="auto">
          <a:xfrm>
            <a:off x="0" y="2971800"/>
            <a:ext cx="49339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 u="sng" dirty="0"/>
              <a:t>The idea behind the model:</a:t>
            </a:r>
            <a:r>
              <a:rPr lang="en-US" sz="2800" dirty="0"/>
              <a:t> Break up the design to make implementation simpler.  Each layer has a well-defined function.  Layers pass to one another only the information that is relevant at each level.  Communication happens only between adjacent layers.</a:t>
            </a:r>
          </a:p>
        </p:txBody>
      </p:sp>
    </p:spTree>
    <p:extLst>
      <p:ext uri="{BB962C8B-B14F-4D97-AF65-F5344CB8AC3E}">
        <p14:creationId xmlns:p14="http://schemas.microsoft.com/office/powerpoint/2010/main" val="92286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i="1" dirty="0"/>
              <a:t>Layered Architecture</a:t>
            </a:r>
            <a:br>
              <a:rPr lang="en-US" i="1" dirty="0"/>
            </a:b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r>
              <a:rPr lang="en-US" dirty="0"/>
              <a:t>OSI model consists of 7 layers.</a:t>
            </a:r>
          </a:p>
          <a:p>
            <a:r>
              <a:rPr lang="en-US" dirty="0"/>
              <a:t>Each layer defines a family of functions distinct from those of the other layers.</a:t>
            </a:r>
          </a:p>
          <a:p>
            <a:r>
              <a:rPr lang="en-US" dirty="0"/>
              <a:t>Within a single machine, each layer calls upon the services of the layer just below it. </a:t>
            </a:r>
          </a:p>
          <a:p>
            <a:pPr lvl="1"/>
            <a:r>
              <a:rPr lang="en-US" sz="3200" i="1" dirty="0">
                <a:solidFill>
                  <a:srgbClr val="660066"/>
                </a:solidFill>
              </a:rPr>
              <a:t>e.g. layer 3 uses the services provided by layer 2 and provides services for layer 4.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15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63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i="1" dirty="0"/>
              <a:t>Layered Architecture</a:t>
            </a:r>
            <a:br>
              <a:rPr lang="en-US" i="1" dirty="0"/>
            </a:b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5562600"/>
          </a:xfrm>
        </p:spPr>
        <p:txBody>
          <a:bodyPr/>
          <a:lstStyle/>
          <a:p>
            <a:r>
              <a:rPr lang="en-US" dirty="0"/>
              <a:t>Between machines, layer x on one machine communicate with layer x on another machine.</a:t>
            </a:r>
          </a:p>
          <a:p>
            <a:r>
              <a:rPr lang="en-US" dirty="0"/>
              <a:t>This communication is govern by an agreed-upon series of rules and convention called protocols.</a:t>
            </a:r>
          </a:p>
          <a:p>
            <a:r>
              <a:rPr lang="en-US" dirty="0"/>
              <a:t>Communication between machines is a </a:t>
            </a:r>
            <a:r>
              <a:rPr lang="en-US" b="1" dirty="0"/>
              <a:t>peer-to-peer</a:t>
            </a:r>
            <a:r>
              <a:rPr lang="en-US" dirty="0"/>
              <a:t> process using the protocols appropriate to a given layer.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16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35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D2ED6F0-06A0-408C-88F9-D95953C9AC72}" type="slidenum">
              <a:rPr lang="en-US"/>
              <a:pPr/>
              <a:t>17</a:t>
            </a:fld>
            <a:endParaRPr lang="en-US"/>
          </a:p>
        </p:txBody>
      </p:sp>
      <p:sp>
        <p:nvSpPr>
          <p:cNvPr id="63693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6931" name="Line 3"/>
          <p:cNvSpPr>
            <a:spLocks noChangeShapeType="1"/>
          </p:cNvSpPr>
          <p:nvPr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139701" y="152400"/>
            <a:ext cx="87757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200" i="1" dirty="0"/>
              <a:t>The interaction between layers in the OSI model</a:t>
            </a:r>
          </a:p>
        </p:txBody>
      </p:sp>
      <p:sp>
        <p:nvSpPr>
          <p:cNvPr id="636933" name="Line 5"/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369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1" y="762000"/>
            <a:ext cx="8610600" cy="575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i="1" dirty="0"/>
              <a:t>Peer-to-Peer Process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562600"/>
          </a:xfrm>
        </p:spPr>
        <p:txBody>
          <a:bodyPr/>
          <a:lstStyle/>
          <a:p>
            <a:r>
              <a:rPr lang="en-US" dirty="0"/>
              <a:t>At the physical layer, communication is direct where device A sends a stream of bits to device B. The bits must be converted to  a form that can be transmitted to the receiving device.</a:t>
            </a:r>
          </a:p>
          <a:p>
            <a:r>
              <a:rPr lang="en-US" dirty="0"/>
              <a:t>At the higher layers, communication must move down through the layers on device A over to device B and then back up through the layers.</a:t>
            </a:r>
          </a:p>
          <a:p>
            <a:pPr lvl="1">
              <a:buNone/>
            </a:pPr>
            <a:endParaRPr lang="en-US" sz="20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18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i="1" dirty="0"/>
              <a:t>Peer-to-Peer Process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3400" b="1" i="1" dirty="0">
                <a:solidFill>
                  <a:srgbClr val="0070C0"/>
                </a:solidFill>
              </a:rPr>
              <a:t>Interfaces Between Layers</a:t>
            </a:r>
          </a:p>
          <a:p>
            <a:pPr lvl="1"/>
            <a:r>
              <a:rPr lang="en-US" sz="3200" dirty="0"/>
              <a:t>The passing of the data and network information down/up through the layers in sending/ receiving require an </a:t>
            </a:r>
            <a:r>
              <a:rPr lang="en-US" sz="3200" b="1" dirty="0"/>
              <a:t>interface</a:t>
            </a:r>
            <a:r>
              <a:rPr lang="en-US" sz="3200" dirty="0"/>
              <a:t> between each pair of adjacent layers.</a:t>
            </a:r>
          </a:p>
          <a:p>
            <a:pPr lvl="1"/>
            <a:r>
              <a:rPr lang="en-US" sz="3200" dirty="0"/>
              <a:t>Well-defined interfaces and layer functions provide modularity to a network.</a:t>
            </a:r>
          </a:p>
          <a:p>
            <a:pPr lvl="1">
              <a:buNone/>
            </a:pPr>
            <a:endParaRPr lang="en-US" sz="20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19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77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Organization of the Layers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89154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3400" dirty="0"/>
              <a:t>The seven layers can be thought  of as belonging to three subgroups:</a:t>
            </a:r>
          </a:p>
          <a:p>
            <a:pPr marL="971550" lvl="1" indent="-514350">
              <a:buSzPct val="100000"/>
              <a:buFont typeface="+mj-lt"/>
              <a:buAutoNum type="arabicParenR"/>
            </a:pPr>
            <a:r>
              <a:rPr lang="en-US" sz="3200" b="1" dirty="0"/>
              <a:t>Layers 1,2, and 3 </a:t>
            </a:r>
            <a:r>
              <a:rPr lang="en-US" sz="3200" dirty="0"/>
              <a:t>– physical, data link, and network – are the network  support layers.</a:t>
            </a:r>
          </a:p>
          <a:p>
            <a:pPr marL="971550" lvl="1" indent="-514350">
              <a:buSzPct val="100000"/>
              <a:buFont typeface="+mj-lt"/>
              <a:buAutoNum type="arabicParenR"/>
            </a:pPr>
            <a:r>
              <a:rPr lang="en-US" sz="3200" b="1" dirty="0"/>
              <a:t>Layers 5,6, and 7</a:t>
            </a:r>
            <a:r>
              <a:rPr lang="en-US" sz="3200" dirty="0"/>
              <a:t> – session, presentation, and application – are user support layers; they allow interoperability among unrelated software systems.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20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Organization of the Layers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The seven layers can be thought  of as belonging to three subgroups:</a:t>
            </a:r>
          </a:p>
          <a:p>
            <a:pPr marL="971550" lvl="1" indent="-514350">
              <a:buSzPct val="100000"/>
              <a:buFont typeface="+mj-lt"/>
              <a:buAutoNum type="arabicParenR" startAt="3"/>
            </a:pPr>
            <a:r>
              <a:rPr lang="en-US" sz="3200" dirty="0"/>
              <a:t>Layer 4, the transport layer, links the two groups and ensures that what the lower layers have transmitted is in a form that the upper layers can use.</a:t>
            </a:r>
          </a:p>
          <a:p>
            <a:r>
              <a:rPr lang="en-US" sz="3400" dirty="0"/>
              <a:t>The upper OSI layers almost implemented in S/W; lowers layers are combination of S/W and H/W except for the physical layer which is mostly H/W.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21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89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48C2DCD-6957-4FE3-9297-43986A659FDB}" type="slidenum">
              <a:rPr lang="en-US"/>
              <a:pPr/>
              <a:t>22</a:t>
            </a:fld>
            <a:endParaRPr lang="en-US"/>
          </a:p>
        </p:txBody>
      </p:sp>
      <p:sp>
        <p:nvSpPr>
          <p:cNvPr id="637954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7955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7956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0752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folHlink"/>
                </a:solidFill>
              </a:rPr>
              <a:t>Figure 2.4  </a:t>
            </a:r>
            <a:r>
              <a:rPr lang="en-US" sz="3200" i="1" dirty="0"/>
              <a:t>An exchange using the OSI model</a:t>
            </a:r>
          </a:p>
        </p:txBody>
      </p:sp>
      <p:sp>
        <p:nvSpPr>
          <p:cNvPr id="637957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3795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4038" y="1200150"/>
            <a:ext cx="7523162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657600" y="1200150"/>
            <a:ext cx="335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Organization of the Layers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76200" y="762000"/>
            <a:ext cx="8915400" cy="5562600"/>
          </a:xfrm>
        </p:spPr>
        <p:txBody>
          <a:bodyPr/>
          <a:lstStyle/>
          <a:p>
            <a:r>
              <a:rPr lang="en-US" sz="3400" dirty="0"/>
              <a:t>Another aspect of data communications in the OSI model is </a:t>
            </a:r>
            <a:r>
              <a:rPr lang="en-US" sz="3400" b="1" i="1" dirty="0"/>
              <a:t>encapsulation</a:t>
            </a:r>
            <a:r>
              <a:rPr lang="en-US" sz="3400" dirty="0"/>
              <a:t>.</a:t>
            </a:r>
          </a:p>
          <a:p>
            <a:pPr lvl="1"/>
            <a:r>
              <a:rPr lang="en-US" sz="3200" dirty="0"/>
              <a:t>The data portion of a packet at level </a:t>
            </a:r>
            <a:r>
              <a:rPr lang="en-US" sz="3200" b="1" i="1" dirty="0"/>
              <a:t>N-1</a:t>
            </a:r>
            <a:r>
              <a:rPr lang="en-US" sz="3200" dirty="0"/>
              <a:t> carries the whole packet (data and header and maybe trailer) from level </a:t>
            </a:r>
            <a:r>
              <a:rPr lang="en-US" sz="3200" b="1" i="1" dirty="0"/>
              <a:t>N</a:t>
            </a:r>
            <a:r>
              <a:rPr lang="en-US" sz="3200" dirty="0"/>
              <a:t>.</a:t>
            </a:r>
          </a:p>
          <a:p>
            <a:pPr lvl="1"/>
            <a:r>
              <a:rPr lang="en-US" sz="3200" dirty="0"/>
              <a:t>Level </a:t>
            </a:r>
            <a:r>
              <a:rPr lang="en-US" sz="3200" b="1" i="1" dirty="0"/>
              <a:t>N-1</a:t>
            </a:r>
            <a:r>
              <a:rPr lang="en-US" sz="3200" dirty="0"/>
              <a:t> is not aware of which part of the encapsulated packet is data and which part is the header or trailer.</a:t>
            </a:r>
          </a:p>
          <a:p>
            <a:pPr lvl="1"/>
            <a:r>
              <a:rPr lang="en-US" sz="3200" dirty="0"/>
              <a:t>For level N-1, the whole packet coming from level N is treated as one logical unit.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23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632A86DF-7321-438B-9ADF-FC6ABADF0B05}" type="slidenum">
              <a:rPr lang="en-US"/>
              <a:pPr/>
              <a:t>24</a:t>
            </a:fld>
            <a:endParaRPr lang="en-US"/>
          </a:p>
        </p:txBody>
      </p:sp>
      <p:sp>
        <p:nvSpPr>
          <p:cNvPr id="678914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8915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6341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2-3   LAYERS IN THE OSI MODEL</a:t>
            </a:r>
          </a:p>
        </p:txBody>
      </p:sp>
      <p:sp>
        <p:nvSpPr>
          <p:cNvPr id="678916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8917" name="Rectangle 5"/>
          <p:cNvSpPr>
            <a:spLocks noChangeArrowheads="1"/>
          </p:cNvSpPr>
          <p:nvPr/>
        </p:nvSpPr>
        <p:spPr bwMode="auto">
          <a:xfrm>
            <a:off x="76200" y="921891"/>
            <a:ext cx="8610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/>
            <a:r>
              <a:rPr lang="en-US" sz="32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this section we briefly describe the functions of each layer in the OSI model.</a:t>
            </a:r>
          </a:p>
        </p:txBody>
      </p:sp>
      <p:sp>
        <p:nvSpPr>
          <p:cNvPr id="678918" name="Rectangle 6"/>
          <p:cNvSpPr>
            <a:spLocks noChangeArrowheads="1"/>
          </p:cNvSpPr>
          <p:nvPr/>
        </p:nvSpPr>
        <p:spPr bwMode="auto">
          <a:xfrm>
            <a:off x="228600" y="3295650"/>
            <a:ext cx="57150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sz="2400" dirty="0" err="1">
                <a:solidFill>
                  <a:srgbClr val="0033CC"/>
                </a:solidFill>
              </a:rPr>
              <a:t>Physical</a:t>
            </a:r>
            <a:r>
              <a:rPr lang="fr-FR" sz="2400" dirty="0">
                <a:solidFill>
                  <a:srgbClr val="0033CC"/>
                </a:solidFill>
              </a:rPr>
              <a:t> Layer</a:t>
            </a:r>
            <a:br>
              <a:rPr lang="fr-FR" sz="2400" dirty="0">
                <a:solidFill>
                  <a:srgbClr val="0033CC"/>
                </a:solidFill>
              </a:rPr>
            </a:br>
            <a:r>
              <a:rPr lang="fr-FR" sz="2400" dirty="0">
                <a:solidFill>
                  <a:srgbClr val="0033CC"/>
                </a:solidFill>
              </a:rPr>
              <a:t>Data Link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Network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Transport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Session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Presentation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Application Layer</a:t>
            </a:r>
          </a:p>
        </p:txBody>
      </p:sp>
      <p:sp>
        <p:nvSpPr>
          <p:cNvPr id="678919" name="Text Box 7"/>
          <p:cNvSpPr txBox="1">
            <a:spLocks noChangeArrowheads="1"/>
          </p:cNvSpPr>
          <p:nvPr/>
        </p:nvSpPr>
        <p:spPr bwMode="auto">
          <a:xfrm>
            <a:off x="241300" y="2819400"/>
            <a:ext cx="4862513" cy="519113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Physical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5562600"/>
          </a:xfrm>
        </p:spPr>
        <p:txBody>
          <a:bodyPr/>
          <a:lstStyle/>
          <a:p>
            <a:r>
              <a:rPr lang="en-US" sz="3400" dirty="0"/>
              <a:t>The physical layer coordinate the functions required to carry a bit stream over a physical medium including:</a:t>
            </a:r>
          </a:p>
          <a:p>
            <a:pPr lvl="1"/>
            <a:r>
              <a:rPr lang="en-US" sz="3200" dirty="0"/>
              <a:t>Dealing with the  mechanical and electrical specifications of the interfaces and transmission medium.</a:t>
            </a:r>
          </a:p>
          <a:p>
            <a:pPr lvl="1"/>
            <a:r>
              <a:rPr lang="en-US" sz="3200" dirty="0"/>
              <a:t>It defines the procedures and functions that physical devices and interfaces have to perform for transmission to occur.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25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Physical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r>
              <a:rPr lang="en-US" sz="3400" dirty="0"/>
              <a:t>The physical layer is also concerned with:</a:t>
            </a:r>
          </a:p>
          <a:p>
            <a:pPr lvl="1"/>
            <a:r>
              <a:rPr lang="en-US" sz="3200" dirty="0"/>
              <a:t>Physical characteristics of interfaces and medium.</a:t>
            </a:r>
          </a:p>
          <a:p>
            <a:pPr lvl="1"/>
            <a:r>
              <a:rPr lang="en-US" sz="3200" dirty="0"/>
              <a:t>Representation of bits</a:t>
            </a:r>
          </a:p>
          <a:p>
            <a:pPr lvl="1"/>
            <a:r>
              <a:rPr lang="en-US" sz="3200" dirty="0"/>
              <a:t>Data rate</a:t>
            </a:r>
          </a:p>
          <a:p>
            <a:pPr lvl="1"/>
            <a:r>
              <a:rPr lang="en-US" sz="3200" dirty="0"/>
              <a:t>Synchronization of bits</a:t>
            </a:r>
          </a:p>
          <a:p>
            <a:pPr lvl="1"/>
            <a:r>
              <a:rPr lang="en-US" sz="3200" dirty="0"/>
              <a:t>Line configuration</a:t>
            </a:r>
          </a:p>
          <a:p>
            <a:pPr lvl="1"/>
            <a:r>
              <a:rPr lang="en-US" sz="3200" dirty="0"/>
              <a:t>Physical topology</a:t>
            </a:r>
          </a:p>
          <a:p>
            <a:pPr lvl="1"/>
            <a:r>
              <a:rPr lang="en-US" sz="3200" dirty="0"/>
              <a:t>Transmission mode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26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0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677894A6-A208-4D5F-B992-224868E6110F}" type="slidenum">
              <a:rPr lang="en-US"/>
              <a:pPr/>
              <a:t>27</a:t>
            </a:fld>
            <a:endParaRPr lang="en-US"/>
          </a:p>
        </p:txBody>
      </p:sp>
      <p:sp>
        <p:nvSpPr>
          <p:cNvPr id="638978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8979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8980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489121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2.5  </a:t>
            </a:r>
            <a:r>
              <a:rPr lang="en-US" sz="3400" i="1" dirty="0"/>
              <a:t>Physical layer</a:t>
            </a:r>
          </a:p>
        </p:txBody>
      </p:sp>
      <p:sp>
        <p:nvSpPr>
          <p:cNvPr id="638981" name="Line 5"/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3898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219200"/>
            <a:ext cx="89344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3400" dirty="0"/>
              <a:t>The data link layer transforms the physical layer to reliable link.</a:t>
            </a:r>
          </a:p>
          <a:p>
            <a:r>
              <a:rPr lang="en-US" sz="3400" dirty="0"/>
              <a:t>It makes the physical layer appear error-free to the upper layer (network layer).</a:t>
            </a:r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28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12ADA8D1-50E3-44BE-8BFB-D41F665E168D}" type="slidenum">
              <a:rPr lang="en-US"/>
              <a:pPr/>
              <a:t>29</a:t>
            </a:fld>
            <a:endParaRPr lang="en-US"/>
          </a:p>
        </p:txBody>
      </p:sp>
      <p:sp>
        <p:nvSpPr>
          <p:cNvPr id="6400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00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0004" name="Text Box 4"/>
          <p:cNvSpPr txBox="1">
            <a:spLocks noChangeArrowheads="1"/>
          </p:cNvSpPr>
          <p:nvPr/>
        </p:nvSpPr>
        <p:spPr bwMode="auto">
          <a:xfrm>
            <a:off x="304800" y="298847"/>
            <a:ext cx="507235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2.6  </a:t>
            </a:r>
            <a:r>
              <a:rPr lang="en-US" sz="3400" i="1" dirty="0"/>
              <a:t>Data link layer</a:t>
            </a:r>
          </a:p>
        </p:txBody>
      </p:sp>
      <p:sp>
        <p:nvSpPr>
          <p:cNvPr id="64000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000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88" y="1600200"/>
            <a:ext cx="879951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257800"/>
          </a:xfrm>
        </p:spPr>
        <p:txBody>
          <a:bodyPr/>
          <a:lstStyle/>
          <a:p>
            <a:r>
              <a:rPr lang="en-US" sz="3400" dirty="0"/>
              <a:t>The data link layer provides </a:t>
            </a:r>
            <a:r>
              <a:rPr lang="en-US" sz="3400" b="1" i="1" dirty="0"/>
              <a:t>hop-to-hop delivery</a:t>
            </a:r>
            <a:r>
              <a:rPr lang="en-US" sz="3400" dirty="0"/>
              <a:t>.</a:t>
            </a:r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30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2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FAD25DCD-90AE-4464-A759-C50E2027CC98}" type="slidenum">
              <a:rPr lang="en-US"/>
              <a:pPr/>
              <a:t>31</a:t>
            </a:fld>
            <a:endParaRPr lang="en-US"/>
          </a:p>
        </p:txBody>
      </p:sp>
      <p:sp>
        <p:nvSpPr>
          <p:cNvPr id="641026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1028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605499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2.7  </a:t>
            </a:r>
            <a:r>
              <a:rPr lang="en-US" sz="3400" i="1" dirty="0"/>
              <a:t>Hop-to-hop delivery</a:t>
            </a:r>
          </a:p>
        </p:txBody>
      </p:sp>
      <p:pic>
        <p:nvPicPr>
          <p:cNvPr id="64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838200"/>
            <a:ext cx="8077200" cy="561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3400" dirty="0"/>
              <a:t>There are other responsibilities of data link layer include:</a:t>
            </a:r>
          </a:p>
          <a:p>
            <a:pPr lvl="1"/>
            <a:r>
              <a:rPr lang="en-US" sz="3200" b="1" i="1" dirty="0"/>
              <a:t>Framing</a:t>
            </a:r>
          </a:p>
          <a:p>
            <a:pPr lvl="1"/>
            <a:r>
              <a:rPr lang="en-US" sz="3200" b="1" i="1" dirty="0"/>
              <a:t>Physical addressing</a:t>
            </a:r>
          </a:p>
          <a:p>
            <a:pPr lvl="1"/>
            <a:r>
              <a:rPr lang="en-US" sz="3200" b="1" i="1" dirty="0"/>
              <a:t>Flow control</a:t>
            </a:r>
          </a:p>
          <a:p>
            <a:pPr lvl="1"/>
            <a:r>
              <a:rPr lang="en-US" sz="3200" b="1" i="1" dirty="0"/>
              <a:t>Error control</a:t>
            </a:r>
          </a:p>
          <a:p>
            <a:pPr lvl="1"/>
            <a:r>
              <a:rPr lang="en-US" sz="3200" b="1" i="1" dirty="0"/>
              <a:t>Access control</a:t>
            </a:r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32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58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562600"/>
          </a:xfrm>
        </p:spPr>
        <p:txBody>
          <a:bodyPr/>
          <a:lstStyle/>
          <a:p>
            <a:r>
              <a:rPr lang="en-US" dirty="0"/>
              <a:t>The network layer is responsible for the delivery of individual packets from the source host to the destination host.</a:t>
            </a:r>
          </a:p>
          <a:p>
            <a:r>
              <a:rPr lang="en-US" dirty="0"/>
              <a:t>At the sender side, data is received from the higher layer (transport) and passed down to the lower layer (data link).</a:t>
            </a:r>
          </a:p>
          <a:p>
            <a:r>
              <a:rPr lang="en-US" dirty="0"/>
              <a:t>At the receiver side, data is received from the lower layer (data link) and passed up to the upper layer (transport).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33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80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4CA0C779-C9EE-43AE-9241-82575B519F19}" type="slidenum">
              <a:rPr lang="en-US"/>
              <a:pPr/>
              <a:t>34</a:t>
            </a:fld>
            <a:endParaRPr lang="en-US"/>
          </a:p>
        </p:txBody>
      </p:sp>
      <p:sp>
        <p:nvSpPr>
          <p:cNvPr id="64205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2051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2052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4961743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2.8  </a:t>
            </a:r>
            <a:r>
              <a:rPr lang="en-US" sz="3400" i="1" dirty="0"/>
              <a:t>Network layer</a:t>
            </a:r>
          </a:p>
        </p:txBody>
      </p:sp>
      <p:sp>
        <p:nvSpPr>
          <p:cNvPr id="642053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524000"/>
            <a:ext cx="890428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562600"/>
          </a:xfrm>
        </p:spPr>
        <p:txBody>
          <a:bodyPr/>
          <a:lstStyle/>
          <a:p>
            <a:r>
              <a:rPr lang="en-US" dirty="0"/>
              <a:t>Again, the network layer is responsible for the delivery of individual packets from source to destination.</a:t>
            </a:r>
          </a:p>
          <a:p>
            <a:r>
              <a:rPr lang="en-US" dirty="0"/>
              <a:t>If two systems are connected to the same link, there is usually no need for a network layer.</a:t>
            </a:r>
          </a:p>
          <a:p>
            <a:r>
              <a:rPr lang="en-US" dirty="0"/>
              <a:t>If the two systems are attached to different networks with connecting devices between the networks, there is often a need for the network layer to accomplish </a:t>
            </a:r>
            <a:r>
              <a:rPr lang="en-US" b="1" i="1" dirty="0"/>
              <a:t>source-to-destination delivery</a:t>
            </a:r>
            <a:r>
              <a:rPr lang="en-US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35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8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7DB9ECE-2769-4C38-8D0A-BCA1D59C521F}" type="slidenum">
              <a:rPr lang="en-US"/>
              <a:pPr/>
              <a:t>36</a:t>
            </a:fld>
            <a:endParaRPr lang="en-US"/>
          </a:p>
        </p:txBody>
      </p:sp>
      <p:sp>
        <p:nvSpPr>
          <p:cNvPr id="643074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3076" name="Text Box 4"/>
          <p:cNvSpPr txBox="1">
            <a:spLocks noChangeArrowheads="1"/>
          </p:cNvSpPr>
          <p:nvPr/>
        </p:nvSpPr>
        <p:spPr bwMode="auto">
          <a:xfrm>
            <a:off x="304800" y="152400"/>
            <a:ext cx="7890558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2.9  </a:t>
            </a:r>
            <a:r>
              <a:rPr lang="en-US" sz="3400" i="1" dirty="0"/>
              <a:t>Source-to-destination delivery</a:t>
            </a:r>
          </a:p>
        </p:txBody>
      </p:sp>
      <p:pic>
        <p:nvPicPr>
          <p:cNvPr id="64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838200"/>
            <a:ext cx="7357158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838200"/>
            <a:ext cx="8610600" cy="5562600"/>
          </a:xfrm>
        </p:spPr>
        <p:txBody>
          <a:bodyPr/>
          <a:lstStyle/>
          <a:p>
            <a:r>
              <a:rPr lang="en-US" sz="3400" dirty="0"/>
              <a:t>Other responsibilities of network layer include:</a:t>
            </a:r>
          </a:p>
          <a:p>
            <a:pPr lvl="1"/>
            <a:r>
              <a:rPr lang="en-US" sz="3200" b="1" i="1" dirty="0"/>
              <a:t>Logical addressing</a:t>
            </a:r>
          </a:p>
          <a:p>
            <a:pPr lvl="1"/>
            <a:r>
              <a:rPr lang="en-US" sz="3200" b="1" i="1" dirty="0"/>
              <a:t>Routing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37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152400" y="8001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81600"/>
          </a:xfrm>
        </p:spPr>
        <p:txBody>
          <a:bodyPr/>
          <a:lstStyle/>
          <a:p>
            <a:r>
              <a:rPr lang="en-US" dirty="0"/>
              <a:t>The transport layer is responsible for the delivery of a message from one </a:t>
            </a:r>
            <a:r>
              <a:rPr lang="en-US" b="1" dirty="0"/>
              <a:t>process</a:t>
            </a:r>
            <a:r>
              <a:rPr lang="en-US" dirty="0"/>
              <a:t> to another.</a:t>
            </a:r>
          </a:p>
          <a:p>
            <a:r>
              <a:rPr lang="en-US" dirty="0"/>
              <a:t>At the sender side, it receives application data and passes it down to the network layer.</a:t>
            </a:r>
          </a:p>
          <a:p>
            <a:r>
              <a:rPr lang="en-US" dirty="0"/>
              <a:t>At the receiver side, it receives data from the network layer and passes it up to the appropriate process.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38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51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7FAE091D-8E55-4EE7-8C73-4BF0DAFBB108}" type="slidenum">
              <a:rPr lang="en-US"/>
              <a:pPr/>
              <a:t>39</a:t>
            </a:fld>
            <a:endParaRPr lang="en-US"/>
          </a:p>
        </p:txBody>
      </p:sp>
      <p:sp>
        <p:nvSpPr>
          <p:cNvPr id="644098" name="Line 2"/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4099" name="Line 3"/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4100" name="Text Box 4"/>
          <p:cNvSpPr txBox="1">
            <a:spLocks noChangeArrowheads="1"/>
          </p:cNvSpPr>
          <p:nvPr/>
        </p:nvSpPr>
        <p:spPr bwMode="auto">
          <a:xfrm>
            <a:off x="304800" y="304800"/>
            <a:ext cx="343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folHlink"/>
                </a:solidFill>
              </a:rPr>
              <a:t>Figure 2.10  </a:t>
            </a:r>
            <a:r>
              <a:rPr lang="en-US" sz="2000" i="1"/>
              <a:t>Transport layer</a:t>
            </a:r>
          </a:p>
        </p:txBody>
      </p:sp>
      <p:sp>
        <p:nvSpPr>
          <p:cNvPr id="644101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774825"/>
            <a:ext cx="8693150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181600"/>
          </a:xfrm>
        </p:spPr>
        <p:txBody>
          <a:bodyPr/>
          <a:lstStyle/>
          <a:p>
            <a:r>
              <a:rPr lang="en-US" sz="3400" dirty="0"/>
              <a:t>Again, the transport layer is responsible for the delivery of a message from one </a:t>
            </a:r>
            <a:r>
              <a:rPr lang="en-US" sz="3400" b="1" dirty="0"/>
              <a:t>process</a:t>
            </a:r>
            <a:r>
              <a:rPr lang="en-US" sz="3400" dirty="0"/>
              <a:t> to another.</a:t>
            </a:r>
          </a:p>
          <a:p>
            <a:r>
              <a:rPr lang="en-US" sz="3400" dirty="0"/>
              <a:t>Unlike the network layer which is source-to-destination delivery, the transport layer is </a:t>
            </a:r>
            <a:r>
              <a:rPr lang="en-US" sz="3400" b="1" i="1" dirty="0"/>
              <a:t>process-to-process delivery </a:t>
            </a:r>
            <a:r>
              <a:rPr lang="en-US" sz="3400" dirty="0"/>
              <a:t>of the entire message.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40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6648ED26-60C6-4DFA-B711-04D340AC8A1C}" type="slidenum">
              <a:rPr lang="en-US"/>
              <a:pPr/>
              <a:t>41</a:t>
            </a:fld>
            <a:endParaRPr lang="en-US"/>
          </a:p>
        </p:txBody>
      </p:sp>
      <p:sp>
        <p:nvSpPr>
          <p:cNvPr id="645122" name="Line 2"/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5124" name="Text Box 4"/>
          <p:cNvSpPr txBox="1">
            <a:spLocks noChangeArrowheads="1"/>
          </p:cNvSpPr>
          <p:nvPr/>
        </p:nvSpPr>
        <p:spPr bwMode="auto">
          <a:xfrm>
            <a:off x="152400" y="141982"/>
            <a:ext cx="88392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folHlink"/>
                </a:solidFill>
              </a:rPr>
              <a:t>Figure 2.11  </a:t>
            </a:r>
            <a:r>
              <a:rPr lang="en-US" sz="3200" i="1" dirty="0"/>
              <a:t>Reliable process-to-process delivery of a message</a:t>
            </a:r>
          </a:p>
        </p:txBody>
      </p:sp>
      <p:sp>
        <p:nvSpPr>
          <p:cNvPr id="645125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51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040" y="1524000"/>
            <a:ext cx="888856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81600"/>
          </a:xfrm>
        </p:spPr>
        <p:txBody>
          <a:bodyPr/>
          <a:lstStyle/>
          <a:p>
            <a:r>
              <a:rPr lang="en-US" sz="3400" dirty="0"/>
              <a:t>Other responsibilities of transport layer:</a:t>
            </a:r>
          </a:p>
          <a:p>
            <a:pPr lvl="1"/>
            <a:r>
              <a:rPr lang="en-US" sz="3200" b="1" i="1" dirty="0"/>
              <a:t>Service-point addressing</a:t>
            </a:r>
          </a:p>
          <a:p>
            <a:pPr lvl="1"/>
            <a:r>
              <a:rPr lang="en-US" sz="3200" b="1" i="1" dirty="0"/>
              <a:t>Segmentation and reassembly</a:t>
            </a:r>
          </a:p>
          <a:p>
            <a:pPr lvl="1"/>
            <a:r>
              <a:rPr lang="en-US" sz="3200" b="1" i="1" dirty="0"/>
              <a:t>Connection control</a:t>
            </a:r>
          </a:p>
          <a:p>
            <a:pPr lvl="1"/>
            <a:r>
              <a:rPr lang="en-US" sz="3200" b="1" i="1" dirty="0"/>
              <a:t>Flow control</a:t>
            </a:r>
          </a:p>
          <a:p>
            <a:pPr lvl="1"/>
            <a:r>
              <a:rPr lang="en-US" sz="3200" b="1" i="1" dirty="0"/>
              <a:t>Error control</a:t>
            </a:r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42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92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Session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257800"/>
          </a:xfrm>
        </p:spPr>
        <p:txBody>
          <a:bodyPr/>
          <a:lstStyle/>
          <a:p>
            <a:r>
              <a:rPr lang="en-US" sz="3400" dirty="0"/>
              <a:t>The session layer is responsible for dialog control and synchronization.</a:t>
            </a:r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43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01092E97-9A31-418D-B78A-87DF22FF1C25}" type="slidenum">
              <a:rPr lang="en-US"/>
              <a:pPr/>
              <a:t>44</a:t>
            </a:fld>
            <a:endParaRPr lang="en-US"/>
          </a:p>
        </p:txBody>
      </p:sp>
      <p:sp>
        <p:nvSpPr>
          <p:cNvPr id="646146" name="Line 2"/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6148" name="Text Box 4"/>
          <p:cNvSpPr txBox="1">
            <a:spLocks noChangeArrowheads="1"/>
          </p:cNvSpPr>
          <p:nvPr/>
        </p:nvSpPr>
        <p:spPr bwMode="auto">
          <a:xfrm>
            <a:off x="113944" y="533400"/>
            <a:ext cx="491525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2.12  </a:t>
            </a:r>
            <a:r>
              <a:rPr lang="en-US" sz="3400" i="1" dirty="0"/>
              <a:t>Session layer</a:t>
            </a:r>
          </a:p>
        </p:txBody>
      </p:sp>
      <p:sp>
        <p:nvSpPr>
          <p:cNvPr id="646149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61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95400"/>
            <a:ext cx="878522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Session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334000"/>
          </a:xfrm>
        </p:spPr>
        <p:txBody>
          <a:bodyPr/>
          <a:lstStyle/>
          <a:p>
            <a:r>
              <a:rPr lang="en-US" sz="3400" dirty="0"/>
              <a:t>Specific responsibilities of the session layer include:</a:t>
            </a:r>
          </a:p>
          <a:p>
            <a:pPr lvl="1"/>
            <a:r>
              <a:rPr lang="en-US" sz="3200" b="1" i="1" dirty="0"/>
              <a:t>Dialog control</a:t>
            </a:r>
          </a:p>
          <a:p>
            <a:pPr lvl="1"/>
            <a:r>
              <a:rPr lang="en-US" sz="3200" b="1" i="1" dirty="0"/>
              <a:t>Synchronization 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45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16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Presentation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txBody>
          <a:bodyPr/>
          <a:lstStyle/>
          <a:p>
            <a:endParaRPr lang="en-US" sz="2400" dirty="0"/>
          </a:p>
          <a:p>
            <a:r>
              <a:rPr lang="en-US" sz="3400" dirty="0"/>
              <a:t>The presentation layer is concerned with syntax and semantics of the information exchange between two systems.</a:t>
            </a:r>
          </a:p>
          <a:p>
            <a:endParaRPr lang="en-US" sz="2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46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7C6BD917-E8F3-42F0-96CD-D369A6311866}" type="slidenum">
              <a:rPr lang="en-US"/>
              <a:pPr/>
              <a:t>47</a:t>
            </a:fld>
            <a:endParaRPr lang="en-US"/>
          </a:p>
        </p:txBody>
      </p:sp>
      <p:sp>
        <p:nvSpPr>
          <p:cNvPr id="64717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7172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590123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2.13  </a:t>
            </a:r>
            <a:r>
              <a:rPr lang="en-US" sz="3400" i="1" dirty="0"/>
              <a:t>Presentation layer</a:t>
            </a:r>
          </a:p>
        </p:txBody>
      </p:sp>
      <p:sp>
        <p:nvSpPr>
          <p:cNvPr id="647173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717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371600"/>
            <a:ext cx="8686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Presentation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181600"/>
          </a:xfrm>
        </p:spPr>
        <p:txBody>
          <a:bodyPr/>
          <a:lstStyle/>
          <a:p>
            <a:r>
              <a:rPr lang="en-US" sz="3400" dirty="0"/>
              <a:t>Specific responsibilities of presentation layer:</a:t>
            </a:r>
          </a:p>
          <a:p>
            <a:pPr lvl="1"/>
            <a:r>
              <a:rPr lang="en-US" sz="3200" b="1" i="1" dirty="0"/>
              <a:t>Translation</a:t>
            </a:r>
          </a:p>
          <a:p>
            <a:pPr lvl="1"/>
            <a:r>
              <a:rPr lang="en-US" sz="3200" b="1" i="1" dirty="0"/>
              <a:t>Encryption</a:t>
            </a:r>
          </a:p>
          <a:p>
            <a:pPr lvl="1"/>
            <a:r>
              <a:rPr lang="en-US" sz="3200" b="1" i="1" dirty="0"/>
              <a:t>Compression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48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01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257800"/>
          </a:xfrm>
        </p:spPr>
        <p:txBody>
          <a:bodyPr/>
          <a:lstStyle/>
          <a:p>
            <a:r>
              <a:rPr lang="en-US" sz="3400" dirty="0"/>
              <a:t>The application layer enables user, whether human or software, to access the network.</a:t>
            </a:r>
          </a:p>
          <a:p>
            <a:r>
              <a:rPr lang="en-US" sz="3400" dirty="0"/>
              <a:t>It provides user interfaces and support for services such as e-mail, remote file access and transfer, shared database management, and other types of distributed information services.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49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A99E562C-89D1-4172-B209-AF76C100F5BF}" type="slidenum">
              <a:rPr lang="en-US"/>
              <a:pPr/>
              <a:t>50</a:t>
            </a:fld>
            <a:endParaRPr lang="en-US"/>
          </a:p>
        </p:txBody>
      </p:sp>
      <p:sp>
        <p:nvSpPr>
          <p:cNvPr id="648194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8196" name="Text Box 4"/>
          <p:cNvSpPr txBox="1">
            <a:spLocks noChangeArrowheads="1"/>
          </p:cNvSpPr>
          <p:nvPr/>
        </p:nvSpPr>
        <p:spPr bwMode="auto">
          <a:xfrm>
            <a:off x="228600" y="152400"/>
            <a:ext cx="573920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2.14  </a:t>
            </a:r>
            <a:r>
              <a:rPr lang="en-US" sz="3400" i="1" dirty="0"/>
              <a:t>Application layer</a:t>
            </a:r>
          </a:p>
        </p:txBody>
      </p:sp>
      <p:sp>
        <p:nvSpPr>
          <p:cNvPr id="648197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819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167" y="914400"/>
            <a:ext cx="889143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334000"/>
          </a:xfrm>
        </p:spPr>
        <p:txBody>
          <a:bodyPr/>
          <a:lstStyle/>
          <a:p>
            <a:r>
              <a:rPr lang="en-US" sz="3400" dirty="0"/>
              <a:t>Specific responsibilities of presentation layer:</a:t>
            </a:r>
          </a:p>
          <a:p>
            <a:pPr lvl="1"/>
            <a:r>
              <a:rPr lang="en-US" sz="3200" b="1" i="1" dirty="0"/>
              <a:t>Network virtual terminal</a:t>
            </a:r>
          </a:p>
          <a:p>
            <a:pPr lvl="1"/>
            <a:r>
              <a:rPr lang="en-US" sz="3200" b="1" i="1" dirty="0"/>
              <a:t>File transfer, access, and management</a:t>
            </a:r>
          </a:p>
          <a:p>
            <a:pPr lvl="1"/>
            <a:r>
              <a:rPr lang="en-US" sz="3200" b="1" i="1" dirty="0"/>
              <a:t>Mail services</a:t>
            </a:r>
          </a:p>
          <a:p>
            <a:pPr lvl="1"/>
            <a:r>
              <a:rPr lang="en-US" sz="3200" b="1" i="1" dirty="0"/>
              <a:t>Directory services</a:t>
            </a:r>
          </a:p>
          <a:p>
            <a:pPr lvl="1"/>
            <a:endParaRPr lang="en-US" sz="2000" b="1" i="1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39BA1E7F-C087-4AB6-959A-19E5FB25C69D}" type="slidenum">
              <a:rPr lang="en-US"/>
              <a:pPr/>
              <a:t>51</a:t>
            </a:fld>
            <a:endParaRPr lang="en-US"/>
          </a:p>
        </p:txBody>
      </p:sp>
      <p:sp>
        <p:nvSpPr>
          <p:cNvPr id="635906" name="Line 2"/>
          <p:cNvSpPr>
            <a:spLocks noChangeShapeType="1"/>
          </p:cNvSpPr>
          <p:nvPr/>
        </p:nvSpPr>
        <p:spPr bwMode="auto">
          <a:xfrm>
            <a:off x="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7" name="Line 3"/>
          <p:cNvSpPr>
            <a:spLocks noChangeShapeType="1"/>
          </p:cNvSpPr>
          <p:nvPr/>
        </p:nvSpPr>
        <p:spPr bwMode="auto">
          <a:xfrm>
            <a:off x="2286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909" name="Line 5"/>
          <p:cNvSpPr>
            <a:spLocks noChangeShapeType="1"/>
          </p:cNvSpPr>
          <p:nvPr/>
        </p:nvSpPr>
        <p:spPr bwMode="auto">
          <a:xfrm>
            <a:off x="0" y="64770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39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B4109F86-D264-41BC-B511-CA2887D7D684}" type="slidenum">
              <a:rPr lang="en-US"/>
              <a:pPr/>
              <a:t>52</a:t>
            </a:fld>
            <a:endParaRPr lang="en-US"/>
          </a:p>
        </p:txBody>
      </p:sp>
      <p:sp>
        <p:nvSpPr>
          <p:cNvPr id="649218" name="Line 2"/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9220" name="Text Box 4"/>
          <p:cNvSpPr txBox="1">
            <a:spLocks noChangeArrowheads="1"/>
          </p:cNvSpPr>
          <p:nvPr/>
        </p:nvSpPr>
        <p:spPr bwMode="auto">
          <a:xfrm>
            <a:off x="228600" y="76200"/>
            <a:ext cx="604216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2.15  </a:t>
            </a:r>
            <a:r>
              <a:rPr lang="en-US" sz="3400" i="1" dirty="0"/>
              <a:t>Summary of layers</a:t>
            </a:r>
          </a:p>
        </p:txBody>
      </p:sp>
      <p:sp>
        <p:nvSpPr>
          <p:cNvPr id="649221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64922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990600"/>
            <a:ext cx="8915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0F245B6-A134-40B1-B62B-0C2EBD841BB0}" type="slidenum">
              <a:rPr lang="en-US"/>
              <a:pPr/>
              <a:t>53</a:t>
            </a:fld>
            <a:endParaRPr lang="en-US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11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28433" y="1066800"/>
            <a:ext cx="86106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layers in the </a:t>
            </a:r>
            <a:r>
              <a:rPr lang="en-US" sz="3400" b="0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TCP/IP protocol suite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do not exactly match those in the OSI model. 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original TCP/IP protocol suite was defined as having four layers: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host-to-network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internet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transport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and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application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  <a:p>
            <a:pPr marL="457200" indent="-457200" algn="just" eaLnBrk="1" hangingPunct="1">
              <a:buFont typeface="Arial" pitchFamily="34" charset="0"/>
              <a:buChar char="•"/>
            </a:pP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When TCP/IP is compared to OSI, we can say that the TCP/IP protocol suite is made of five layers: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physical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data link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network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transport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and </a:t>
            </a:r>
            <a:r>
              <a:rPr lang="en-US" sz="3400" b="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application</a:t>
            </a:r>
            <a:r>
              <a:rPr lang="en-US" sz="34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1620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عنصر نائب لرقم الشريحة 3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8401FD3-A6DB-4B75-B69C-87BB7F52FBFE}" type="slidenum">
              <a:rPr lang="en-US" sz="1400"/>
              <a:pPr eaLnBrk="1" hangingPunct="1"/>
              <a:t>54</a:t>
            </a:fld>
            <a:endParaRPr lang="en-US" sz="1400"/>
          </a:p>
        </p:txBody>
      </p:sp>
      <p:sp>
        <p:nvSpPr>
          <p:cNvPr id="23557" name="Text Box 2"/>
          <p:cNvSpPr txBox="1">
            <a:spLocks noChangeArrowheads="1"/>
          </p:cNvSpPr>
          <p:nvPr/>
        </p:nvSpPr>
        <p:spPr bwMode="auto">
          <a:xfrm>
            <a:off x="808038" y="25400"/>
            <a:ext cx="76009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3600"/>
              <a:t>The Layers in the TCP/IP Protocol Suite</a:t>
            </a:r>
            <a:endParaRPr lang="en-US" sz="2000"/>
          </a:p>
          <a:p>
            <a:pPr algn="ctr" eaLnBrk="1" hangingPunct="1"/>
            <a:r>
              <a:rPr lang="en-US" sz="2000"/>
              <a:t>Source: The TCP/IP Protocol Suite, Behrouz A. Forouzan</a:t>
            </a:r>
          </a:p>
        </p:txBody>
      </p: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3414713" y="5715000"/>
            <a:ext cx="2643187" cy="4857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Physical</a:t>
            </a:r>
          </a:p>
        </p:txBody>
      </p:sp>
      <p:sp>
        <p:nvSpPr>
          <p:cNvPr id="23559" name="Rectangle 4"/>
          <p:cNvSpPr>
            <a:spLocks noChangeArrowheads="1"/>
          </p:cNvSpPr>
          <p:nvPr/>
        </p:nvSpPr>
        <p:spPr bwMode="auto">
          <a:xfrm>
            <a:off x="3424238" y="5167313"/>
            <a:ext cx="2643187" cy="4857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Data link</a:t>
            </a:r>
          </a:p>
        </p:txBody>
      </p:sp>
      <p:sp>
        <p:nvSpPr>
          <p:cNvPr id="23560" name="Rectangle 5"/>
          <p:cNvSpPr>
            <a:spLocks noChangeArrowheads="1"/>
          </p:cNvSpPr>
          <p:nvPr/>
        </p:nvSpPr>
        <p:spPr bwMode="auto">
          <a:xfrm>
            <a:off x="1057275" y="3443288"/>
            <a:ext cx="7258050" cy="15716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4000"/>
              <a:t>IP</a:t>
            </a:r>
          </a:p>
        </p:txBody>
      </p:sp>
      <p:sp>
        <p:nvSpPr>
          <p:cNvPr id="23561" name="Rectangle 6"/>
          <p:cNvSpPr>
            <a:spLocks noChangeArrowheads="1"/>
          </p:cNvSpPr>
          <p:nvPr/>
        </p:nvSpPr>
        <p:spPr bwMode="auto">
          <a:xfrm>
            <a:off x="5829300" y="4529138"/>
            <a:ext cx="1157288" cy="371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ARP</a:t>
            </a:r>
          </a:p>
        </p:txBody>
      </p:sp>
      <p:sp>
        <p:nvSpPr>
          <p:cNvPr id="23562" name="Rectangle 7"/>
          <p:cNvSpPr>
            <a:spLocks noChangeArrowheads="1"/>
          </p:cNvSpPr>
          <p:nvPr/>
        </p:nvSpPr>
        <p:spPr bwMode="auto">
          <a:xfrm>
            <a:off x="7081838" y="4538663"/>
            <a:ext cx="1157287" cy="371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RARP</a:t>
            </a:r>
          </a:p>
        </p:txBody>
      </p:sp>
      <p:sp>
        <p:nvSpPr>
          <p:cNvPr id="23563" name="Rectangle 8"/>
          <p:cNvSpPr>
            <a:spLocks noChangeArrowheads="1"/>
          </p:cNvSpPr>
          <p:nvPr/>
        </p:nvSpPr>
        <p:spPr bwMode="auto">
          <a:xfrm>
            <a:off x="1143000" y="3514725"/>
            <a:ext cx="1157288" cy="371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ICMP</a:t>
            </a:r>
          </a:p>
        </p:txBody>
      </p:sp>
      <p:sp>
        <p:nvSpPr>
          <p:cNvPr id="23564" name="Rectangle 9"/>
          <p:cNvSpPr>
            <a:spLocks noChangeArrowheads="1"/>
          </p:cNvSpPr>
          <p:nvPr/>
        </p:nvSpPr>
        <p:spPr bwMode="auto">
          <a:xfrm>
            <a:off x="2352675" y="3524250"/>
            <a:ext cx="1157288" cy="371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/>
              <a:t>IGMP</a:t>
            </a:r>
          </a:p>
        </p:txBody>
      </p:sp>
      <p:sp>
        <p:nvSpPr>
          <p:cNvPr id="23565" name="Rectangle 10"/>
          <p:cNvSpPr>
            <a:spLocks noChangeArrowheads="1"/>
          </p:cNvSpPr>
          <p:nvPr/>
        </p:nvSpPr>
        <p:spPr bwMode="auto">
          <a:xfrm>
            <a:off x="1042988" y="2771775"/>
            <a:ext cx="7272337" cy="600075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3566" name="Text Box 11"/>
          <p:cNvSpPr txBox="1">
            <a:spLocks noChangeArrowheads="1"/>
          </p:cNvSpPr>
          <p:nvPr/>
        </p:nvSpPr>
        <p:spPr bwMode="auto">
          <a:xfrm>
            <a:off x="1122363" y="28321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Transport</a:t>
            </a:r>
          </a:p>
        </p:txBody>
      </p:sp>
      <p:sp>
        <p:nvSpPr>
          <p:cNvPr id="23567" name="Rectangle 12"/>
          <p:cNvSpPr>
            <a:spLocks noChangeArrowheads="1"/>
          </p:cNvSpPr>
          <p:nvPr/>
        </p:nvSpPr>
        <p:spPr bwMode="auto">
          <a:xfrm>
            <a:off x="3371850" y="2857500"/>
            <a:ext cx="1785938" cy="4286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TCP</a:t>
            </a:r>
          </a:p>
        </p:txBody>
      </p:sp>
      <p:sp>
        <p:nvSpPr>
          <p:cNvPr id="23568" name="Rectangle 13"/>
          <p:cNvSpPr>
            <a:spLocks noChangeArrowheads="1"/>
          </p:cNvSpPr>
          <p:nvPr/>
        </p:nvSpPr>
        <p:spPr bwMode="auto">
          <a:xfrm>
            <a:off x="5281613" y="2867025"/>
            <a:ext cx="1785937" cy="4286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UDP</a:t>
            </a:r>
          </a:p>
        </p:txBody>
      </p:sp>
      <p:sp>
        <p:nvSpPr>
          <p:cNvPr id="23569" name="Text Box 14"/>
          <p:cNvSpPr txBox="1">
            <a:spLocks noChangeArrowheads="1"/>
          </p:cNvSpPr>
          <p:nvPr/>
        </p:nvSpPr>
        <p:spPr bwMode="auto">
          <a:xfrm>
            <a:off x="1160463" y="3998913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Network</a:t>
            </a:r>
          </a:p>
        </p:txBody>
      </p:sp>
      <p:sp>
        <p:nvSpPr>
          <p:cNvPr id="23570" name="Rectangle 15"/>
          <p:cNvSpPr>
            <a:spLocks noChangeArrowheads="1"/>
          </p:cNvSpPr>
          <p:nvPr/>
        </p:nvSpPr>
        <p:spPr bwMode="auto">
          <a:xfrm>
            <a:off x="1042988" y="914400"/>
            <a:ext cx="7272337" cy="181451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ar-SA"/>
          </a:p>
        </p:txBody>
      </p:sp>
      <p:sp>
        <p:nvSpPr>
          <p:cNvPr id="23571" name="Text Box 16"/>
          <p:cNvSpPr txBox="1">
            <a:spLocks noChangeArrowheads="1"/>
          </p:cNvSpPr>
          <p:nvPr/>
        </p:nvSpPr>
        <p:spPr bwMode="auto">
          <a:xfrm>
            <a:off x="1127125" y="2193925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Session</a:t>
            </a:r>
          </a:p>
        </p:txBody>
      </p:sp>
      <p:sp>
        <p:nvSpPr>
          <p:cNvPr id="23572" name="Text Box 17"/>
          <p:cNvSpPr txBox="1">
            <a:spLocks noChangeArrowheads="1"/>
          </p:cNvSpPr>
          <p:nvPr/>
        </p:nvSpPr>
        <p:spPr bwMode="auto">
          <a:xfrm>
            <a:off x="1122363" y="1617663"/>
            <a:ext cx="168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Presentation</a:t>
            </a:r>
          </a:p>
        </p:txBody>
      </p:sp>
      <p:sp>
        <p:nvSpPr>
          <p:cNvPr id="23573" name="Text Box 18"/>
          <p:cNvSpPr txBox="1">
            <a:spLocks noChangeArrowheads="1"/>
          </p:cNvSpPr>
          <p:nvPr/>
        </p:nvSpPr>
        <p:spPr bwMode="auto">
          <a:xfrm>
            <a:off x="1117600" y="1055688"/>
            <a:ext cx="162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Application</a:t>
            </a:r>
          </a:p>
        </p:txBody>
      </p:sp>
      <p:sp>
        <p:nvSpPr>
          <p:cNvPr id="23574" name="Rectangle 19"/>
          <p:cNvSpPr>
            <a:spLocks noChangeArrowheads="1"/>
          </p:cNvSpPr>
          <p:nvPr/>
        </p:nvSpPr>
        <p:spPr bwMode="auto">
          <a:xfrm>
            <a:off x="3043238" y="1085850"/>
            <a:ext cx="957262" cy="150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FTP</a:t>
            </a:r>
          </a:p>
        </p:txBody>
      </p:sp>
      <p:sp>
        <p:nvSpPr>
          <p:cNvPr id="23575" name="Rectangle 20"/>
          <p:cNvSpPr>
            <a:spLocks noChangeArrowheads="1"/>
          </p:cNvSpPr>
          <p:nvPr/>
        </p:nvSpPr>
        <p:spPr bwMode="auto">
          <a:xfrm>
            <a:off x="4124325" y="1095375"/>
            <a:ext cx="957263" cy="150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HTTP</a:t>
            </a:r>
          </a:p>
        </p:txBody>
      </p:sp>
      <p:sp>
        <p:nvSpPr>
          <p:cNvPr id="23576" name="Rectangle 21"/>
          <p:cNvSpPr>
            <a:spLocks noChangeArrowheads="1"/>
          </p:cNvSpPr>
          <p:nvPr/>
        </p:nvSpPr>
        <p:spPr bwMode="auto">
          <a:xfrm>
            <a:off x="5210175" y="1095375"/>
            <a:ext cx="957263" cy="150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DNS</a:t>
            </a:r>
          </a:p>
        </p:txBody>
      </p:sp>
      <p:sp>
        <p:nvSpPr>
          <p:cNvPr id="23577" name="Rectangle 22"/>
          <p:cNvSpPr>
            <a:spLocks noChangeArrowheads="1"/>
          </p:cNvSpPr>
          <p:nvPr/>
        </p:nvSpPr>
        <p:spPr bwMode="auto">
          <a:xfrm>
            <a:off x="6276975" y="1090613"/>
            <a:ext cx="957263" cy="15001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NFS</a:t>
            </a:r>
          </a:p>
        </p:txBody>
      </p:sp>
      <p:sp>
        <p:nvSpPr>
          <p:cNvPr id="23578" name="Text Box 23"/>
          <p:cNvSpPr txBox="1">
            <a:spLocks noChangeArrowheads="1"/>
          </p:cNvSpPr>
          <p:nvPr/>
        </p:nvSpPr>
        <p:spPr bwMode="auto">
          <a:xfrm>
            <a:off x="7299325" y="14017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3600" b="1"/>
              <a:t>…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249562" y="6242447"/>
            <a:ext cx="6827638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solidFill>
                  <a:schemeClr val="folHlink"/>
                </a:solidFill>
              </a:rPr>
              <a:t>Figure 2.16  </a:t>
            </a:r>
            <a:r>
              <a:rPr lang="en-US" sz="3400" i="1" dirty="0"/>
              <a:t>TCP/IP and OSI model</a:t>
            </a:r>
          </a:p>
        </p:txBody>
      </p:sp>
    </p:spTree>
    <p:extLst>
      <p:ext uri="{BB962C8B-B14F-4D97-AF65-F5344CB8AC3E}">
        <p14:creationId xmlns:p14="http://schemas.microsoft.com/office/powerpoint/2010/main" val="1960946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2.</a:t>
            </a:r>
            <a:fld id="{80F245B6-A134-40B1-B62B-0C2EBD841BB0}" type="slidenum">
              <a:rPr lang="en-US"/>
              <a:pPr/>
              <a:t>55</a:t>
            </a:fld>
            <a:endParaRPr lang="en-US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2127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 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228600" y="1143000"/>
            <a:ext cx="861060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i="1" dirty="0"/>
              <a:t> </a:t>
            </a:r>
            <a:r>
              <a:rPr lang="en-US" sz="3400" b="0" dirty="0">
                <a:latin typeface="+mn-lt"/>
              </a:rPr>
              <a:t>TCP/IP is a hierarchical protocol made up of interactive modules, each of which provides a specific functionality.</a:t>
            </a:r>
          </a:p>
          <a:p>
            <a:pPr>
              <a:buFont typeface="Arial" pitchFamily="34" charset="0"/>
              <a:buChar char="•"/>
            </a:pPr>
            <a:r>
              <a:rPr lang="en-US" sz="3400" b="0" dirty="0">
                <a:latin typeface="+mn-lt"/>
              </a:rPr>
              <a:t>The layers of the TCP/IP protocol suite contain relatively independent protocols.</a:t>
            </a:r>
          </a:p>
          <a:p>
            <a:pPr>
              <a:buFont typeface="Arial" pitchFamily="34" charset="0"/>
              <a:buChar char="•"/>
            </a:pPr>
            <a:r>
              <a:rPr lang="en-US" sz="3400" b="0" dirty="0">
                <a:latin typeface="+mn-lt"/>
              </a:rPr>
              <a:t> The term hierarchical  means that each upper-level protocol is supported by one or more lower-level protocols.</a:t>
            </a:r>
          </a:p>
          <a:p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838200"/>
            <a:ext cx="8229600" cy="5851525"/>
          </a:xfrm>
        </p:spPr>
        <p:txBody>
          <a:bodyPr/>
          <a:lstStyle/>
          <a:p>
            <a:r>
              <a:rPr lang="en-US" sz="3600" b="1" dirty="0"/>
              <a:t>Physical and Data Link Layers</a:t>
            </a:r>
          </a:p>
          <a:p>
            <a:pPr lvl="1"/>
            <a:r>
              <a:rPr lang="en-US" sz="3400" dirty="0"/>
              <a:t>No specific protocol is defined at this layer, rather, TCP/IP model supports all the standard and proprietary protocols.</a:t>
            </a:r>
          </a:p>
          <a:p>
            <a:pPr lvl="1"/>
            <a:r>
              <a:rPr lang="en-US" sz="3400" dirty="0"/>
              <a:t>For instance, a network in a TCP/IP internetwork can be a local-area network or a wide-area network.</a:t>
            </a:r>
          </a:p>
          <a:p>
            <a:pPr lvl="1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10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0112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1143000"/>
            <a:ext cx="8229600" cy="5546725"/>
          </a:xfrm>
        </p:spPr>
        <p:txBody>
          <a:bodyPr/>
          <a:lstStyle/>
          <a:p>
            <a:r>
              <a:rPr lang="en-US" sz="3600" b="1" dirty="0"/>
              <a:t>Network layer (internetwork layer)</a:t>
            </a:r>
          </a:p>
          <a:p>
            <a:pPr lvl="1"/>
            <a:r>
              <a:rPr lang="en-US" sz="3400" dirty="0"/>
              <a:t>TCP/IP at this layer supports the Internetworking Protocol (IP)</a:t>
            </a:r>
          </a:p>
          <a:p>
            <a:pPr lvl="1"/>
            <a:r>
              <a:rPr lang="en-US" sz="3400" dirty="0"/>
              <a:t>There are also some other protocols that support data movement in this layer. Including: ARP, RARP, ICMP, and IGMP.</a:t>
            </a:r>
          </a:p>
          <a:p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10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1143000"/>
            <a:ext cx="8610600" cy="5546725"/>
          </a:xfrm>
        </p:spPr>
        <p:txBody>
          <a:bodyPr/>
          <a:lstStyle/>
          <a:p>
            <a:r>
              <a:rPr lang="en-US" sz="3400" b="1" i="1" dirty="0">
                <a:solidFill>
                  <a:srgbClr val="C00000"/>
                </a:solidFill>
              </a:rPr>
              <a:t>Internetworking Protocol (IP)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Most important protocol of the TCP/IP network stack!  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Implements internetworking.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IP is an unreliable and connectionless protocol- a best-effort delivery.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It is host-to-host protocol.</a:t>
            </a:r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7694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Protocols at The Network Layer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17719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1143000"/>
            <a:ext cx="8610600" cy="5546725"/>
          </a:xfrm>
        </p:spPr>
        <p:txBody>
          <a:bodyPr/>
          <a:lstStyle/>
          <a:p>
            <a:r>
              <a:rPr lang="en-US" sz="3400" b="1" i="1" dirty="0">
                <a:solidFill>
                  <a:srgbClr val="C00000"/>
                </a:solidFill>
              </a:rPr>
              <a:t>Address Resolution Protocol (ARP)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It is used to find the physical address (NIC) of the node after its Network address is known.</a:t>
            </a:r>
          </a:p>
          <a:p>
            <a:pPr lvl="1">
              <a:buFont typeface="Wingdings" pitchFamily="2" charset="2"/>
              <a:buChar char="Ø"/>
            </a:pPr>
            <a:endParaRPr lang="en-US" sz="3200" dirty="0"/>
          </a:p>
          <a:p>
            <a:r>
              <a:rPr lang="en-US" sz="3400" b="1" i="1" dirty="0">
                <a:solidFill>
                  <a:srgbClr val="C00000"/>
                </a:solidFill>
              </a:rPr>
              <a:t>Reverse Address Resolution Protocol (RARP)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It is used to find the Internet address of the node after its physical address is known.</a:t>
            </a:r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pPr>
              <a:buFont typeface="Wingdings" pitchFamily="2" charset="2"/>
              <a:buChar char="Ø"/>
            </a:pPr>
            <a:endParaRPr lang="en-US" sz="3600" dirty="0"/>
          </a:p>
          <a:p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7694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Protocols at The Network Layer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03439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0" y="1066800"/>
            <a:ext cx="8966200" cy="5622925"/>
          </a:xfrm>
        </p:spPr>
        <p:txBody>
          <a:bodyPr/>
          <a:lstStyle/>
          <a:p>
            <a:r>
              <a:rPr lang="en-US" sz="3400" b="1" i="1" dirty="0">
                <a:solidFill>
                  <a:srgbClr val="C00000"/>
                </a:solidFill>
              </a:rPr>
              <a:t>Internet Control Message Protocol (ICMP)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It is used by hosts and gateways to send notification of </a:t>
            </a:r>
            <a:r>
              <a:rPr lang="en-US" sz="3200" dirty="0" err="1"/>
              <a:t>datagrams</a:t>
            </a:r>
            <a:r>
              <a:rPr lang="en-US" sz="3200" dirty="0"/>
              <a:t> ( packets) problem back to the sender.</a:t>
            </a:r>
          </a:p>
          <a:p>
            <a:r>
              <a:rPr lang="en-US" sz="3400" b="1" i="1" dirty="0">
                <a:solidFill>
                  <a:srgbClr val="C00000"/>
                </a:solidFill>
              </a:rPr>
              <a:t>Internet Group Message Protocol (IGMP)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It is used to facilitate the simultaneous transmission of messages to a group of recipients.</a:t>
            </a:r>
          </a:p>
          <a:p>
            <a:pPr lvl="1">
              <a:buNone/>
            </a:pPr>
            <a:endParaRPr lang="en-US" sz="2000" b="1" i="1" dirty="0">
              <a:solidFill>
                <a:srgbClr val="00CC00"/>
              </a:solidFill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7694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Protocols at The Network Layer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381000" y="480060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914400"/>
            <a:ext cx="8229600" cy="5775325"/>
          </a:xfrm>
        </p:spPr>
        <p:txBody>
          <a:bodyPr/>
          <a:lstStyle/>
          <a:p>
            <a:r>
              <a:rPr lang="en-US" sz="3400" b="1" dirty="0"/>
              <a:t>Transport Layer</a:t>
            </a:r>
          </a:p>
          <a:p>
            <a:pPr lvl="1"/>
            <a:r>
              <a:rPr lang="en-US" sz="3200" dirty="0"/>
              <a:t>In this layer, the protocol is responsible for delivery of message from a process to another process. </a:t>
            </a:r>
          </a:p>
          <a:p>
            <a:pPr lvl="1">
              <a:buNone/>
            </a:pPr>
            <a:endParaRPr lang="en-US" sz="2000" dirty="0"/>
          </a:p>
          <a:p>
            <a:pPr lvl="1">
              <a:buNone/>
            </a:pPr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10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914400"/>
            <a:ext cx="8229600" cy="5775325"/>
          </a:xfrm>
        </p:spPr>
        <p:txBody>
          <a:bodyPr/>
          <a:lstStyle/>
          <a:p>
            <a:r>
              <a:rPr lang="en-US" sz="3400" b="1" i="1" dirty="0">
                <a:solidFill>
                  <a:srgbClr val="C00000"/>
                </a:solidFill>
              </a:rPr>
              <a:t>User Datagram Protocol (UDP)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adds port addresses, checksum error control, and length information to the data from the upper layer.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sz="3400" b="1" i="1" dirty="0">
                <a:solidFill>
                  <a:srgbClr val="C00000"/>
                </a:solidFill>
              </a:rPr>
              <a:t>Transmission Control Protocol (TCP)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is reliable and connection-oriented.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42842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Protocols at The Transport Layer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23187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914400"/>
            <a:ext cx="8229600" cy="5775325"/>
          </a:xfrm>
        </p:spPr>
        <p:txBody>
          <a:bodyPr/>
          <a:lstStyle/>
          <a:p>
            <a:r>
              <a:rPr lang="en-US" sz="3400" b="1" i="1" dirty="0">
                <a:solidFill>
                  <a:srgbClr val="C00000"/>
                </a:solidFill>
              </a:rPr>
              <a:t>Stream Control Transmission Protocol (STCP)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supports the newer application e.g. voice over the Internet.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combine best features of UDP and TCP.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428426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Protocols at The Transport Layer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86320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/>
          </p:nvPr>
        </p:nvSpPr>
        <p:spPr>
          <a:xfrm>
            <a:off x="228600" y="914400"/>
            <a:ext cx="8229600" cy="5775325"/>
          </a:xfrm>
        </p:spPr>
        <p:txBody>
          <a:bodyPr/>
          <a:lstStyle/>
          <a:p>
            <a:pPr lvl="1"/>
            <a:endParaRPr lang="en-US" sz="2000" b="1" i="1" dirty="0">
              <a:solidFill>
                <a:srgbClr val="00CC00"/>
              </a:solidFill>
            </a:endParaRPr>
          </a:p>
          <a:p>
            <a:r>
              <a:rPr lang="en-US" sz="3600" b="1" dirty="0"/>
              <a:t>Application Layer</a:t>
            </a:r>
          </a:p>
          <a:p>
            <a:pPr lvl="1"/>
            <a:r>
              <a:rPr lang="en-US" sz="3400" dirty="0"/>
              <a:t>The application layer in TCP/IP is equivalent to the combined session, presentation, and application.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2.</a:t>
            </a:r>
            <a:fld id="{80F245B6-A134-40B1-B62B-0C2EBD841BB0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79938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110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2-4   TCP/IP PROTOCOL SUITE</a:t>
            </a:r>
          </a:p>
        </p:txBody>
      </p:sp>
      <p:sp>
        <p:nvSpPr>
          <p:cNvPr id="679940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152400" y="4819650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679943" name="Text Box 7"/>
          <p:cNvSpPr txBox="1">
            <a:spLocks noChangeArrowheads="1"/>
          </p:cNvSpPr>
          <p:nvPr/>
        </p:nvSpPr>
        <p:spPr bwMode="auto">
          <a:xfrm>
            <a:off x="2503991" y="4343400"/>
            <a:ext cx="184731" cy="52322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endParaRPr lang="en-US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0" ma:contentTypeDescription="Create a new document." ma:contentTypeScope="" ma:versionID="857544aff4cfd9ea8d328815af76a9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84E41E-FBEA-49C7-8953-F439F72DE73B}"/>
</file>

<file path=customXml/itemProps2.xml><?xml version="1.0" encoding="utf-8"?>
<ds:datastoreItem xmlns:ds="http://schemas.openxmlformats.org/officeDocument/2006/customXml" ds:itemID="{313E9153-72A7-44EA-807E-261BBC67C220}"/>
</file>

<file path=customXml/itemProps3.xml><?xml version="1.0" encoding="utf-8"?>
<ds:datastoreItem xmlns:ds="http://schemas.openxmlformats.org/officeDocument/2006/customXml" ds:itemID="{59A08DAC-06B8-48D8-8309-FB58DCE1B597}"/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3376</TotalTime>
  <Words>2333</Words>
  <Application>Microsoft Office PowerPoint</Application>
  <PresentationFormat>On-screen Show (4:3)</PresentationFormat>
  <Paragraphs>391</Paragraphs>
  <Slides>64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McGrawHill-Italic</vt:lpstr>
      <vt:lpstr>Tahoma</vt:lpstr>
      <vt:lpstr>Times</vt:lpstr>
      <vt:lpstr>Times New Roman</vt:lpstr>
      <vt:lpstr>Wingdings</vt:lpstr>
      <vt:lpstr>Blends</vt:lpstr>
      <vt:lpstr>PowerPoint Presentation</vt:lpstr>
      <vt:lpstr>A Network is ..</vt:lpstr>
      <vt:lpstr>PowerPoint Presentation</vt:lpstr>
      <vt:lpstr>Network Architecture</vt:lpstr>
      <vt:lpstr>Concept of Layers</vt:lpstr>
      <vt:lpstr>PowerPoint Presentation</vt:lpstr>
      <vt:lpstr>Hierarchy</vt:lpstr>
      <vt:lpstr>Concept of Layers</vt:lpstr>
      <vt:lpstr>Concept of Layers</vt:lpstr>
      <vt:lpstr>PowerPoint Presentation</vt:lpstr>
      <vt:lpstr>The OSI Model</vt:lpstr>
      <vt:lpstr>The OSI Model</vt:lpstr>
      <vt:lpstr>PowerPoint Presentation</vt:lpstr>
      <vt:lpstr>PowerPoint Presentation</vt:lpstr>
      <vt:lpstr>Layered Architecture </vt:lpstr>
      <vt:lpstr>Layered Architecture </vt:lpstr>
      <vt:lpstr>PowerPoint Presentation</vt:lpstr>
      <vt:lpstr>Peer-to-Peer Process</vt:lpstr>
      <vt:lpstr>Peer-to-Peer Process</vt:lpstr>
      <vt:lpstr>Organization of the Layers</vt:lpstr>
      <vt:lpstr>Organization of the Layers</vt:lpstr>
      <vt:lpstr>PowerPoint Presentation</vt:lpstr>
      <vt:lpstr>Encapsulation</vt:lpstr>
      <vt:lpstr>PowerPoint Presentation</vt:lpstr>
      <vt:lpstr>Physical layer</vt:lpstr>
      <vt:lpstr>Physical layer</vt:lpstr>
      <vt:lpstr>PowerPoint Presentation</vt:lpstr>
      <vt:lpstr>Data Link layer</vt:lpstr>
      <vt:lpstr>PowerPoint Presentation</vt:lpstr>
      <vt:lpstr>Data Link layer</vt:lpstr>
      <vt:lpstr>PowerPoint Presentation</vt:lpstr>
      <vt:lpstr>Data Link layer</vt:lpstr>
      <vt:lpstr>Network layer</vt:lpstr>
      <vt:lpstr>PowerPoint Presentation</vt:lpstr>
      <vt:lpstr>Network layer</vt:lpstr>
      <vt:lpstr>PowerPoint Presentation</vt:lpstr>
      <vt:lpstr>Network layer</vt:lpstr>
      <vt:lpstr>Transport layer</vt:lpstr>
      <vt:lpstr>PowerPoint Presentation</vt:lpstr>
      <vt:lpstr>Transport layer</vt:lpstr>
      <vt:lpstr>PowerPoint Presentation</vt:lpstr>
      <vt:lpstr>Transport layer</vt:lpstr>
      <vt:lpstr>Session layer</vt:lpstr>
      <vt:lpstr>PowerPoint Presentation</vt:lpstr>
      <vt:lpstr>Session layer</vt:lpstr>
      <vt:lpstr>Presentation layer</vt:lpstr>
      <vt:lpstr>PowerPoint Presentation</vt:lpstr>
      <vt:lpstr>Presentation layer</vt:lpstr>
      <vt:lpstr>Application layer</vt:lpstr>
      <vt:lpstr>PowerPoint Presentation</vt:lpstr>
      <vt:lpstr>Application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Soni Bhambar</cp:lastModifiedBy>
  <cp:revision>221</cp:revision>
  <dcterms:created xsi:type="dcterms:W3CDTF">2000-01-15T04:50:39Z</dcterms:created>
  <dcterms:modified xsi:type="dcterms:W3CDTF">2026-07-21T06:26:34Z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